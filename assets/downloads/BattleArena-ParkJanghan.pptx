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6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ns3="http://schemas.microsoft.com/office/powerpoint/2012/main" xmlns:p="http://schemas.openxmlformats.org/presentationml/2006/main" xmlns:r="http://schemas.openxmlformats.org/officeDocument/2006/relationships">
  <p:sldMasterIdLst>
    <p:sldMasterId id="2147483648" r:id="rId1"/>
  </p:sldMasterIdLst>
  <p:sldIdLst>
    <p:sldId id="256" r:id="rId2"/>
    <p:sldId id="257" r:id="rId3"/>
    <p:sldId id="259" r:id="rId5"/>
    <p:sldId id="260" r:id="rId6"/>
    <p:sldId id="261" r:id="rId7"/>
    <p:sldId id="262" r:id="rId8"/>
    <p:sldId id="263" r:id="rId9"/>
    <p:sldId id="281" r:id="rIdPortalClipping"/>
    <p:sldId id="264" r:id="rId10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5" r:id="rId21"/>
    <p:sldId id="276" r:id="rId22"/>
    <p:sldId id="277" r:id="rId23"/>
    <p:sldId id="278" r:id="rId24"/>
    <p:sldId id="280" r:id="rId26"/>
  </p:sldIdLst>
  <p:sldSz cx="12192000" cy="6858000"/>
  <p:notesSz cx="6858000" cy="9144000"/>
  <p:defaultTextStyle>
    <a:defPPr>
      <a:buNone/>
    </a:defPPr>
    <a:lvl1pPr marL="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  <p:extLst>
    <p:ext uri="{EFAFB233-063F-42B5-8137-9DF3F51BA10A}">
      <ns3:sldGuideLst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?>
<Relationships xmlns="http://schemas.openxmlformats.org/package/2006/relationships"><Relationship Id="rId8" Type="http://schemas.openxmlformats.org/officeDocument/2006/relationships/slide" Target="slides/slide7.xml" /><Relationship Id="rId13" Type="http://schemas.openxmlformats.org/officeDocument/2006/relationships/slide" Target="slides/slide12.xml" /><Relationship Id="rId18" Type="http://schemas.openxmlformats.org/officeDocument/2006/relationships/slide" Target="slides/slide17.xml" /><Relationship Id="rId26" Type="http://schemas.openxmlformats.org/officeDocument/2006/relationships/slide" Target="slides/slide25.xml" /><Relationship Id="rId3" Type="http://schemas.openxmlformats.org/officeDocument/2006/relationships/slide" Target="slides/slide2.xml" /><Relationship Id="rId21" Type="http://schemas.openxmlformats.org/officeDocument/2006/relationships/slide" Target="slides/slide20.xml" /><Relationship Id="rId7" Type="http://schemas.openxmlformats.org/officeDocument/2006/relationships/slide" Target="slides/slide6.xml" /><Relationship Id="rId12" Type="http://schemas.openxmlformats.org/officeDocument/2006/relationships/slide" Target="slides/slide11.xml" /><Relationship Id="rId17" Type="http://schemas.openxmlformats.org/officeDocument/2006/relationships/slide" Target="slides/slide16.xml" /><Relationship Id="rId2" Type="http://schemas.openxmlformats.org/officeDocument/2006/relationships/slide" Target="slides/slide1.xml" /><Relationship Id="rId16" Type="http://schemas.openxmlformats.org/officeDocument/2006/relationships/slide" Target="slides/slide15.xml" /><Relationship Id="rId29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6" Type="http://schemas.openxmlformats.org/officeDocument/2006/relationships/slide" Target="slides/slide5.xml" /><Relationship Id="rId24" Type="http://schemas.openxmlformats.org/officeDocument/2006/relationships/slide" Target="slides/slide23.xml" /><Relationship Id="rId5" Type="http://schemas.openxmlformats.org/officeDocument/2006/relationships/slide" Target="slides/slide4.xml" /><Relationship Id="rId15" Type="http://schemas.openxmlformats.org/officeDocument/2006/relationships/slide" Target="slides/slide14.xml" /><Relationship Id="rId23" Type="http://schemas.openxmlformats.org/officeDocument/2006/relationships/slide" Target="slides/slide22.xml" /><Relationship Id="rId28" Type="http://schemas.openxmlformats.org/officeDocument/2006/relationships/viewProps" Target="viewProps.xml" /><Relationship Id="rId10" Type="http://schemas.openxmlformats.org/officeDocument/2006/relationships/slide" Target="slides/slide9.xml" /><Relationship Id="rId9" Type="http://schemas.openxmlformats.org/officeDocument/2006/relationships/slide" Target="slides/slide8.xml" /><Relationship Id="rId14" Type="http://schemas.openxmlformats.org/officeDocument/2006/relationships/slide" Target="slides/slide13.xml" /><Relationship Id="rId22" Type="http://schemas.openxmlformats.org/officeDocument/2006/relationships/slide" Target="slides/slide21.xml" /><Relationship Id="rId27" Type="http://schemas.openxmlformats.org/officeDocument/2006/relationships/presProps" Target="presProps.xml" /><Relationship Id="rId30" Type="http://schemas.openxmlformats.org/officeDocument/2006/relationships/tableStyles" Target="tableStyles.xml" /><Relationship Id="rIdPortalClipping" Type="http://schemas.openxmlformats.org/officeDocument/2006/relationships/slide" Target="slides/slide26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5D3DF4-0E79-4BC8-89E0-13DDCDE188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4670F2C-C024-4D15-ADBF-9EF0FBA5C8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6008FB-5A2D-4A03-B310-536719E4EB3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5DC815-675E-4FE6-A19D-67EDAFCA81E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111EC7-61B3-4C7B-A411-2808B7613D0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6741CA-6094-454A-98A2-ABE4E24897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F73198-411B-44DA-8FD4-77D6865A2C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CFEEAC-191D-43E8-8EDF-392920D7433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818EFD-44F5-4166-A6BA-AE8E2304399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09491D-E6FE-4291-B4F6-61FE51453E8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C9E44-E415-45FC-A27A-2E3166E2FF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buNone/>
              <a:defRPr sz="4000" b="1" cap="all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A3B6E9-BF62-46FA-A5E9-EEE837BF98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70189B-02EF-4FD3-8362-76ED17DA5AF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FC23AB-7323-437E-B541-5B5270319F13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D6A209-0E52-416B-A483-3AA0B92A76D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DF84B2-CAD1-4A4C-B3FD-8357931B4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81F75B-C314-432B-B6FE-2FBE2045E2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50162C-0535-4759-B318-77FBABC82392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840E52-F7C1-4821-83D2-28AA89DE6F0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B841A1-4E43-41DB-AA8E-743666DC7DA3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C10F5B-185D-4727-AC68-90FA8CFC1BC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8A7EFB-66EB-434C-890A-DE4F2D112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B31ED1-21A6-4790-861B-746478C9DF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2A3C36-F3E5-4062-A53D-8CD1C0DB96FE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BDC9F9A-E6CF-44C1-B7A1-3FEECF447B78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84B4BC1-30DD-45A9-960E-2C3A3F9D92D1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3BD94F2-4993-456F-A79E-771682145AB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88EA78C-0239-461C-810D-09B5FFEB46F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9E66D8B-D011-4A87-A5ED-2659CE9AD04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F4DB87-478B-44F9-8197-51D2CDE574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2D1C1D-777E-453F-810E-6D691A5216F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C1F193-0B57-419C-A517-7DC05DD2AC6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C9D2407-3020-4835-89AD-5162E756ABF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085499A-D551-42FF-B4FE-198E02367AEA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C78D7CF-CBA9-40D6-9DE7-38EA891FC91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F75762-8BBC-4881-9945-85FE263059E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80EC97-D56D-4508-B094-89A0717AC1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C3F130-AE1D-42F2-AE36-E4048868B2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0EF4B39-D996-473D-8514-54FCEDE91A9D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C74338-1AD8-4AE5-BDCA-F96E869122B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49480E-17B8-41F5-86CF-EB4C3596CB4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58EF22-639F-47F9-A94A-373CD4B4A89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D0CF9-FCD6-443E-BDBF-77F235CB5E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2C6D015-E383-49C4-8C30-6722A136885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F834CB-014C-4296-8FA4-F5B26B31B0B9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82E4D9-1AAC-473D-BEB6-594654742A2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59D9B0-008D-4976-B3A2-8ACC902AB61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89EF1E-8763-4C23-95B7-9015F88D3AA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BA0C8A-0EC9-44B6-8B7D-86DC0C8A3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8B4F5B-614E-4049-B91C-3D10A2B978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5DA442-D272-4F62-AEED-1E659136593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029A18-1C60-4C9C-9DA8-4385DDA1599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EA201B-C67E-4410-8984-FACE8480A8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5632463-3544-49A1-A949-FCBD0F95D3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CD5D8EF-A3CC-4E21-AB0F-FD54635BC1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433D82-1E1A-4CCB-A5D7-421020F829F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A4C63E-23AE-4AD4-929F-DDE954FB0C7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5BFD3D-CD8E-4A95-850B-5C7CFC71126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C50920F-6327-4BB3-97C5-D3822AB0D0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EBBBCD-344E-4F40-8EA2-53B151837E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3024AA-0778-49DD-9BFA-C162A154EFB4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t>2026-10-22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EC623B-00AF-4B51-BE7C-F3B92C8E70C5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3109E3-4EA6-4E25-BA50-31A980A563E6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'1.0' encoding='utf-8'?>
<Relationships xmlns="http://schemas.openxmlformats.org/package/2006/relationships"><Relationship Id="rIdLayout" Type="http://schemas.openxmlformats.org/officeDocument/2006/relationships/slideLayout" Target="../slideLayouts/slideLayout7.xml" /><Relationship Type="http://schemas.openxmlformats.org/officeDocument/2006/relationships/hyperlink" Target="https://github.com/msg1150/UnrealTeamProjectPortfolio/blob/fee0b72e4cc6236acfcb332139613f53fd87b244/Weapon/ProjectileConvergenceComponent.cpp" TargetMode="External" Id="R6610ecddeee04dc6" /><Relationship Id="rIdFiringGIF" Type="http://schemas.openxmlformats.org/officeDocument/2006/relationships/image" Target="../media/portfolio-firing.gif" /><Relationship Id="rIdGitHub" Type="http://schemas.openxmlformats.org/officeDocument/2006/relationships/image" Target="../media/image4.png" 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github.com/msg1150/UnrealTeamProjectPortfolio/blob/fee0b72e4cc6236acfcb332139613f53fd87b244/Weapon/ProjectileWorldCollisionComponent.cpp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github.com/msg1150/UnrealTeamProjectPortfolio/blob/2d5b0c733c93af8702e434e984767b7501b3d082/PathLink/PathLinkRouteFinder.cpp" TargetMode="External"/></Relationships>
</file>

<file path=ppt/slides/_rels/slide7.xml.rels><?xml version='1.0' encoding='utf-8'?>
<ns0:Relationships xmlns:ns0="http://schemas.openxmlformats.org/package/2006/relationships"><ns0:Relationship Id="rId3" Type="http://schemas.openxmlformats.org/officeDocument/2006/relationships/hyperlink" Target="https://github.com/msg1150/UnrealTeamProjectPortfolio/blob/2d5b0c733c93af8702e434e984767b7501b3d082/PathLink/PathLinkRouteFinder.cpp" TargetMode="External" /><ns0:Relationship Id="rId2" Type="http://schemas.openxmlformats.org/officeDocument/2006/relationships/image" Target="../media/image4.png" /><ns0:Relationship Id="rId1" Type="http://schemas.openxmlformats.org/officeDocument/2006/relationships/slideLayout" Target="../slideLayouts/slideLayout7.xml" /><ns0:Relationship Id="rId4" Type="http://schemas.openxmlformats.org/officeDocument/2006/relationships/hyperlink" Target="https://github.com/msg1150/UnrealTeamProjectPortfolio/blob/2d5b0c733c93af8702e434e984767b7501b3d082/PathLink/PathLinkSubsystem.cpp#L560-L697" TargetMode="External" /></ns0:Relationships>
</file>

<file path=ppt/slides/_rels/slide8.xml.rels><?xml version='1.0' encoding='utf-8'?>
<Relationships xmlns="http://schemas.openxmlformats.org/package/2006/relationships"><Relationship Id="rIdLayout" Type="http://schemas.openxmlformats.org/officeDocument/2006/relationships/slideLayout" Target="../slideLayouts/slideLayout7.xml" /><Relationship Type="http://schemas.openxmlformats.org/officeDocument/2006/relationships/hyperlink" Target="https://github.com/msg1150/UnrealTeamProjectPortfolio/blob/fee0b72e4cc6236acfcb332139613f53fd87b244/Teleport/SeamlessPortalActor.cpp#L363-L389" TargetMode="External" Id="Ra10d5aaf7f134709" /><Relationship Type="http://schemas.openxmlformats.org/officeDocument/2006/relationships/hyperlink" Target="https://github.com/msg1150/UnrealTeamProjectPortfolio/blob/fee0b72e4cc6236acfcb332139613f53fd87b244/Teleport/PortalViewSubsystem.cpp#L133-L230" TargetMode="External" Id="R811cfa4e35ee44a3" /><Relationship Id="rIdMedia1" Type="http://schemas.openxmlformats.org/officeDocument/2006/relationships/image" Target="../media/image8.png" /><Relationship Id="rIdMedia2" Type="http://schemas.openxmlformats.org/officeDocument/2006/relationships/image" Target="../media/image9.png" /><Relationship Id="rIdGitHubIcon" Type="http://schemas.openxmlformats.org/officeDocument/2006/relationships/image" Target="../media/image4.png" 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gif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1.xml.rels><?xml version='1.0' encoding='utf-8'?>
<ns0:Relationships xmlns:ns0="http://schemas.openxmlformats.org/package/2006/relationships"><ns0:Relationship Id="rId3" Type="http://schemas.openxmlformats.org/officeDocument/2006/relationships/hyperlink" Target="https://github.com/msg1150/UnrealTeamProjectPortfolio/blob/fee0b72e4cc6236acfcb332139613f53fd87b244/Teleport/SeamlessPortalActor.cpp#L497-L610" TargetMode="External" /><ns0:Relationship Id="rId2" Type="http://schemas.openxmlformats.org/officeDocument/2006/relationships/image" Target="../media/image4.png" /><ns0:Relationship Id="rId1" Type="http://schemas.openxmlformats.org/officeDocument/2006/relationships/slideLayout" Target="../slideLayouts/slideLayout7.xml" /><ns0:Relationship Id="rId4" Type="http://schemas.openxmlformats.org/officeDocument/2006/relationships/hyperlink" Target="https://github.com/msg1150/UnrealTeamProjectPortfolio/blob/fee0b72e4cc6236acfcb332139613f53fd87b244/Teleport/SeamlessPortalTraversalSubsystem.cpp" TargetMode="External" /></ns0: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sg1150/UnrealTeamProjectPortfolio/tree/fee0b72e4cc6236acfcb332139613f53fd87b244/GameplayValidator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github.com/msg1150/UnrealTeamProjectPortfolio/tree/fee0b72e4cc6236acfcb332139613f53fd87b244/DataEditor" TargetMode="External"/><Relationship Id="rId4" Type="http://schemas.openxmlformats.org/officeDocument/2006/relationships/hyperlink" Target="https://github.com/msg1150/UnrealTeamProjectPortfolio/tree/fee0b72e4cc6236acfcb332139613f53fd87b244/JsonAssetSync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github.com/msg1150/UnrealTeamProjectPortfolio/blob/fee0b72e4cc6236acfcb332139613f53fd87b244/Weapon/ProjectileFirstPersonRenderingComponent.cpp" TargetMode="External"/><Relationship Id="rId4" Type="http://schemas.openxmlformats.org/officeDocument/2006/relationships/image" Target="../media/image4.png"/></Relationships>
</file>

<file path=ppt/slides/_rels/slide17.xml.rels><?xml version='1.0' encoding='utf-8'?>
<Relationships xmlns="http://schemas.openxmlformats.org/package/2006/relationships"><Relationship Id="rIdLayout" Type="http://schemas.openxmlformats.org/officeDocument/2006/relationships/slideLayout" Target="../slideLayouts/slideLayout7.xml" /><Relationship Type="http://schemas.openxmlformats.org/officeDocument/2006/relationships/hyperlink" Target="https://github.com/msg1150/UnrealTeamProjectPortfolio/blob/fee0b72e4cc6236acfcb332139613f53fd87b244/Weapon/WeaponBeamEffectLibrary.cpp" TargetMode="External" Id="R610ff1e288d14493" /><Relationship Id="rIdMedia1" Type="http://schemas.openxmlformats.org/officeDocument/2006/relationships/image" Target="../media/image19.gif" /><Relationship Id="rIdMedia2" Type="http://schemas.openxmlformats.org/officeDocument/2006/relationships/image" Target="../media/image21.gif" /><Relationship Id="rIdMedia3" Type="http://schemas.openxmlformats.org/officeDocument/2006/relationships/image" Target="../media/image20.png" /><Relationship Id="rIdMedia4" Type="http://schemas.openxmlformats.org/officeDocument/2006/relationships/image" Target="../media/image22.png" /><Relationship Id="rIdGitHubIcon" Type="http://schemas.openxmlformats.org/officeDocument/2006/relationships/image" Target="../media/image4.png" 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github.com/msg1150/UnrealTeamProjectPortfolio/blob/fee0b72e4cc6236acfcb332139613f53fd87b244/CharacterDisplay/ShooterOutlineComponent.cpp" TargetMode="External"/><Relationship Id="rId4" Type="http://schemas.openxmlformats.org/officeDocument/2006/relationships/image" Target="../media/image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github.com/msg1150/UnrealTeamProjectPortfolio/blob/fee0b72e4cc6236acfcb332139613f53fd87b244/DeathDrop/DeathDropCarrier.cpp" TargetMode="External"/><Relationship Id="rId4" Type="http://schemas.openxmlformats.org/officeDocument/2006/relationships/image" Target="../media/image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image" Target="../media/image29.gif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github.com/msg1150/UnrealTeamProjectPortfolio/blob/fee0b72e4cc6236acfcb332139613f53fd87b244/DeathCam/DeathCamActor.cpp" TargetMode="External"/><Relationship Id="rId4" Type="http://schemas.openxmlformats.org/officeDocument/2006/relationships/image" Target="../media/image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sg1150/UnrealTeamProjectPortfolio/blob/fee0b72e4cc6236acfcb332139613f53fd87b244/SpawnSelectionSystem/SpawnSelectionComponent.cpp#L546-L614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msg1150/UnrealTeamProjectPortfolio/blob/fee0b72e4cc6236acfcb332139613f53fd87b244/Weapon/ProjectileConvergenceTests.cpp" TargetMode="External"/><Relationship Id="rId3" Type="http://schemas.openxmlformats.org/officeDocument/2006/relationships/hyperlink" Target="https://pjhgameprogramming.notion.site/Game-Programming-Technical-Wiki-3cea186e6315804cb41ff052b738453a" TargetMode="External"/><Relationship Id="rId7" Type="http://schemas.openxmlformats.org/officeDocument/2006/relationships/hyperlink" Target="https://github.com/msg1150/UnrealTeamProjectPortfolio/blob/fee0b72e4cc6236acfcb332139613f53fd87b244/Weapon/ProjectileSplitCollisionTests.cpp" TargetMode="External"/><Relationship Id="rId2" Type="http://schemas.openxmlformats.org/officeDocument/2006/relationships/hyperlink" Target="https://github.com/msg1150/UnrealTeamProjectPortfolio" TargetMode="Externa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hyperlink" Target="https://github.com/msg1150" TargetMode="External"/><Relationship Id="rId10" Type="http://schemas.openxmlformats.org/officeDocument/2006/relationships/hyperlink" Target="https://github.com/msg1150/UnrealTeamProjectPortfolio/blob/fee0b72e4cc6236acfcb332139613f53fd87b244/Teleport/SeamlessPortalTests.cpp" TargetMode="External"/><Relationship Id="rId4" Type="http://schemas.openxmlformats.org/officeDocument/2006/relationships/hyperlink" Target="mailto:wkdgks88009@gmail.com" TargetMode="External"/><Relationship Id="rId9" Type="http://schemas.openxmlformats.org/officeDocument/2006/relationships/hyperlink" Target="https://github.com/msg1150/UnrealTeamProjectPortfolio/blob/fee0b72e4cc6236acfcb332139613f53fd87b244/Weapon/FirstPersonRenderingTests.cpp" TargetMode="External"/></Relationships>
</file>

<file path=ppt/slides/_rels/slide26.xml.rels><?xml version='1.0' encoding='utf-8'?>
<Relationships xmlns="http://schemas.openxmlformats.org/package/2006/relationships"><Relationship Id="rIdLayout" Type="http://schemas.openxmlformats.org/officeDocument/2006/relationships/slideLayout" Target="../slideLayouts/slideLayout7.xml" /><Relationship Type="http://schemas.openxmlformats.org/officeDocument/2006/relationships/hyperlink" Target="https://github.com/msg1150/UnrealTeamProjectPortfolio/blob/fee0b72e4cc6236acfcb332139613f53fd87b244/Teleport/SeamlessPortalMath.cpp#L57-L71" TargetMode="External" Id="R594936f70d464aa7" /><Relationship Type="http://schemas.openxmlformats.org/officeDocument/2006/relationships/hyperlink" Target="https://github.com/msg1150/UnrealTeamProjectPortfolio/blob/fee0b72e4cc6236acfcb332139613f53fd87b244/Teleport/SeamlessPortalTests.cpp#L45-L58" TargetMode="External" Id="Rd5e676af673b484b" /><Relationship Id="rIdGitHubIcon" Type="http://schemas.openxmlformats.org/officeDocument/2006/relationships/image" Target="../media/image4.png" /></Relationships>
</file>

<file path=ppt/slides/slide1.xml><?xml version="1.0" encoding="utf-8"?>
<p:sld xmlns:a="http://schemas.openxmlformats.org/drawingml/2006/main" xmlns:ns2="http://schemas.microsoft.com/office/drawing/2014/main" xmlns:ns4="http://schemas.microsoft.com/office/drawing/2016/SVG/main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ns2:creationId id="{FFA402B1-DD23-4DC6-BC26-F7B1E8E3BEE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8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ns2:creationId id="{34095DD6-0C14-4556-A650-F75833A18D93}"/>
              </a:ext>
            </a:extLst>
          </p:cNvPr>
          <p:cNvSpPr>
            <a:spLocks noGrp="1"/>
          </p:cNvSpPr>
          <p:nvPr/>
        </p:nvSpPr>
        <p:spPr>
          <a:xfrm>
            <a:off x="723900" y="609600"/>
            <a:ext cx="47625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1125" b="1">
                <a:solidFill>
                  <a:srgbClr val="55A0F5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125" b="1">
                <a:solidFill>
                  <a:srgbClr val="55A0F5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125" b="1">
                <a:solidFill>
                  <a:srgbClr val="55A0F5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125" b="1">
                <a:solidFill>
                  <a:srgbClr val="55A0F5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125" b="1">
                <a:solidFill>
                  <a:srgbClr val="55A0F5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125" b="1">
                <a:solidFill>
                  <a:srgbClr val="55A0F5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125" b="1">
                <a:solidFill>
                  <a:srgbClr val="55A0F5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125" b="1">
                <a:solidFill>
                  <a:srgbClr val="55A0F5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125" b="1">
                <a:solidFill>
                  <a:srgbClr val="55A0F5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125" b="1">
                <a:solidFill>
                  <a:srgbClr val="55A0F5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>
              <a:buNone/>
              <a:defRPr sz="1100" b="1">
                <a:solidFill>
                  <a:srgbClr val="55A0F5"/>
                </a:solidFill>
                <a:latin typeface="Noto Sans KR"/>
                <a:ea typeface="Noto Sans KR"/>
                <a:cs typeface="Noto Sans KR"/>
              </a:defRPr>
            </a:pPr>
            <a:r>
              <a:t>GAMEPLAY PROGRAMMER PORTFOLIO</a:t>
            </a:r>
          </a:p>
        </p:txBody>
      </p:sp>
      <p:sp>
        <p:nvSpPr>
          <p:cNvPr id="4" name="TextBox 3">
            <a:extLst>
              <a:ext uri="{FF2B5EF4-FFF2-40B4-BE49-F238E27FC236}">
                <ns2:creationId id="{DE12EB8C-D88F-4B1E-9B22-1213FF651405}"/>
              </a:ext>
            </a:extLst>
          </p:cNvPr>
          <p:cNvSpPr>
            <a:spLocks noGrp="1"/>
          </p:cNvSpPr>
          <p:nvPr/>
        </p:nvSpPr>
        <p:spPr>
          <a:xfrm>
            <a:off x="723900" y="1390650"/>
            <a:ext cx="4762500" cy="5143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spcAft>
                <a:spcPts val="10"/>
              </a:spcAft>
              <a:buNone/>
              <a:defRPr sz="39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BattleArena</a:t>
            </a:r>
          </a:p>
        </p:txBody>
      </p:sp>
      <p:sp>
        <p:nvSpPr>
          <p:cNvPr id="5" name="TextBox 4">
            <a:extLst>
              <a:ext uri="{FF2B5EF4-FFF2-40B4-BE49-F238E27FC236}">
                <ns2:creationId id="{2B923404-B9A7-4725-A7E2-32DD56A32CC1}"/>
              </a:ext>
            </a:extLst>
          </p:cNvPr>
          <p:cNvSpPr>
            <a:spLocks noGrp="1"/>
          </p:cNvSpPr>
          <p:nvPr/>
        </p:nvSpPr>
        <p:spPr>
          <a:xfrm>
            <a:off x="723900" y="2895600"/>
            <a:ext cx="4762500" cy="1143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15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spcAft>
                <a:spcPts val="10"/>
              </a:spcAft>
              <a:buNone/>
              <a:defRPr sz="15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박장한</a:t>
            </a:r>
          </a:p>
          <a:p>
            <a:pPr algn="l">
              <a:spcAft>
                <a:spcPts val="12"/>
              </a:spcAft>
              <a:buNone/>
              <a:defRPr sz="15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rPr>
              <a:t>3D 멀티플레이 슈팅 게임</a:t>
            </a:r>
          </a:p>
          <a:p>
            <a:pPr algn="l">
              <a:spcAft>
                <a:spcPts val="12"/>
              </a:spcAft>
              <a:buNone/>
              <a:defRPr sz="15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rPr>
              <a:t>2025.12 ~ 현재 개발 진행 중</a:t>
            </a:r>
          </a:p>
        </p:txBody>
      </p:sp>
      <p:sp>
        <p:nvSpPr>
          <p:cNvPr id="6" name="Rounded Rectangle 5">
            <a:extLst>
              <a:ext uri="{FF2B5EF4-FFF2-40B4-BE49-F238E27FC236}">
                <ns2:creationId id="{533CCA3C-516D-4EA8-9E37-92BB70CA71B9}"/>
              </a:ext>
            </a:extLst>
          </p:cNvPr>
          <p:cNvSpPr>
            <a:spLocks noGrp="1"/>
          </p:cNvSpPr>
          <p:nvPr/>
        </p:nvSpPr>
        <p:spPr>
          <a:xfrm>
            <a:off x="609600" y="4286250"/>
            <a:ext cx="4762500" cy="1981200"/>
          </a:xfrm>
          <a:prstGeom prst="roundRect">
            <a:avLst/>
          </a:prstGeom>
          <a:solidFill>
            <a:srgbClr val="1F2530"/>
          </a:solidFill>
          <a:ln w="12700">
            <a:solidFill>
              <a:srgbClr val="3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47650" tIns="247650" rIns="247650" bIns="247650" anchor="t">
            <a:noAutofit/>
          </a:bodyPr>
          <a:lstStyle>
            <a:defPPr algn="l"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spcAft>
                <a:spcPts val="18"/>
              </a:spcAft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주요 구현</a:t>
            </a:r>
          </a:p>
          <a:p>
            <a:pPr algn="l">
              <a:spcAft>
                <a:spcPts val="12"/>
              </a:spcAft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pPr>
            <a:r>
              <a:rPr sz="5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spcAft>
                <a:spcPts val="14"/>
              </a:spcAft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rPr>
              <a:t>무기 조준, 투사체, 충돌 판정</a:t>
            </a:r>
          </a:p>
          <a:p>
            <a:pPr algn="l">
              <a:spcAft>
                <a:spcPts val="12"/>
              </a:spcAft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pPr>
            <a:r>
              <a:rPr sz="45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spcAft>
                <a:spcPts val="14"/>
              </a:spcAft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rPr>
              <a:t>레벨 배치 검증 및 외부 데이터 편집 도구</a:t>
            </a:r>
          </a:p>
          <a:p>
            <a:pPr algn="l">
              <a:spcAft>
                <a:spcPts val="12"/>
              </a:spcAft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pPr>
            <a:r>
              <a:rPr sz="45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spcAft>
                <a:spcPts val="14"/>
              </a:spcAft>
              <a:buNone/>
              <a:def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BECADA"/>
                </a:solidFill>
                <a:latin typeface="Noto Sans KR"/>
                <a:ea typeface="Noto Sans KR"/>
                <a:cs typeface="Noto Sans KR"/>
              </a:rPr>
              <a:t>전투 NPC 특수 이동 경로 탐색</a:t>
            </a:r>
          </a:p>
        </p:txBody>
      </p:sp>
      <p:sp>
        <p:nvSpPr>
          <p:cNvPr id="7" name="Rounded Rectangle 6">
            <a:extLst>
              <a:ext uri="{FF2B5EF4-FFF2-40B4-BE49-F238E27FC236}">
                <ns2:creationId id="{D9DFEBF4-E631-47C8-8D08-B32D0DBC9A29}"/>
              </a:ext>
            </a:extLst>
          </p:cNvPr>
          <p:cNvSpPr>
            <a:spLocks noGrp="1"/>
          </p:cNvSpPr>
          <p:nvPr/>
        </p:nvSpPr>
        <p:spPr>
          <a:xfrm>
            <a:off x="6905625" y="609600"/>
            <a:ext cx="3543300" cy="5657850"/>
          </a:xfrm>
          <a:prstGeom prst="roundRect">
            <a:avLst/>
          </a:prstGeom>
          <a:noFill/>
          <a:ln w="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228600" tIns="182880" rIns="228600" bIns="182880" anchor="ctr"/>
          <a:lstStyle/>
          <a:p>
            <a:pPr algn="ctr">
              <a:spcAft>
                <a:spcPts val="600"/>
              </a:spcAft>
              <a:buNone/>
              <a:defRPr sz="1300" b="1">
                <a:solidFill>
                  <a:srgbClr val="55A0F5"/>
                </a:solidFill>
                <a:latin typeface="Noto Sans KR"/>
                <a:ea typeface="Noto Sans KR"/>
                <a:cs typeface="Noto Sans KR"/>
              </a:defRPr>
            </a:pPr>
            <a:endParaRPr/>
          </a:p>
        </p:txBody>
      </p:sp>
      <p:pic>
        <p:nvPicPr>
          <p:cNvPr id="13" name="게임대표이미지">
            <a:extLst>
              <a:ext uri="{FF2B5EF4-FFF2-40B4-BE49-F238E27FC236}">
                <ns2:creationId id="{BB5D075B-3E64-4B3F-AD78-4EB0E0E9AAC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6993093" y="676275"/>
            <a:ext cx="3368364" cy="5524500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ns2:creationId id="{61ABA5E6-ECA4-448E-BCCF-57FA919CCFA2}"/>
              </a:ext>
            </a:extLst>
          </p:cNvPr>
          <p:cNvSpPr>
            <a:spLocks noGrp="1"/>
          </p:cNvSpPr>
          <p:nvPr/>
        </p:nvSpPr>
        <p:spPr>
          <a:xfrm>
            <a:off x="6905625" y="6334125"/>
            <a:ext cx="35433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388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프로젝트 대표 이미지</a:t>
            </a:r>
          </a:p>
        </p:txBody>
      </p:sp>
      <p:sp>
        <p:nvSpPr>
          <p:cNvPr id="9" name="직사각형 8">
            <a:extLst>
              <a:ext uri="{FF2B5EF4-FFF2-40B4-BE49-F238E27FC236}">
                <ns2:creationId id="{EC0C23D2-E58C-47CA-986B-5174CF0FA3D7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01</a:t>
            </a:r>
          </a:p>
        </p:txBody>
      </p:sp>
      <p:pic>
        <p:nvPicPr>
          <p:cNvPr id="10" name="그래픽 9">
            <a:extLst>
              <a:ext uri="{FF2B5EF4-FFF2-40B4-BE49-F238E27FC236}">
                <ns2:creationId id="{82ABE466-6EF2-40A8-887D-1F3489F494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ns4:svgBlip r:embed="rId3"/>
              </a:ext>
            </a:extLst>
          </a:blip>
          <a:stretch/>
        </p:blipFill>
        <p:spPr>
          <a:xfrm>
            <a:off x="723900" y="2152650"/>
            <a:ext cx="590550" cy="59055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ns2:creationId id="{05F6DFCA-E319-4C97-857C-35304FB9B6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3371850" y="2153459"/>
            <a:ext cx="523875" cy="588931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ns2:creationId id="{FF679DCE-C7EB-496B-B218-63EDE2487A5A}"/>
              </a:ext>
            </a:extLst>
          </p:cNvPr>
          <p:cNvSpPr>
            <a:spLocks noGrp="1"/>
          </p:cNvSpPr>
          <p:nvPr/>
        </p:nvSpPr>
        <p:spPr>
          <a:xfrm>
            <a:off x="1447800" y="2257425"/>
            <a:ext cx="17145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/>
          <a:lstStyle>
            <a:defPPr>
              <a:defRPr sz="1425">
                <a:solidFill>
                  <a:srgbClr val="46D2C8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425">
                <a:solidFill>
                  <a:srgbClr val="46D2C8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425">
                <a:solidFill>
                  <a:srgbClr val="46D2C8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425">
                <a:solidFill>
                  <a:srgbClr val="46D2C8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425">
                <a:solidFill>
                  <a:srgbClr val="46D2C8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425">
                <a:solidFill>
                  <a:srgbClr val="46D2C8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425">
                <a:solidFill>
                  <a:srgbClr val="46D2C8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425">
                <a:solidFill>
                  <a:srgbClr val="46D2C8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425">
                <a:solidFill>
                  <a:srgbClr val="46D2C8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425">
                <a:solidFill>
                  <a:srgbClr val="46D2C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>
              <a:buNone/>
              <a:defRPr sz="1425">
                <a:solidFill>
                  <a:srgbClr val="46D2C8"/>
                </a:solidFill>
                <a:latin typeface="Noto Sans KR"/>
                <a:ea typeface="Noto Sans KR"/>
                <a:cs typeface="Noto Sans KR"/>
              </a:defRPr>
            </a:pPr>
            <a:r>
              <a:rPr sz="1425">
                <a:solidFill>
                  <a:srgbClr val="46D2C8"/>
                </a:solidFill>
                <a:latin typeface="Noto Sans KR"/>
                <a:ea typeface="Noto Sans KR"/>
                <a:cs typeface="Noto Sans KR"/>
              </a:rPr>
              <a:t>Unreal Engine 5.6.1</a:t>
            </a:r>
          </a:p>
        </p:txBody>
      </p:sp>
    </p:spTree>
    <p:extLst>
      <p:ext uri="{BB962C8B-B14F-4D97-AF65-F5344CB8AC3E}">
        <ns5:creationId val="2020332173"/>
      </p:ext>
    </p:extLst>
  </p:cSld>
  <p:clrMapOvr>
    <a:masterClrMapping/>
  </p:clrMapOvr>
</p:sld>
</file>

<file path=ppt/slides/slide2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ns2:creationId id="{BB3DC714-D698-48E3-AE11-C991A703D1A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8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ns2:creationId id="{F36920B6-11A0-4091-9295-D742F39B9A0C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01  PROJECT OVERVIEW</a:t>
            </a:r>
          </a:p>
        </p:txBody>
      </p:sp>
      <p:sp>
        <p:nvSpPr>
          <p:cNvPr id="4" name="TextBox 3">
            <a:extLst>
              <a:ext uri="{FF2B5EF4-FFF2-40B4-BE49-F238E27FC236}">
                <ns2:creationId id="{A4FD3263-2DB0-40CB-85AD-3DB988FFCF38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프로젝트 개요와 담당 범위</a:t>
            </a:r>
          </a:p>
        </p:txBody>
      </p:sp>
      <p:sp>
        <p:nvSpPr>
          <p:cNvPr id="5" name="Rounded Rectangle 4">
            <a:extLst>
              <a:ext uri="{FF2B5EF4-FFF2-40B4-BE49-F238E27FC236}">
                <ns2:creationId id="{DA8F889F-D8DC-43D8-9ABA-278B1BB6AC1B}"/>
              </a:ext>
            </a:extLst>
          </p:cNvPr>
          <p:cNvSpPr>
            <a:spLocks noGrp="1"/>
          </p:cNvSpPr>
          <p:nvPr/>
        </p:nvSpPr>
        <p:spPr>
          <a:xfrm>
            <a:off x="609600" y="1409700"/>
            <a:ext cx="4762500" cy="4857750"/>
          </a:xfrm>
          <a:prstGeom prst="roundRect">
            <a:avLst/>
          </a:prstGeom>
          <a:solidFill>
            <a:srgbClr val="1F2530"/>
          </a:solidFill>
          <a:ln w="12700">
            <a:solidFill>
              <a:srgbClr val="3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23850" tIns="304800" rIns="266700" bIns="228600" anchor="t">
            <a:noAutofit/>
          </a:bodyPr>
          <a:lstStyle>
            <a:def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BattleArena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600"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Unreal Engine 5.6.1 기반</a:t>
            </a:r>
            <a:b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3D 멀티플레이 슈팅 팀 프로젝트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300"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개발 기간  2025.12 ~ 현재 진행 중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300"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담당 기능</a:t>
            </a:r>
            <a:b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투사체 이동 / 충돌 판정 / 포탈</a:t>
            </a:r>
            <a:b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외부 데이터 편집 / 레벨 검증 도구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300"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전투 NPC 담당 범위: 특수 이동 경로 탐색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300"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개발 환경: C++ / Blueprint / .NET 8 WPF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300"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컴포넌트와 서브시스템에 핵심 처리를</a:t>
            </a:r>
            <a:b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분리하고 Blueprint 연출과 연결했습니다.</a:t>
            </a:r>
          </a:p>
        </p:txBody>
      </p:sp>
      <p:sp>
        <p:nvSpPr>
          <p:cNvPr id="6" name="Rounded Rectangle 5">
            <a:extLst>
              <a:ext uri="{FF2B5EF4-FFF2-40B4-BE49-F238E27FC236}">
                <ns2:creationId id="{E6701208-7008-4F40-AF10-24116AC3FFF8}"/>
              </a:ext>
            </a:extLst>
          </p:cNvPr>
          <p:cNvSpPr>
            <a:spLocks noGrp="1"/>
          </p:cNvSpPr>
          <p:nvPr/>
        </p:nvSpPr>
        <p:spPr>
          <a:xfrm>
            <a:off x="5619750" y="1409700"/>
            <a:ext cx="5943600" cy="4857750"/>
          </a:xfrm>
          <a:prstGeom prst="roundRect">
            <a:avLst/>
          </a:prstGeom>
          <a:solidFill>
            <a:srgbClr val="1F2530"/>
          </a:solidFill>
          <a:ln>
            <a:solidFill>
              <a:srgbClr val="3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23850" tIns="304800" rIns="266700" bIns="228600" anchor="t">
            <a:noAutofit/>
          </a:bodyPr>
          <a:lstStyle>
            <a:def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핵심 구현 5개</a:t>
            </a:r>
          </a:p>
          <a:p>
            <a:pPr algn="l"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450"/>
              <a:t> </a:t>
            </a:r>
          </a:p>
          <a:p>
            <a:pPr algn="l"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01 전투</a:t>
            </a:r>
          </a:p>
          <a:p>
            <a:pPr algn="l"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조준 보정, 투사체 충돌과 빔 표시</a:t>
            </a:r>
          </a:p>
          <a:p>
            <a:pPr algn="l"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450"/>
              <a:t> </a:t>
            </a:r>
          </a:p>
          <a:p>
            <a:pPr algn="l"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02 전투 NPC 특수 이동 경로 탐색</a:t>
            </a:r>
          </a:p>
          <a:p>
            <a:pPr algn="l"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일반 이동과 포탈 / 점프패드 경로 통합</a:t>
            </a:r>
          </a:p>
          <a:p>
            <a:pPr algn="l"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450"/>
              <a:t> </a:t>
            </a:r>
          </a:p>
          <a:p>
            <a:pPr algn="l"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03 포탈</a:t>
            </a:r>
          </a:p>
          <a:p>
            <a:pPr algn="l"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위치 / 속도 / 시점 변환과 출구 화면</a:t>
            </a:r>
          </a:p>
          <a:p>
            <a:pPr algn="l"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450"/>
              <a:t> </a:t>
            </a:r>
          </a:p>
          <a:p>
            <a:pPr algn="l"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04 레벨 검증 도구</a:t>
            </a:r>
          </a:p>
          <a:p>
            <a:pPr algn="l"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배치 오류 검사와 대상 오브젝트 탐색</a:t>
            </a:r>
          </a:p>
          <a:p>
            <a:pPr algn="l"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450"/>
              <a:t> </a:t>
            </a:r>
          </a:p>
          <a:p>
            <a:pPr algn="l"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05 데이터 도구</a:t>
            </a:r>
          </a:p>
          <a:p>
            <a:pPr algn="l"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Reflection / WPF / JSON 데이터 흐름</a:t>
            </a:r>
          </a:p>
          <a:p>
            <a:pPr algn="l"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600"/>
              <a:t> </a:t>
            </a:r>
          </a:p>
          <a:p>
            <a:pPr algn="l"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추가 구현: 1인칭 표시 보정, 스폰 / 사망 처리,</a:t>
            </a:r>
            <a:br>
              <a:rPr sz="142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42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카메라별 외곽선</a:t>
            </a:r>
          </a:p>
        </p:txBody>
      </p:sp>
      <p:sp>
        <p:nvSpPr>
          <p:cNvPr id="7" name="직사각형 6">
            <a:extLst>
              <a:ext uri="{FF2B5EF4-FFF2-40B4-BE49-F238E27FC236}">
                <ns2:creationId id="{83A27D07-EA0F-4F9A-B832-B6389E0356BC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02</a:t>
            </a:r>
          </a:p>
        </p:txBody>
      </p:sp>
      <p:pic>
        <p:nvPicPr>
          <p:cNvPr id="8" name="그림 7">
            <a:extLst>
              <a:ext uri="{FF2B5EF4-FFF2-40B4-BE49-F238E27FC236}">
                <ns2:creationId id="{F3DD1B0D-A982-40A2-9F33-2D6369FA25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609600" y="6362700"/>
            <a:ext cx="190500" cy="186612"/>
          </a:xfrm>
          <a:prstGeom prst="rect">
            <a:avLst/>
          </a:prstGeom>
        </p:spPr>
      </p:pic>
      <p:sp>
        <p:nvSpPr>
          <p:cNvPr id="9" name="GitHub link legend">
            <a:extLst>
              <a:ext uri="{FF2B5EF4-FFF2-40B4-BE49-F238E27FC236}">
                <ns2:creationId id="{E23A9C9E-9F33-4993-81BC-EB43EA8314CA}"/>
              </a:ext>
            </a:extLst>
          </p:cNvPr>
          <p:cNvSpPr>
            <a:spLocks noGrp="1"/>
          </p:cNvSpPr>
          <p:nvPr/>
        </p:nvSpPr>
        <p:spPr>
          <a:xfrm>
            <a:off x="895350" y="6343650"/>
            <a:ext cx="981075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35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5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5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5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5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5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5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5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5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5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5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t>GitHub 마크가 있는 항목은 해당 구현의 소스 코드 링크입니다.</a:t>
            </a:r>
          </a:p>
        </p:txBody>
      </p:sp>
    </p:spTree>
    <p:extLst>
      <p:ext uri="{BB962C8B-B14F-4D97-AF65-F5344CB8AC3E}">
        <ns4:creationId val="39874997"/>
      </p:ext>
    </p:extLst>
  </p:cSld>
  <p:clrMapOvr>
    <a:masterClrMapping/>
  </p:clrMapOvr>
</p:sld>
</file>

<file path=ppt/slides/slide4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81C24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" name="RecoveredFiringGIF">
            <a:extLst>
              <a:ext uri="{FF2B5EF4-FFF2-40B4-BE49-F238E27FC236}">
                <ns2:creationId id="{4F6EFCA1-7D47-4A7E-8377-16426C7144C9}"/>
              </a:ext>
            </a:extLst>
          </p:cNvPr>
          <p:cNvPicPr>
            <a:picLocks noChangeAspect="1"/>
          </p:cNvPicPr>
          <p:nvPr/>
        </p:nvPicPr>
        <p:blipFill>
          <a:blip r:embed="rIdFiringGIF"/>
          <a:srcRect l="0" t="0" r="0" b="0"/>
          <a:stretch/>
        </p:blipFill>
        <p:spPr>
          <a:xfrm>
            <a:off x="609600" y="1809750"/>
            <a:ext cx="5295900" cy="1887890"/>
          </a:xfrm>
          <a:prstGeom prst="rect">
            <a:avLst/>
          </a:prstGeom>
        </p:spPr>
      </p:pic>
      <p:sp>
        <p:nvSpPr>
          <p:cNvPr id="3" name="Section">
            <a:extLst>
              <a:ext uri="{FF2B5EF4-FFF2-40B4-BE49-F238E27FC236}">
                <ns2:creationId id="{35B2B93A-5B4D-4D33-9F0B-D9E4C9E97223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핵심 구현 1/5 | PROJECTILE CONVERGENCE</a:t>
            </a:r>
          </a:p>
        </p:txBody>
      </p:sp>
      <p:sp>
        <p:nvSpPr>
          <p:cNvPr id="4" name="Title">
            <a:extLst>
              <a:ext uri="{FF2B5EF4-FFF2-40B4-BE49-F238E27FC236}">
                <ns2:creationId id="{B60DC0A4-A7CE-4DF1-B5FE-459B24D451A1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총구와 조준선의 차이, 업데이트 경계 처리</a:t>
            </a:r>
          </a:p>
        </p:txBody>
      </p:sp>
      <p:sp>
        <p:nvSpPr>
          <p:cNvPr id="5" name="FiringHeading">
            <a:extLst>
              <a:ext uri="{FF2B5EF4-FFF2-40B4-BE49-F238E27FC236}">
                <ns2:creationId id="{C0C4574D-0B84-448A-A3BC-2CB104804C85}"/>
              </a:ext>
            </a:extLst>
          </p:cNvPr>
          <p:cNvSpPr>
            <a:spLocks noGrp="1"/>
          </p:cNvSpPr>
          <p:nvPr/>
        </p:nvSpPr>
        <p:spPr>
          <a:xfrm>
            <a:off x="609600" y="1447800"/>
            <a:ext cx="5295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조준 후 발사 장면</a:t>
            </a:r>
          </a:p>
        </p:txBody>
      </p:sp>
      <p:sp>
        <p:nvSpPr>
          <p:cNvPr id="6" name="FiringCaption">
            <a:extLst>
              <a:ext uri="{FF2B5EF4-FFF2-40B4-BE49-F238E27FC236}">
                <ns2:creationId id="{BB2FF37D-D40D-4A90-9480-B6A115E9BA6D}"/>
              </a:ext>
            </a:extLst>
          </p:cNvPr>
          <p:cNvSpPr>
            <a:spLocks noGrp="1"/>
          </p:cNvSpPr>
          <p:nvPr/>
        </p:nvSpPr>
        <p:spPr>
          <a:xfrm>
            <a:off x="609600" y="3829050"/>
            <a:ext cx="5295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조준선과 총구 위치가 다른 상태에서 발사</a:t>
            </a:r>
          </a:p>
        </p:txBody>
      </p:sp>
      <p:sp>
        <p:nvSpPr>
          <p:cNvPr id="7" name="ProblemHeading">
            <a:extLst>
              <a:ext uri="{FF2B5EF4-FFF2-40B4-BE49-F238E27FC236}">
                <ns2:creationId id="{A12CA646-B565-4B5B-AD7E-797B90CCC9F0}"/>
              </a:ext>
            </a:extLst>
          </p:cNvPr>
          <p:cNvSpPr>
            <a:spLocks noGrp="1"/>
          </p:cNvSpPr>
          <p:nvPr/>
        </p:nvSpPr>
        <p:spPr>
          <a:xfrm>
            <a:off x="6172200" y="1447800"/>
            <a:ext cx="5410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총구에서 조준선으로 경로 연결</a:t>
            </a:r>
          </a:p>
        </p:txBody>
      </p:sp>
      <p:sp>
        <p:nvSpPr>
          <p:cNvPr id="8" name="ProblemBody">
            <a:extLst>
              <a:ext uri="{FF2B5EF4-FFF2-40B4-BE49-F238E27FC236}">
                <ns2:creationId id="{B980131F-BCD3-4C50-B498-B786343F6006}"/>
              </a:ext>
            </a:extLst>
          </p:cNvPr>
          <p:cNvSpPr>
            <a:spLocks noGrp="1"/>
          </p:cNvSpPr>
          <p:nvPr/>
        </p:nvSpPr>
        <p:spPr>
          <a:xfrm>
            <a:off x="6172200" y="1895475"/>
            <a:ext cx="5410200" cy="1333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카메라 조준선과 총구의 위치가 달라</a:t>
            </a:r>
          </a:p>
          <a:p>
            <a: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총구 방향만 사용하면 조준점과 어긋날 수 있습니다.</a:t>
            </a:r>
          </a:p>
          <a:p>
            <a: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조준선 위 합류 지점을 향해 투사체를 이동시킨 뒤,</a:t>
            </a:r>
          </a:p>
          <a:p>
            <a: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합류 후에는 조준선 방향으로 진행합니다.</a:t>
            </a:r>
          </a:p>
        </p:txBody>
      </p:sp>
      <p:sp>
        <p:nvSpPr>
          <p:cNvPr id="9" name="CodeLink">
            <a:extLst>
              <a:ext uri="{FF2B5EF4-FFF2-40B4-BE49-F238E27FC236}">
                <ns2:creationId id="{011CD981-54CB-4243-98FB-591C22E0FDE3}"/>
              </a:ext>
            </a:extLst>
          </p:cNvPr>
          <p:cNvSpPr>
            <a:spLocks noGrp="1"/>
          </p:cNvSpPr>
          <p:nvPr/>
        </p:nvSpPr>
        <p:spPr>
          <a:xfrm>
            <a:off x="895350" y="6334125"/>
            <a:ext cx="1047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solidFill>
                  <a:srgbClr val="7DD3FC"/>
                </a:solidFill>
                <a:hlinkClick r:id="R6610ecddeee04dc6"/>
              </a:rPr>
              <a:t>GitHub / 투사체 이동</a:t>
            </a:r>
          </a:p>
        </p:txBody>
      </p:sp>
      <p:sp>
        <p:nvSpPr>
          <p:cNvPr id="10" name="PageNumber">
            <a:extLst>
              <a:ext uri="{FF2B5EF4-FFF2-40B4-BE49-F238E27FC236}">
                <ns2:creationId id="{63AE1031-F738-409B-A896-2CDC522274D9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03</a:t>
            </a:r>
          </a:p>
        </p:txBody>
      </p:sp>
      <p:pic>
        <p:nvPicPr>
          <p:cNvPr id="11" name="GitHubFiringCode">
            <a:extLst>
              <a:ext uri="{FF2B5EF4-FFF2-40B4-BE49-F238E27FC236}">
                <ns2:creationId id="{4A7D0587-EF1C-47F6-82CC-3C3680CE2A4E}"/>
              </a:ext>
            </a:extLst>
            <a:hlinkClick r:id="R6610ecddeee04dc6"/>
          </p:cNvPr>
          <p:cNvPicPr>
            <a:picLocks noChangeAspect="1"/>
          </p:cNvPicPr>
          <p:nvPr/>
        </p:nvPicPr>
        <p:blipFill>
          <a:blip r:embed="rIdGitHub"/>
          <a:stretch/>
        </p:blipFill>
        <p:spPr>
          <a:xfrm>
            <a:off x="609600" y="6362700"/>
            <a:ext cx="190500" cy="186612"/>
          </a:xfrm>
          <a:prstGeom prst="rect">
            <a:avLst/>
          </a:prstGeom>
        </p:spPr>
      </p:pic>
      <p:sp>
        <p:nvSpPr>
          <p:cNvPr id="12" name="Flow Corner heading">
            <a:extLst>
              <a:ext uri="{FF2B5EF4-FFF2-40B4-BE49-F238E27FC236}">
                <ns2:creationId id="{04F56CC5-7879-47D2-956B-4240716B2D3F}"/>
              </a:ext>
            </a:extLst>
          </p:cNvPr>
          <p:cNvSpPr>
            <a:spLocks noGrp="1"/>
          </p:cNvSpPr>
          <p:nvPr/>
        </p:nvSpPr>
        <p:spPr>
          <a:xfrm>
            <a:off x="6172200" y="3171825"/>
            <a:ext cx="5410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합류 전후의 시간을 나눠 계산</a:t>
            </a:r>
          </a:p>
        </p:txBody>
      </p:sp>
      <p:sp>
        <p:nvSpPr>
          <p:cNvPr id="13" name="Flow Corner body">
            <a:extLst>
              <a:ext uri="{FF2B5EF4-FFF2-40B4-BE49-F238E27FC236}">
                <ns2:creationId id="{8D1E8AE7-66F5-4E93-83F5-32E39E0D2AC0}"/>
              </a:ext>
            </a:extLst>
          </p:cNvPr>
          <p:cNvSpPr>
            <a:spLocks noGrp="1"/>
          </p:cNvSpPr>
          <p:nvPr/>
        </p:nvSpPr>
        <p:spPr>
          <a:xfrm>
            <a:off x="6172200" y="3581400"/>
            <a:ext cx="54102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합류까지의 시간과 프레임의 남은 시간을 나눠</a:t>
            </a:r>
          </a:p>
          <a:p>
            <a: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각 방향의 이동을 계산합니다. 충돌하면 중단합니다.</a:t>
            </a:r>
          </a:p>
        </p:txBody>
      </p:sp>
      <p:sp>
        <p:nvSpPr>
          <p:cNvPr id="14" name="Flow Heading">
            <a:extLst>
              <a:ext uri="{FF2B5EF4-FFF2-40B4-BE49-F238E27FC236}">
                <ns2:creationId id="{88C95140-A9FB-435B-BF79-98FED79014AD}"/>
              </a:ext>
            </a:extLst>
          </p:cNvPr>
          <p:cNvSpPr>
            <a:spLocks noGrp="1"/>
          </p:cNvSpPr>
          <p:nvPr/>
        </p:nvSpPr>
        <p:spPr>
          <a:xfrm>
            <a:off x="609600" y="4276725"/>
            <a:ext cx="10972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총구에서 합류한 뒤, 조준 방향으로 계속 이동</a:t>
            </a:r>
          </a:p>
        </p:txBody>
      </p:sp>
      <p:sp>
        <p:nvSpPr>
          <p:cNvPr id="15" name="Flow Camera reference">
            <a:extLst>
              <a:ext uri="{FF2B5EF4-FFF2-40B4-BE49-F238E27FC236}">
                <ns2:creationId id="{C089AE21-1E45-4830-A9EE-B832FA648866}"/>
              </a:ext>
            </a:extLst>
          </p:cNvPr>
          <p:cNvSpPr>
            <a:spLocks noGrp="1"/>
          </p:cNvSpPr>
          <p:nvPr/>
        </p:nvSpPr>
        <p:spPr>
          <a:xfrm>
            <a:off x="1095375" y="5048250"/>
            <a:ext cx="9934575" cy="9525"/>
          </a:xfrm>
          <a:custGeom>
            <a:pathLst>
              <a:path w="9934575" h="9525">
                <a:moveTo>
                  <a:pt x="0" y="0"/>
                </a:moveTo>
                <a:lnTo>
                  <a:pt x="9934575" y="0"/>
                </a:lnTo>
              </a:path>
            </a:pathLst>
          </a:custGeom>
          <a:noFill/>
          <a:ln w="14288">
            <a:solidFill>
              <a:srgbClr val="8092A5"/>
            </a:solidFill>
            <a:prstDash val="dash"/>
          </a:ln>
        </p:spPr>
      </p:sp>
      <p:sp>
        <p:nvSpPr>
          <p:cNvPr id="16" name="Flow Before convergence arrow">
            <a:extLst>
              <a:ext uri="{FF2B5EF4-FFF2-40B4-BE49-F238E27FC236}">
                <ns2:creationId id="{AD354891-7F08-47EF-92D1-01E4E3F06C50}"/>
              </a:ext>
            </a:extLst>
          </p:cNvPr>
          <p:cNvSpPr>
            <a:spLocks noGrp="1"/>
          </p:cNvSpPr>
          <p:nvPr/>
        </p:nvSpPr>
        <p:spPr>
          <a:xfrm>
            <a:off x="1092558" y="4982220"/>
            <a:ext cx="5098692" cy="846870"/>
          </a:xfrm>
          <a:custGeom>
            <a:pathLst>
              <a:path w="5098692" h="846870">
                <a:moveTo>
                  <a:pt x="5635" y="846870"/>
                </a:moveTo>
                <a:lnTo>
                  <a:pt x="4913104" y="113043"/>
                </a:lnTo>
                <a:lnTo>
                  <a:pt x="4924373" y="188405"/>
                </a:lnTo>
                <a:lnTo>
                  <a:pt x="5098692" y="66030"/>
                </a:lnTo>
                <a:lnTo>
                  <a:pt x="4896201" y="0"/>
                </a:lnTo>
                <a:lnTo>
                  <a:pt x="4907470" y="75362"/>
                </a:lnTo>
                <a:lnTo>
                  <a:pt x="0" y="809189"/>
                </a:lnTo>
                <a:lnTo>
                  <a:pt x="5635" y="846870"/>
                </a:lnTo>
              </a:path>
            </a:pathLst>
          </a:custGeom>
          <a:solidFill>
            <a:srgbClr val="49A6FF"/>
          </a:solidFill>
          <a:ln w="0">
            <a:solidFill>
              <a:srgbClr val="49A6FF"/>
            </a:solidFill>
            <a:prstDash val="solid"/>
          </a:ln>
        </p:spPr>
      </p:sp>
      <p:sp>
        <p:nvSpPr>
          <p:cNvPr id="17" name="Flow After convergence arrow">
            <a:extLst>
              <a:ext uri="{FF2B5EF4-FFF2-40B4-BE49-F238E27FC236}">
                <ns2:creationId id="{0C86EB0A-F598-4A9F-BB87-12F9E5E5E794}"/>
              </a:ext>
            </a:extLst>
          </p:cNvPr>
          <p:cNvSpPr>
            <a:spLocks noGrp="1"/>
          </p:cNvSpPr>
          <p:nvPr/>
        </p:nvSpPr>
        <p:spPr>
          <a:xfrm>
            <a:off x="6296025" y="4953000"/>
            <a:ext cx="4752975" cy="190500"/>
          </a:xfrm>
          <a:custGeom>
            <a:pathLst>
              <a:path w="4752975" h="190500">
                <a:moveTo>
                  <a:pt x="0" y="114300"/>
                </a:moveTo>
                <a:lnTo>
                  <a:pt x="4562475" y="114300"/>
                </a:lnTo>
                <a:lnTo>
                  <a:pt x="4562475" y="190500"/>
                </a:lnTo>
                <a:lnTo>
                  <a:pt x="4752975" y="95250"/>
                </a:lnTo>
                <a:lnTo>
                  <a:pt x="4562475" y="0"/>
                </a:lnTo>
                <a:lnTo>
                  <a:pt x="4562475" y="76200"/>
                </a:lnTo>
                <a:lnTo>
                  <a:pt x="0" y="76200"/>
                </a:lnTo>
                <a:lnTo>
                  <a:pt x="0" y="114300"/>
                </a:lnTo>
              </a:path>
            </a:pathLst>
          </a:custGeom>
          <a:solidFill>
            <a:srgbClr val="FFCE72"/>
          </a:solidFill>
          <a:ln w="0">
            <a:solidFill>
              <a:srgbClr val="FFCE72"/>
            </a:solidFill>
            <a:prstDash val="solid"/>
          </a:ln>
        </p:spPr>
      </p:sp>
      <p:sp>
        <p:nvSpPr>
          <p:cNvPr id="18" name="Flow Camera point">
            <a:extLst>
              <a:ext uri="{FF2B5EF4-FFF2-40B4-BE49-F238E27FC236}">
                <ns2:creationId id="{50EE39D8-3B25-471B-8582-6A21B362FD65}"/>
              </a:ext>
            </a:extLst>
          </p:cNvPr>
          <p:cNvSpPr>
            <a:spLocks noGrp="1"/>
          </p:cNvSpPr>
          <p:nvPr/>
        </p:nvSpPr>
        <p:spPr>
          <a:xfrm>
            <a:off x="1038225" y="4991100"/>
            <a:ext cx="114300" cy="114300"/>
          </a:xfrm>
          <a:prstGeom prst="ellipse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9" name="Flow Muzzle point">
            <a:extLst>
              <a:ext uri="{FF2B5EF4-FFF2-40B4-BE49-F238E27FC236}">
                <ns2:creationId id="{21E21AA5-982B-41F2-BCB9-8526540C0830}"/>
              </a:ext>
            </a:extLst>
          </p:cNvPr>
          <p:cNvSpPr>
            <a:spLocks noGrp="1"/>
          </p:cNvSpPr>
          <p:nvPr/>
        </p:nvSpPr>
        <p:spPr>
          <a:xfrm>
            <a:off x="1028700" y="5743575"/>
            <a:ext cx="133350" cy="133350"/>
          </a:xfrm>
          <a:prstGeom prst="ellipse">
            <a:avLst/>
          </a:prstGeom>
          <a:solidFill>
            <a:srgbClr val="49A6FF"/>
          </a:solidFill>
          <a:ln w="0">
            <a:noFill/>
            <a:prstDash val="solid"/>
          </a:ln>
        </p:spPr>
      </p:sp>
      <p:sp>
        <p:nvSpPr>
          <p:cNvPr id="20" name="Flow Join point">
            <a:extLst>
              <a:ext uri="{FF2B5EF4-FFF2-40B4-BE49-F238E27FC236}">
                <ns2:creationId id="{04E58506-75D0-4E5E-B1EF-D6C805FD3CFE}"/>
              </a:ext>
            </a:extLst>
          </p:cNvPr>
          <p:cNvSpPr>
            <a:spLocks noGrp="1"/>
          </p:cNvSpPr>
          <p:nvPr/>
        </p:nvSpPr>
        <p:spPr>
          <a:xfrm>
            <a:off x="6124575" y="4981575"/>
            <a:ext cx="133350" cy="13335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9A6FF"/>
            </a:solidFill>
            <a:prstDash val="solid"/>
          </a:ln>
        </p:spPr>
      </p:sp>
      <p:sp>
        <p:nvSpPr>
          <p:cNvPr id="21" name="Flow Camera label">
            <a:extLst>
              <a:ext uri="{FF2B5EF4-FFF2-40B4-BE49-F238E27FC236}">
                <ns2:creationId id="{15198FF7-BFAB-4993-AB0F-8F7331E626EC}"/>
              </a:ext>
            </a:extLst>
          </p:cNvPr>
          <p:cNvSpPr>
            <a:spLocks noGrp="1"/>
          </p:cNvSpPr>
          <p:nvPr/>
        </p:nvSpPr>
        <p:spPr>
          <a:xfrm>
            <a:off x="609600" y="4676775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카메라 조준선</a:t>
            </a:r>
          </a:p>
        </p:txBody>
      </p:sp>
      <p:sp>
        <p:nvSpPr>
          <p:cNvPr id="22" name="Flow Muzzle label">
            <a:extLst>
              <a:ext uri="{FF2B5EF4-FFF2-40B4-BE49-F238E27FC236}">
                <ns2:creationId id="{AE524E09-E5E9-43FB-AE2D-F698F30DA465}"/>
              </a:ext>
            </a:extLst>
          </p:cNvPr>
          <p:cNvSpPr>
            <a:spLocks noGrp="1"/>
          </p:cNvSpPr>
          <p:nvPr/>
        </p:nvSpPr>
        <p:spPr>
          <a:xfrm>
            <a:off x="609600" y="5915025"/>
            <a:ext cx="95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t>총구</a:t>
            </a:r>
          </a:p>
        </p:txBody>
      </p:sp>
      <p:sp>
        <p:nvSpPr>
          <p:cNvPr id="23" name="Flow Join label">
            <a:extLst>
              <a:ext uri="{FF2B5EF4-FFF2-40B4-BE49-F238E27FC236}">
                <ns2:creationId id="{FB929067-FC76-459D-8A36-E1EF3C56DC2F}"/>
              </a:ext>
            </a:extLst>
          </p:cNvPr>
          <p:cNvSpPr>
            <a:spLocks noGrp="1"/>
          </p:cNvSpPr>
          <p:nvPr/>
        </p:nvSpPr>
        <p:spPr>
          <a:xfrm>
            <a:off x="5638800" y="4676775"/>
            <a:ext cx="1524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합류 지점</a:t>
            </a:r>
          </a:p>
        </p:txBody>
      </p:sp>
      <p:sp>
        <p:nvSpPr>
          <p:cNvPr id="24" name="Flow Direction label">
            <a:extLst>
              <a:ext uri="{FF2B5EF4-FFF2-40B4-BE49-F238E27FC236}">
                <ns2:creationId id="{27C29722-0759-44B9-BF89-DC8D84B654CE}"/>
              </a:ext>
            </a:extLst>
          </p:cNvPr>
          <p:cNvSpPr>
            <a:spLocks noGrp="1"/>
          </p:cNvSpPr>
          <p:nvPr/>
        </p:nvSpPr>
        <p:spPr>
          <a:xfrm>
            <a:off x="9715500" y="4676775"/>
            <a:ext cx="1866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r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pPr>
            <a:r>
              <a:t>조준 방향</a:t>
            </a:r>
          </a:p>
        </p:txBody>
      </p:sp>
      <p:sp>
        <p:nvSpPr>
          <p:cNvPr id="25" name="Flow Before label">
            <a:extLst>
              <a:ext uri="{FF2B5EF4-FFF2-40B4-BE49-F238E27FC236}">
                <ns2:creationId id="{CE00520C-3406-4056-842F-27A855887227}"/>
              </a:ext>
            </a:extLst>
          </p:cNvPr>
          <p:cNvSpPr>
            <a:spLocks noGrp="1"/>
          </p:cNvSpPr>
          <p:nvPr/>
        </p:nvSpPr>
        <p:spPr>
          <a:xfrm>
            <a:off x="2476500" y="5800725"/>
            <a:ext cx="400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t>1. 합류 지점을 향해 이동</a:t>
            </a:r>
          </a:p>
        </p:txBody>
      </p:sp>
      <p:sp>
        <p:nvSpPr>
          <p:cNvPr id="26" name="Flow After label">
            <a:extLst>
              <a:ext uri="{FF2B5EF4-FFF2-40B4-BE49-F238E27FC236}">
                <ns2:creationId id="{EEC40446-69FC-4A83-B546-AF088355FF54}"/>
              </a:ext>
            </a:extLst>
          </p:cNvPr>
          <p:cNvSpPr>
            <a:spLocks noGrp="1"/>
          </p:cNvSpPr>
          <p:nvPr/>
        </p:nvSpPr>
        <p:spPr>
          <a:xfrm>
            <a:off x="7239000" y="5314950"/>
            <a:ext cx="43434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7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7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7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7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7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7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7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7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7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7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7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pPr>
            <a:r>
              <a:t>2. 조준선 방향으로 계속 이동</a:t>
            </a:r>
          </a:p>
        </p:txBody>
      </p:sp>
    </p:spTree>
    <p:extLst>
      <p:ext uri="{BB962C8B-B14F-4D97-AF65-F5344CB8AC3E}">
        <ns4:creationId val="1125447126"/>
      </p:ext>
    </p:extLst>
  </p:cSld>
</p:sld>
</file>

<file path=ppt/slides/slide5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ns2:creationId id="{D4F1CCB8-0D4E-48DF-B885-CEC403B15D1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8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ns2:creationId id="{C63534EC-62DC-4DF0-B2F4-2318F27548B5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핵심 구현 1/5 | PROJECTILE COLLISION</a:t>
            </a:r>
          </a:p>
        </p:txBody>
      </p:sp>
      <p:sp>
        <p:nvSpPr>
          <p:cNvPr id="4" name="TextBox 3">
            <a:extLst>
              <a:ext uri="{FF2B5EF4-FFF2-40B4-BE49-F238E27FC236}">
                <ns2:creationId id="{51D68FA9-BED7-449C-BD45-7EE3FA646CAF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업데이트 사이의 얇은 벽도 이동 구간으로 검사</a:t>
            </a:r>
          </a:p>
        </p:txBody>
      </p:sp>
      <p:sp>
        <p:nvSpPr>
          <p:cNvPr id="5" name="직사각형 8">
            <a:extLst>
              <a:ext uri="{FF2B5EF4-FFF2-40B4-BE49-F238E27FC236}">
                <ns2:creationId id="{5A89E6FB-E02E-43A8-9202-225A929F8212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04</a:t>
            </a:r>
          </a:p>
        </p:txBody>
      </p:sp>
      <p:sp>
        <p:nvSpPr>
          <p:cNvPr id="6" name="Wall diagram heading">
            <a:extLst>
              <a:ext uri="{FF2B5EF4-FFF2-40B4-BE49-F238E27FC236}">
                <ns2:creationId id="{12163381-9862-4D8A-B248-8073C8DB5048}"/>
              </a:ext>
            </a:extLst>
          </p:cNvPr>
          <p:cNvSpPr>
            <a:spLocks noGrp="1"/>
          </p:cNvSpPr>
          <p:nvPr/>
        </p:nvSpPr>
        <p:spPr>
          <a:xfrm>
            <a:off x="609600" y="1504950"/>
            <a:ext cx="529590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P0와 P1 사이에 얇은 벽이 있는 경우</a:t>
            </a:r>
          </a:p>
        </p:txBody>
      </p:sp>
      <p:sp>
        <p:nvSpPr>
          <p:cNvPr id="7" name="Previous position">
            <a:extLst>
              <a:ext uri="{FF2B5EF4-FFF2-40B4-BE49-F238E27FC236}">
                <ns2:creationId id="{B7E7D3C9-1677-4C5C-BB77-060E24F0C69B}"/>
              </a:ext>
            </a:extLst>
          </p:cNvPr>
          <p:cNvSpPr>
            <a:spLocks noGrp="1"/>
          </p:cNvSpPr>
          <p:nvPr/>
        </p:nvSpPr>
        <p:spPr>
          <a:xfrm>
            <a:off x="1104900" y="2628900"/>
            <a:ext cx="190500" cy="190500"/>
          </a:xfrm>
          <a:prstGeom prst="ellipse">
            <a:avLst/>
          </a:prstGeom>
          <a:solidFill>
            <a:srgbClr val="4DA3FF"/>
          </a:solidFill>
          <a:ln w="9525">
            <a:solidFill>
              <a:srgbClr val="4DA3FF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Intended next position">
            <a:extLst>
              <a:ext uri="{FF2B5EF4-FFF2-40B4-BE49-F238E27FC236}">
                <ns2:creationId id="{16EEDC43-E941-4710-A91E-AAFC0AB76CC0}"/>
              </a:ext>
            </a:extLst>
          </p:cNvPr>
          <p:cNvSpPr>
            <a:spLocks noGrp="1"/>
          </p:cNvSpPr>
          <p:nvPr/>
        </p:nvSpPr>
        <p:spPr>
          <a:xfrm>
            <a:off x="5191125" y="2628900"/>
            <a:ext cx="190500" cy="190500"/>
          </a:xfrm>
          <a:prstGeom prst="ellipse">
            <a:avLst/>
          </a:prstGeom>
          <a:solidFill>
            <a:srgbClr val="778899"/>
          </a:solidFill>
          <a:ln w="9525">
            <a:solidFill>
              <a:srgbClr val="778899"/>
            </a:solidFill>
          </a:ln>
        </p:spPr>
        <p:txBody>
          <a:bodyPr/>
          <a:lstStyle/>
          <a:p>
            <a:endParaRPr lang="ko-KR" altLang="en-US"/>
          </a:p>
        </p:txBody>
      </p:sp>
      <p:cxnSp>
        <p:nvCxnSpPr>
          <p:cNvPr id="9" name="직선 화살표 연결선 12">
            <a:extLst>
              <a:ext uri="{FF2B5EF4-FFF2-40B4-BE49-F238E27FC236}">
                <ns2:creationId id="{6E2AF13A-01D2-4410-8ECA-B6FD54A975CE}"/>
              </a:ext>
            </a:extLst>
          </p:cNvPr>
          <p:cNvCxnSpPr>
            <a:stCxn id="11" idx="6"/>
            <a:endCxn id="12" idx="2"/>
          </p:cNvCxnSpPr>
          <p:nvPr/>
        </p:nvCxnSpPr>
        <p:spPr>
          <a:xfrm>
            <a:off x="1295400" y="2724150"/>
            <a:ext cx="3895725" cy="0"/>
          </a:xfrm>
          <a:prstGeom prst="straightConnector1">
            <a:avLst/>
          </a:prstGeom>
          <a:ln w="19050">
            <a:solidFill>
              <a:srgbClr val="4DA3FF"/>
            </a:solidFill>
            <a:prstDash val="solid"/>
            <a:tailEnd type="triangle" w="sm" len="sm"/>
          </a:ln>
        </p:spPr>
      </p:cxnSp>
      <p:sp>
        <p:nvSpPr>
          <p:cNvPr id="10" name="Thin wall">
            <a:extLst>
              <a:ext uri="{FF2B5EF4-FFF2-40B4-BE49-F238E27FC236}">
                <ns2:creationId id="{C9E54587-5A87-451E-AD31-243627BD6091}"/>
              </a:ext>
            </a:extLst>
          </p:cNvPr>
          <p:cNvSpPr>
            <a:spLocks noGrp="1"/>
          </p:cNvSpPr>
          <p:nvPr/>
        </p:nvSpPr>
        <p:spPr>
          <a:xfrm>
            <a:off x="3209925" y="2095500"/>
            <a:ext cx="133350" cy="1295400"/>
          </a:xfrm>
          <a:prstGeom prst="roundRect">
            <a:avLst>
              <a:gd name="adj" fmla="val 50000"/>
            </a:avLst>
          </a:prstGeom>
          <a:solidFill>
            <a:srgbClr val="FFC467"/>
          </a:solidFill>
          <a:ln w="14288">
            <a:solidFill>
              <a:srgbClr val="FFC467"/>
            </a:solidFill>
          </a:ln>
        </p:spPr>
        <p:txBody>
          <a:bodyPr lIns="76200" tIns="76200" rIns="76200" bIns="76200" anchor="ctr">
            <a:noAutofit/>
          </a:bodyPr>
          <a:lstStyle>
            <a:defPPr algn="ctr">
              <a:defRPr sz="1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endParaRPr/>
          </a:p>
        </p:txBody>
      </p:sp>
      <p:sp>
        <p:nvSpPr>
          <p:cNvPr id="11" name="First impact">
            <a:extLst>
              <a:ext uri="{FF2B5EF4-FFF2-40B4-BE49-F238E27FC236}">
                <ns2:creationId id="{1B2D2F4A-F590-4AB8-8B73-6F7AA8EF0213}"/>
              </a:ext>
            </a:extLst>
          </p:cNvPr>
          <p:cNvSpPr>
            <a:spLocks noGrp="1"/>
          </p:cNvSpPr>
          <p:nvPr/>
        </p:nvSpPr>
        <p:spPr>
          <a:xfrm>
            <a:off x="2990850" y="2628900"/>
            <a:ext cx="190500" cy="190500"/>
          </a:xfrm>
          <a:prstGeom prst="ellipse">
            <a:avLst/>
          </a:prstGeom>
          <a:solidFill>
            <a:srgbClr val="FFC467"/>
          </a:solidFill>
          <a:ln w="9525">
            <a:solidFill>
              <a:srgbClr val="FFC467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P0 label">
            <a:extLst>
              <a:ext uri="{FF2B5EF4-FFF2-40B4-BE49-F238E27FC236}">
                <ns2:creationId id="{0095290D-1CB4-4B44-8CEC-38B78EAA4682}"/>
              </a:ext>
            </a:extLst>
          </p:cNvPr>
          <p:cNvSpPr>
            <a:spLocks noGrp="1"/>
          </p:cNvSpPr>
          <p:nvPr/>
        </p:nvSpPr>
        <p:spPr>
          <a:xfrm>
            <a:off x="609600" y="3086100"/>
            <a:ext cx="20955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t>이전 위치 P0</a:t>
            </a:r>
          </a:p>
        </p:txBody>
      </p:sp>
      <p:sp>
        <p:nvSpPr>
          <p:cNvPr id="13" name="P1 label">
            <a:extLst>
              <a:ext uri="{FF2B5EF4-FFF2-40B4-BE49-F238E27FC236}">
                <ns2:creationId id="{7B21AF69-CFDF-47CE-8CA2-1C48A8017BDE}"/>
              </a:ext>
            </a:extLst>
          </p:cNvPr>
          <p:cNvSpPr>
            <a:spLocks noGrp="1"/>
          </p:cNvSpPr>
          <p:nvPr/>
        </p:nvSpPr>
        <p:spPr>
          <a:xfrm>
            <a:off x="3971925" y="3086100"/>
            <a:ext cx="20002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t>다음 예정 위치 P1</a:t>
            </a:r>
          </a:p>
        </p:txBody>
      </p:sp>
      <p:sp>
        <p:nvSpPr>
          <p:cNvPr id="14" name="Thin wall label">
            <a:extLst>
              <a:ext uri="{FF2B5EF4-FFF2-40B4-BE49-F238E27FC236}">
                <ns2:creationId id="{670E5254-5A38-42CA-BCDE-8B08F4861193}"/>
              </a:ext>
            </a:extLst>
          </p:cNvPr>
          <p:cNvSpPr>
            <a:spLocks noGrp="1"/>
          </p:cNvSpPr>
          <p:nvPr/>
        </p:nvSpPr>
        <p:spPr>
          <a:xfrm>
            <a:off x="2752725" y="1809750"/>
            <a:ext cx="14287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575" b="1">
                <a:solidFill>
                  <a:srgbClr val="FFC467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75" b="1">
                <a:solidFill>
                  <a:srgbClr val="FFC467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75" b="1">
                <a:solidFill>
                  <a:srgbClr val="FFC467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75" b="1">
                <a:solidFill>
                  <a:srgbClr val="FFC467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75" b="1">
                <a:solidFill>
                  <a:srgbClr val="FFC467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75" b="1">
                <a:solidFill>
                  <a:srgbClr val="FFC467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75" b="1">
                <a:solidFill>
                  <a:srgbClr val="FFC467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75" b="1">
                <a:solidFill>
                  <a:srgbClr val="FFC467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75" b="1">
                <a:solidFill>
                  <a:srgbClr val="FFC467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75" b="1">
                <a:solidFill>
                  <a:srgbClr val="FFC467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75" b="1">
                <a:solidFill>
                  <a:srgbClr val="FFC467"/>
                </a:solidFill>
                <a:latin typeface="Noto Sans KR"/>
                <a:ea typeface="Noto Sans KR"/>
                <a:cs typeface="Noto Sans KR"/>
              </a:defRPr>
            </a:pPr>
            <a:r>
              <a:t>얇은 벽</a:t>
            </a:r>
          </a:p>
        </p:txBody>
      </p:sp>
      <p:sp>
        <p:nvSpPr>
          <p:cNvPr id="15" name="Sweep query caption">
            <a:extLst>
              <a:ext uri="{FF2B5EF4-FFF2-40B4-BE49-F238E27FC236}">
                <ns2:creationId id="{65B96BE9-A5E2-46B5-8114-903AF8F8F422}"/>
              </a:ext>
            </a:extLst>
          </p:cNvPr>
          <p:cNvSpPr>
            <a:spLocks noGrp="1"/>
          </p:cNvSpPr>
          <p:nvPr/>
        </p:nvSpPr>
        <p:spPr>
          <a:xfrm>
            <a:off x="609600" y="3714750"/>
            <a:ext cx="52959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5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7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pPr>
            <a:r>
              <a:t>Sphere Sweep으로 P0~P1 전체 구간을 검사</a:t>
            </a:r>
          </a:p>
        </p:txBody>
      </p:sp>
      <p:sp>
        <p:nvSpPr>
          <p:cNvPr id="16" name="Impact caption">
            <a:extLst>
              <a:ext uri="{FF2B5EF4-FFF2-40B4-BE49-F238E27FC236}">
                <ns2:creationId id="{88559BB0-FCE0-4738-BD7A-36BE87D80D52}"/>
              </a:ext>
            </a:extLst>
          </p:cNvPr>
          <p:cNvSpPr>
            <a:spLocks noGrp="1"/>
          </p:cNvSpPr>
          <p:nvPr/>
        </p:nvSpPr>
        <p:spPr>
          <a:xfrm>
            <a:off x="609600" y="4114800"/>
            <a:ext cx="52959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t>가장 먼저 닿은 위치에서 충돌을 확정</a:t>
            </a:r>
          </a:p>
        </p:txBody>
      </p:sp>
      <p:pic>
        <p:nvPicPr>
          <p:cNvPr id="17" name="그림 20">
            <a:extLst>
              <a:ext uri="{FF2B5EF4-FFF2-40B4-BE49-F238E27FC236}">
                <ns2:creationId id="{42DB68BA-3056-465C-96FC-D7DFFF046CB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305" t="16820" r="13127" b="8257"/>
          <a:stretch/>
        </p:blipFill>
        <p:spPr>
          <a:xfrm>
            <a:off x="609600" y="4476750"/>
            <a:ext cx="2857500" cy="1760220"/>
          </a:xfrm>
          <a:prstGeom prst="rect">
            <a:avLst/>
          </a:prstGeom>
        </p:spPr>
      </p:pic>
      <p:pic>
        <p:nvPicPr>
          <p:cNvPr id="18" name="그림 24">
            <a:extLst>
              <a:ext uri="{FF2B5EF4-FFF2-40B4-BE49-F238E27FC236}">
                <ns2:creationId id="{21F7D53D-37A7-4638-ADC4-1982B455F4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6362700"/>
            <a:ext cx="190500" cy="186612"/>
          </a:xfrm>
          <a:prstGeom prst="rect">
            <a:avLst/>
          </a:prstGeom>
        </p:spPr>
      </p:pic>
      <p:sp>
        <p:nvSpPr>
          <p:cNvPr id="19" name="GitHub code link 0">
            <a:extLst>
              <a:ext uri="{FF2B5EF4-FFF2-40B4-BE49-F238E27FC236}">
                <ns2:creationId id="{AF06C50D-87D9-482A-873B-EE93925C78DF}"/>
              </a:ext>
            </a:extLst>
          </p:cNvPr>
          <p:cNvSpPr>
            <a:spLocks noGrp="1"/>
          </p:cNvSpPr>
          <p:nvPr/>
        </p:nvSpPr>
        <p:spPr>
          <a:xfrm>
            <a:off x="895350" y="6334125"/>
            <a:ext cx="10610850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sz="1388" u="sng">
                <a:solidFill>
                  <a:srgbClr val="7DD3FC"/>
                </a:solidFill>
                <a:latin typeface="Noto Sans KR"/>
                <a:ea typeface="Noto Sans KR"/>
                <a:cs typeface="Noto Sans KR"/>
                <a:hlinkClick r:id="rId4"/>
              </a:rPr>
              <a:t>GitHub / 충돌 판정</a:t>
            </a:r>
          </a:p>
        </p:txBody>
      </p:sp>
      <p:sp>
        <p:nvSpPr>
          <p:cNvPr id="20" name="HitRadiusLabel">
            <a:extLst>
              <a:ext uri="{FF2B5EF4-FFF2-40B4-BE49-F238E27FC236}">
                <ns2:creationId id="{3DE76AB9-C490-4830-A73D-0687EB8087AF}"/>
              </a:ext>
            </a:extLst>
          </p:cNvPr>
          <p:cNvSpPr>
            <a:spLocks noGrp="1"/>
          </p:cNvSpPr>
          <p:nvPr/>
        </p:nvSpPr>
        <p:spPr>
          <a:xfrm>
            <a:off x="3752850" y="4638675"/>
            <a:ext cx="2152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t>명중용 / 바깥 큰 구</a:t>
            </a:r>
          </a:p>
        </p:txBody>
      </p:sp>
      <p:sp>
        <p:nvSpPr>
          <p:cNvPr id="21" name="HitRadiusDetail">
            <a:extLst>
              <a:ext uri="{FF2B5EF4-FFF2-40B4-BE49-F238E27FC236}">
                <ns2:creationId id="{81945547-6372-49D3-89FF-56C798B6CBBC}"/>
              </a:ext>
            </a:extLst>
          </p:cNvPr>
          <p:cNvSpPr>
            <a:spLocks noGrp="1"/>
          </p:cNvSpPr>
          <p:nvPr/>
        </p:nvSpPr>
        <p:spPr>
          <a:xfrm>
            <a:off x="3752850" y="4981575"/>
            <a:ext cx="21526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플레이어 명중 검사</a:t>
            </a:r>
          </a:p>
        </p:txBody>
      </p:sp>
      <p:sp>
        <p:nvSpPr>
          <p:cNvPr id="22" name="WorldRadiusLabel">
            <a:extLst>
              <a:ext uri="{FF2B5EF4-FFF2-40B4-BE49-F238E27FC236}">
                <ns2:creationId id="{93868752-CA9B-477C-AF4D-BA486392E2E5}"/>
              </a:ext>
            </a:extLst>
          </p:cNvPr>
          <p:cNvSpPr>
            <a:spLocks noGrp="1"/>
          </p:cNvSpPr>
          <p:nvPr/>
        </p:nvSpPr>
        <p:spPr>
          <a:xfrm>
            <a:off x="3752850" y="5534025"/>
            <a:ext cx="2152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pPr>
            <a:r>
              <a:t>환경용 / 안쪽 작은 구</a:t>
            </a:r>
          </a:p>
        </p:txBody>
      </p:sp>
      <p:sp>
        <p:nvSpPr>
          <p:cNvPr id="23" name="WorldRadiusDetail">
            <a:extLst>
              <a:ext uri="{FF2B5EF4-FFF2-40B4-BE49-F238E27FC236}">
                <ns2:creationId id="{0335317D-802A-4B98-8921-010A156A6BA6}"/>
              </a:ext>
            </a:extLst>
          </p:cNvPr>
          <p:cNvSpPr>
            <a:spLocks noGrp="1"/>
          </p:cNvSpPr>
          <p:nvPr/>
        </p:nvSpPr>
        <p:spPr>
          <a:xfrm>
            <a:off x="3752850" y="5876925"/>
            <a:ext cx="21526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벽 / 지형 충돌 검사</a:t>
            </a:r>
          </a:p>
        </p:txBody>
      </p:sp>
      <p:sp>
        <p:nvSpPr>
          <p:cNvPr id="24" name="HitRadiusLeader">
            <a:extLst>
              <a:ext uri="{FF2B5EF4-FFF2-40B4-BE49-F238E27FC236}">
                <ns2:creationId id="{06DE4A30-9185-4330-8F6D-7887FE6089E0}"/>
              </a:ext>
            </a:extLst>
          </p:cNvPr>
          <p:cNvSpPr>
            <a:spLocks noGrp="1"/>
          </p:cNvSpPr>
          <p:nvPr/>
        </p:nvSpPr>
        <p:spPr>
          <a:xfrm>
            <a:off x="2413635" y="4867275"/>
            <a:ext cx="1224915" cy="209550"/>
          </a:xfrm>
          <a:custGeom>
            <a:pathLst>
              <a:path w="1224915" h="209550">
                <a:moveTo>
                  <a:pt x="1224915" y="0"/>
                </a:moveTo>
                <a:lnTo>
                  <a:pt x="681990" y="0"/>
                </a:lnTo>
                <a:lnTo>
                  <a:pt x="0" y="209550"/>
                </a:lnTo>
              </a:path>
            </a:pathLst>
          </a:custGeom>
          <a:noFill/>
          <a:ln w="19050">
            <a:solidFill>
              <a:srgbClr val="49A6FF"/>
            </a:solidFill>
            <a:prstDash val="solid"/>
          </a:ln>
        </p:spPr>
      </p:sp>
      <p:sp>
        <p:nvSpPr>
          <p:cNvPr id="25" name="WorldRadiusLeader">
            <a:extLst>
              <a:ext uri="{FF2B5EF4-FFF2-40B4-BE49-F238E27FC236}">
                <ns2:creationId id="{F0EB795E-8528-4402-86DD-127950759852}"/>
              </a:ext>
            </a:extLst>
          </p:cNvPr>
          <p:cNvSpPr>
            <a:spLocks noGrp="1"/>
          </p:cNvSpPr>
          <p:nvPr/>
        </p:nvSpPr>
        <p:spPr>
          <a:xfrm>
            <a:off x="1956435" y="5371148"/>
            <a:ext cx="1682115" cy="391478"/>
          </a:xfrm>
          <a:custGeom>
            <a:pathLst>
              <a:path w="1682115" h="391478">
                <a:moveTo>
                  <a:pt x="1682115" y="391478"/>
                </a:moveTo>
                <a:lnTo>
                  <a:pt x="1043940" y="391478"/>
                </a:lnTo>
                <a:lnTo>
                  <a:pt x="0" y="0"/>
                </a:lnTo>
              </a:path>
            </a:pathLst>
          </a:custGeom>
          <a:noFill/>
          <a:ln w="19050">
            <a:solidFill>
              <a:srgbClr val="FFCE72"/>
            </a:solidFill>
            <a:prstDash val="solid"/>
          </a:ln>
        </p:spPr>
      </p:sp>
      <p:sp>
        <p:nvSpPr>
          <p:cNvPr id="26" name="HitRadiusPin">
            <a:extLst>
              <a:ext uri="{FF2B5EF4-FFF2-40B4-BE49-F238E27FC236}">
                <ns2:creationId id="{360F6291-1668-4FFD-9BDB-317210A780D5}"/>
              </a:ext>
            </a:extLst>
          </p:cNvPr>
          <p:cNvSpPr>
            <a:spLocks noGrp="1"/>
          </p:cNvSpPr>
          <p:nvPr/>
        </p:nvSpPr>
        <p:spPr>
          <a:xfrm>
            <a:off x="2385060" y="5048250"/>
            <a:ext cx="57150" cy="57150"/>
          </a:xfrm>
          <a:prstGeom prst="ellipse">
            <a:avLst/>
          </a:prstGeom>
          <a:solidFill>
            <a:srgbClr val="49A6FF"/>
          </a:solidFill>
          <a:ln w="0">
            <a:noFill/>
            <a:prstDash val="solid"/>
          </a:ln>
        </p:spPr>
      </p:sp>
      <p:sp>
        <p:nvSpPr>
          <p:cNvPr id="27" name="WorldRadiusPin">
            <a:extLst>
              <a:ext uri="{FF2B5EF4-FFF2-40B4-BE49-F238E27FC236}">
                <ns2:creationId id="{64FA802D-5F2C-431D-9A88-54B64716B046}"/>
              </a:ext>
            </a:extLst>
          </p:cNvPr>
          <p:cNvSpPr>
            <a:spLocks noGrp="1"/>
          </p:cNvSpPr>
          <p:nvPr/>
        </p:nvSpPr>
        <p:spPr>
          <a:xfrm>
            <a:off x="1927860" y="5342573"/>
            <a:ext cx="57150" cy="57150"/>
          </a:xfrm>
          <a:prstGeom prst="ellipse">
            <a:avLst/>
          </a:prstGeom>
          <a:solidFill>
            <a:srgbClr val="FFCE72"/>
          </a:solidFill>
          <a:ln w="0">
            <a:noFill/>
            <a:prstDash val="solid"/>
          </a:ln>
        </p:spPr>
      </p:sp>
      <p:sp>
        <p:nvSpPr>
          <p:cNvPr id="28" name="NET4 heading">
            <a:extLst>
              <a:ext uri="{FF2B5EF4-FFF2-40B4-BE49-F238E27FC236}">
                <ns2:creationId id="{AE49A46F-91DD-4C9E-9666-8ED5A49BBB76}"/>
              </a:ext>
            </a:extLst>
          </p:cNvPr>
          <p:cNvSpPr>
            <a:spLocks noGrp="1"/>
          </p:cNvSpPr>
          <p:nvPr/>
        </p:nvSpPr>
        <p:spPr>
          <a:xfrm>
            <a:off x="6172200" y="1466850"/>
            <a:ext cx="5410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서버와 클라이언트의 검사 범위</a:t>
            </a:r>
          </a:p>
        </p:txBody>
      </p:sp>
      <p:sp>
        <p:nvSpPr>
          <p:cNvPr id="29" name="NET4 server frame">
            <a:extLst>
              <a:ext uri="{FF2B5EF4-FFF2-40B4-BE49-F238E27FC236}">
                <ns2:creationId id="{359CCC52-1FB2-4196-96D7-F7D6B7C28B00}"/>
              </a:ext>
            </a:extLst>
          </p:cNvPr>
          <p:cNvSpPr>
            <a:spLocks noGrp="1"/>
          </p:cNvSpPr>
          <p:nvPr/>
        </p:nvSpPr>
        <p:spPr>
          <a:xfrm>
            <a:off x="6172200" y="1990725"/>
            <a:ext cx="1219200" cy="714375"/>
          </a:xfrm>
          <a:prstGeom prst="roundRect">
            <a:avLst>
              <a:gd name="adj" fmla="val 10667"/>
            </a:avLst>
          </a:prstGeom>
          <a:solidFill>
            <a:srgbClr val="202733"/>
          </a:solidFill>
          <a:ln w="14288">
            <a:solidFill>
              <a:srgbClr val="49A6FF"/>
            </a:solidFill>
            <a:prstDash val="solid"/>
          </a:ln>
        </p:spPr>
      </p:sp>
      <p:sp>
        <p:nvSpPr>
          <p:cNvPr id="30" name="NET4 server">
            <a:extLst>
              <a:ext uri="{FF2B5EF4-FFF2-40B4-BE49-F238E27FC236}">
                <ns2:creationId id="{EC0F70EE-B915-4B82-9940-4DD706FA9F05}"/>
              </a:ext>
            </a:extLst>
          </p:cNvPr>
          <p:cNvSpPr>
            <a:spLocks noGrp="1"/>
          </p:cNvSpPr>
          <p:nvPr/>
        </p:nvSpPr>
        <p:spPr>
          <a:xfrm>
            <a:off x="6286500" y="2114550"/>
            <a:ext cx="9906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서버</a:t>
            </a:r>
          </a:p>
        </p:txBody>
      </p:sp>
      <p:sp>
        <p:nvSpPr>
          <p:cNvPr id="31" name="NET4 server arrow">
            <a:extLst>
              <a:ext uri="{FF2B5EF4-FFF2-40B4-BE49-F238E27FC236}">
                <ns2:creationId id="{A14FC352-A7F3-4C1D-9528-4C063C85FEAA}"/>
              </a:ext>
            </a:extLst>
          </p:cNvPr>
          <p:cNvSpPr>
            <a:spLocks noGrp="1"/>
          </p:cNvSpPr>
          <p:nvPr/>
        </p:nvSpPr>
        <p:spPr>
          <a:xfrm>
            <a:off x="7505700" y="2276475"/>
            <a:ext cx="266700" cy="114300"/>
          </a:xfrm>
          <a:prstGeom prst="rightArrow">
            <a:avLst/>
          </a:prstGeom>
          <a:solidFill>
            <a:srgbClr val="49A6FF"/>
          </a:solidFill>
          <a:ln w="0">
            <a:noFill/>
            <a:prstDash val="solid"/>
          </a:ln>
        </p:spPr>
      </p:sp>
      <p:sp>
        <p:nvSpPr>
          <p:cNvPr id="32" name="NET4 server scope frame">
            <a:extLst>
              <a:ext uri="{FF2B5EF4-FFF2-40B4-BE49-F238E27FC236}">
                <ns2:creationId id="{2D16ACAB-BD1D-4B4B-9F61-B399436C97F1}"/>
              </a:ext>
            </a:extLst>
          </p:cNvPr>
          <p:cNvSpPr>
            <a:spLocks noGrp="1"/>
          </p:cNvSpPr>
          <p:nvPr/>
        </p:nvSpPr>
        <p:spPr>
          <a:xfrm>
            <a:off x="7905750" y="1933575"/>
            <a:ext cx="3676650" cy="828675"/>
          </a:xfrm>
          <a:prstGeom prst="roundRect">
            <a:avLst>
              <a:gd name="adj" fmla="val 9195"/>
            </a:avLst>
          </a:prstGeom>
          <a:solidFill>
            <a:srgbClr val="202733"/>
          </a:solidFill>
          <a:ln w="14288">
            <a:solidFill>
              <a:srgbClr val="49A6FF"/>
            </a:solidFill>
            <a:prstDash val="solid"/>
          </a:ln>
        </p:spPr>
      </p:sp>
      <p:sp>
        <p:nvSpPr>
          <p:cNvPr id="33" name="NET4 server scope">
            <a:extLst>
              <a:ext uri="{FF2B5EF4-FFF2-40B4-BE49-F238E27FC236}">
                <ns2:creationId id="{4B12856A-C321-42CE-B8B2-35C7DBF1B319}"/>
              </a:ext>
            </a:extLst>
          </p:cNvPr>
          <p:cNvSpPr>
            <a:spLocks noGrp="1"/>
          </p:cNvSpPr>
          <p:nvPr/>
        </p:nvSpPr>
        <p:spPr>
          <a:xfrm>
            <a:off x="8020050" y="2057400"/>
            <a:ext cx="3448050" cy="638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환경: SweepSingle</a:t>
            </a:r>
          </a:p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플레이어: SweepMulti</a:t>
            </a:r>
          </a:p>
        </p:txBody>
      </p:sp>
      <p:sp>
        <p:nvSpPr>
          <p:cNvPr id="34" name="NET4 client frame">
            <a:extLst>
              <a:ext uri="{FF2B5EF4-FFF2-40B4-BE49-F238E27FC236}">
                <ns2:creationId id="{97C21A90-A657-41D1-8095-29A5A1A23863}"/>
              </a:ext>
            </a:extLst>
          </p:cNvPr>
          <p:cNvSpPr>
            <a:spLocks noGrp="1"/>
          </p:cNvSpPr>
          <p:nvPr/>
        </p:nvSpPr>
        <p:spPr>
          <a:xfrm>
            <a:off x="6172200" y="2971800"/>
            <a:ext cx="1219200" cy="714375"/>
          </a:xfrm>
          <a:prstGeom prst="roundRect">
            <a:avLst>
              <a:gd name="adj" fmla="val 10667"/>
            </a:avLst>
          </a:prstGeom>
          <a:solidFill>
            <a:srgbClr val="202733"/>
          </a:solidFill>
          <a:ln w="14288">
            <a:solidFill>
              <a:srgbClr val="8092A5"/>
            </a:solidFill>
            <a:prstDash val="solid"/>
          </a:ln>
        </p:spPr>
      </p:sp>
      <p:sp>
        <p:nvSpPr>
          <p:cNvPr id="35" name="NET4 client">
            <a:extLst>
              <a:ext uri="{FF2B5EF4-FFF2-40B4-BE49-F238E27FC236}">
                <ns2:creationId id="{E06B1833-745A-41AE-9519-4044C188B933}"/>
              </a:ext>
            </a:extLst>
          </p:cNvPr>
          <p:cNvSpPr>
            <a:spLocks noGrp="1"/>
          </p:cNvSpPr>
          <p:nvPr/>
        </p:nvSpPr>
        <p:spPr>
          <a:xfrm>
            <a:off x="6286500" y="3095625"/>
            <a:ext cx="9906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클라이언트</a:t>
            </a:r>
          </a:p>
        </p:txBody>
      </p:sp>
      <p:sp>
        <p:nvSpPr>
          <p:cNvPr id="36" name="NET4 client arrow">
            <a:extLst>
              <a:ext uri="{FF2B5EF4-FFF2-40B4-BE49-F238E27FC236}">
                <ns2:creationId id="{C4122EBB-6C24-48BB-8000-518DD88CB4B8}"/>
              </a:ext>
            </a:extLst>
          </p:cNvPr>
          <p:cNvSpPr>
            <a:spLocks noGrp="1"/>
          </p:cNvSpPr>
          <p:nvPr/>
        </p:nvSpPr>
        <p:spPr>
          <a:xfrm>
            <a:off x="7505700" y="3257550"/>
            <a:ext cx="266700" cy="114300"/>
          </a:xfrm>
          <a:prstGeom prst="rightArrow">
            <a:avLst/>
          </a:prstGeom>
          <a:solidFill>
            <a:srgbClr val="8092A5"/>
          </a:solidFill>
          <a:ln w="0">
            <a:noFill/>
            <a:prstDash val="solid"/>
          </a:ln>
        </p:spPr>
      </p:sp>
      <p:sp>
        <p:nvSpPr>
          <p:cNvPr id="37" name="NET4 client scope frame">
            <a:extLst>
              <a:ext uri="{FF2B5EF4-FFF2-40B4-BE49-F238E27FC236}">
                <ns2:creationId id="{9B002A99-8164-4E4E-BB0D-CAEC4A4CB83C}"/>
              </a:ext>
            </a:extLst>
          </p:cNvPr>
          <p:cNvSpPr>
            <a:spLocks noGrp="1"/>
          </p:cNvSpPr>
          <p:nvPr/>
        </p:nvSpPr>
        <p:spPr>
          <a:xfrm>
            <a:off x="7905750" y="2914650"/>
            <a:ext cx="3676650" cy="828675"/>
          </a:xfrm>
          <a:prstGeom prst="roundRect">
            <a:avLst>
              <a:gd name="adj" fmla="val 9195"/>
            </a:avLst>
          </a:prstGeom>
          <a:solidFill>
            <a:srgbClr val="202733"/>
          </a:solidFill>
          <a:ln w="14288">
            <a:solidFill>
              <a:srgbClr val="8092A5"/>
            </a:solidFill>
            <a:prstDash val="solid"/>
          </a:ln>
        </p:spPr>
      </p:sp>
      <p:sp>
        <p:nvSpPr>
          <p:cNvPr id="38" name="NET4 client scope">
            <a:extLst>
              <a:ext uri="{FF2B5EF4-FFF2-40B4-BE49-F238E27FC236}">
                <ns2:creationId id="{3E85CD7E-816F-4A09-A20A-D31F6A6B500C}"/>
              </a:ext>
            </a:extLst>
          </p:cNvPr>
          <p:cNvSpPr>
            <a:spLocks noGrp="1"/>
          </p:cNvSpPr>
          <p:nvPr/>
        </p:nvSpPr>
        <p:spPr>
          <a:xfrm>
            <a:off x="8020050" y="3038475"/>
            <a:ext cx="3448050" cy="638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환경: SweepSingle</a:t>
            </a:r>
          </a:p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플레이어 후보 검사는 생략</a:t>
            </a:r>
          </a:p>
        </p:txBody>
      </p:sp>
      <p:sp>
        <p:nvSpPr>
          <p:cNvPr id="39" name="NET4 authority gate">
            <a:extLst>
              <a:ext uri="{FF2B5EF4-FFF2-40B4-BE49-F238E27FC236}">
                <ns2:creationId id="{05236567-22D8-4D9B-98E7-6762705B035E}"/>
              </a:ext>
            </a:extLst>
          </p:cNvPr>
          <p:cNvSpPr>
            <a:spLocks noGrp="1"/>
          </p:cNvSpPr>
          <p:nvPr/>
        </p:nvSpPr>
        <p:spPr>
          <a:xfrm>
            <a:off x="6172200" y="3924300"/>
            <a:ext cx="54102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플레이어 후보는 서버 권한과 피해 가능 상태를</a:t>
            </a:r>
          </a:p>
          <a:p>
            <a: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확인한 뒤 검사합니다.</a:t>
            </a:r>
          </a:p>
        </p:txBody>
      </p:sp>
      <p:sp>
        <p:nvSpPr>
          <p:cNvPr id="40" name="NET4 separator">
            <a:extLst>
              <a:ext uri="{FF2B5EF4-FFF2-40B4-BE49-F238E27FC236}">
                <ns2:creationId id="{5956EC49-605B-484C-93C1-F2B2275A0C4F}"/>
              </a:ext>
            </a:extLst>
          </p:cNvPr>
          <p:cNvSpPr>
            <a:spLocks noGrp="1"/>
          </p:cNvSpPr>
          <p:nvPr/>
        </p:nvSpPr>
        <p:spPr>
          <a:xfrm>
            <a:off x="6172200" y="4657725"/>
            <a:ext cx="5410200" cy="9525"/>
          </a:xfrm>
          <a:custGeom>
            <a:pathLst>
              <a:path w="5410200" h="9525">
                <a:moveTo>
                  <a:pt x="0" y="0"/>
                </a:moveTo>
                <a:lnTo>
                  <a:pt x="5410200" y="0"/>
                </a:lnTo>
              </a:path>
            </a:pathLst>
          </a:custGeom>
          <a:noFill/>
          <a:ln w="9525">
            <a:solidFill>
              <a:srgbClr val="8092A5"/>
            </a:solidFill>
            <a:prstDash val="solid"/>
          </a:ln>
        </p:spPr>
      </p:sp>
      <p:sp>
        <p:nvSpPr>
          <p:cNvPr id="41" name="NET4 sweep title">
            <a:extLst>
              <a:ext uri="{FF2B5EF4-FFF2-40B4-BE49-F238E27FC236}">
                <ns2:creationId id="{CA518FE4-F330-4A1A-A6B9-C9A8F1752BFE}"/>
              </a:ext>
            </a:extLst>
          </p:cNvPr>
          <p:cNvSpPr>
            <a:spLocks noGrp="1"/>
          </p:cNvSpPr>
          <p:nvPr/>
        </p:nvSpPr>
        <p:spPr>
          <a:xfrm>
            <a:off x="6172200" y="4838700"/>
            <a:ext cx="54102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구간 전체를 검사하고, 첫 충돌을 선택</a:t>
            </a:r>
          </a:p>
        </p:txBody>
      </p:sp>
      <p:sp>
        <p:nvSpPr>
          <p:cNvPr id="42" name="NET4 sweep detail">
            <a:extLst>
              <a:ext uri="{FF2B5EF4-FFF2-40B4-BE49-F238E27FC236}">
                <ns2:creationId id="{C1670A10-D440-4EC9-BD10-A8D4EB81F338}"/>
              </a:ext>
            </a:extLst>
          </p:cNvPr>
          <p:cNvSpPr>
            <a:spLocks noGrp="1"/>
          </p:cNvSpPr>
          <p:nvPr/>
        </p:nvSpPr>
        <p:spPr>
          <a:xfrm>
            <a:off x="6172200" y="5267325"/>
            <a:ext cx="5410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RecordTravel로 기록한 각 이동 구간을 Sphere Sweep합니다.</a:t>
            </a:r>
          </a:p>
          <a:p>
            <a: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가장 이른 Hit.Time을 선택하고, 플레이어 후보는</a:t>
            </a:r>
          </a:p>
          <a:p>
            <a: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Line Trace로 벽에 가려졌는지 추가 확인합니다.</a:t>
            </a:r>
          </a:p>
        </p:txBody>
      </p:sp>
    </p:spTree>
    <p:extLst>
      <p:ext uri="{BB962C8B-B14F-4D97-AF65-F5344CB8AC3E}">
        <ns4:creationId val="1723214894"/>
      </p:ext>
    </p:extLst>
  </p:cSld>
  <p:clrMapOvr>
    <a:masterClrMapping/>
  </p:clrMapOvr>
</p:sld>
</file>

<file path=ppt/slides/slide6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ns2:creationId id="{3135A1AB-169E-46CC-BEC9-B4EEC8FF9F4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8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ns2:creationId id="{C16FB9DE-E886-4128-ABBC-E9822FA1A7C2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핵심 구현 2/5 | BATTLE NPC NAVIGATION</a:t>
            </a:r>
          </a:p>
        </p:txBody>
      </p:sp>
      <p:sp>
        <p:nvSpPr>
          <p:cNvPr id="4" name="TextBox 3">
            <a:extLst>
              <a:ext uri="{FF2B5EF4-FFF2-40B4-BE49-F238E27FC236}">
                <ns2:creationId id="{28CD56B4-BD54-4BF1-916C-9A8CABCB5211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전투 NPC가 사용하는 특수 이동 경로</a:t>
            </a:r>
          </a:p>
        </p:txBody>
      </p:sp>
      <p:sp>
        <p:nvSpPr>
          <p:cNvPr id="9" name="직사각형 8">
            <a:extLst>
              <a:ext uri="{FF2B5EF4-FFF2-40B4-BE49-F238E27FC236}">
                <ns2:creationId id="{02BFDAB9-6005-43C5-8E6E-813514552189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05</a:t>
            </a:r>
          </a:p>
        </p:txBody>
      </p:sp>
      <p:pic>
        <p:nvPicPr>
          <p:cNvPr id="10" name="그림 9">
            <a:extLst>
              <a:ext uri="{FF2B5EF4-FFF2-40B4-BE49-F238E27FC236}">
                <ns2:creationId id="{C1031AF8-AC04-463F-AA60-01F16AEB0F3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609600" y="1562100"/>
            <a:ext cx="7239000" cy="4587431"/>
          </a:xfrm>
          <a:prstGeom prst="rect">
            <a:avLst/>
          </a:prstGeom>
        </p:spPr>
      </p:pic>
      <p:sp>
        <p:nvSpPr>
          <p:cNvPr id="11" name="Battle NPC position ring">
            <a:extLst>
              <a:ext uri="{FF2B5EF4-FFF2-40B4-BE49-F238E27FC236}">
                <ns2:creationId id="{3C872EF9-3626-4CFA-AE70-771810CB152A}"/>
              </a:ext>
            </a:extLst>
          </p:cNvPr>
          <p:cNvSpPr>
            <a:spLocks noGrp="1"/>
          </p:cNvSpPr>
          <p:nvPr/>
        </p:nvSpPr>
        <p:spPr>
          <a:xfrm>
            <a:off x="4017793" y="3340850"/>
            <a:ext cx="609600" cy="609600"/>
          </a:xfrm>
          <a:prstGeom prst="ellipse">
            <a:avLst/>
          </a:prstGeom>
          <a:noFill/>
          <a:ln w="23813">
            <a:solidFill>
              <a:srgbClr val="FFFFFF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Battle NPC position">
            <a:extLst>
              <a:ext uri="{FF2B5EF4-FFF2-40B4-BE49-F238E27FC236}">
                <ns2:creationId id="{E3F83939-4E1C-4E77-A76D-C4C146CC47B0}"/>
              </a:ext>
            </a:extLst>
          </p:cNvPr>
          <p:cNvSpPr>
            <a:spLocks noGrp="1"/>
          </p:cNvSpPr>
          <p:nvPr/>
        </p:nvSpPr>
        <p:spPr>
          <a:xfrm>
            <a:off x="4722643" y="3521825"/>
            <a:ext cx="2095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전투 NPC</a:t>
            </a:r>
          </a:p>
        </p:txBody>
      </p:sp>
      <p:sp>
        <p:nvSpPr>
          <p:cNvPr id="13" name="NPC image scope">
            <a:extLst>
              <a:ext uri="{FF2B5EF4-FFF2-40B4-BE49-F238E27FC236}">
                <ns2:creationId id="{91725930-0F90-4111-8ED8-50E7D7DC7914}"/>
              </a:ext>
            </a:extLst>
          </p:cNvPr>
          <p:cNvSpPr>
            <a:spLocks noGrp="1"/>
          </p:cNvSpPr>
          <p:nvPr/>
        </p:nvSpPr>
        <p:spPr>
          <a:xfrm>
            <a:off x="8439150" y="1714500"/>
            <a:ext cx="314325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담당 범위</a:t>
            </a:r>
          </a:p>
          <a:p>
            <a: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특수 이동 경로 탐색</a:t>
            </a:r>
          </a:p>
        </p:txBody>
      </p:sp>
      <p:sp>
        <p:nvSpPr>
          <p:cNvPr id="14" name="Current route legend">
            <a:extLst>
              <a:ext uri="{FF2B5EF4-FFF2-40B4-BE49-F238E27FC236}">
                <ns2:creationId id="{E7F50DF5-7624-49EA-834E-9F0E48CCC6A8}"/>
              </a:ext>
            </a:extLst>
          </p:cNvPr>
          <p:cNvSpPr>
            <a:spLocks noGrp="1"/>
          </p:cNvSpPr>
          <p:nvPr/>
        </p:nvSpPr>
        <p:spPr>
          <a:xfrm>
            <a:off x="8439150" y="3048000"/>
            <a:ext cx="314325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6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6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6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6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6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6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6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6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6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6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6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흰색</a:t>
            </a:r>
          </a:p>
          <a:p>
            <a:pPr algn="l">
              <a:defRPr sz="16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현재 이동 경로</a:t>
            </a:r>
          </a:p>
        </p:txBody>
      </p:sp>
      <p:sp>
        <p:nvSpPr>
          <p:cNvPr id="15" name="Special route legend">
            <a:extLst>
              <a:ext uri="{FF2B5EF4-FFF2-40B4-BE49-F238E27FC236}">
                <ns2:creationId id="{E10D0864-24C2-49F2-986E-F7BBAD173A54}"/>
              </a:ext>
            </a:extLst>
          </p:cNvPr>
          <p:cNvSpPr>
            <a:spLocks noGrp="1"/>
          </p:cNvSpPr>
          <p:nvPr/>
        </p:nvSpPr>
        <p:spPr>
          <a:xfrm>
            <a:off x="8439150" y="3952875"/>
            <a:ext cx="314325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650" b="0">
                <a:solidFill>
                  <a:srgbClr val="FF727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650" b="0">
                <a:solidFill>
                  <a:srgbClr val="FF727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650" b="0">
                <a:solidFill>
                  <a:srgbClr val="FF727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650" b="0">
                <a:solidFill>
                  <a:srgbClr val="FF727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650" b="0">
                <a:solidFill>
                  <a:srgbClr val="FF727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650" b="0">
                <a:solidFill>
                  <a:srgbClr val="FF727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650" b="0">
                <a:solidFill>
                  <a:srgbClr val="FF727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650" b="0">
                <a:solidFill>
                  <a:srgbClr val="FF727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650" b="0">
                <a:solidFill>
                  <a:srgbClr val="FF727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650" b="0">
                <a:solidFill>
                  <a:srgbClr val="FF7272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650" b="0">
                <a:solidFill>
                  <a:srgbClr val="FF7272"/>
                </a:solidFill>
                <a:latin typeface="Noto Sans KR"/>
                <a:ea typeface="Noto Sans KR"/>
                <a:cs typeface="Noto Sans KR"/>
              </a:defRPr>
            </a:pPr>
            <a:r>
              <a:t>빨강</a:t>
            </a:r>
          </a:p>
          <a:p>
            <a:pPr algn="l">
              <a:defRPr sz="1650" b="0">
                <a:solidFill>
                  <a:srgbClr val="FF7272"/>
                </a:solidFill>
                <a:latin typeface="Noto Sans KR"/>
                <a:ea typeface="Noto Sans KR"/>
                <a:cs typeface="Noto Sans KR"/>
              </a:defRPr>
            </a:pPr>
            <a:r>
              <a:t>특수 이동 연결(PathLink)</a:t>
            </a:r>
          </a:p>
        </p:txBody>
      </p:sp>
      <p:sp>
        <p:nvSpPr>
          <p:cNvPr id="16" name="Future route legend">
            <a:extLst>
              <a:ext uri="{FF2B5EF4-FFF2-40B4-BE49-F238E27FC236}">
                <ns2:creationId id="{870E17FB-3D1F-46CD-B203-E126FC28001E}"/>
              </a:ext>
            </a:extLst>
          </p:cNvPr>
          <p:cNvSpPr>
            <a:spLocks noGrp="1"/>
          </p:cNvSpPr>
          <p:nvPr/>
        </p:nvSpPr>
        <p:spPr>
          <a:xfrm>
            <a:off x="8439150" y="4857750"/>
            <a:ext cx="3143250" cy="685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650" b="0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650" b="0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650" b="0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650" b="0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650" b="0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650" b="0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650" b="0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650" b="0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650" b="0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650" b="0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650" b="0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pPr>
            <a:r>
              <a:t>파랑</a:t>
            </a:r>
          </a:p>
          <a:p>
            <a:pPr algn="l">
              <a:defRPr sz="1650" b="0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pPr>
            <a:r>
              <a:t>이후 이동 경로</a:t>
            </a:r>
          </a:p>
        </p:txBody>
      </p:sp>
      <p:pic>
        <p:nvPicPr>
          <p:cNvPr id="17" name="그림 16">
            <a:extLst>
              <a:ext uri="{FF2B5EF4-FFF2-40B4-BE49-F238E27FC236}">
                <ns2:creationId id="{7EEA61A3-2F61-444D-8AA5-FBC8606310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6362700"/>
            <a:ext cx="190500" cy="186612"/>
          </a:xfrm>
          <a:prstGeom prst="rect">
            <a:avLst/>
          </a:prstGeom>
        </p:spPr>
      </p:pic>
      <p:sp>
        <p:nvSpPr>
          <p:cNvPr id="18" name="GitHub code link 0">
            <a:extLst>
              <a:ext uri="{FF2B5EF4-FFF2-40B4-BE49-F238E27FC236}">
                <ns2:creationId id="{772FACEE-0A87-43B1-9F25-D060BC9FCAAD}"/>
              </a:ext>
            </a:extLst>
          </p:cNvPr>
          <p:cNvSpPr>
            <a:spLocks noGrp="1"/>
          </p:cNvSpPr>
          <p:nvPr/>
        </p:nvSpPr>
        <p:spPr>
          <a:xfrm>
            <a:off x="895350" y="6334125"/>
            <a:ext cx="10610850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sz="1388" u="sng">
                <a:solidFill>
                  <a:srgbClr val="7DD3FC"/>
                </a:solidFill>
                <a:latin typeface="Noto Sans KR"/>
                <a:ea typeface="Noto Sans KR"/>
                <a:cs typeface="Noto Sans KR"/>
                <a:hlinkClick r:id="rId4"/>
              </a:rPr>
              <a:t>GitHub / 경로 탐색</a:t>
            </a:r>
          </a:p>
        </p:txBody>
      </p:sp>
    </p:spTree>
    <p:extLst>
      <p:ext uri="{BB962C8B-B14F-4D97-AF65-F5344CB8AC3E}">
        <ns4:creationId val="397416452"/>
      </p:ext>
    </p:extLst>
  </p:cSld>
  <p:clrMapOvr>
    <a:masterClrMapping/>
  </p:clrMapOvr>
</p:sld>
</file>

<file path=ppt/slides/slide7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81C24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2" name="Section label">
            <a:extLst>
              <a:ext uri="{FF2B5EF4-FFF2-40B4-BE49-F238E27FC236}">
                <ns2:creationId id="{2F707B06-4783-4333-9981-4EDD20D94F68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핵심 구현 2/5 | BATTLE NPC NAVIGATION</a:t>
            </a:r>
          </a:p>
        </p:txBody>
      </p:sp>
      <p:sp>
        <p:nvSpPr>
          <p:cNvPr id="3" name="Slide title">
            <a:extLst>
              <a:ext uri="{FF2B5EF4-FFF2-40B4-BE49-F238E27FC236}">
                <ns2:creationId id="{FE420856-1AFF-4050-807B-A15FE61F3751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포탈 비용을 반영한 경로 탐색과 그래프 재사용</a:t>
            </a:r>
          </a:p>
        </p:txBody>
      </p:sp>
      <p:sp>
        <p:nvSpPr>
          <p:cNvPr id="4" name="Page number">
            <a:extLst>
              <a:ext uri="{FF2B5EF4-FFF2-40B4-BE49-F238E27FC236}">
                <ns2:creationId id="{917E5E5E-0DEA-490F-82BC-77B35FA6D0DF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06</a:t>
            </a:r>
          </a:p>
        </p:txBody>
      </p:sp>
      <p:sp>
        <p:nvSpPr>
          <p:cNvPr id="5" name="Scope">
            <a:extLst>
              <a:ext uri="{FF2B5EF4-FFF2-40B4-BE49-F238E27FC236}">
                <ns2:creationId id="{C4E9D950-5884-4643-A49E-EC97FE2C1267}"/>
              </a:ext>
            </a:extLst>
          </p:cNvPr>
          <p:cNvSpPr>
            <a:spLocks noGrp="1"/>
          </p:cNvSpPr>
          <p:nvPr/>
        </p:nvSpPr>
        <p:spPr>
          <a:xfrm>
            <a:off x="609600" y="1333500"/>
            <a:ext cx="10972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NavMesh 일반 이동과 특수 이동을 잇는 상위 그래프에서 경로 비용을 비교합니다.</a:t>
            </a:r>
          </a:p>
        </p:txBody>
      </p:sp>
      <p:sp>
        <p:nvSpPr>
          <p:cNvPr id="6" name="Graph heading">
            <a:extLst>
              <a:ext uri="{FF2B5EF4-FFF2-40B4-BE49-F238E27FC236}">
                <ns2:creationId id="{827C5A1D-A196-46DA-B6AC-105A1C2A1257}"/>
              </a:ext>
            </a:extLst>
          </p:cNvPr>
          <p:cNvSpPr>
            <a:spLocks noGrp="1"/>
          </p:cNvSpPr>
          <p:nvPr/>
        </p:nvSpPr>
        <p:spPr>
          <a:xfrm>
            <a:off x="609600" y="1866900"/>
            <a:ext cx="6381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일반 이동과 포탈 경로 비교</a:t>
            </a:r>
          </a:p>
        </p:txBody>
      </p:sp>
      <p:sp>
        <p:nvSpPr>
          <p:cNvPr id="7" name="Direct walk">
            <a:extLst>
              <a:ext uri="{FF2B5EF4-FFF2-40B4-BE49-F238E27FC236}">
                <ns2:creationId id="{F371D1FB-5094-4459-A351-007054F0F1D9}"/>
              </a:ext>
            </a:extLst>
          </p:cNvPr>
          <p:cNvSpPr>
            <a:spLocks noGrp="1"/>
          </p:cNvSpPr>
          <p:nvPr/>
        </p:nvSpPr>
        <p:spPr>
          <a:xfrm>
            <a:off x="1257300" y="2609850"/>
            <a:ext cx="5238750" cy="9525"/>
          </a:xfrm>
          <a:custGeom>
            <a:pathLst>
              <a:path w="5238750" h="9525">
                <a:moveTo>
                  <a:pt x="0" y="0"/>
                </a:moveTo>
                <a:lnTo>
                  <a:pt x="5238750" y="0"/>
                </a:lnTo>
              </a:path>
            </a:pathLst>
          </a:custGeom>
          <a:noFill/>
          <a:ln w="28575">
            <a:solidFill>
              <a:srgbClr val="8092A5"/>
            </a:solidFill>
            <a:prstDash val="solid"/>
          </a:ln>
        </p:spPr>
      </p:sp>
      <p:sp>
        <p:nvSpPr>
          <p:cNvPr id="8" name="Start to entry">
            <a:extLst>
              <a:ext uri="{FF2B5EF4-FFF2-40B4-BE49-F238E27FC236}">
                <ns2:creationId id="{CE4E1CB4-737A-4A63-A677-5E85DE15EC19}"/>
              </a:ext>
            </a:extLst>
          </p:cNvPr>
          <p:cNvSpPr>
            <a:spLocks noGrp="1"/>
          </p:cNvSpPr>
          <p:nvPr/>
        </p:nvSpPr>
        <p:spPr>
          <a:xfrm>
            <a:off x="1257300" y="2609850"/>
            <a:ext cx="1085850" cy="1095375"/>
          </a:xfrm>
          <a:custGeom>
            <a:pathLst>
              <a:path w="1085850" h="1095375">
                <a:moveTo>
                  <a:pt x="0" y="0"/>
                </a:moveTo>
                <a:lnTo>
                  <a:pt x="1085850" y="1095375"/>
                </a:lnTo>
              </a:path>
            </a:pathLst>
          </a:custGeom>
          <a:noFill/>
          <a:ln w="28575">
            <a:solidFill>
              <a:srgbClr val="49A6FF"/>
            </a:solidFill>
            <a:prstDash val="solid"/>
          </a:ln>
        </p:spPr>
      </p:sp>
      <p:sp>
        <p:nvSpPr>
          <p:cNvPr id="9" name="Zero cost portal">
            <a:extLst>
              <a:ext uri="{FF2B5EF4-FFF2-40B4-BE49-F238E27FC236}">
                <ns2:creationId id="{39EC1177-1545-497D-8FC0-7CD0B81C90DB}"/>
              </a:ext>
            </a:extLst>
          </p:cNvPr>
          <p:cNvSpPr>
            <a:spLocks noGrp="1"/>
          </p:cNvSpPr>
          <p:nvPr/>
        </p:nvSpPr>
        <p:spPr>
          <a:xfrm>
            <a:off x="2343150" y="3705225"/>
            <a:ext cx="3067050" cy="9525"/>
          </a:xfrm>
          <a:custGeom>
            <a:pathLst>
              <a:path w="3067050" h="9525">
                <a:moveTo>
                  <a:pt x="0" y="0"/>
                </a:moveTo>
                <a:lnTo>
                  <a:pt x="3067050" y="0"/>
                </a:lnTo>
              </a:path>
            </a:pathLst>
          </a:custGeom>
          <a:noFill/>
          <a:ln w="38100">
            <a:solidFill>
              <a:srgbClr val="FF6975"/>
            </a:solidFill>
            <a:prstDash val="solid"/>
          </a:ln>
        </p:spPr>
      </p:sp>
      <p:sp>
        <p:nvSpPr>
          <p:cNvPr id="10" name="Exit to goal">
            <a:extLst>
              <a:ext uri="{FF2B5EF4-FFF2-40B4-BE49-F238E27FC236}">
                <ns2:creationId id="{6914C5A4-F2B9-48C0-A1E6-DE860FDF73D3}"/>
              </a:ext>
            </a:extLst>
          </p:cNvPr>
          <p:cNvSpPr>
            <a:spLocks noGrp="1"/>
          </p:cNvSpPr>
          <p:nvPr/>
        </p:nvSpPr>
        <p:spPr>
          <a:xfrm>
            <a:off x="5410200" y="2609850"/>
            <a:ext cx="1085850" cy="1095375"/>
          </a:xfrm>
          <a:custGeom>
            <a:pathLst>
              <a:path w="1085850" h="1095375">
                <a:moveTo>
                  <a:pt x="0" y="1095375"/>
                </a:moveTo>
                <a:lnTo>
                  <a:pt x="1085850" y="0"/>
                </a:lnTo>
              </a:path>
            </a:pathLst>
          </a:custGeom>
          <a:noFill/>
          <a:ln w="28575">
            <a:solidFill>
              <a:srgbClr val="49A6FF"/>
            </a:solidFill>
            <a:prstDash val="solid"/>
          </a:ln>
        </p:spPr>
      </p:sp>
      <p:sp>
        <p:nvSpPr>
          <p:cNvPr id="11" name="Start">
            <a:extLst>
              <a:ext uri="{FF2B5EF4-FFF2-40B4-BE49-F238E27FC236}">
                <ns2:creationId id="{B438E8DD-169F-4997-A899-6B040D71A98E}"/>
              </a:ext>
            </a:extLst>
          </p:cNvPr>
          <p:cNvSpPr>
            <a:spLocks noGrp="1"/>
          </p:cNvSpPr>
          <p:nvPr/>
        </p:nvSpPr>
        <p:spPr>
          <a:xfrm>
            <a:off x="1152525" y="2505075"/>
            <a:ext cx="209550" cy="209550"/>
          </a:xfrm>
          <a:prstGeom prst="ellipse">
            <a:avLst/>
          </a:prstGeom>
          <a:solidFill>
            <a:srgbClr val="181C24"/>
          </a:solidFill>
          <a:ln w="28575">
            <a:solidFill>
              <a:srgbClr val="49A6FF"/>
            </a:solidFill>
            <a:prstDash val="solid"/>
          </a:ln>
        </p:spPr>
      </p:sp>
      <p:sp>
        <p:nvSpPr>
          <p:cNvPr id="12" name="Goal">
            <a:extLst>
              <a:ext uri="{FF2B5EF4-FFF2-40B4-BE49-F238E27FC236}">
                <ns2:creationId id="{2194B387-E1F5-4293-9F27-4509FF6158A3}"/>
              </a:ext>
            </a:extLst>
          </p:cNvPr>
          <p:cNvSpPr>
            <a:spLocks noGrp="1"/>
          </p:cNvSpPr>
          <p:nvPr/>
        </p:nvSpPr>
        <p:spPr>
          <a:xfrm>
            <a:off x="6391275" y="2505075"/>
            <a:ext cx="209550" cy="209550"/>
          </a:xfrm>
          <a:prstGeom prst="ellipse">
            <a:avLst/>
          </a:prstGeom>
          <a:solidFill>
            <a:srgbClr val="181C24"/>
          </a:solidFill>
          <a:ln w="28575">
            <a:solidFill>
              <a:srgbClr val="49A6FF"/>
            </a:solidFill>
            <a:prstDash val="solid"/>
          </a:ln>
        </p:spPr>
      </p:sp>
      <p:sp>
        <p:nvSpPr>
          <p:cNvPr id="13" name="Entry">
            <a:extLst>
              <a:ext uri="{FF2B5EF4-FFF2-40B4-BE49-F238E27FC236}">
                <ns2:creationId id="{108C3B16-9488-4D8C-A405-D3F32134597D}"/>
              </a:ext>
            </a:extLst>
          </p:cNvPr>
          <p:cNvSpPr>
            <a:spLocks noGrp="1"/>
          </p:cNvSpPr>
          <p:nvPr/>
        </p:nvSpPr>
        <p:spPr>
          <a:xfrm>
            <a:off x="2238375" y="3600450"/>
            <a:ext cx="209550" cy="209550"/>
          </a:xfrm>
          <a:prstGeom prst="ellipse">
            <a:avLst/>
          </a:prstGeom>
          <a:solidFill>
            <a:srgbClr val="181C24"/>
          </a:solidFill>
          <a:ln w="28575">
            <a:solidFill>
              <a:srgbClr val="FF6975"/>
            </a:solidFill>
            <a:prstDash val="solid"/>
          </a:ln>
        </p:spPr>
      </p:sp>
      <p:sp>
        <p:nvSpPr>
          <p:cNvPr id="14" name="Exit">
            <a:extLst>
              <a:ext uri="{FF2B5EF4-FFF2-40B4-BE49-F238E27FC236}">
                <ns2:creationId id="{900CA0BF-2400-4639-AE9C-2CA35EC309C1}"/>
              </a:ext>
            </a:extLst>
          </p:cNvPr>
          <p:cNvSpPr>
            <a:spLocks noGrp="1"/>
          </p:cNvSpPr>
          <p:nvPr/>
        </p:nvSpPr>
        <p:spPr>
          <a:xfrm>
            <a:off x="5305425" y="3600450"/>
            <a:ext cx="209550" cy="209550"/>
          </a:xfrm>
          <a:prstGeom prst="ellipse">
            <a:avLst/>
          </a:prstGeom>
          <a:solidFill>
            <a:srgbClr val="181C24"/>
          </a:solidFill>
          <a:ln w="28575">
            <a:solidFill>
              <a:srgbClr val="FF6975"/>
            </a:solidFill>
            <a:prstDash val="solid"/>
          </a:ln>
        </p:spPr>
      </p:sp>
      <p:sp>
        <p:nvSpPr>
          <p:cNvPr id="15" name="Walk cost">
            <a:extLst>
              <a:ext uri="{FF2B5EF4-FFF2-40B4-BE49-F238E27FC236}">
                <ns2:creationId id="{2530525A-2FE7-4A06-9CE8-9C8CB3D8FC9C}"/>
              </a:ext>
            </a:extLst>
          </p:cNvPr>
          <p:cNvSpPr>
            <a:spLocks noGrp="1"/>
          </p:cNvSpPr>
          <p:nvPr/>
        </p:nvSpPr>
        <p:spPr>
          <a:xfrm>
            <a:off x="2266950" y="2266950"/>
            <a:ext cx="35242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일반 이동: NavMesh 경로 길이</a:t>
            </a:r>
          </a:p>
        </p:txBody>
      </p:sp>
      <p:sp>
        <p:nvSpPr>
          <p:cNvPr id="16" name="Start label">
            <a:extLst>
              <a:ext uri="{FF2B5EF4-FFF2-40B4-BE49-F238E27FC236}">
                <ns2:creationId id="{21F172C8-FFA6-4BDC-9B6F-E2F0685AF4DB}"/>
              </a:ext>
            </a:extLst>
          </p:cNvPr>
          <p:cNvSpPr>
            <a:spLocks noGrp="1"/>
          </p:cNvSpPr>
          <p:nvPr/>
        </p:nvSpPr>
        <p:spPr>
          <a:xfrm>
            <a:off x="781050" y="2819400"/>
            <a:ext cx="857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출발</a:t>
            </a:r>
          </a:p>
        </p:txBody>
      </p:sp>
      <p:sp>
        <p:nvSpPr>
          <p:cNvPr id="17" name="Goal label">
            <a:extLst>
              <a:ext uri="{FF2B5EF4-FFF2-40B4-BE49-F238E27FC236}">
                <ns2:creationId id="{C44C2219-10C1-488E-A02D-1B6E0F0F9FC4}"/>
              </a:ext>
            </a:extLst>
          </p:cNvPr>
          <p:cNvSpPr>
            <a:spLocks noGrp="1"/>
          </p:cNvSpPr>
          <p:nvPr/>
        </p:nvSpPr>
        <p:spPr>
          <a:xfrm>
            <a:off x="6172200" y="2819400"/>
            <a:ext cx="857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도착</a:t>
            </a:r>
          </a:p>
        </p:txBody>
      </p:sp>
      <p:sp>
        <p:nvSpPr>
          <p:cNvPr id="18" name="Portal cost">
            <a:extLst>
              <a:ext uri="{FF2B5EF4-FFF2-40B4-BE49-F238E27FC236}">
                <ns2:creationId id="{D745243D-9C61-4051-9DC0-A210EB3EC6D9}"/>
              </a:ext>
            </a:extLst>
          </p:cNvPr>
          <p:cNvSpPr>
            <a:spLocks noGrp="1"/>
          </p:cNvSpPr>
          <p:nvPr/>
        </p:nvSpPr>
        <p:spPr>
          <a:xfrm>
            <a:off x="2695575" y="3324225"/>
            <a:ext cx="23812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650" b="1">
                <a:solidFill>
                  <a:srgbClr val="FF6975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650" b="1">
                <a:solidFill>
                  <a:srgbClr val="FF6975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650" b="1">
                <a:solidFill>
                  <a:srgbClr val="FF6975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650" b="1">
                <a:solidFill>
                  <a:srgbClr val="FF6975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650" b="1">
                <a:solidFill>
                  <a:srgbClr val="FF6975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650" b="1">
                <a:solidFill>
                  <a:srgbClr val="FF6975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650" b="1">
                <a:solidFill>
                  <a:srgbClr val="FF6975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650" b="1">
                <a:solidFill>
                  <a:srgbClr val="FF6975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650" b="1">
                <a:solidFill>
                  <a:srgbClr val="FF6975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650" b="1">
                <a:solidFill>
                  <a:srgbClr val="FF6975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650" b="1">
                <a:solidFill>
                  <a:srgbClr val="FF6975"/>
                </a:solidFill>
                <a:latin typeface="Noto Sans KR"/>
                <a:ea typeface="Noto Sans KR"/>
                <a:cs typeface="Noto Sans KR"/>
              </a:defRPr>
            </a:pPr>
            <a:r>
              <a:t>포탈 통과 비용 = 0</a:t>
            </a:r>
          </a:p>
        </p:txBody>
      </p:sp>
      <p:sp>
        <p:nvSpPr>
          <p:cNvPr id="19" name="Entry label">
            <a:extLst>
              <a:ext uri="{FF2B5EF4-FFF2-40B4-BE49-F238E27FC236}">
                <ns2:creationId id="{3FB05A88-E015-424B-9414-02D5432EBD6D}"/>
              </a:ext>
            </a:extLst>
          </p:cNvPr>
          <p:cNvSpPr>
            <a:spLocks noGrp="1"/>
          </p:cNvSpPr>
          <p:nvPr/>
        </p:nvSpPr>
        <p:spPr>
          <a:xfrm>
            <a:off x="1857375" y="3924300"/>
            <a:ext cx="952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입구</a:t>
            </a:r>
          </a:p>
        </p:txBody>
      </p:sp>
      <p:sp>
        <p:nvSpPr>
          <p:cNvPr id="20" name="Exit label">
            <a:extLst>
              <a:ext uri="{FF2B5EF4-FFF2-40B4-BE49-F238E27FC236}">
                <ns2:creationId id="{173EB72E-B992-493C-BA4D-92494FAD33E7}"/>
              </a:ext>
            </a:extLst>
          </p:cNvPr>
          <p:cNvSpPr>
            <a:spLocks noGrp="1"/>
          </p:cNvSpPr>
          <p:nvPr/>
        </p:nvSpPr>
        <p:spPr>
          <a:xfrm>
            <a:off x="4933950" y="3924300"/>
            <a:ext cx="952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출구</a:t>
            </a:r>
          </a:p>
        </p:txBody>
      </p:sp>
      <p:sp>
        <p:nvSpPr>
          <p:cNvPr id="21" name="Graph note">
            <a:extLst>
              <a:ext uri="{FF2B5EF4-FFF2-40B4-BE49-F238E27FC236}">
                <ns2:creationId id="{CEE01658-AFB5-4DFF-BC67-77247F9CE9E8}"/>
              </a:ext>
            </a:extLst>
          </p:cNvPr>
          <p:cNvSpPr>
            <a:spLocks noGrp="1"/>
          </p:cNvSpPr>
          <p:nvPr/>
        </p:nvSpPr>
        <p:spPr>
          <a:xfrm>
            <a:off x="609600" y="4333875"/>
            <a:ext cx="633412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t>경로 비용을 설명하기 위한 개념도</a:t>
            </a:r>
          </a:p>
        </p:txBody>
      </p:sp>
      <p:sp>
        <p:nvSpPr>
          <p:cNvPr id="22" name="Reason panel">
            <a:extLst>
              <a:ext uri="{FF2B5EF4-FFF2-40B4-BE49-F238E27FC236}">
                <ns2:creationId id="{C10FC493-02EE-4342-977E-94EEB0ECD904}"/>
              </a:ext>
            </a:extLst>
          </p:cNvPr>
          <p:cNvSpPr>
            <a:spLocks noGrp="1"/>
          </p:cNvSpPr>
          <p:nvPr/>
        </p:nvSpPr>
        <p:spPr>
          <a:xfrm>
            <a:off x="7410450" y="1866900"/>
            <a:ext cx="4171950" cy="2714625"/>
          </a:xfrm>
          <a:prstGeom prst="roundRect">
            <a:avLst>
              <a:gd name="adj" fmla="val 2807"/>
            </a:avLst>
          </a:prstGeom>
          <a:solidFill>
            <a:srgbClr val="202733"/>
          </a:solidFill>
          <a:ln w="14288">
            <a:solidFill>
              <a:srgbClr val="354354"/>
            </a:solidFill>
            <a:prstDash val="solid"/>
          </a:ln>
        </p:spPr>
      </p:sp>
      <p:sp>
        <p:nvSpPr>
          <p:cNvPr id="23" name="Dijkstra heading">
            <a:extLst>
              <a:ext uri="{FF2B5EF4-FFF2-40B4-BE49-F238E27FC236}">
                <ns2:creationId id="{69B07696-05E7-4DED-95A0-AF974A538C52}"/>
              </a:ext>
            </a:extLst>
          </p:cNvPr>
          <p:cNvSpPr>
            <a:spLocks noGrp="1"/>
          </p:cNvSpPr>
          <p:nvPr/>
        </p:nvSpPr>
        <p:spPr>
          <a:xfrm>
            <a:off x="7639050" y="2076450"/>
            <a:ext cx="3714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Dijkstra로 누적 비용 비교</a:t>
            </a:r>
          </a:p>
        </p:txBody>
      </p:sp>
      <p:sp>
        <p:nvSpPr>
          <p:cNvPr id="24" name="Dijkstra reason">
            <a:extLst>
              <a:ext uri="{FF2B5EF4-FFF2-40B4-BE49-F238E27FC236}">
                <ns2:creationId id="{970702D9-5B14-49FB-AE4F-5081A7133CD6}"/>
              </a:ext>
            </a:extLst>
          </p:cNvPr>
          <p:cNvSpPr>
            <a:spLocks noGrp="1"/>
          </p:cNvSpPr>
          <p:nvPr/>
        </p:nvSpPr>
        <p:spPr>
          <a:xfrm>
            <a:off x="7639050" y="2571750"/>
            <a:ext cx="3714750" cy="1181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포탈은 먼 위치도 비용 0으로 연결합니다.</a:t>
            </a:r>
          </a:p>
          <a:p>
            <a: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직선거리 추정은 실제 남은 비용보다</a:t>
            </a:r>
          </a:p>
          <a:p>
            <a: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클 수 있어, 별도 휴리스틱 없이</a:t>
            </a:r>
          </a:p>
          <a:p>
            <a: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누적 비용을 기준으로 탐색합니다.</a:t>
            </a:r>
          </a:p>
        </p:txBody>
      </p:sp>
      <p:sp>
        <p:nvSpPr>
          <p:cNvPr id="25" name="Other link costs">
            <a:extLst>
              <a:ext uri="{FF2B5EF4-FFF2-40B4-BE49-F238E27FC236}">
                <ns2:creationId id="{3B913902-D679-41F8-AD09-4DDB349AA494}"/>
              </a:ext>
            </a:extLst>
          </p:cNvPr>
          <p:cNvSpPr>
            <a:spLocks noGrp="1"/>
          </p:cNvSpPr>
          <p:nvPr/>
        </p:nvSpPr>
        <p:spPr>
          <a:xfrm>
            <a:off x="7639050" y="4000500"/>
            <a:ext cx="3714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점프 등 다른 특수 이동은 연결 거리를 반영합니다.</a:t>
            </a:r>
          </a:p>
        </p:txBody>
      </p:sp>
      <p:sp>
        <p:nvSpPr>
          <p:cNvPr id="26" name="Cache heading">
            <a:extLst>
              <a:ext uri="{FF2B5EF4-FFF2-40B4-BE49-F238E27FC236}">
                <ns2:creationId id="{3080C400-1AB4-4544-88D3-1B31D097DE28}"/>
              </a:ext>
            </a:extLst>
          </p:cNvPr>
          <p:cNvSpPr>
            <a:spLocks noGrp="1"/>
          </p:cNvSpPr>
          <p:nvPr/>
        </p:nvSpPr>
        <p:spPr>
          <a:xfrm>
            <a:off x="609600" y="4810125"/>
            <a:ext cx="10972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정적 그래프와 요청별 비용을 조합</a:t>
            </a:r>
          </a:p>
        </p:txBody>
      </p:sp>
      <p:sp>
        <p:nvSpPr>
          <p:cNvPr id="27" name="Cache input frame">
            <a:extLst>
              <a:ext uri="{FF2B5EF4-FFF2-40B4-BE49-F238E27FC236}">
                <ns2:creationId id="{89E7C418-3FE0-4D19-A5E7-0BF291AB8E1B}"/>
              </a:ext>
            </a:extLst>
          </p:cNvPr>
          <p:cNvSpPr>
            <a:spLocks noGrp="1"/>
          </p:cNvSpPr>
          <p:nvPr/>
        </p:nvSpPr>
        <p:spPr>
          <a:xfrm>
            <a:off x="609600" y="5276850"/>
            <a:ext cx="2762250" cy="723900"/>
          </a:xfrm>
          <a:prstGeom prst="roundRect">
            <a:avLst>
              <a:gd name="adj" fmla="val 10526"/>
            </a:avLst>
          </a:prstGeom>
          <a:solidFill>
            <a:srgbClr val="202733"/>
          </a:solidFill>
          <a:ln w="14288">
            <a:solidFill>
              <a:srgbClr val="49A6FF"/>
            </a:solidFill>
            <a:prstDash val="solid"/>
          </a:ln>
        </p:spPr>
      </p:sp>
      <p:sp>
        <p:nvSpPr>
          <p:cNvPr id="28" name="Cache input">
            <a:extLst>
              <a:ext uri="{FF2B5EF4-FFF2-40B4-BE49-F238E27FC236}">
                <ns2:creationId id="{5826D403-6DE7-4507-BAE9-E2A85A3E8CE3}"/>
              </a:ext>
            </a:extLst>
          </p:cNvPr>
          <p:cNvSpPr>
            <a:spLocks noGrp="1"/>
          </p:cNvSpPr>
          <p:nvPr/>
        </p:nvSpPr>
        <p:spPr>
          <a:xfrm>
            <a:off x="723900" y="5400675"/>
            <a:ext cx="25336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Context별 Link 간 비용</a:t>
            </a:r>
          </a:p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정적 그래프 캐시</a:t>
            </a:r>
          </a:p>
        </p:txBody>
      </p:sp>
      <p:sp>
        <p:nvSpPr>
          <p:cNvPr id="29" name="Plus">
            <a:extLst>
              <a:ext uri="{FF2B5EF4-FFF2-40B4-BE49-F238E27FC236}">
                <ns2:creationId id="{262A1775-3382-444F-8AD0-6F52A2F79035}"/>
              </a:ext>
            </a:extLst>
          </p:cNvPr>
          <p:cNvSpPr>
            <a:spLocks noGrp="1"/>
          </p:cNvSpPr>
          <p:nvPr/>
        </p:nvSpPr>
        <p:spPr>
          <a:xfrm>
            <a:off x="3552825" y="5457825"/>
            <a:ext cx="381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21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21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21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21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21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21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21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21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21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21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217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t>+</a:t>
            </a:r>
          </a:p>
        </p:txBody>
      </p:sp>
      <p:sp>
        <p:nvSpPr>
          <p:cNvPr id="30" name="Dynamic input frame">
            <a:extLst>
              <a:ext uri="{FF2B5EF4-FFF2-40B4-BE49-F238E27FC236}">
                <ns2:creationId id="{D051BEB1-3EC7-4303-A667-80FD3715F229}"/>
              </a:ext>
            </a:extLst>
          </p:cNvPr>
          <p:cNvSpPr>
            <a:spLocks noGrp="1"/>
          </p:cNvSpPr>
          <p:nvPr/>
        </p:nvSpPr>
        <p:spPr>
          <a:xfrm>
            <a:off x="4095750" y="5276850"/>
            <a:ext cx="3333750" cy="723900"/>
          </a:xfrm>
          <a:prstGeom prst="roundRect">
            <a:avLst>
              <a:gd name="adj" fmla="val 10526"/>
            </a:avLst>
          </a:prstGeom>
          <a:solidFill>
            <a:srgbClr val="202733"/>
          </a:solidFill>
          <a:ln w="14288">
            <a:solidFill>
              <a:srgbClr val="49A6FF"/>
            </a:solidFill>
            <a:prstDash val="solid"/>
          </a:ln>
        </p:spPr>
      </p:sp>
      <p:sp>
        <p:nvSpPr>
          <p:cNvPr id="31" name="Dynamic input">
            <a:extLst>
              <a:ext uri="{FF2B5EF4-FFF2-40B4-BE49-F238E27FC236}">
                <ns2:creationId id="{67DC0477-9F88-4C87-A3FC-FA21E8349CA5}"/>
              </a:ext>
            </a:extLst>
          </p:cNvPr>
          <p:cNvSpPr>
            <a:spLocks noGrp="1"/>
          </p:cNvSpPr>
          <p:nvPr/>
        </p:nvSpPr>
        <p:spPr>
          <a:xfrm>
            <a:off x="4210050" y="5400675"/>
            <a:ext cx="3105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시작 / 목표 연결 비용</a:t>
            </a:r>
          </a:p>
          <a:p>
            <a: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요청별 추정과 NavMesh 검증</a:t>
            </a:r>
          </a:p>
        </p:txBody>
      </p:sp>
      <p:sp>
        <p:nvSpPr>
          <p:cNvPr id="32" name="Cache result arrow">
            <a:extLst>
              <a:ext uri="{FF2B5EF4-FFF2-40B4-BE49-F238E27FC236}">
                <ns2:creationId id="{28857E33-1A95-4ABE-8DBF-47B5053111F0}"/>
              </a:ext>
            </a:extLst>
          </p:cNvPr>
          <p:cNvSpPr>
            <a:spLocks noGrp="1"/>
          </p:cNvSpPr>
          <p:nvPr/>
        </p:nvSpPr>
        <p:spPr>
          <a:xfrm>
            <a:off x="7572375" y="5581650"/>
            <a:ext cx="257175" cy="114300"/>
          </a:xfrm>
          <a:prstGeom prst="rightArrow">
            <a:avLst/>
          </a:prstGeom>
          <a:solidFill>
            <a:srgbClr val="49A6FF"/>
          </a:solidFill>
          <a:ln w="0">
            <a:noFill/>
            <a:prstDash val="solid"/>
          </a:ln>
        </p:spPr>
      </p:sp>
      <p:sp>
        <p:nvSpPr>
          <p:cNvPr id="33" name="Search result frame">
            <a:extLst>
              <a:ext uri="{FF2B5EF4-FFF2-40B4-BE49-F238E27FC236}">
                <ns2:creationId id="{C76A4C5C-7A6A-49CA-9850-E83CF3659ECC}"/>
              </a:ext>
            </a:extLst>
          </p:cNvPr>
          <p:cNvSpPr>
            <a:spLocks noGrp="1"/>
          </p:cNvSpPr>
          <p:nvPr/>
        </p:nvSpPr>
        <p:spPr>
          <a:xfrm>
            <a:off x="8001000" y="5276850"/>
            <a:ext cx="3581400" cy="723900"/>
          </a:xfrm>
          <a:prstGeom prst="roundRect">
            <a:avLst>
              <a:gd name="adj" fmla="val 10526"/>
            </a:avLst>
          </a:prstGeom>
          <a:solidFill>
            <a:srgbClr val="202733"/>
          </a:solidFill>
          <a:ln w="14288">
            <a:solidFill>
              <a:srgbClr val="49A6FF"/>
            </a:solidFill>
            <a:prstDash val="solid"/>
          </a:ln>
        </p:spPr>
      </p:sp>
      <p:sp>
        <p:nvSpPr>
          <p:cNvPr id="34" name="Search result">
            <a:extLst>
              <a:ext uri="{FF2B5EF4-FFF2-40B4-BE49-F238E27FC236}">
                <ns2:creationId id="{C9DE4E63-49CD-49FC-8348-6DFC53128CB9}"/>
              </a:ext>
            </a:extLst>
          </p:cNvPr>
          <p:cNvSpPr>
            <a:spLocks noGrp="1"/>
          </p:cNvSpPr>
          <p:nvPr/>
        </p:nvSpPr>
        <p:spPr>
          <a:xfrm>
            <a:off x="8115300" y="5400675"/>
            <a:ext cx="33528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누적 비용 비교</a:t>
            </a:r>
          </a:p>
          <a:p>
            <a: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선택 구간의 상세 경로 생성</a:t>
            </a:r>
          </a:p>
        </p:txBody>
      </p:sp>
      <p:sp>
        <p:nvSpPr>
          <p:cNvPr id="35" name="Invalidation">
            <a:extLst>
              <a:ext uri="{FF2B5EF4-FFF2-40B4-BE49-F238E27FC236}">
                <ns2:creationId id="{ADBF4FB1-4A70-4494-BEAD-F272FAFCCEA1}"/>
              </a:ext>
            </a:extLst>
          </p:cNvPr>
          <p:cNvSpPr>
            <a:spLocks noGrp="1"/>
          </p:cNvSpPr>
          <p:nvPr/>
        </p:nvSpPr>
        <p:spPr>
          <a:xfrm>
            <a:off x="609600" y="6067425"/>
            <a:ext cx="109728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2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t>Link 등록 / 해제 / Refresh 시 캐시를 무효화하고, 필요할 때 재구축합니다.</a:t>
            </a:r>
          </a:p>
        </p:txBody>
      </p:sp>
      <p:sp>
        <p:nvSpPr>
          <p:cNvPr id="36" name="GitHub code link 0">
            <a:extLst>
              <a:ext uri="{FF2B5EF4-FFF2-40B4-BE49-F238E27FC236}">
                <ns2:creationId id="{E766FEFC-55D2-4EDA-91CA-6B6A6B29B65D}"/>
              </a:ext>
            </a:extLst>
          </p:cNvPr>
          <p:cNvSpPr>
            <a:spLocks noGrp="1"/>
          </p:cNvSpPr>
          <p:nvPr/>
        </p:nvSpPr>
        <p:spPr>
          <a:xfrm>
            <a:off x="895350" y="6334125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t>GitHub / 경로 탐색</a:t>
            </a:r>
          </a:p>
        </p:txBody>
      </p:sp>
      <p:sp>
        <p:nvSpPr>
          <p:cNvPr id="37" name="GitHub code link 1">
            <a:extLst>
              <a:ext uri="{FF2B5EF4-FFF2-40B4-BE49-F238E27FC236}">
                <ns2:creationId id="{63DBE6DC-6990-42C4-BFFB-05565CE6D5FD}"/>
              </a:ext>
            </a:extLst>
          </p:cNvPr>
          <p:cNvSpPr>
            <a:spLocks noGrp="1"/>
          </p:cNvSpPr>
          <p:nvPr/>
        </p:nvSpPr>
        <p:spPr>
          <a:xfrm>
            <a:off x="6381750" y="6334125"/>
            <a:ext cx="4476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t>GitHub / 그래프 캐시</a:t>
            </a:r>
          </a:p>
        </p:txBody>
      </p:sp>
      <p:pic>
        <p:nvPicPr>
          <p:cNvPr id="38" name="GitHub clickable mark 0">
            <a:extLst>
              <a:ext uri="{FF2B5EF4-FFF2-40B4-BE49-F238E27FC236}">
                <ns2:creationId id="{722808E9-9C04-4955-A72E-425505FAD3DA}"/>
              </a:ext>
            </a:extLst>
            <a:hlinkClick r:id="rId3"/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609600" y="6362700"/>
            <a:ext cx="190500" cy="186595"/>
          </a:xfrm>
          <a:prstGeom prst="rect">
            <a:avLst/>
          </a:prstGeom>
        </p:spPr>
      </p:pic>
      <p:pic>
        <p:nvPicPr>
          <p:cNvPr id="39" name="GitHub clickable mark 1">
            <a:extLst>
              <a:ext uri="{FF2B5EF4-FFF2-40B4-BE49-F238E27FC236}">
                <ns2:creationId id="{722808E9-9C04-4955-A72E-425505FAD3DA}"/>
              </a:ext>
            </a:extLst>
            <a:hlinkClick r:id="rId4"/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6096000" y="6362700"/>
            <a:ext cx="190500" cy="186595"/>
          </a:xfrm>
          <a:prstGeom prst="rect">
            <a:avLst/>
          </a:prstGeom>
        </p:spPr>
      </p:pic>
    </p:spTree>
    <p:extLst>
      <p:ext uri="{BB962C8B-B14F-4D97-AF65-F5344CB8AC3E}">
        <ns4:creationId val="1746540680"/>
      </p:ext>
    </p:extLst>
  </p:cSld>
</p:sld>
</file>

<file path=ppt/slides/slide8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81C24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PreservedSourceMedia1">
            <a:extLst>
              <a:ext uri="{FF2B5EF4-FFF2-40B4-BE49-F238E27FC236}">
                <ns2:creationId id="{919202C3-3B57-47ED-A4E3-0313DC4ABF0C}"/>
              </a:ext>
            </a:extLst>
          </p:cNvPr>
          <p:cNvPicPr>
            <a:picLocks noChangeAspect="1"/>
          </p:cNvPicPr>
          <p:nvPr/>
        </p:nvPicPr>
        <p:blipFill>
          <a:blip r:embed="rIdMedia1"/>
          <a:srcRect l="20372" t="5736" r="18513" b="2294"/>
          <a:stretch/>
        </p:blipFill>
        <p:spPr>
          <a:xfrm>
            <a:off x="904875" y="1943100"/>
            <a:ext cx="4705350" cy="2646759"/>
          </a:xfrm>
          <a:prstGeom prst="rect">
            <a:avLst/>
          </a:prstGeom>
        </p:spPr>
      </p:pic>
      <p:pic>
        <p:nvPicPr>
          <p:cNvPr id="15" name="PreservedSourceMedia2">
            <a:extLst>
              <a:ext uri="{FF2B5EF4-FFF2-40B4-BE49-F238E27FC236}">
                <ns2:creationId id="{B93D2DCA-3FC1-4D2F-8484-BD3CE7E80D9F}"/>
              </a:ext>
            </a:extLst>
          </p:cNvPr>
          <p:cNvPicPr>
            <a:picLocks noChangeAspect="1"/>
          </p:cNvPicPr>
          <p:nvPr/>
        </p:nvPicPr>
        <p:blipFill>
          <a:blip r:embed="rIdMedia2"/>
          <a:srcRect l="17806" t="4717" r="19516" b="1887"/>
          <a:stretch/>
        </p:blipFill>
        <p:spPr>
          <a:xfrm>
            <a:off x="6581775" y="1943100"/>
            <a:ext cx="4705350" cy="2646759"/>
          </a:xfrm>
          <a:prstGeom prst="rect">
            <a:avLst/>
          </a:prstGeom>
        </p:spPr>
      </p:pic>
      <p:sp>
        <p:nvSpPr>
          <p:cNvPr id="13" name="Section">
            <a:extLst>
              <a:ext uri="{FF2B5EF4-FFF2-40B4-BE49-F238E27FC236}">
                <ns2:creationId id="{AFE0AD08-70F9-4CCC-9137-39D8C6E6AA00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핵심 구현 3/5 | PORTAL SYSTEM</a:t>
            </a:r>
          </a:p>
        </p:txBody>
      </p:sp>
      <p:sp>
        <p:nvSpPr>
          <p:cNvPr id="2" name="Title">
            <a:extLst>
              <a:ext uri="{FF2B5EF4-FFF2-40B4-BE49-F238E27FC236}">
                <ns2:creationId id="{5985F1EA-0073-4051-AE3F-E0E485E14725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공간 포탈의 시점 변환과 촬영 부하 제어</a:t>
            </a:r>
          </a:p>
        </p:txBody>
      </p:sp>
      <p:sp>
        <p:nvSpPr>
          <p:cNvPr id="3" name="PageNumber">
            <a:extLst>
              <a:ext uri="{FF2B5EF4-FFF2-40B4-BE49-F238E27FC236}">
                <ns2:creationId id="{0328DF63-F2FE-4339-BB6E-C025072AA487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07</a:t>
            </a:r>
          </a:p>
        </p:txBody>
      </p:sp>
      <p:sp>
        <p:nvSpPr>
          <p:cNvPr id="4" name="PortalGoal">
            <a:extLst>
              <a:ext uri="{FF2B5EF4-FFF2-40B4-BE49-F238E27FC236}">
                <ns2:creationId id="{5445EF4C-260D-4FA3-BF68-A1F5BD3EA4DE}"/>
              </a:ext>
            </a:extLst>
          </p:cNvPr>
          <p:cNvSpPr>
            <a:spLocks noGrp="1"/>
          </p:cNvSpPr>
          <p:nvPr/>
        </p:nvSpPr>
        <p:spPr>
          <a:xfrm>
            <a:off x="609600" y="1266825"/>
            <a:ext cx="10972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플레이어 위치에 맞는 출구 화면을 SceneCapture로 표시합니다.</a:t>
            </a:r>
          </a:p>
        </p:txBody>
      </p:sp>
      <p:sp>
        <p:nvSpPr>
          <p:cNvPr id="5" name="FrontLabel">
            <a:extLst>
              <a:ext uri="{FF2B5EF4-FFF2-40B4-BE49-F238E27FC236}">
                <ns2:creationId id="{5FC2A0A8-8681-4B97-9828-4F584CEBD756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5295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정면에서 본 출구 공간</a:t>
            </a:r>
          </a:p>
        </p:txBody>
      </p:sp>
      <p:sp>
        <p:nvSpPr>
          <p:cNvPr id="6" name="SideLabel">
            <a:extLst>
              <a:ext uri="{FF2B5EF4-FFF2-40B4-BE49-F238E27FC236}">
                <ns2:creationId id="{8E113956-6204-4F27-9B6A-D1B7968FB288}"/>
              </a:ext>
            </a:extLst>
          </p:cNvPr>
          <p:cNvSpPr>
            <a:spLocks noGrp="1"/>
          </p:cNvSpPr>
          <p:nvPr/>
        </p:nvSpPr>
        <p:spPr>
          <a:xfrm>
            <a:off x="6286500" y="1600200"/>
            <a:ext cx="5295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측면 이동 후 달라진 시야</a:t>
            </a:r>
          </a:p>
        </p:txBody>
      </p:sp>
      <p:sp>
        <p:nvSpPr>
          <p:cNvPr id="7" name="ProjectionHeading">
            <a:extLst>
              <a:ext uri="{FF2B5EF4-FFF2-40B4-BE49-F238E27FC236}">
                <ns2:creationId id="{2F86E72C-5BBA-4137-82FE-76DFBD3A1D14}"/>
              </a:ext>
            </a:extLst>
          </p:cNvPr>
          <p:cNvSpPr>
            <a:spLocks noGrp="1"/>
          </p:cNvSpPr>
          <p:nvPr/>
        </p:nvSpPr>
        <p:spPr>
          <a:xfrm>
            <a:off x="609600" y="4686300"/>
            <a:ext cx="5295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시점에 맞춘 출구 화면</a:t>
            </a:r>
          </a:p>
        </p:txBody>
      </p:sp>
      <p:sp>
        <p:nvSpPr>
          <p:cNvPr id="8" name="ProjectionBody">
            <a:extLst>
              <a:ext uri="{FF2B5EF4-FFF2-40B4-BE49-F238E27FC236}">
                <ns2:creationId id="{5120167C-5ADF-4BDE-A6DE-DB50EFA7A0BC}"/>
              </a:ext>
            </a:extLst>
          </p:cNvPr>
          <p:cNvSpPr>
            <a:spLocks noGrp="1"/>
          </p:cNvSpPr>
          <p:nvPr/>
        </p:nvSpPr>
        <p:spPr>
          <a:xfrm>
            <a:off x="609600" y="5076825"/>
            <a:ext cx="529590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카메라 위치를 입구에서 출구 좌표로 변환하고,</a:t>
            </a:r>
          </a:p>
          <a:p>
            <a: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포탈 경계에 맞춘 비대칭 투영을 계산합니다.</a:t>
            </a:r>
          </a:p>
          <a:p>
            <a: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SceneCapture 결과를 포탈 표면에 표시합니다.</a:t>
            </a:r>
          </a:p>
        </p:txBody>
      </p:sp>
      <p:sp>
        <p:nvSpPr>
          <p:cNvPr id="9" name="BudgetHeading">
            <a:extLst>
              <a:ext uri="{FF2B5EF4-FFF2-40B4-BE49-F238E27FC236}">
                <ns2:creationId id="{6B1150DA-E9C1-4444-AF07-7B63ABE8499F}"/>
              </a:ext>
            </a:extLst>
          </p:cNvPr>
          <p:cNvSpPr>
            <a:spLocks noGrp="1"/>
          </p:cNvSpPr>
          <p:nvPr/>
        </p:nvSpPr>
        <p:spPr>
          <a:xfrm>
            <a:off x="6286500" y="4686300"/>
            <a:ext cx="5295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촬영 부하 제어와 근접 갱신</a:t>
            </a:r>
          </a:p>
        </p:txBody>
      </p:sp>
      <p:sp>
        <p:nvSpPr>
          <p:cNvPr id="10" name="BudgetBody">
            <a:extLst>
              <a:ext uri="{FF2B5EF4-FFF2-40B4-BE49-F238E27FC236}">
                <ns2:creationId id="{D6047812-DBBD-4B5F-9871-08A3B46E411E}"/>
              </a:ext>
            </a:extLst>
          </p:cNvPr>
          <p:cNvSpPr>
            <a:spLocks noGrp="1"/>
          </p:cNvSpPr>
          <p:nvPr/>
        </p:nvSpPr>
        <p:spPr>
          <a:xfrm>
            <a:off x="6286500" y="5076825"/>
            <a:ext cx="529590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화면 점유율에 맞춰 렌더 타깃 해상도를 정합니다.</a:t>
            </a:r>
          </a:p>
          <a:p>
            <a: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기본값: 정지 시 초당 5회 / 프레임당 최대 2회.</a:t>
            </a:r>
          </a:p>
          <a:p>
            <a: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근접 시 갱신 간격 제한을 해제하지만,</a:t>
            </a:r>
          </a:p>
          <a:p>
            <a: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프레임당 촬영 상한은 유지합니다.</a:t>
            </a:r>
          </a:p>
        </p:txBody>
      </p:sp>
      <p:sp>
        <p:nvSpPr>
          <p:cNvPr id="11" name="PortalSource">
            <a:extLst>
              <a:ext uri="{FF2B5EF4-FFF2-40B4-BE49-F238E27FC236}">
                <ns2:creationId id="{14C8B0CF-0546-4521-AD89-53DCF8F77C6A}"/>
              </a:ext>
            </a:extLst>
          </p:cNvPr>
          <p:cNvSpPr>
            <a:spLocks noGrp="1"/>
          </p:cNvSpPr>
          <p:nvPr/>
        </p:nvSpPr>
        <p:spPr>
          <a:xfrm>
            <a:off x="895350" y="6334125"/>
            <a:ext cx="4857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solidFill>
                  <a:srgbClr val="7DD3FC"/>
                </a:solidFill>
                <a:hlinkClick r:id="Ra10d5aaf7f134709"/>
              </a:rPr>
              <a:t>GitHub / 포탈 렌더링</a:t>
            </a:r>
          </a:p>
        </p:txBody>
      </p:sp>
      <p:sp>
        <p:nvSpPr>
          <p:cNvPr id="12" name="PortalBudgetSource">
            <a:extLst>
              <a:ext uri="{FF2B5EF4-FFF2-40B4-BE49-F238E27FC236}">
                <ns2:creationId id="{8D104611-902F-4E13-B3A3-E37A3482D396}"/>
              </a:ext>
            </a:extLst>
          </p:cNvPr>
          <p:cNvSpPr>
            <a:spLocks noGrp="1"/>
          </p:cNvSpPr>
          <p:nvPr/>
        </p:nvSpPr>
        <p:spPr>
          <a:xfrm>
            <a:off x="6381750" y="6334125"/>
            <a:ext cx="4857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solidFill>
                  <a:srgbClr val="7DD3FC"/>
                </a:solidFill>
                <a:hlinkClick r:id="R811cfa4e35ee44a3"/>
              </a:rPr>
              <a:t>GitHub / 촬영 스케줄링</a:t>
            </a:r>
          </a:p>
        </p:txBody>
      </p:sp>
      <p:pic>
        <p:nvPicPr>
          <p:cNvPr id="16" name="GitHubMergedCode1">
            <a:extLst>
              <a:ext uri="{FF2B5EF4-FFF2-40B4-BE49-F238E27FC236}">
                <ns2:creationId id="{58B00E5B-5580-41BB-BE48-F56B56318422}"/>
              </a:ext>
            </a:extLst>
            <a:hlinkClick r:id="Ra10d5aaf7f134709"/>
          </p:cNvPr>
          <p:cNvPicPr>
            <a:picLocks noChangeAspect="1"/>
          </p:cNvPicPr>
          <p:nvPr/>
        </p:nvPicPr>
        <p:blipFill>
          <a:blip r:embed="rIdGitHubIcon"/>
          <a:stretch/>
        </p:blipFill>
        <p:spPr>
          <a:xfrm>
            <a:off x="609600" y="6362700"/>
            <a:ext cx="190500" cy="186612"/>
          </a:xfrm>
          <a:prstGeom prst="rect">
            <a:avLst/>
          </a:prstGeom>
        </p:spPr>
      </p:pic>
      <p:pic>
        <p:nvPicPr>
          <p:cNvPr id="17" name="GitHubMergedCode2">
            <a:extLst>
              <a:ext uri="{FF2B5EF4-FFF2-40B4-BE49-F238E27FC236}">
                <ns2:creationId id="{58B00E5B-5580-41BB-BE48-F56B56318422}"/>
              </a:ext>
            </a:extLst>
            <a:hlinkClick r:id="R811cfa4e35ee44a3"/>
          </p:cNvPr>
          <p:cNvPicPr>
            <a:picLocks noChangeAspect="1"/>
          </p:cNvPicPr>
          <p:nvPr/>
        </p:nvPicPr>
        <p:blipFill>
          <a:blip r:embed="rIdGitHubIcon"/>
          <a:stretch/>
        </p:blipFill>
        <p:spPr>
          <a:xfrm>
            <a:off x="6096000" y="6362700"/>
            <a:ext cx="190500" cy="186612"/>
          </a:xfrm>
          <a:prstGeom prst="rect">
            <a:avLst/>
          </a:prstGeom>
        </p:spPr>
      </p:pic>
    </p:spTree>
    <p:extLst>
      <p:ext uri="{BB962C8B-B14F-4D97-AF65-F5344CB8AC3E}">
        <ns4:creationId val="1057831976"/>
      </p:ext>
    </p:extLst>
  </p:cSld>
</p:sld>
</file>

<file path=ppt/slides/slide9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81C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ection label">
            <a:extLst>
              <a:ext uri="{FF2B5EF4-FFF2-40B4-BE49-F238E27FC236}">
                <ns2:creationId id="{DC353595-C91E-4A07-9689-15AA9BB9E9DF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핵심 구현 3/5 | PORTAL TRAVERSAL</a:t>
            </a:r>
          </a:p>
        </p:txBody>
      </p:sp>
      <p:sp>
        <p:nvSpPr>
          <p:cNvPr id="2" name="Slide title">
            <a:extLst>
              <a:ext uri="{FF2B5EF4-FFF2-40B4-BE49-F238E27FC236}">
                <ns2:creationId id="{BBB6B201-C9CF-474F-BF3F-D2E29444A17B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공간 포탈 통과 과정</a:t>
            </a:r>
          </a:p>
        </p:txBody>
      </p:sp>
      <p:sp>
        <p:nvSpPr>
          <p:cNvPr id="3" name="Page number">
            <a:extLst>
              <a:ext uri="{FF2B5EF4-FFF2-40B4-BE49-F238E27FC236}">
                <ns2:creationId id="{CAD0D23C-A6F6-4B1E-87F5-EB946252A5AA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975" b="0">
                <a:solidFill>
                  <a:srgbClr val="8D9BA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975" b="0">
                <a:solidFill>
                  <a:srgbClr val="8D9BA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975" b="0">
                <a:solidFill>
                  <a:srgbClr val="8D9BA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975" b="0">
                <a:solidFill>
                  <a:srgbClr val="8D9BA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975" b="0">
                <a:solidFill>
                  <a:srgbClr val="8D9BA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975" b="0">
                <a:solidFill>
                  <a:srgbClr val="8D9BA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975" b="0">
                <a:solidFill>
                  <a:srgbClr val="8D9BA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975" b="0">
                <a:solidFill>
                  <a:srgbClr val="8D9BA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975" b="0">
                <a:solidFill>
                  <a:srgbClr val="8D9BAB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09</a:t>
            </a:r>
          </a:p>
        </p:txBody>
      </p:sp>
      <p:sp>
        <p:nvSpPr>
          <p:cNvPr id="12" name="Portal GIF heading">
            <a:extLst>
              <a:ext uri="{FF2B5EF4-FFF2-40B4-BE49-F238E27FC236}">
                <ns2:creationId id="{3DDB633C-7B21-4807-A078-D4A888577EEF}"/>
              </a:ext>
            </a:extLst>
          </p:cNvPr>
          <p:cNvSpPr>
            <a:spLocks noGrp="1"/>
          </p:cNvSpPr>
          <p:nvPr/>
        </p:nvSpPr>
        <p:spPr>
          <a:xfrm>
            <a:off x="609600" y="1428750"/>
            <a:ext cx="76200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입구 접근부터 출구 도착까지</a:t>
            </a:r>
          </a:p>
        </p:txBody>
      </p:sp>
      <p:pic>
        <p:nvPicPr>
          <p:cNvPr id="13" name="그림 12">
            <a:extLst>
              <a:ext uri="{FF2B5EF4-FFF2-40B4-BE49-F238E27FC236}">
                <ns2:creationId id="{68D03724-3CBE-4DF2-9BBB-EF962F9C8C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609600" y="1943100"/>
            <a:ext cx="7620000" cy="2849880"/>
          </a:xfrm>
          <a:prstGeom prst="rect">
            <a:avLst/>
          </a:prstGeom>
        </p:spPr>
      </p:pic>
      <p:sp>
        <p:nvSpPr>
          <p:cNvPr id="14" name="Portal traversal description">
            <a:extLst>
              <a:ext uri="{FF2B5EF4-FFF2-40B4-BE49-F238E27FC236}">
                <ns2:creationId id="{BC95A877-51F0-4EAF-8EB7-1FC6D9E98514}"/>
              </a:ext>
            </a:extLst>
          </p:cNvPr>
          <p:cNvSpPr>
            <a:spLocks noGrp="1"/>
          </p:cNvSpPr>
          <p:nvPr/>
        </p:nvSpPr>
        <p:spPr>
          <a:xfrm>
            <a:off x="609600" y="5200650"/>
            <a:ext cx="762000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t>포탈에 진입하면 출구 공간으로 이동합니다.</a:t>
            </a:r>
          </a:p>
          <a:p>
            <a:pPr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t>통과 전후의 위치와 시점은 오른쪽 정지 화면으로 비교합니다.</a:t>
            </a:r>
          </a:p>
        </p:txBody>
      </p:sp>
      <p:sp>
        <p:nvSpPr>
          <p:cNvPr id="15" name="Before portal caption">
            <a:extLst>
              <a:ext uri="{FF2B5EF4-FFF2-40B4-BE49-F238E27FC236}">
                <ns2:creationId id="{15FC3E54-CC75-4CD6-ACA6-78C3837AC187}"/>
              </a:ext>
            </a:extLst>
          </p:cNvPr>
          <p:cNvSpPr>
            <a:spLocks noGrp="1"/>
          </p:cNvSpPr>
          <p:nvPr/>
        </p:nvSpPr>
        <p:spPr>
          <a:xfrm>
            <a:off x="8572500" y="1809750"/>
            <a:ext cx="30099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통과 전 / 입구 접근</a:t>
            </a:r>
          </a:p>
        </p:txBody>
      </p:sp>
      <p:pic>
        <p:nvPicPr>
          <p:cNvPr id="16" name="그림 15">
            <a:extLst>
              <a:ext uri="{FF2B5EF4-FFF2-40B4-BE49-F238E27FC236}">
                <ns2:creationId id="{A3735A5F-9B56-4D22-B8CF-DC3F68AFB7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572544" y="2209800"/>
            <a:ext cx="3009811" cy="1128141"/>
          </a:xfrm>
          <a:prstGeom prst="rect">
            <a:avLst/>
          </a:prstGeom>
        </p:spPr>
      </p:pic>
      <p:sp>
        <p:nvSpPr>
          <p:cNvPr id="17" name="After portal caption">
            <a:extLst>
              <a:ext uri="{FF2B5EF4-FFF2-40B4-BE49-F238E27FC236}">
                <ns2:creationId id="{86A6DFF1-7680-4098-AF9E-DDEB019BA1F1}"/>
              </a:ext>
            </a:extLst>
          </p:cNvPr>
          <p:cNvSpPr>
            <a:spLocks noGrp="1"/>
          </p:cNvSpPr>
          <p:nvPr/>
        </p:nvSpPr>
        <p:spPr>
          <a:xfrm>
            <a:off x="8572500" y="3876675"/>
            <a:ext cx="30099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통과 후 / 출구 공간</a:t>
            </a:r>
          </a:p>
        </p:txBody>
      </p:sp>
      <p:pic>
        <p:nvPicPr>
          <p:cNvPr id="18" name="그림 17">
            <a:extLst>
              <a:ext uri="{FF2B5EF4-FFF2-40B4-BE49-F238E27FC236}">
                <ns2:creationId id="{6AEFC55F-FFCC-4CFB-A155-9B6DAF8636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8572544" y="4276725"/>
            <a:ext cx="3009811" cy="1128141"/>
          </a:xfrm>
          <a:prstGeom prst="rect">
            <a:avLst/>
          </a:prstGeom>
        </p:spPr>
      </p:pic>
    </p:spTree>
    <p:extLst>
      <p:ext uri="{BB962C8B-B14F-4D97-AF65-F5344CB8AC3E}">
        <ns4:creationId val="203333948"/>
      </p:ext>
    </p:extLst>
  </p:cSld>
  <p:clrMapOvr>
    <a:masterClrMapping/>
  </p:clrMapOvr>
</p:sld>
</file>

<file path=ppt/slides/slide11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81C24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2" name="Section label">
            <a:extLst>
              <a:ext uri="{FF2B5EF4-FFF2-40B4-BE49-F238E27FC236}">
                <ns2:creationId id="{74A45D75-8BF0-4A4C-AC44-B78B844B35AA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핵심 구현 3/5 | PORTAL TRAVERSAL</a:t>
            </a:r>
          </a:p>
        </p:txBody>
      </p:sp>
      <p:sp>
        <p:nvSpPr>
          <p:cNvPr id="3" name="Slide title">
            <a:extLst>
              <a:ext uri="{FF2B5EF4-FFF2-40B4-BE49-F238E27FC236}">
                <ns2:creationId id="{8E156217-E46C-440E-BEA8-3306DD5114DC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포탈 통과의 서버 확정과 로컬 충돌 처리</a:t>
            </a:r>
          </a:p>
        </p:txBody>
      </p:sp>
      <p:sp>
        <p:nvSpPr>
          <p:cNvPr id="4" name="Page number">
            <a:extLst>
              <a:ext uri="{FF2B5EF4-FFF2-40B4-BE49-F238E27FC236}">
                <ns2:creationId id="{DB5D7DDC-9CA5-4AED-8B86-D8546042E126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10</a:t>
            </a:r>
          </a:p>
        </p:txBody>
      </p:sp>
      <p:sp>
        <p:nvSpPr>
          <p:cNvPr id="5" name="Scope">
            <a:extLst>
              <a:ext uri="{FF2B5EF4-FFF2-40B4-BE49-F238E27FC236}">
                <ns2:creationId id="{BAF757C3-EE2F-45C6-83FC-E68A66E9EF02}"/>
              </a:ext>
            </a:extLst>
          </p:cNvPr>
          <p:cNvSpPr>
            <a:spLocks noGrp="1"/>
          </p:cNvSpPr>
          <p:nvPr/>
        </p:nvSpPr>
        <p:spPr>
          <a:xfrm>
            <a:off x="609600" y="1333500"/>
            <a:ext cx="10972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서버가 이동을 확정하고, 로컬 플레이어는 통과 전후의 벽 충돌을 처리합니다.</a:t>
            </a:r>
          </a:p>
        </p:txBody>
      </p:sp>
      <p:sp>
        <p:nvSpPr>
          <p:cNvPr id="6" name="Server role frame">
            <a:extLst>
              <a:ext uri="{FF2B5EF4-FFF2-40B4-BE49-F238E27FC236}">
                <ns2:creationId id="{D4596BC0-4E4A-43FE-8952-40F6BA07FAE9}"/>
              </a:ext>
            </a:extLst>
          </p:cNvPr>
          <p:cNvSpPr>
            <a:spLocks noGrp="1"/>
          </p:cNvSpPr>
          <p:nvPr/>
        </p:nvSpPr>
        <p:spPr>
          <a:xfrm>
            <a:off x="609600" y="2085975"/>
            <a:ext cx="1333500" cy="838200"/>
          </a:xfrm>
          <a:prstGeom prst="roundRect">
            <a:avLst>
              <a:gd name="adj" fmla="val 9091"/>
            </a:avLst>
          </a:prstGeom>
          <a:solidFill>
            <a:srgbClr val="202733"/>
          </a:solidFill>
          <a:ln w="14288">
            <a:solidFill>
              <a:srgbClr val="49A6FF"/>
            </a:solidFill>
            <a:prstDash val="solid"/>
          </a:ln>
        </p:spPr>
      </p:sp>
      <p:sp>
        <p:nvSpPr>
          <p:cNvPr id="7" name="Server role">
            <a:extLst>
              <a:ext uri="{FF2B5EF4-FFF2-40B4-BE49-F238E27FC236}">
                <ns2:creationId id="{89878920-E97C-4379-83C3-14C448A67767}"/>
              </a:ext>
            </a:extLst>
          </p:cNvPr>
          <p:cNvSpPr>
            <a:spLocks noGrp="1"/>
          </p:cNvSpPr>
          <p:nvPr/>
        </p:nvSpPr>
        <p:spPr>
          <a:xfrm>
            <a:off x="723900" y="2209800"/>
            <a:ext cx="11049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서버</a:t>
            </a:r>
          </a:p>
        </p:txBody>
      </p:sp>
      <p:sp>
        <p:nvSpPr>
          <p:cNvPr id="8" name="Server step 0 frame">
            <a:extLst>
              <a:ext uri="{FF2B5EF4-FFF2-40B4-BE49-F238E27FC236}">
                <ns2:creationId id="{F31CA4FB-CD54-4DEE-AD5D-C600F485697C}"/>
              </a:ext>
            </a:extLst>
          </p:cNvPr>
          <p:cNvSpPr>
            <a:spLocks noGrp="1"/>
          </p:cNvSpPr>
          <p:nvPr/>
        </p:nvSpPr>
        <p:spPr>
          <a:xfrm>
            <a:off x="2324100" y="2085975"/>
            <a:ext cx="1943100" cy="838200"/>
          </a:xfrm>
          <a:prstGeom prst="roundRect">
            <a:avLst>
              <a:gd name="adj" fmla="val 9091"/>
            </a:avLst>
          </a:prstGeom>
          <a:solidFill>
            <a:srgbClr val="202733"/>
          </a:solidFill>
          <a:ln w="14288">
            <a:solidFill>
              <a:srgbClr val="49A6FF"/>
            </a:solidFill>
            <a:prstDash val="solid"/>
          </a:ln>
        </p:spPr>
      </p:sp>
      <p:sp>
        <p:nvSpPr>
          <p:cNvPr id="9" name="Server step 0">
            <a:extLst>
              <a:ext uri="{FF2B5EF4-FFF2-40B4-BE49-F238E27FC236}">
                <ns2:creationId id="{EAC33978-FA67-4BC7-A114-19F5C3862B18}"/>
              </a:ext>
            </a:extLst>
          </p:cNvPr>
          <p:cNvSpPr>
            <a:spLocks noGrp="1"/>
          </p:cNvSpPr>
          <p:nvPr/>
        </p:nvSpPr>
        <p:spPr>
          <a:xfrm>
            <a:off x="2438400" y="2209800"/>
            <a:ext cx="17145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1. 입구 접촉과</a:t>
            </a:r>
          </a:p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통과 방향 검사</a:t>
            </a:r>
          </a:p>
        </p:txBody>
      </p:sp>
      <p:sp>
        <p:nvSpPr>
          <p:cNvPr id="10" name="Server arrow 0">
            <a:extLst>
              <a:ext uri="{FF2B5EF4-FFF2-40B4-BE49-F238E27FC236}">
                <ns2:creationId id="{23B55C37-2D93-4408-9776-AC3288FD95B5}"/>
              </a:ext>
            </a:extLst>
          </p:cNvPr>
          <p:cNvSpPr>
            <a:spLocks noGrp="1"/>
          </p:cNvSpPr>
          <p:nvPr/>
        </p:nvSpPr>
        <p:spPr>
          <a:xfrm>
            <a:off x="4352925" y="2447925"/>
            <a:ext cx="209550" cy="114300"/>
          </a:xfrm>
          <a:prstGeom prst="rightArrow">
            <a:avLst/>
          </a:prstGeom>
          <a:solidFill>
            <a:srgbClr val="49A6FF"/>
          </a:solidFill>
          <a:ln w="0">
            <a:noFill/>
            <a:prstDash val="solid"/>
          </a:ln>
        </p:spPr>
      </p:sp>
      <p:sp>
        <p:nvSpPr>
          <p:cNvPr id="11" name="Server step 1 frame">
            <a:extLst>
              <a:ext uri="{FF2B5EF4-FFF2-40B4-BE49-F238E27FC236}">
                <ns2:creationId id="{E057E5E4-8D88-4ADE-B6B9-DBA03CFB8709}"/>
              </a:ext>
            </a:extLst>
          </p:cNvPr>
          <p:cNvSpPr>
            <a:spLocks noGrp="1"/>
          </p:cNvSpPr>
          <p:nvPr/>
        </p:nvSpPr>
        <p:spPr>
          <a:xfrm>
            <a:off x="4648200" y="2085975"/>
            <a:ext cx="1943100" cy="838200"/>
          </a:xfrm>
          <a:prstGeom prst="roundRect">
            <a:avLst>
              <a:gd name="adj" fmla="val 9091"/>
            </a:avLst>
          </a:prstGeom>
          <a:solidFill>
            <a:srgbClr val="202733"/>
          </a:solidFill>
          <a:ln w="14288">
            <a:solidFill>
              <a:srgbClr val="49A6FF"/>
            </a:solidFill>
            <a:prstDash val="solid"/>
          </a:ln>
        </p:spPr>
      </p:sp>
      <p:sp>
        <p:nvSpPr>
          <p:cNvPr id="12" name="Server step 1">
            <a:extLst>
              <a:ext uri="{FF2B5EF4-FFF2-40B4-BE49-F238E27FC236}">
                <ns2:creationId id="{7DC3B77D-9B0E-45BB-A790-B6C32BF82B15}"/>
              </a:ext>
            </a:extLst>
          </p:cNvPr>
          <p:cNvSpPr>
            <a:spLocks noGrp="1"/>
          </p:cNvSpPr>
          <p:nvPr/>
        </p:nvSpPr>
        <p:spPr>
          <a:xfrm>
            <a:off x="4762500" y="2209800"/>
            <a:ext cx="17145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2. 출구 좌표와</a:t>
            </a:r>
          </a:p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속도 / 시점 변환</a:t>
            </a:r>
          </a:p>
        </p:txBody>
      </p:sp>
      <p:sp>
        <p:nvSpPr>
          <p:cNvPr id="13" name="Server arrow 1">
            <a:extLst>
              <a:ext uri="{FF2B5EF4-FFF2-40B4-BE49-F238E27FC236}">
                <ns2:creationId id="{0463F36C-5F0C-4233-89EC-1D7FD8C40219}"/>
              </a:ext>
            </a:extLst>
          </p:cNvPr>
          <p:cNvSpPr>
            <a:spLocks noGrp="1"/>
          </p:cNvSpPr>
          <p:nvPr/>
        </p:nvSpPr>
        <p:spPr>
          <a:xfrm>
            <a:off x="6677025" y="2447925"/>
            <a:ext cx="209550" cy="114300"/>
          </a:xfrm>
          <a:prstGeom prst="rightArrow">
            <a:avLst/>
          </a:prstGeom>
          <a:solidFill>
            <a:srgbClr val="49A6FF"/>
          </a:solidFill>
          <a:ln w="0">
            <a:noFill/>
            <a:prstDash val="solid"/>
          </a:ln>
        </p:spPr>
      </p:sp>
      <p:sp>
        <p:nvSpPr>
          <p:cNvPr id="14" name="Server step 2 frame">
            <a:extLst>
              <a:ext uri="{FF2B5EF4-FFF2-40B4-BE49-F238E27FC236}">
                <ns2:creationId id="{CE3431EF-1FD3-4A8E-ADE9-07BC34052751}"/>
              </a:ext>
            </a:extLst>
          </p:cNvPr>
          <p:cNvSpPr>
            <a:spLocks noGrp="1"/>
          </p:cNvSpPr>
          <p:nvPr/>
        </p:nvSpPr>
        <p:spPr>
          <a:xfrm>
            <a:off x="6972300" y="2085975"/>
            <a:ext cx="1943100" cy="838200"/>
          </a:xfrm>
          <a:prstGeom prst="roundRect">
            <a:avLst>
              <a:gd name="adj" fmla="val 9091"/>
            </a:avLst>
          </a:prstGeom>
          <a:solidFill>
            <a:srgbClr val="202733"/>
          </a:solidFill>
          <a:ln w="14288">
            <a:solidFill>
              <a:srgbClr val="49A6FF"/>
            </a:solidFill>
            <a:prstDash val="solid"/>
          </a:ln>
        </p:spPr>
      </p:sp>
      <p:sp>
        <p:nvSpPr>
          <p:cNvPr id="15" name="Server step 2">
            <a:extLst>
              <a:ext uri="{FF2B5EF4-FFF2-40B4-BE49-F238E27FC236}">
                <ns2:creationId id="{0E035476-C13C-4EB9-A074-2E8F74C38732}"/>
              </a:ext>
            </a:extLst>
          </p:cNvPr>
          <p:cNvSpPr>
            <a:spLocks noGrp="1"/>
          </p:cNvSpPr>
          <p:nvPr/>
        </p:nvSpPr>
        <p:spPr>
          <a:xfrm>
            <a:off x="7086600" y="2209800"/>
            <a:ext cx="17145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3. 도착 영역과</a:t>
            </a:r>
          </a:p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경로 충돌 검사</a:t>
            </a:r>
          </a:p>
        </p:txBody>
      </p:sp>
      <p:sp>
        <p:nvSpPr>
          <p:cNvPr id="16" name="Server arrow 2">
            <a:extLst>
              <a:ext uri="{FF2B5EF4-FFF2-40B4-BE49-F238E27FC236}">
                <ns2:creationId id="{E638E128-51D5-4A50-8173-B8F8803968E2}"/>
              </a:ext>
            </a:extLst>
          </p:cNvPr>
          <p:cNvSpPr>
            <a:spLocks noGrp="1"/>
          </p:cNvSpPr>
          <p:nvPr/>
        </p:nvSpPr>
        <p:spPr>
          <a:xfrm>
            <a:off x="9001125" y="2447925"/>
            <a:ext cx="209550" cy="114300"/>
          </a:xfrm>
          <a:prstGeom prst="rightArrow">
            <a:avLst/>
          </a:prstGeom>
          <a:solidFill>
            <a:srgbClr val="49A6FF"/>
          </a:solidFill>
          <a:ln w="0">
            <a:noFill/>
            <a:prstDash val="solid"/>
          </a:ln>
        </p:spPr>
      </p:sp>
      <p:sp>
        <p:nvSpPr>
          <p:cNvPr id="17" name="Server step 3 frame">
            <a:extLst>
              <a:ext uri="{FF2B5EF4-FFF2-40B4-BE49-F238E27FC236}">
                <ns2:creationId id="{3BD60468-909C-452D-8641-875196CF52C4}"/>
              </a:ext>
            </a:extLst>
          </p:cNvPr>
          <p:cNvSpPr>
            <a:spLocks noGrp="1"/>
          </p:cNvSpPr>
          <p:nvPr/>
        </p:nvSpPr>
        <p:spPr>
          <a:xfrm>
            <a:off x="9296400" y="2085975"/>
            <a:ext cx="2286000" cy="838200"/>
          </a:xfrm>
          <a:prstGeom prst="roundRect">
            <a:avLst>
              <a:gd name="adj" fmla="val 9091"/>
            </a:avLst>
          </a:prstGeom>
          <a:solidFill>
            <a:srgbClr val="202733"/>
          </a:solidFill>
          <a:ln w="14288">
            <a:solidFill>
              <a:srgbClr val="49A6FF"/>
            </a:solidFill>
            <a:prstDash val="solid"/>
          </a:ln>
        </p:spPr>
      </p:sp>
      <p:sp>
        <p:nvSpPr>
          <p:cNvPr id="18" name="Server step 3">
            <a:extLst>
              <a:ext uri="{FF2B5EF4-FFF2-40B4-BE49-F238E27FC236}">
                <ns2:creationId id="{6F0D0004-234A-4E6C-8D6B-392CF8D053F0}"/>
              </a:ext>
            </a:extLst>
          </p:cNvPr>
          <p:cNvSpPr>
            <a:spLocks noGrp="1"/>
          </p:cNvSpPr>
          <p:nvPr/>
        </p:nvSpPr>
        <p:spPr>
          <a:xfrm>
            <a:off x="9410700" y="2209800"/>
            <a:ext cx="20574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4. 이동 확정</a:t>
            </a:r>
          </a:p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TeleportTo</a:t>
            </a:r>
          </a:p>
        </p:txBody>
      </p:sp>
      <p:sp>
        <p:nvSpPr>
          <p:cNvPr id="19" name="Arrival rules">
            <a:extLst>
              <a:ext uri="{FF2B5EF4-FFF2-40B4-BE49-F238E27FC236}">
                <ns2:creationId id="{DF19A72E-E30D-487A-9A85-50B47C4C057A}"/>
              </a:ext>
            </a:extLst>
          </p:cNvPr>
          <p:cNvSpPr>
            <a:spLocks noGrp="1"/>
          </p:cNvSpPr>
          <p:nvPr/>
        </p:nvSpPr>
        <p:spPr>
          <a:xfrm>
            <a:off x="2324100" y="3124200"/>
            <a:ext cx="4381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출구 가로 중앙에 도착하며 높이와 속도 크기는 유지합니다.</a:t>
            </a:r>
          </a:p>
        </p:txBody>
      </p:sp>
      <p:sp>
        <p:nvSpPr>
          <p:cNvPr id="20" name="Reject branch">
            <a:extLst>
              <a:ext uri="{FF2B5EF4-FFF2-40B4-BE49-F238E27FC236}">
                <ns2:creationId id="{33840378-223C-4A76-9419-41549211394F}"/>
              </a:ext>
            </a:extLst>
          </p:cNvPr>
          <p:cNvSpPr>
            <a:spLocks noGrp="1"/>
          </p:cNvSpPr>
          <p:nvPr/>
        </p:nvSpPr>
        <p:spPr>
          <a:xfrm>
            <a:off x="7943850" y="2924175"/>
            <a:ext cx="9525" cy="266700"/>
          </a:xfrm>
          <a:custGeom>
            <a:pathLst>
              <a:path w="9525" h="266700">
                <a:moveTo>
                  <a:pt x="0" y="0"/>
                </a:moveTo>
                <a:lnTo>
                  <a:pt x="0" y="266700"/>
                </a:lnTo>
              </a:path>
            </a:pathLst>
          </a:custGeom>
          <a:noFill/>
          <a:ln w="19050">
            <a:solidFill>
              <a:srgbClr val="FF6975"/>
            </a:solidFill>
            <a:prstDash val="solid"/>
          </a:ln>
        </p:spPr>
      </p:sp>
      <p:sp>
        <p:nvSpPr>
          <p:cNvPr id="21" name="Rejected frame">
            <a:extLst>
              <a:ext uri="{FF2B5EF4-FFF2-40B4-BE49-F238E27FC236}">
                <ns2:creationId id="{80307EEC-1210-4FFF-831B-6E732628A97D}"/>
              </a:ext>
            </a:extLst>
          </p:cNvPr>
          <p:cNvSpPr>
            <a:spLocks noGrp="1"/>
          </p:cNvSpPr>
          <p:nvPr/>
        </p:nvSpPr>
        <p:spPr>
          <a:xfrm>
            <a:off x="6972300" y="3267075"/>
            <a:ext cx="4610100" cy="457200"/>
          </a:xfrm>
          <a:prstGeom prst="roundRect">
            <a:avLst>
              <a:gd name="adj" fmla="val 16667"/>
            </a:avLst>
          </a:prstGeom>
          <a:solidFill>
            <a:srgbClr val="202733"/>
          </a:solidFill>
          <a:ln w="14288">
            <a:solidFill>
              <a:srgbClr val="FF6975"/>
            </a:solidFill>
            <a:prstDash val="solid"/>
          </a:ln>
        </p:spPr>
      </p:sp>
      <p:sp>
        <p:nvSpPr>
          <p:cNvPr id="22" name="Rejected">
            <a:extLst>
              <a:ext uri="{FF2B5EF4-FFF2-40B4-BE49-F238E27FC236}">
                <ns2:creationId id="{44AD1CA3-4004-459D-A311-36ADAA2CF29A}"/>
              </a:ext>
            </a:extLst>
          </p:cNvPr>
          <p:cNvSpPr>
            <a:spLocks noGrp="1"/>
          </p:cNvSpPr>
          <p:nvPr/>
        </p:nvSpPr>
        <p:spPr>
          <a:xfrm>
            <a:off x="7086600" y="3390900"/>
            <a:ext cx="438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막힘 / 캡슐 중첩: 통과 거부</a:t>
            </a:r>
          </a:p>
        </p:txBody>
      </p:sp>
      <p:sp>
        <p:nvSpPr>
          <p:cNvPr id="23" name="Update requests">
            <a:extLst>
              <a:ext uri="{FF2B5EF4-FFF2-40B4-BE49-F238E27FC236}">
                <ns2:creationId id="{F227139F-6EB6-45F3-A462-E080EE4FB366}"/>
              </a:ext>
            </a:extLst>
          </p:cNvPr>
          <p:cNvSpPr>
            <a:spLocks noGrp="1"/>
          </p:cNvSpPr>
          <p:nvPr/>
        </p:nvSpPr>
        <p:spPr>
          <a:xfrm>
            <a:off x="6972300" y="3867150"/>
            <a:ext cx="4610100" cy="4667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확정 후 시점을 전달하고 네트워크 갱신을 요청합니다.</a:t>
            </a:r>
          </a:p>
        </p:txBody>
      </p:sp>
      <p:sp>
        <p:nvSpPr>
          <p:cNvPr id="24" name="Role separator">
            <a:extLst>
              <a:ext uri="{FF2B5EF4-FFF2-40B4-BE49-F238E27FC236}">
                <ns2:creationId id="{7D487D29-A777-4857-8033-CE0000BDB35C}"/>
              </a:ext>
            </a:extLst>
          </p:cNvPr>
          <p:cNvSpPr>
            <a:spLocks noGrp="1"/>
          </p:cNvSpPr>
          <p:nvPr/>
        </p:nvSpPr>
        <p:spPr>
          <a:xfrm>
            <a:off x="609600" y="4448175"/>
            <a:ext cx="10972800" cy="9525"/>
          </a:xfrm>
          <a:custGeom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9525">
            <a:solidFill>
              <a:srgbClr val="8092A5"/>
            </a:solidFill>
            <a:prstDash val="solid"/>
          </a:ln>
        </p:spPr>
      </p:sp>
      <p:sp>
        <p:nvSpPr>
          <p:cNvPr id="25" name="Local role frame">
            <a:extLst>
              <a:ext uri="{FF2B5EF4-FFF2-40B4-BE49-F238E27FC236}">
                <ns2:creationId id="{A99C8E1A-5987-49A0-897A-F4E0097AA250}"/>
              </a:ext>
            </a:extLst>
          </p:cNvPr>
          <p:cNvSpPr>
            <a:spLocks noGrp="1"/>
          </p:cNvSpPr>
          <p:nvPr/>
        </p:nvSpPr>
        <p:spPr>
          <a:xfrm>
            <a:off x="609600" y="4733925"/>
            <a:ext cx="1333500" cy="838200"/>
          </a:xfrm>
          <a:prstGeom prst="roundRect">
            <a:avLst>
              <a:gd name="adj" fmla="val 9091"/>
            </a:avLst>
          </a:prstGeom>
          <a:solidFill>
            <a:srgbClr val="202733"/>
          </a:solidFill>
          <a:ln w="14288">
            <a:solidFill>
              <a:srgbClr val="8092A5"/>
            </a:solidFill>
            <a:prstDash val="solid"/>
          </a:ln>
        </p:spPr>
      </p:sp>
      <p:sp>
        <p:nvSpPr>
          <p:cNvPr id="26" name="Local role">
            <a:extLst>
              <a:ext uri="{FF2B5EF4-FFF2-40B4-BE49-F238E27FC236}">
                <ns2:creationId id="{5477B330-A568-4BEA-A066-3C3A0AAE1E20}"/>
              </a:ext>
            </a:extLst>
          </p:cNvPr>
          <p:cNvSpPr>
            <a:spLocks noGrp="1"/>
          </p:cNvSpPr>
          <p:nvPr/>
        </p:nvSpPr>
        <p:spPr>
          <a:xfrm>
            <a:off x="685800" y="4895850"/>
            <a:ext cx="11811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소유</a:t>
            </a:r>
          </a:p>
          <a:p>
            <a:pPr algn="ctr">
              <a:buNone/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클라이언트</a:t>
            </a:r>
          </a:p>
        </p:txBody>
      </p:sp>
      <p:sp>
        <p:nvSpPr>
          <p:cNvPr id="27" name="Local step 0 frame">
            <a:extLst>
              <a:ext uri="{FF2B5EF4-FFF2-40B4-BE49-F238E27FC236}">
                <ns2:creationId id="{1C868482-7292-4884-A69B-7F29ACDC8AAE}"/>
              </a:ext>
            </a:extLst>
          </p:cNvPr>
          <p:cNvSpPr>
            <a:spLocks noGrp="1"/>
          </p:cNvSpPr>
          <p:nvPr/>
        </p:nvSpPr>
        <p:spPr>
          <a:xfrm>
            <a:off x="2324100" y="4733925"/>
            <a:ext cx="2571750" cy="838200"/>
          </a:xfrm>
          <a:prstGeom prst="roundRect">
            <a:avLst>
              <a:gd name="adj" fmla="val 9091"/>
            </a:avLst>
          </a:prstGeom>
          <a:solidFill>
            <a:srgbClr val="202733"/>
          </a:solidFill>
          <a:ln w="14288">
            <a:solidFill>
              <a:srgbClr val="8092A5"/>
            </a:solidFill>
            <a:prstDash val="solid"/>
          </a:ln>
        </p:spPr>
      </p:sp>
      <p:sp>
        <p:nvSpPr>
          <p:cNvPr id="28" name="Local step 0">
            <a:extLst>
              <a:ext uri="{FF2B5EF4-FFF2-40B4-BE49-F238E27FC236}">
                <ns2:creationId id="{0FB84FBB-ABC0-48A2-968E-01FFC4225BAF}"/>
              </a:ext>
            </a:extLst>
          </p:cNvPr>
          <p:cNvSpPr>
            <a:spLocks noGrp="1"/>
          </p:cNvSpPr>
          <p:nvPr/>
        </p:nvSpPr>
        <p:spPr>
          <a:xfrm>
            <a:off x="2438400" y="4857750"/>
            <a:ext cx="23431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접근 위치와 속도로</a:t>
            </a:r>
          </a:p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충돌 제외 영역 예상</a:t>
            </a:r>
          </a:p>
        </p:txBody>
      </p:sp>
      <p:sp>
        <p:nvSpPr>
          <p:cNvPr id="29" name="Local arrow 0">
            <a:extLst>
              <a:ext uri="{FF2B5EF4-FFF2-40B4-BE49-F238E27FC236}">
                <ns2:creationId id="{AB5793E3-D550-435C-8AEF-0ED67B31EAEA}"/>
              </a:ext>
            </a:extLst>
          </p:cNvPr>
          <p:cNvSpPr>
            <a:spLocks noGrp="1"/>
          </p:cNvSpPr>
          <p:nvPr/>
        </p:nvSpPr>
        <p:spPr>
          <a:xfrm>
            <a:off x="5010150" y="5095875"/>
            <a:ext cx="228600" cy="114300"/>
          </a:xfrm>
          <a:prstGeom prst="rightArrow">
            <a:avLst/>
          </a:prstGeom>
          <a:solidFill>
            <a:srgbClr val="8092A5"/>
          </a:solidFill>
          <a:ln w="0">
            <a:noFill/>
            <a:prstDash val="solid"/>
          </a:ln>
        </p:spPr>
      </p:sp>
      <p:sp>
        <p:nvSpPr>
          <p:cNvPr id="30" name="Local step 1 frame">
            <a:extLst>
              <a:ext uri="{FF2B5EF4-FFF2-40B4-BE49-F238E27FC236}">
                <ns2:creationId id="{19F7D85F-1B16-4E5E-B9D6-2C0B4FA0DE03}"/>
              </a:ext>
            </a:extLst>
          </p:cNvPr>
          <p:cNvSpPr>
            <a:spLocks noGrp="1"/>
          </p:cNvSpPr>
          <p:nvPr/>
        </p:nvSpPr>
        <p:spPr>
          <a:xfrm>
            <a:off x="5353050" y="4733925"/>
            <a:ext cx="2571750" cy="838200"/>
          </a:xfrm>
          <a:prstGeom prst="roundRect">
            <a:avLst>
              <a:gd name="adj" fmla="val 9091"/>
            </a:avLst>
          </a:prstGeom>
          <a:solidFill>
            <a:srgbClr val="202733"/>
          </a:solidFill>
          <a:ln w="14288">
            <a:solidFill>
              <a:srgbClr val="8092A5"/>
            </a:solidFill>
            <a:prstDash val="solid"/>
          </a:ln>
        </p:spPr>
      </p:sp>
      <p:sp>
        <p:nvSpPr>
          <p:cNvPr id="31" name="Local step 1">
            <a:extLst>
              <a:ext uri="{FF2B5EF4-FFF2-40B4-BE49-F238E27FC236}">
                <ns2:creationId id="{AEDE3340-D7DA-44B3-BC3F-C895AE6D301B}"/>
              </a:ext>
            </a:extLst>
          </p:cNvPr>
          <p:cNvSpPr>
            <a:spLocks noGrp="1"/>
          </p:cNvSpPr>
          <p:nvPr/>
        </p:nvSpPr>
        <p:spPr>
          <a:xfrm>
            <a:off x="5467350" y="4857750"/>
            <a:ext cx="23431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해당 포탈 벽의</a:t>
            </a:r>
          </a:p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이동 충돌 임시 제외</a:t>
            </a:r>
          </a:p>
        </p:txBody>
      </p:sp>
      <p:sp>
        <p:nvSpPr>
          <p:cNvPr id="32" name="Local arrow 1">
            <a:extLst>
              <a:ext uri="{FF2B5EF4-FFF2-40B4-BE49-F238E27FC236}">
                <ns2:creationId id="{4D16698F-AA71-40AC-A6CA-C03B6BBBCD3F}"/>
              </a:ext>
            </a:extLst>
          </p:cNvPr>
          <p:cNvSpPr>
            <a:spLocks noGrp="1"/>
          </p:cNvSpPr>
          <p:nvPr/>
        </p:nvSpPr>
        <p:spPr>
          <a:xfrm>
            <a:off x="8039100" y="5095875"/>
            <a:ext cx="228600" cy="114300"/>
          </a:xfrm>
          <a:prstGeom prst="rightArrow">
            <a:avLst/>
          </a:prstGeom>
          <a:solidFill>
            <a:srgbClr val="8092A5"/>
          </a:solidFill>
          <a:ln w="0">
            <a:noFill/>
            <a:prstDash val="solid"/>
          </a:ln>
        </p:spPr>
      </p:sp>
      <p:sp>
        <p:nvSpPr>
          <p:cNvPr id="33" name="Local step 2 frame">
            <a:extLst>
              <a:ext uri="{FF2B5EF4-FFF2-40B4-BE49-F238E27FC236}">
                <ns2:creationId id="{4CDB7050-1329-4C31-9360-FC48D0694A54}"/>
              </a:ext>
            </a:extLst>
          </p:cNvPr>
          <p:cNvSpPr>
            <a:spLocks noGrp="1"/>
          </p:cNvSpPr>
          <p:nvPr/>
        </p:nvSpPr>
        <p:spPr>
          <a:xfrm>
            <a:off x="8382000" y="4733925"/>
            <a:ext cx="3200400" cy="838200"/>
          </a:xfrm>
          <a:prstGeom prst="roundRect">
            <a:avLst>
              <a:gd name="adj" fmla="val 9091"/>
            </a:avLst>
          </a:prstGeom>
          <a:solidFill>
            <a:srgbClr val="202733"/>
          </a:solidFill>
          <a:ln w="14288">
            <a:solidFill>
              <a:srgbClr val="8092A5"/>
            </a:solidFill>
            <a:prstDash val="solid"/>
          </a:ln>
        </p:spPr>
      </p:sp>
      <p:sp>
        <p:nvSpPr>
          <p:cNvPr id="34" name="Local step 2">
            <a:extLst>
              <a:ext uri="{FF2B5EF4-FFF2-40B4-BE49-F238E27FC236}">
                <ns2:creationId id="{46D821B1-F7DB-4A9C-B838-2E0784D4D0DA}"/>
              </a:ext>
            </a:extLst>
          </p:cNvPr>
          <p:cNvSpPr>
            <a:spLocks noGrp="1"/>
          </p:cNvSpPr>
          <p:nvPr/>
        </p:nvSpPr>
        <p:spPr>
          <a:xfrm>
            <a:off x="8496300" y="4857750"/>
            <a:ext cx="29718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서버 위치 반영 후</a:t>
            </a:r>
          </a:p>
          <a:p>
            <a:pPr algn="ctr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출구를 벗어나면 제외 해제</a:t>
            </a:r>
          </a:p>
        </p:txBody>
      </p:sp>
      <p:sp>
        <p:nvSpPr>
          <p:cNvPr id="35" name="Authority scope">
            <a:extLst>
              <a:ext uri="{FF2B5EF4-FFF2-40B4-BE49-F238E27FC236}">
                <ns2:creationId id="{4F4155ED-1EA3-4E31-9860-31DDB5EFF515}"/>
              </a:ext>
            </a:extLst>
          </p:cNvPr>
          <p:cNvSpPr>
            <a:spLocks noGrp="1"/>
          </p:cNvSpPr>
          <p:nvPr/>
        </p:nvSpPr>
        <p:spPr>
          <a:xfrm>
            <a:off x="2324100" y="5810250"/>
            <a:ext cx="92583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pPr>
            <a:r>
              <a:t>로컬 예상은 벽 충돌 처리에만 사용하며, 포탈 이동은 서버에서 확정합니다.</a:t>
            </a:r>
          </a:p>
        </p:txBody>
      </p:sp>
      <p:sp>
        <p:nvSpPr>
          <p:cNvPr id="36" name="GitHub code link 0">
            <a:extLst>
              <a:ext uri="{FF2B5EF4-FFF2-40B4-BE49-F238E27FC236}">
                <ns2:creationId id="{466AFD04-F400-4D73-A504-1EFDDBBB1128}"/>
              </a:ext>
            </a:extLst>
          </p:cNvPr>
          <p:cNvSpPr>
            <a:spLocks noGrp="1"/>
          </p:cNvSpPr>
          <p:nvPr/>
        </p:nvSpPr>
        <p:spPr>
          <a:xfrm>
            <a:off x="895350" y="6334125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t>GitHub / 통과 판정</a:t>
            </a:r>
          </a:p>
        </p:txBody>
      </p:sp>
      <p:sp>
        <p:nvSpPr>
          <p:cNvPr id="37" name="GitHub code link 1">
            <a:extLst>
              <a:ext uri="{FF2B5EF4-FFF2-40B4-BE49-F238E27FC236}">
                <ns2:creationId id="{6A7E2157-E1BB-4301-A5AB-F6526D69D160}"/>
              </a:ext>
            </a:extLst>
          </p:cNvPr>
          <p:cNvSpPr>
            <a:spLocks noGrp="1"/>
          </p:cNvSpPr>
          <p:nvPr/>
        </p:nvSpPr>
        <p:spPr>
          <a:xfrm>
            <a:off x="6381750" y="6334125"/>
            <a:ext cx="4476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t>GitHub / 통과 관리</a:t>
            </a:r>
          </a:p>
        </p:txBody>
      </p:sp>
      <p:pic>
        <p:nvPicPr>
          <p:cNvPr id="38" name="GitHub clickable mark 0">
            <a:extLst>
              <a:ext uri="{FF2B5EF4-FFF2-40B4-BE49-F238E27FC236}">
                <ns2:creationId id="{A25ACAE6-979B-4C62-9FCE-A7E8503048C8}"/>
              </a:ext>
            </a:extLst>
            <a:hlinkClick r:id="rId3"/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609600" y="6362700"/>
            <a:ext cx="190500" cy="186595"/>
          </a:xfrm>
          <a:prstGeom prst="rect">
            <a:avLst/>
          </a:prstGeom>
        </p:spPr>
      </p:pic>
      <p:pic>
        <p:nvPicPr>
          <p:cNvPr id="39" name="GitHub clickable mark 1">
            <a:extLst>
              <a:ext uri="{FF2B5EF4-FFF2-40B4-BE49-F238E27FC236}">
                <ns2:creationId id="{D87D5473-AD1F-434C-8E41-1A673F712FA8}"/>
              </a:ext>
            </a:extLst>
            <a:hlinkClick r:id="rId4"/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6096000" y="6362700"/>
            <a:ext cx="190500" cy="186595"/>
          </a:xfrm>
          <a:prstGeom prst="rect">
            <a:avLst/>
          </a:prstGeom>
        </p:spPr>
      </p:pic>
    </p:spTree>
    <p:extLst>
      <p:ext uri="{BB962C8B-B14F-4D97-AF65-F5344CB8AC3E}">
        <ns4:creationId val="730598977"/>
      </p:ext>
    </p:extLst>
  </p:cSld>
</p:sld>
</file>

<file path=ppt/slides/slide12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81C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ection label">
            <a:extLst>
              <a:ext uri="{FF2B5EF4-FFF2-40B4-BE49-F238E27FC236}">
                <ns2:creationId id="{45746ADA-3E2B-4ECD-8675-FC90A8C9A623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핵심 구현 4/5 | LEVEL VALIDATION</a:t>
            </a:r>
          </a:p>
        </p:txBody>
      </p:sp>
      <p:sp>
        <p:nvSpPr>
          <p:cNvPr id="2" name="Slide title">
            <a:extLst>
              <a:ext uri="{FF2B5EF4-FFF2-40B4-BE49-F238E27FC236}">
                <ns2:creationId id="{72EB2D98-7D08-4DC0-B993-099D9C85224B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레벨 배치 오류를 플레이 전에 확인하는 도구</a:t>
            </a:r>
          </a:p>
        </p:txBody>
      </p:sp>
      <p:sp>
        <p:nvSpPr>
          <p:cNvPr id="3" name="Page number">
            <a:extLst>
              <a:ext uri="{FF2B5EF4-FFF2-40B4-BE49-F238E27FC236}">
                <ns2:creationId id="{D2DEB8A9-9E65-4720-A10F-2C3B7D8F0682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975" b="0">
                <a:solidFill>
                  <a:srgbClr val="8D9BAB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975" b="0">
                <a:solidFill>
                  <a:srgbClr val="8D9BAB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975" b="0">
                <a:solidFill>
                  <a:srgbClr val="8D9BAB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975" b="0">
                <a:solidFill>
                  <a:srgbClr val="8D9BAB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975" b="0">
                <a:solidFill>
                  <a:srgbClr val="8D9BAB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975" b="0">
                <a:solidFill>
                  <a:srgbClr val="8D9BAB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975" b="0">
                <a:solidFill>
                  <a:srgbClr val="8D9BAB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975" b="0">
                <a:solidFill>
                  <a:srgbClr val="8D9BAB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975" b="0">
                <a:solidFill>
                  <a:srgbClr val="8D9BAB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11</a:t>
            </a:r>
          </a:p>
        </p:txBody>
      </p:sp>
      <p:pic>
        <p:nvPicPr>
          <p:cNvPr id="4" name="그림 3">
            <a:extLst>
              <a:ext uri="{FF2B5EF4-FFF2-40B4-BE49-F238E27FC236}">
                <ns2:creationId id="{E52A0E58-C5B6-47EB-9A9A-7DC8A3DAD53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226" t="6883" r="661" b="5736"/>
          <a:stretch/>
        </p:blipFill>
        <p:spPr>
          <a:xfrm>
            <a:off x="609600" y="1752600"/>
            <a:ext cx="10972800" cy="4278630"/>
          </a:xfrm>
          <a:prstGeom prst="rect">
            <a:avLst/>
          </a:prstGeom>
        </p:spPr>
      </p:pic>
      <p:sp>
        <p:nvSpPr>
          <p:cNvPr id="5" name="Validation image caption">
            <a:extLst>
              <a:ext uri="{FF2B5EF4-FFF2-40B4-BE49-F238E27FC236}">
                <ns2:creationId id="{FB0FBF71-5B76-457B-AD71-C6B955C9B5A6}"/>
              </a:ext>
            </a:extLst>
          </p:cNvPr>
          <p:cNvSpPr>
            <a:spLocks noGrp="1"/>
          </p:cNvSpPr>
          <p:nvPr/>
        </p:nvSpPr>
        <p:spPr>
          <a:xfrm>
            <a:off x="609600" y="61150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7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검출 예시: 경로 입구가 지면에서 50cm 이격</a:t>
            </a:r>
          </a:p>
        </p:txBody>
      </p:sp>
    </p:spTree>
    <p:extLst>
      <p:ext uri="{BB962C8B-B14F-4D97-AF65-F5344CB8AC3E}">
        <ns4:creationId val="1798140484"/>
      </p:ext>
    </p:extLst>
  </p:cSld>
  <p:clrMapOvr>
    <a:masterClrMapping/>
  </p:clrMapOvr>
</p:sld>
</file>

<file path=ppt/slides/slide13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ns2:creationId id="{F34FA35D-33D4-489E-B8BD-614F0F6EE4B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8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ns2:creationId id="{D59097C8-4778-4847-AB61-A0F35872695F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핵심 구현 4/5 | EDITOR TOOL</a:t>
            </a:r>
          </a:p>
        </p:txBody>
      </p:sp>
      <p:sp>
        <p:nvSpPr>
          <p:cNvPr id="4" name="TextBox 3">
            <a:extLst>
              <a:ext uri="{FF2B5EF4-FFF2-40B4-BE49-F238E27FC236}">
                <ns2:creationId id="{573A681A-FBE4-4BFB-BD6B-0DEE173D2CC1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레벨 배치 오류 검증 도구</a:t>
            </a:r>
          </a:p>
        </p:txBody>
      </p:sp>
      <p:sp>
        <p:nvSpPr>
          <p:cNvPr id="6" name="Rounded Rectangle 5">
            <a:extLst>
              <a:ext uri="{FF2B5EF4-FFF2-40B4-BE49-F238E27FC236}">
                <ns2:creationId id="{C0D9ECFE-95F3-4378-B122-715E750BDE78}"/>
              </a:ext>
            </a:extLst>
          </p:cNvPr>
          <p:cNvSpPr>
            <a:spLocks noGrp="1"/>
          </p:cNvSpPr>
          <p:nvPr/>
        </p:nvSpPr>
        <p:spPr>
          <a:xfrm>
            <a:off x="6172200" y="1409700"/>
            <a:ext cx="5410200" cy="2209800"/>
          </a:xfrm>
          <a:prstGeom prst="roundRect">
            <a:avLst/>
          </a:prstGeom>
          <a:solidFill>
            <a:srgbClr val="1F2530"/>
          </a:solidFill>
          <a:ln w="12700">
            <a:solidFill>
              <a:srgbClr val="3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66700" tIns="247650" rIns="228600" bIns="171450" anchor="t">
            <a:noAutofit/>
          </a:bodyPr>
          <a:lstStyle>
            <a:def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과제: 플레이 전 레벨 배치 오류 확인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600"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포탈 / 점프패드 / 이동 경로를 검사합니다.</a:t>
            </a:r>
            <a:b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75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검사 모듈을 등록</a:t>
            </a: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해 대상을 확장하고,</a:t>
            </a:r>
            <a:b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75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Reflection</a:t>
            </a: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과 네이티브 연동으로 값을 검사합니다.</a:t>
            </a:r>
          </a:p>
        </p:txBody>
      </p:sp>
      <p:sp>
        <p:nvSpPr>
          <p:cNvPr id="7" name="Rounded Rectangle 6">
            <a:extLst>
              <a:ext uri="{FF2B5EF4-FFF2-40B4-BE49-F238E27FC236}">
                <ns2:creationId id="{B2C783D1-11C4-4C94-89A4-F2E3A515A159}"/>
              </a:ext>
            </a:extLst>
          </p:cNvPr>
          <p:cNvSpPr>
            <a:spLocks noGrp="1"/>
          </p:cNvSpPr>
          <p:nvPr/>
        </p:nvSpPr>
        <p:spPr>
          <a:xfrm>
            <a:off x="6172200" y="3790950"/>
            <a:ext cx="5410200" cy="2476500"/>
          </a:xfrm>
          <a:prstGeom prst="roundRect">
            <a:avLst/>
          </a:prstGeom>
          <a:solidFill>
            <a:srgbClr val="0E1219"/>
          </a:solidFill>
          <a:ln w="12700">
            <a:solidFill>
              <a:srgbClr val="2A36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66700" tIns="247650" rIns="228600" bIns="171450" anchor="t">
            <a:noAutofit/>
          </a:bodyPr>
          <a:lstStyle>
            <a:def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검사 결과에서 수정할 대상 찾기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600"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출구 / 목적지 누락과 잘못된 연결 / 값을 검사하고,</a:t>
            </a:r>
            <a:b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경로 입구의 </a:t>
            </a:r>
            <a:r>
              <a:rPr sz="1575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지면 이격</a:t>
            </a: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도 오류로 보고합니다.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300"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Slate Focus 버튼</a:t>
            </a: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을 누르면 대상을 선택하고</a:t>
            </a:r>
            <a:b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해당 위치로 시점을 이동합니다.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600"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endParaRPr sz="6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9" name="직사각형 8">
            <a:extLst>
              <a:ext uri="{FF2B5EF4-FFF2-40B4-BE49-F238E27FC236}">
                <ns2:creationId id="{AFE6AE44-CBD5-4FA8-9745-ECB68FB2E02F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12</a:t>
            </a:r>
          </a:p>
        </p:txBody>
      </p:sp>
      <p:sp>
        <p:nvSpPr>
          <p:cNvPr id="10" name="Validator flow heading">
            <a:extLst>
              <a:ext uri="{FF2B5EF4-FFF2-40B4-BE49-F238E27FC236}">
                <ns2:creationId id="{B8F9C5E7-ABF1-4B64-AADA-116E20850347}"/>
              </a:ext>
            </a:extLst>
          </p:cNvPr>
          <p:cNvSpPr>
            <a:spLocks noGrp="1"/>
          </p:cNvSpPr>
          <p:nvPr/>
        </p:nvSpPr>
        <p:spPr>
          <a:xfrm>
            <a:off x="609600" y="1562100"/>
            <a:ext cx="52959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검사 모듈부터 오류 위치 이동까지</a:t>
            </a:r>
          </a:p>
        </p:txBody>
      </p:sp>
      <p:sp>
        <p:nvSpPr>
          <p:cNvPr id="11" name="Validation step 0">
            <a:extLst>
              <a:ext uri="{FF2B5EF4-FFF2-40B4-BE49-F238E27FC236}">
                <ns2:creationId id="{2E75DF74-A9B0-48E9-8F66-77AA277233B7}"/>
              </a:ext>
            </a:extLst>
          </p:cNvPr>
          <p:cNvSpPr>
            <a:spLocks noGrp="1"/>
          </p:cNvSpPr>
          <p:nvPr/>
        </p:nvSpPr>
        <p:spPr>
          <a:xfrm>
            <a:off x="876300" y="2114550"/>
            <a:ext cx="4762500" cy="704850"/>
          </a:xfrm>
          <a:prstGeom prst="roundRect">
            <a:avLst>
              <a:gd name="adj" fmla="val 10811"/>
            </a:avLst>
          </a:prstGeom>
          <a:solidFill>
            <a:srgbClr val="202733"/>
          </a:solidFill>
          <a:ln w="14288">
            <a:solidFill>
              <a:srgbClr val="4DA3FF"/>
            </a:solidFill>
          </a:ln>
        </p:spPr>
        <p:txBody>
          <a:bodyPr lIns="76200" tIns="76200" rIns="76200" bIns="76200" anchor="ctr">
            <a:noAutofit/>
          </a:bodyPr>
          <a:lstStyle>
            <a:def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포탈 / 점프패드 / 이동 경로</a:t>
            </a:r>
          </a:p>
        </p:txBody>
      </p:sp>
      <p:sp>
        <p:nvSpPr>
          <p:cNvPr id="12" name="Validation step 1">
            <a:extLst>
              <a:ext uri="{FF2B5EF4-FFF2-40B4-BE49-F238E27FC236}">
                <ns2:creationId id="{157BC4F8-6720-4461-85A3-A575F38BA641}"/>
              </a:ext>
            </a:extLst>
          </p:cNvPr>
          <p:cNvSpPr>
            <a:spLocks noGrp="1"/>
          </p:cNvSpPr>
          <p:nvPr/>
        </p:nvSpPr>
        <p:spPr>
          <a:xfrm>
            <a:off x="876300" y="3124200"/>
            <a:ext cx="4762500" cy="704850"/>
          </a:xfrm>
          <a:prstGeom prst="roundRect">
            <a:avLst>
              <a:gd name="adj" fmla="val 10811"/>
            </a:avLst>
          </a:prstGeom>
          <a:solidFill>
            <a:srgbClr val="202733"/>
          </a:solidFill>
          <a:ln w="14288">
            <a:solidFill>
              <a:srgbClr val="4DA3FF"/>
            </a:solidFill>
          </a:ln>
        </p:spPr>
        <p:txBody>
          <a:bodyPr lIns="76200" tIns="76200" rIns="76200" bIns="76200" anchor="ctr">
            <a:noAutofit/>
          </a:bodyPr>
          <a:lstStyle>
            <a:def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등록된 검사 모듈 실행</a:t>
            </a:r>
          </a:p>
        </p:txBody>
      </p:sp>
      <p:sp>
        <p:nvSpPr>
          <p:cNvPr id="13" name="Validation step 2">
            <a:extLst>
              <a:ext uri="{FF2B5EF4-FFF2-40B4-BE49-F238E27FC236}">
                <ns2:creationId id="{FDB68685-65E6-43C9-8A37-E92A619356EF}"/>
              </a:ext>
            </a:extLst>
          </p:cNvPr>
          <p:cNvSpPr>
            <a:spLocks noGrp="1"/>
          </p:cNvSpPr>
          <p:nvPr/>
        </p:nvSpPr>
        <p:spPr>
          <a:xfrm>
            <a:off x="876300" y="4133850"/>
            <a:ext cx="4762500" cy="704850"/>
          </a:xfrm>
          <a:prstGeom prst="roundRect">
            <a:avLst>
              <a:gd name="adj" fmla="val 10811"/>
            </a:avLst>
          </a:prstGeom>
          <a:solidFill>
            <a:srgbClr val="202733"/>
          </a:solidFill>
          <a:ln w="14288">
            <a:solidFill>
              <a:srgbClr val="4DA3FF"/>
            </a:solidFill>
          </a:ln>
        </p:spPr>
        <p:txBody>
          <a:bodyPr lIns="76200" tIns="76200" rIns="76200" bIns="76200" anchor="ctr">
            <a:noAutofit/>
          </a:bodyPr>
          <a:lstStyle>
            <a:def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Slate 오류 목록 표시</a:t>
            </a:r>
          </a:p>
        </p:txBody>
      </p:sp>
      <p:sp>
        <p:nvSpPr>
          <p:cNvPr id="14" name="Validation step 3">
            <a:extLst>
              <a:ext uri="{FF2B5EF4-FFF2-40B4-BE49-F238E27FC236}">
                <ns2:creationId id="{8B7C5E73-FC2C-4CEB-89F8-A061C04486D6}"/>
              </a:ext>
            </a:extLst>
          </p:cNvPr>
          <p:cNvSpPr>
            <a:spLocks noGrp="1"/>
          </p:cNvSpPr>
          <p:nvPr/>
        </p:nvSpPr>
        <p:spPr>
          <a:xfrm>
            <a:off x="876300" y="5143500"/>
            <a:ext cx="4762500" cy="704850"/>
          </a:xfrm>
          <a:prstGeom prst="roundRect">
            <a:avLst>
              <a:gd name="adj" fmla="val 10811"/>
            </a:avLst>
          </a:prstGeom>
          <a:solidFill>
            <a:srgbClr val="202733"/>
          </a:solidFill>
          <a:ln w="14288">
            <a:solidFill>
              <a:srgbClr val="4DA3FF"/>
            </a:solidFill>
          </a:ln>
        </p:spPr>
        <p:txBody>
          <a:bodyPr lIns="76200" tIns="76200" rIns="76200" bIns="76200" anchor="ctr">
            <a:noAutofit/>
          </a:bodyPr>
          <a:lstStyle>
            <a:def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6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Focus: 대상 선택과 시점 이동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ns2:creationId id="{01EE88A6-FEA6-4E56-84C8-0DF9BF97055D}"/>
              </a:ext>
            </a:extLst>
          </p:cNvPr>
          <p:cNvCxnSpPr>
            <a:stCxn id="11" idx="2"/>
            <a:endCxn id="12" idx="0"/>
          </p:cNvCxnSpPr>
          <p:nvPr/>
        </p:nvCxnSpPr>
        <p:spPr>
          <a:xfrm>
            <a:off x="3257550" y="2819400"/>
            <a:ext cx="0" cy="304800"/>
          </a:xfrm>
          <a:prstGeom prst="straightConnector1">
            <a:avLst/>
          </a:prstGeom>
          <a:ln w="19050">
            <a:solidFill>
              <a:srgbClr val="4DA3FF"/>
            </a:solidFill>
            <a:prstDash val="solid"/>
            <a:tailEnd type="triangle" w="sm" len="sm"/>
          </a:ln>
        </p:spPr>
      </p:cxnSp>
      <p:cxnSp>
        <p:nvCxnSpPr>
          <p:cNvPr id="16" name="직선 화살표 연결선 15">
            <a:extLst>
              <a:ext uri="{FF2B5EF4-FFF2-40B4-BE49-F238E27FC236}">
                <ns2:creationId id="{A3B108F2-18D9-48DD-918E-3B8DC1B5D42E}"/>
              </a:ext>
            </a:extLst>
          </p:cNvPr>
          <p:cNvCxnSpPr>
            <a:stCxn id="12" idx="2"/>
            <a:endCxn id="13" idx="0"/>
          </p:cNvCxnSpPr>
          <p:nvPr/>
        </p:nvCxnSpPr>
        <p:spPr>
          <a:xfrm>
            <a:off x="3257550" y="3829050"/>
            <a:ext cx="0" cy="304800"/>
          </a:xfrm>
          <a:prstGeom prst="straightConnector1">
            <a:avLst/>
          </a:prstGeom>
          <a:ln w="19050">
            <a:solidFill>
              <a:srgbClr val="4DA3FF"/>
            </a:solidFill>
            <a:prstDash val="solid"/>
            <a:tailEnd type="triangle" w="sm" len="sm"/>
          </a:ln>
        </p:spPr>
      </p:cxnSp>
      <p:cxnSp>
        <p:nvCxnSpPr>
          <p:cNvPr id="17" name="직선 화살표 연결선 16">
            <a:extLst>
              <a:ext uri="{FF2B5EF4-FFF2-40B4-BE49-F238E27FC236}">
                <ns2:creationId id="{2DF49903-4889-4286-901D-EFBBEAD42DE6}"/>
              </a:ext>
            </a:extLst>
          </p:cNvPr>
          <p:cNvCxnSpPr>
            <a:stCxn id="13" idx="2"/>
            <a:endCxn id="14" idx="0"/>
          </p:cNvCxnSpPr>
          <p:nvPr/>
        </p:nvCxnSpPr>
        <p:spPr>
          <a:xfrm>
            <a:off x="3257550" y="4838700"/>
            <a:ext cx="0" cy="304800"/>
          </a:xfrm>
          <a:prstGeom prst="straightConnector1">
            <a:avLst/>
          </a:prstGeom>
          <a:ln w="19050">
            <a:solidFill>
              <a:srgbClr val="4DA3FF"/>
            </a:solidFill>
            <a:prstDash val="solid"/>
            <a:tailEnd type="triangle" w="sm" len="sm"/>
          </a:ln>
        </p:spPr>
      </p:cxnSp>
      <p:sp>
        <p:nvSpPr>
          <p:cNvPr id="18" name="Validation module scope">
            <a:extLst>
              <a:ext uri="{FF2B5EF4-FFF2-40B4-BE49-F238E27FC236}">
                <ns2:creationId id="{12C81604-701C-4764-9393-6B144118948C}"/>
              </a:ext>
            </a:extLst>
          </p:cNvPr>
          <p:cNvSpPr>
            <a:spLocks noGrp="1"/>
          </p:cNvSpPr>
          <p:nvPr/>
        </p:nvSpPr>
        <p:spPr>
          <a:xfrm>
            <a:off x="609600" y="5991225"/>
            <a:ext cx="5295900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t>새 검사 모듈을 등록해 검사 대상을 확장</a:t>
            </a:r>
          </a:p>
        </p:txBody>
      </p:sp>
      <p:pic>
        <p:nvPicPr>
          <p:cNvPr id="19" name="그림 18">
            <a:extLst>
              <a:ext uri="{FF2B5EF4-FFF2-40B4-BE49-F238E27FC236}">
                <ns2:creationId id="{8120B5F2-9590-4716-8227-818CB6B455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609600" y="6362700"/>
            <a:ext cx="190500" cy="186612"/>
          </a:xfrm>
          <a:prstGeom prst="rect">
            <a:avLst/>
          </a:prstGeom>
        </p:spPr>
      </p:pic>
      <p:sp>
        <p:nvSpPr>
          <p:cNvPr id="20" name="GitHub code link 0">
            <a:extLst>
              <a:ext uri="{FF2B5EF4-FFF2-40B4-BE49-F238E27FC236}">
                <ns2:creationId id="{7EC7FFF7-D06D-47D3-8A20-A73D975CDCBD}"/>
              </a:ext>
            </a:extLst>
          </p:cNvPr>
          <p:cNvSpPr>
            <a:spLocks noGrp="1"/>
          </p:cNvSpPr>
          <p:nvPr/>
        </p:nvSpPr>
        <p:spPr>
          <a:xfrm>
            <a:off x="895350" y="6334125"/>
            <a:ext cx="10610850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sz="1388" u="sng">
                <a:solidFill>
                  <a:srgbClr val="7DD3FC"/>
                </a:solidFill>
                <a:latin typeface="Noto Sans KR"/>
                <a:ea typeface="Noto Sans KR"/>
                <a:cs typeface="Noto Sans KR"/>
                <a:hlinkClick r:id="rId3"/>
              </a:rPr>
              <a:t>GitHub / 레벨 검증</a:t>
            </a:r>
          </a:p>
        </p:txBody>
      </p:sp>
    </p:spTree>
    <p:extLst>
      <p:ext uri="{BB962C8B-B14F-4D97-AF65-F5344CB8AC3E}">
        <ns4:creationId val="1477930844"/>
      </p:ext>
    </p:extLst>
  </p:cSld>
  <p:clrMapOvr>
    <a:masterClrMapping/>
  </p:clrMapOvr>
</p:sld>
</file>

<file path=ppt/slides/slide14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ns2:creationId id="{52FE9225-3933-4D11-B3BA-AA17026BE4B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8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ns2:creationId id="{DB1D107F-0C80-402B-81CB-9F2C47A77600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핵심 구현 5/5 | DATA EDITOR</a:t>
            </a:r>
          </a:p>
        </p:txBody>
      </p:sp>
      <p:sp>
        <p:nvSpPr>
          <p:cNvPr id="4" name="TextBox 3">
            <a:extLst>
              <a:ext uri="{FF2B5EF4-FFF2-40B4-BE49-F238E27FC236}">
                <ns2:creationId id="{F978B422-3E47-4ED2-AD66-3D48469F7275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외부 데이터 편집 화면과 입력 검증</a:t>
            </a:r>
          </a:p>
        </p:txBody>
      </p:sp>
      <p:sp>
        <p:nvSpPr>
          <p:cNvPr id="9" name="직사각형 8">
            <a:extLst>
              <a:ext uri="{FF2B5EF4-FFF2-40B4-BE49-F238E27FC236}">
                <ns2:creationId id="{2E04C7BD-F680-467C-BCA2-117D84D63D71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13</a:t>
            </a:r>
          </a:p>
        </p:txBody>
      </p:sp>
      <p:pic>
        <p:nvPicPr>
          <p:cNvPr id="10" name="그림 9">
            <a:extLst>
              <a:ext uri="{FF2B5EF4-FFF2-40B4-BE49-F238E27FC236}">
                <ns2:creationId id="{FC2D49C0-34FB-4FF1-8D4A-165B0041C4E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576" r="234" b="35564"/>
          <a:stretch/>
        </p:blipFill>
        <p:spPr>
          <a:xfrm>
            <a:off x="609600" y="1409700"/>
            <a:ext cx="5295900" cy="1866900"/>
          </a:xfrm>
          <a:prstGeom prst="rect">
            <a:avLst/>
          </a:prstGeom>
        </p:spPr>
      </p:pic>
      <p:sp>
        <p:nvSpPr>
          <p:cNvPr id="11" name="First photo caption">
            <a:extLst>
              <a:ext uri="{FF2B5EF4-FFF2-40B4-BE49-F238E27FC236}">
                <ns2:creationId id="{618E9D83-F4EC-4F12-9F2C-092B5B971B3C}"/>
              </a:ext>
            </a:extLst>
          </p:cNvPr>
          <p:cNvSpPr>
            <a:spLocks noGrp="1"/>
          </p:cNvSpPr>
          <p:nvPr/>
        </p:nvSpPr>
        <p:spPr>
          <a:xfrm>
            <a:off x="609600" y="3371850"/>
            <a:ext cx="52959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t>데이터 행과 필드값 편집 화면</a:t>
            </a:r>
          </a:p>
        </p:txBody>
      </p:sp>
      <p:pic>
        <p:nvPicPr>
          <p:cNvPr id="12" name="그림 11">
            <a:extLst>
              <a:ext uri="{FF2B5EF4-FFF2-40B4-BE49-F238E27FC236}">
                <ns2:creationId id="{9159214C-F376-43FF-840A-E7475BB74F7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5464" t="46964" r="39127" b="33829"/>
          <a:stretch/>
        </p:blipFill>
        <p:spPr>
          <a:xfrm>
            <a:off x="609600" y="3886200"/>
            <a:ext cx="5295900" cy="1866900"/>
          </a:xfrm>
          <a:prstGeom prst="rect">
            <a:avLst/>
          </a:prstGeom>
        </p:spPr>
      </p:pic>
      <p:sp>
        <p:nvSpPr>
          <p:cNvPr id="13" name="Second photo caption">
            <a:extLst>
              <a:ext uri="{FF2B5EF4-FFF2-40B4-BE49-F238E27FC236}">
                <ns2:creationId id="{A0B2737C-F42A-4D5A-AA20-26995F653481}"/>
              </a:ext>
            </a:extLst>
          </p:cNvPr>
          <p:cNvSpPr>
            <a:spLocks noGrp="1"/>
          </p:cNvSpPr>
          <p:nvPr/>
        </p:nvSpPr>
        <p:spPr>
          <a:xfrm>
            <a:off x="609600" y="5848350"/>
            <a:ext cx="52959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t>잘못된 숫자 입력으로 저장을 중단한 메시지</a:t>
            </a:r>
          </a:p>
        </p:txBody>
      </p:sp>
      <p:sp>
        <p:nvSpPr>
          <p:cNvPr id="14" name="Input validation">
            <a:extLst>
              <a:ext uri="{FF2B5EF4-FFF2-40B4-BE49-F238E27FC236}">
                <ns2:creationId id="{7DAB9B12-0345-4961-B679-C71ACF5441C3}"/>
              </a:ext>
            </a:extLst>
          </p:cNvPr>
          <p:cNvSpPr>
            <a:spLocks noGrp="1"/>
          </p:cNvSpPr>
          <p:nvPr/>
        </p:nvSpPr>
        <p:spPr>
          <a:xfrm>
            <a:off x="6172200" y="1409700"/>
            <a:ext cx="5410200" cy="2857500"/>
          </a:xfrm>
          <a:prstGeom prst="roundRect">
            <a:avLst>
              <a:gd name="adj" fmla="val 2667"/>
            </a:avLst>
          </a:prstGeom>
          <a:solidFill>
            <a:srgbClr val="202733"/>
          </a:solidFill>
          <a:ln w="9525">
            <a:solidFill>
              <a:srgbClr val="344255"/>
            </a:solidFill>
          </a:ln>
        </p:spPr>
        <p:txBody>
          <a:bodyPr lIns="228600" tIns="228600" rIns="228600" bIns="228600">
            <a:noAutofit/>
          </a:bodyPr>
          <a:lstStyle>
            <a:def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데이터 명세에 맞춰 편집과 검증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600">
                <a:latin typeface="Noto Sans KR"/>
                <a:ea typeface="Noto Sans KR"/>
                <a:cs typeface="Noto Sans KR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타입 / Enum / 중첩 구조에 맞춰</a:t>
            </a:r>
            <a:b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75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WPF 편집 화면</a:t>
            </a: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을 구성합니다.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375">
                <a:latin typeface="Noto Sans KR"/>
                <a:ea typeface="Noto Sans KR"/>
                <a:cs typeface="Noto Sans KR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저장 전 </a:t>
            </a:r>
            <a:r>
              <a:rPr sz="1575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타입과 허용 범위</a:t>
            </a: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를 검증하고,</a:t>
            </a:r>
            <a:b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틀린 값은 오류를 표시해 저장을 막습니다.</a:t>
            </a:r>
          </a:p>
        </p:txBody>
      </p:sp>
      <p:sp>
        <p:nvSpPr>
          <p:cNvPr id="15" name="Data input">
            <a:extLst>
              <a:ext uri="{FF2B5EF4-FFF2-40B4-BE49-F238E27FC236}">
                <ns2:creationId id="{F1D3A3EB-592E-490F-91CE-DB7AE0B1F14A}"/>
              </a:ext>
            </a:extLst>
          </p:cNvPr>
          <p:cNvSpPr>
            <a:spLocks noGrp="1"/>
          </p:cNvSpPr>
          <p:nvPr/>
        </p:nvSpPr>
        <p:spPr>
          <a:xfrm>
            <a:off x="6172200" y="4762500"/>
            <a:ext cx="1562100" cy="704850"/>
          </a:xfrm>
          <a:prstGeom prst="roundRect">
            <a:avLst>
              <a:gd name="adj" fmla="val 10811"/>
            </a:avLst>
          </a:prstGeom>
          <a:solidFill>
            <a:srgbClr val="202733"/>
          </a:solidFill>
          <a:ln w="14288">
            <a:solidFill>
              <a:srgbClr val="4DA3FF"/>
            </a:solidFill>
          </a:ln>
        </p:spPr>
        <p:txBody>
          <a:bodyPr lIns="76200" tIns="76200" rIns="76200" bIns="76200" anchor="ctr">
            <a:noAutofit/>
          </a:bodyPr>
          <a:lstStyle>
            <a:def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값 입력</a:t>
            </a:r>
          </a:p>
        </p:txBody>
      </p:sp>
      <p:sp>
        <p:nvSpPr>
          <p:cNvPr id="16" name="Data validation">
            <a:extLst>
              <a:ext uri="{FF2B5EF4-FFF2-40B4-BE49-F238E27FC236}">
                <ns2:creationId id="{3930568C-E206-4726-9A54-B8013D3EAA73}"/>
              </a:ext>
            </a:extLst>
          </p:cNvPr>
          <p:cNvSpPr>
            <a:spLocks noGrp="1"/>
          </p:cNvSpPr>
          <p:nvPr/>
        </p:nvSpPr>
        <p:spPr>
          <a:xfrm>
            <a:off x="8039100" y="4762500"/>
            <a:ext cx="1562100" cy="704850"/>
          </a:xfrm>
          <a:prstGeom prst="roundRect">
            <a:avLst>
              <a:gd name="adj" fmla="val 10811"/>
            </a:avLst>
          </a:prstGeom>
          <a:solidFill>
            <a:srgbClr val="202733"/>
          </a:solidFill>
          <a:ln w="14288">
            <a:solidFill>
              <a:srgbClr val="4DA3FF"/>
            </a:solidFill>
          </a:ln>
        </p:spPr>
        <p:txBody>
          <a:bodyPr lIns="76200" tIns="76200" rIns="76200" bIns="76200" anchor="ctr">
            <a:noAutofit/>
          </a:bodyPr>
          <a:lstStyle>
            <a:def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명세 검증</a:t>
            </a:r>
          </a:p>
        </p:txBody>
      </p:sp>
      <p:sp>
        <p:nvSpPr>
          <p:cNvPr id="17" name="Save or reject">
            <a:extLst>
              <a:ext uri="{FF2B5EF4-FFF2-40B4-BE49-F238E27FC236}">
                <ns2:creationId id="{00D60858-31C9-4627-B703-E32C2965DA01}"/>
              </a:ext>
            </a:extLst>
          </p:cNvPr>
          <p:cNvSpPr>
            <a:spLocks noGrp="1"/>
          </p:cNvSpPr>
          <p:nvPr/>
        </p:nvSpPr>
        <p:spPr>
          <a:xfrm>
            <a:off x="9906000" y="4762500"/>
            <a:ext cx="1676400" cy="704850"/>
          </a:xfrm>
          <a:prstGeom prst="roundRect">
            <a:avLst>
              <a:gd name="adj" fmla="val 10811"/>
            </a:avLst>
          </a:prstGeom>
          <a:solidFill>
            <a:srgbClr val="202733"/>
          </a:solidFill>
          <a:ln w="14288">
            <a:solidFill>
              <a:srgbClr val="4DA3FF"/>
            </a:solidFill>
          </a:ln>
        </p:spPr>
        <p:txBody>
          <a:bodyPr lIns="76200" tIns="76200" rIns="76200" bIns="76200" anchor="ctr">
            <a:noAutofit/>
          </a:bodyPr>
          <a:lstStyle>
            <a:def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일치: 저장</a:t>
            </a:r>
          </a:p>
          <a:p>
            <a: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불일치: 오류</a:t>
            </a:r>
          </a:p>
        </p:txBody>
      </p:sp>
      <p:cxnSp>
        <p:nvCxnSpPr>
          <p:cNvPr id="18" name="직선 화살표 연결선 17">
            <a:extLst>
              <a:ext uri="{FF2B5EF4-FFF2-40B4-BE49-F238E27FC236}">
                <ns2:creationId id="{69D2E091-074E-4C3D-8620-2C56D8C96B43}"/>
              </a:ext>
            </a:extLst>
          </p:cNvPr>
          <p:cNvCxnSpPr>
            <a:stCxn id="15" idx="3"/>
            <a:endCxn id="16" idx="1"/>
          </p:cNvCxnSpPr>
          <p:nvPr/>
        </p:nvCxnSpPr>
        <p:spPr>
          <a:xfrm>
            <a:off x="7734300" y="5114925"/>
            <a:ext cx="304800" cy="0"/>
          </a:xfrm>
          <a:prstGeom prst="straightConnector1">
            <a:avLst/>
          </a:prstGeom>
          <a:ln w="19050">
            <a:solidFill>
              <a:srgbClr val="4DA3FF"/>
            </a:solidFill>
            <a:prstDash val="solid"/>
            <a:tailEnd type="triangle" w="sm" len="sm"/>
          </a:ln>
        </p:spPr>
      </p:cxnSp>
      <p:cxnSp>
        <p:nvCxnSpPr>
          <p:cNvPr id="19" name="직선 화살표 연결선 18">
            <a:extLst>
              <a:ext uri="{FF2B5EF4-FFF2-40B4-BE49-F238E27FC236}">
                <ns2:creationId id="{087646AA-5CBF-472D-956F-F4594A4CFEAD}"/>
              </a:ext>
            </a:extLst>
          </p:cNvPr>
          <p:cNvCxnSpPr>
            <a:stCxn id="16" idx="3"/>
            <a:endCxn id="17" idx="1"/>
          </p:cNvCxnSpPr>
          <p:nvPr/>
        </p:nvCxnSpPr>
        <p:spPr>
          <a:xfrm>
            <a:off x="9601200" y="5114925"/>
            <a:ext cx="304800" cy="0"/>
          </a:xfrm>
          <a:prstGeom prst="straightConnector1">
            <a:avLst/>
          </a:prstGeom>
          <a:ln w="19050">
            <a:solidFill>
              <a:srgbClr val="4DA3FF"/>
            </a:solidFill>
            <a:prstDash val="solid"/>
            <a:tailEnd type="triangle" w="sm" len="sm"/>
          </a:ln>
        </p:spPr>
      </p:cxnSp>
      <p:sp>
        <p:nvSpPr>
          <p:cNvPr id="20" name="Save validation result">
            <a:extLst>
              <a:ext uri="{FF2B5EF4-FFF2-40B4-BE49-F238E27FC236}">
                <ns2:creationId id="{3703660D-FA5D-424C-841B-CCEF0B2EE098}"/>
              </a:ext>
            </a:extLst>
          </p:cNvPr>
          <p:cNvSpPr>
            <a:spLocks noGrp="1"/>
          </p:cNvSpPr>
          <p:nvPr/>
        </p:nvSpPr>
        <p:spPr>
          <a:xfrm>
            <a:off x="6172200" y="5772150"/>
            <a:ext cx="54102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t>잘못된 값이 저장 단계로 넘어가지 않도록 제어</a:t>
            </a:r>
          </a:p>
        </p:txBody>
      </p:sp>
    </p:spTree>
    <p:extLst>
      <p:ext uri="{BB962C8B-B14F-4D97-AF65-F5344CB8AC3E}">
        <ns4:creationId val="1628307231"/>
      </p:ext>
    </p:extLst>
  </p:cSld>
  <p:clrMapOvr>
    <a:masterClrMapping/>
  </p:clrMapOvr>
</p:sld>
</file>

<file path=ppt/slides/slide15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ns2:creationId id="{52FE9225-3933-4D11-B3BA-AA17026BE4B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8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ns2:creationId id="{DB1D107F-0C80-402B-81CB-9F2C47A77600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핵심 구현 5/5 | DATA PIPELINE</a:t>
            </a:r>
          </a:p>
        </p:txBody>
      </p:sp>
      <p:sp>
        <p:nvSpPr>
          <p:cNvPr id="4" name="TextBox 3">
            <a:extLst>
              <a:ext uri="{FF2B5EF4-FFF2-40B4-BE49-F238E27FC236}">
                <ns2:creationId id="{F978B422-3E47-4ED2-AD66-3D48469F7275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외부 데이터 편집과 Unreal 에셋 동기화</a:t>
            </a:r>
          </a:p>
        </p:txBody>
      </p:sp>
      <p:sp>
        <p:nvSpPr>
          <p:cNvPr id="6" name="Rounded Rectangle 5">
            <a:extLst>
              <a:ext uri="{FF2B5EF4-FFF2-40B4-BE49-F238E27FC236}">
                <ns2:creationId id="{11837D99-C00B-4896-BAA6-4376757E3F76}"/>
              </a:ext>
            </a:extLst>
          </p:cNvPr>
          <p:cNvSpPr>
            <a:spLocks noGrp="1"/>
          </p:cNvSpPr>
          <p:nvPr/>
        </p:nvSpPr>
        <p:spPr>
          <a:xfrm>
            <a:off x="609600" y="3962400"/>
            <a:ext cx="5295900" cy="2305050"/>
          </a:xfrm>
          <a:prstGeom prst="roundRect">
            <a:avLst/>
          </a:prstGeom>
          <a:solidFill>
            <a:srgbClr val="1F2530"/>
          </a:solidFill>
          <a:ln w="12700">
            <a:solidFill>
              <a:srgbClr val="3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66700" tIns="247650" rIns="228600" bIns="171450" anchor="t">
            <a:noAutofit/>
          </a:bodyPr>
          <a:lstStyle>
            <a:def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과제: Unreal Editor 밖에서 수치 편집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600"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Reflection</a:t>
            </a: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으로 타입 / Enum / 입력 범위를</a:t>
            </a:r>
            <a:b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추출하고, </a:t>
            </a:r>
            <a:r>
              <a:rPr sz="1575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Manifest</a:t>
            </a: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에 데이터 명세를 담습니다.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300"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.NET 8 WPF</a:t>
            </a: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가 명세에 맞는 화면을 구성해</a:t>
            </a:r>
            <a:b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JSON 편집과 저장 전 검증을 지원합니다.</a:t>
            </a:r>
          </a:p>
        </p:txBody>
      </p:sp>
      <p:sp>
        <p:nvSpPr>
          <p:cNvPr id="7" name="Rounded Rectangle 6">
            <a:extLst>
              <a:ext uri="{FF2B5EF4-FFF2-40B4-BE49-F238E27FC236}">
                <ns2:creationId id="{4A968FF8-38A3-45C6-B244-22F797ABC346}"/>
              </a:ext>
            </a:extLst>
          </p:cNvPr>
          <p:cNvSpPr>
            <a:spLocks noGrp="1"/>
          </p:cNvSpPr>
          <p:nvPr/>
        </p:nvSpPr>
        <p:spPr>
          <a:xfrm>
            <a:off x="6172200" y="3962400"/>
            <a:ext cx="5410200" cy="2305050"/>
          </a:xfrm>
          <a:prstGeom prst="roundRect">
            <a:avLst/>
          </a:prstGeom>
          <a:solidFill>
            <a:srgbClr val="0E1219"/>
          </a:solidFill>
          <a:ln w="12700">
            <a:solidFill>
              <a:srgbClr val="2A36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66700" tIns="247650" rIns="228600" bIns="171450" anchor="t">
            <a:noAutofit/>
          </a:bodyPr>
          <a:lstStyle>
            <a:defPPr algn="l"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값 적용과 파일 저장의 시점 분리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600"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Runtime</a:t>
            </a: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에서는 메모리 값만 변경합니다.</a:t>
            </a:r>
            <a:b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75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Editor</a:t>
            </a: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에서는 값 적용과 에셋 저장을 나누고,</a:t>
            </a:r>
            <a:b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에셋을 저장할 때 연결된 JSON도 갱신합니다.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600"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endParaRPr sz="600">
              <a:latin typeface="Noto Sans KR"/>
              <a:ea typeface="Noto Sans KR"/>
              <a:cs typeface="Noto Sans KR"/>
            </a:endParaRPr>
          </a:p>
        </p:txBody>
      </p:sp>
      <p:sp>
        <p:nvSpPr>
          <p:cNvPr id="9" name="직사각형 8">
            <a:extLst>
              <a:ext uri="{FF2B5EF4-FFF2-40B4-BE49-F238E27FC236}">
                <ns2:creationId id="{2E04C7BD-F680-467C-BCA2-117D84D63D71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14</a:t>
            </a:r>
          </a:p>
        </p:txBody>
      </p:sp>
      <p:pic>
        <p:nvPicPr>
          <p:cNvPr id="10" name="그림 9">
            <a:extLst>
              <a:ext uri="{FF2B5EF4-FFF2-40B4-BE49-F238E27FC236}">
                <ns2:creationId id="{80A2F37A-265A-486C-BE42-4F20F5B9F6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10972800" y="457200"/>
            <a:ext cx="609600" cy="609600"/>
          </a:xfrm>
          <a:prstGeom prst="rect">
            <a:avLst/>
          </a:prstGeom>
        </p:spPr>
      </p:pic>
      <p:sp>
        <p:nvSpPr>
          <p:cNvPr id="11" name="Diagram Reflection">
            <a:extLst>
              <a:ext uri="{FF2B5EF4-FFF2-40B4-BE49-F238E27FC236}">
                <ns2:creationId id="{7AEC8919-2ED3-404E-9F53-225169232D4D}"/>
              </a:ext>
            </a:extLst>
          </p:cNvPr>
          <p:cNvSpPr>
            <a:spLocks noGrp="1"/>
          </p:cNvSpPr>
          <p:nvPr/>
        </p:nvSpPr>
        <p:spPr>
          <a:xfrm>
            <a:off x="609600" y="1409700"/>
            <a:ext cx="2286000" cy="704850"/>
          </a:xfrm>
          <a:prstGeom prst="roundRect">
            <a:avLst>
              <a:gd name="adj" fmla="val 13514"/>
            </a:avLst>
          </a:prstGeom>
          <a:solidFill>
            <a:srgbClr val="1F2530"/>
          </a:solidFill>
          <a:ln w="12383">
            <a:solidFill>
              <a:srgbClr val="4DA3FF"/>
            </a:solidFill>
          </a:ln>
        </p:spPr>
        <p:txBody>
          <a:bodyPr wrap="square" lIns="76200" tIns="76200" rIns="76200" bIns="76200" anchor="ctr">
            <a:noAutofit/>
          </a:bodyPr>
          <a:lstStyle>
            <a:def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Unreal 속성 정보</a:t>
            </a:r>
          </a:p>
          <a:p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Reflection</a:t>
            </a:r>
          </a:p>
        </p:txBody>
      </p:sp>
      <p:sp>
        <p:nvSpPr>
          <p:cNvPr id="12" name="Diagram Manifest">
            <a:extLst>
              <a:ext uri="{FF2B5EF4-FFF2-40B4-BE49-F238E27FC236}">
                <ns2:creationId id="{A1F83280-4C79-4CB9-A02B-16DB6C3ACFAA}"/>
              </a:ext>
            </a:extLst>
          </p:cNvPr>
          <p:cNvSpPr>
            <a:spLocks noGrp="1"/>
          </p:cNvSpPr>
          <p:nvPr/>
        </p:nvSpPr>
        <p:spPr>
          <a:xfrm>
            <a:off x="3495675" y="1409700"/>
            <a:ext cx="2286000" cy="704850"/>
          </a:xfrm>
          <a:prstGeom prst="roundRect">
            <a:avLst>
              <a:gd name="adj" fmla="val 13514"/>
            </a:avLst>
          </a:prstGeom>
          <a:solidFill>
            <a:srgbClr val="1F2530"/>
          </a:solidFill>
          <a:ln w="12383">
            <a:solidFill>
              <a:srgbClr val="4DA3FF"/>
            </a:solidFill>
          </a:ln>
        </p:spPr>
        <p:txBody>
          <a:bodyPr wrap="square" lIns="76200" tIns="76200" rIns="76200" bIns="76200" anchor="ctr">
            <a:noAutofit/>
          </a:bodyPr>
          <a:lstStyle>
            <a:def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데이터 명세</a:t>
            </a:r>
          </a:p>
          <a:p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타입과 입력 범위</a:t>
            </a:r>
          </a:p>
        </p:txBody>
      </p:sp>
      <p:sp>
        <p:nvSpPr>
          <p:cNvPr id="13" name="Diagram WPF">
            <a:extLst>
              <a:ext uri="{FF2B5EF4-FFF2-40B4-BE49-F238E27FC236}">
                <ns2:creationId id="{13CF6703-EDD1-43D9-A5F6-20D524E978CB}"/>
              </a:ext>
            </a:extLst>
          </p:cNvPr>
          <p:cNvSpPr>
            <a:spLocks noGrp="1"/>
          </p:cNvSpPr>
          <p:nvPr/>
        </p:nvSpPr>
        <p:spPr>
          <a:xfrm>
            <a:off x="6381750" y="1409700"/>
            <a:ext cx="2286000" cy="704850"/>
          </a:xfrm>
          <a:prstGeom prst="roundRect">
            <a:avLst>
              <a:gd name="adj" fmla="val 13514"/>
            </a:avLst>
          </a:prstGeom>
          <a:solidFill>
            <a:srgbClr val="1F2530"/>
          </a:solidFill>
          <a:ln w="12383">
            <a:solidFill>
              <a:srgbClr val="4DA3FF"/>
            </a:solidFill>
          </a:ln>
        </p:spPr>
        <p:txBody>
          <a:bodyPr wrap="square" lIns="76200" tIns="76200" rIns="76200" bIns="76200" anchor="ctr">
            <a:noAutofit/>
          </a:bodyPr>
          <a:lstStyle>
            <a:def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WPF 편집기</a:t>
            </a:r>
          </a:p>
          <a:p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값 편집과 검증</a:t>
            </a:r>
          </a:p>
        </p:txBody>
      </p:sp>
      <p:sp>
        <p:nvSpPr>
          <p:cNvPr id="14" name="Diagram JSON">
            <a:extLst>
              <a:ext uri="{FF2B5EF4-FFF2-40B4-BE49-F238E27FC236}">
                <ns2:creationId id="{5FBD5618-8A56-4856-81AE-0C91C98F8A75}"/>
              </a:ext>
            </a:extLst>
          </p:cNvPr>
          <p:cNvSpPr>
            <a:spLocks noGrp="1"/>
          </p:cNvSpPr>
          <p:nvPr/>
        </p:nvSpPr>
        <p:spPr>
          <a:xfrm>
            <a:off x="9267825" y="1409700"/>
            <a:ext cx="2286000" cy="704850"/>
          </a:xfrm>
          <a:prstGeom prst="roundRect">
            <a:avLst>
              <a:gd name="adj" fmla="val 13514"/>
            </a:avLst>
          </a:prstGeom>
          <a:solidFill>
            <a:srgbClr val="1F2530"/>
          </a:solidFill>
          <a:ln w="12383">
            <a:solidFill>
              <a:srgbClr val="4DA3FF"/>
            </a:solidFill>
          </a:ln>
        </p:spPr>
        <p:txBody>
          <a:bodyPr wrap="square" lIns="76200" tIns="76200" rIns="76200" bIns="76200" anchor="ctr">
            <a:noAutofit/>
          </a:bodyPr>
          <a:lstStyle>
            <a:def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JSON</a:t>
            </a:r>
          </a:p>
          <a:p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변경 값 저장</a:t>
            </a:r>
          </a:p>
        </p:txBody>
      </p:sp>
      <p:sp>
        <p:nvSpPr>
          <p:cNvPr id="15" name="Diagram Arrow 3">
            <a:extLst>
              <a:ext uri="{FF2B5EF4-FFF2-40B4-BE49-F238E27FC236}">
                <ns2:creationId id="{285D9622-2B4D-4398-8FC3-1E52DC8AFC78}"/>
              </a:ext>
            </a:extLst>
          </p:cNvPr>
          <p:cNvSpPr>
            <a:spLocks noGrp="1"/>
          </p:cNvSpPr>
          <p:nvPr/>
        </p:nvSpPr>
        <p:spPr>
          <a:xfrm>
            <a:off x="2943225" y="1704975"/>
            <a:ext cx="504825" cy="114300"/>
          </a:xfrm>
          <a:prstGeom prst="rightArrow">
            <a:avLst/>
          </a:prstGeom>
          <a:solidFill>
            <a:srgbClr val="4DA3FF"/>
          </a:solidFill>
          <a:ln w="0">
            <a:noFill/>
          </a:ln>
        </p:spPr>
        <p:txBody>
          <a:bodyPr/>
          <a:lstStyle>
            <a:defPPr>
              <a:defRPr sz="1388"/>
            </a:defPPr>
            <a:lvl1pPr>
              <a:buNone/>
              <a:defRPr sz="1388"/>
            </a:lvl1pPr>
            <a:lvl2pPr>
              <a:buNone/>
              <a:defRPr sz="1388"/>
            </a:lvl2pPr>
            <a:lvl3pPr>
              <a:buNone/>
              <a:defRPr sz="1388"/>
            </a:lvl3pPr>
            <a:lvl4pPr>
              <a:buNone/>
              <a:defRPr sz="1388"/>
            </a:lvl4pPr>
            <a:lvl5pPr>
              <a:buNone/>
              <a:defRPr sz="1388"/>
            </a:lvl5pPr>
            <a:lvl6pPr>
              <a:buNone/>
              <a:defRPr sz="1388"/>
            </a:lvl6pPr>
            <a:lvl7pPr>
              <a:buNone/>
              <a:defRPr sz="1388"/>
            </a:lvl7pPr>
            <a:lvl8pPr>
              <a:buNone/>
              <a:defRPr sz="1388"/>
            </a:lvl8pPr>
            <a:lvl9pPr>
              <a:buNone/>
              <a:defRPr sz="1388"/>
            </a:lvl9pPr>
          </a:lstStyle>
          <a:p>
            <a:endParaRPr/>
          </a:p>
        </p:txBody>
      </p:sp>
      <p:sp>
        <p:nvSpPr>
          <p:cNvPr id="16" name="Diagram Arrow 4">
            <a:extLst>
              <a:ext uri="{FF2B5EF4-FFF2-40B4-BE49-F238E27FC236}">
                <ns2:creationId id="{5DA1BDDE-4683-422A-83B6-EDD53E71A4FC}"/>
              </a:ext>
            </a:extLst>
          </p:cNvPr>
          <p:cNvSpPr>
            <a:spLocks noGrp="1"/>
          </p:cNvSpPr>
          <p:nvPr/>
        </p:nvSpPr>
        <p:spPr>
          <a:xfrm>
            <a:off x="5829300" y="1704975"/>
            <a:ext cx="504825" cy="114300"/>
          </a:xfrm>
          <a:prstGeom prst="rightArrow">
            <a:avLst/>
          </a:prstGeom>
          <a:solidFill>
            <a:srgbClr val="4DA3FF"/>
          </a:solidFill>
          <a:ln w="0">
            <a:noFill/>
          </a:ln>
        </p:spPr>
        <p:txBody>
          <a:bodyPr/>
          <a:lstStyle>
            <a:defPPr>
              <a:defRPr sz="1388"/>
            </a:defPPr>
            <a:lvl1pPr>
              <a:buNone/>
              <a:defRPr sz="1388"/>
            </a:lvl1pPr>
            <a:lvl2pPr>
              <a:buNone/>
              <a:defRPr sz="1388"/>
            </a:lvl2pPr>
            <a:lvl3pPr>
              <a:buNone/>
              <a:defRPr sz="1388"/>
            </a:lvl3pPr>
            <a:lvl4pPr>
              <a:buNone/>
              <a:defRPr sz="1388"/>
            </a:lvl4pPr>
            <a:lvl5pPr>
              <a:buNone/>
              <a:defRPr sz="1388"/>
            </a:lvl5pPr>
            <a:lvl6pPr>
              <a:buNone/>
              <a:defRPr sz="1388"/>
            </a:lvl6pPr>
            <a:lvl7pPr>
              <a:buNone/>
              <a:defRPr sz="1388"/>
            </a:lvl7pPr>
            <a:lvl8pPr>
              <a:buNone/>
              <a:defRPr sz="1388"/>
            </a:lvl8pPr>
            <a:lvl9pPr>
              <a:buNone/>
              <a:defRPr sz="1388"/>
            </a:lvl9pPr>
          </a:lstStyle>
          <a:p>
            <a:endParaRPr/>
          </a:p>
        </p:txBody>
      </p:sp>
      <p:sp>
        <p:nvSpPr>
          <p:cNvPr id="17" name="Diagram Arrow 5">
            <a:extLst>
              <a:ext uri="{FF2B5EF4-FFF2-40B4-BE49-F238E27FC236}">
                <ns2:creationId id="{2432D6F1-3680-4D1B-9D1B-385BC3AE48AE}"/>
              </a:ext>
            </a:extLst>
          </p:cNvPr>
          <p:cNvSpPr>
            <a:spLocks noGrp="1"/>
          </p:cNvSpPr>
          <p:nvPr/>
        </p:nvSpPr>
        <p:spPr>
          <a:xfrm>
            <a:off x="8715375" y="1704975"/>
            <a:ext cx="504825" cy="114300"/>
          </a:xfrm>
          <a:prstGeom prst="rightArrow">
            <a:avLst/>
          </a:prstGeom>
          <a:solidFill>
            <a:srgbClr val="4DA3FF"/>
          </a:solidFill>
          <a:ln w="0">
            <a:noFill/>
          </a:ln>
        </p:spPr>
        <p:txBody>
          <a:bodyPr/>
          <a:lstStyle>
            <a:defPPr>
              <a:defRPr sz="1388"/>
            </a:defPPr>
            <a:lvl1pPr>
              <a:buNone/>
              <a:defRPr sz="1388"/>
            </a:lvl1pPr>
            <a:lvl2pPr>
              <a:buNone/>
              <a:defRPr sz="1388"/>
            </a:lvl2pPr>
            <a:lvl3pPr>
              <a:buNone/>
              <a:defRPr sz="1388"/>
            </a:lvl3pPr>
            <a:lvl4pPr>
              <a:buNone/>
              <a:defRPr sz="1388"/>
            </a:lvl4pPr>
            <a:lvl5pPr>
              <a:buNone/>
              <a:defRPr sz="1388"/>
            </a:lvl5pPr>
            <a:lvl6pPr>
              <a:buNone/>
              <a:defRPr sz="1388"/>
            </a:lvl6pPr>
            <a:lvl7pPr>
              <a:buNone/>
              <a:defRPr sz="1388"/>
            </a:lvl7pPr>
            <a:lvl8pPr>
              <a:buNone/>
              <a:defRPr sz="1388"/>
            </a:lvl8pPr>
            <a:lvl9pPr>
              <a:buNone/>
              <a:defRPr sz="1388"/>
            </a:lvl9pPr>
          </a:lstStyle>
          <a:p>
            <a:endParaRPr/>
          </a:p>
        </p:txBody>
      </p:sp>
      <p:sp>
        <p:nvSpPr>
          <p:cNvPr id="18" name="Diagram Runtime">
            <a:extLst>
              <a:ext uri="{FF2B5EF4-FFF2-40B4-BE49-F238E27FC236}">
                <ns2:creationId id="{289451E6-07F8-4499-9A1C-13B80BFBE800}"/>
              </a:ext>
            </a:extLst>
          </p:cNvPr>
          <p:cNvSpPr>
            <a:spLocks noGrp="1"/>
          </p:cNvSpPr>
          <p:nvPr/>
        </p:nvSpPr>
        <p:spPr>
          <a:xfrm>
            <a:off x="6934200" y="2686050"/>
            <a:ext cx="2095500" cy="647700"/>
          </a:xfrm>
          <a:prstGeom prst="roundRect">
            <a:avLst>
              <a:gd name="adj" fmla="val 14706"/>
            </a:avLst>
          </a:prstGeom>
          <a:solidFill>
            <a:srgbClr val="1F2530"/>
          </a:solidFill>
          <a:ln w="12383">
            <a:solidFill>
              <a:srgbClr val="4DA3FF"/>
            </a:solidFill>
          </a:ln>
        </p:spPr>
        <p:txBody>
          <a:bodyPr wrap="square" lIns="76200" tIns="76200" rIns="76200" bIns="76200" anchor="ctr">
            <a:noAutofit/>
          </a:bodyPr>
          <a:lstStyle>
            <a:def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Runtime</a:t>
            </a:r>
          </a:p>
          <a:p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메모리 값 적용</a:t>
            </a:r>
          </a:p>
        </p:txBody>
      </p:sp>
      <p:sp>
        <p:nvSpPr>
          <p:cNvPr id="19" name="Diagram Editor">
            <a:extLst>
              <a:ext uri="{FF2B5EF4-FFF2-40B4-BE49-F238E27FC236}">
                <ns2:creationId id="{BD04EC52-05F1-47D3-AD05-D1C9688E8DB6}"/>
              </a:ext>
            </a:extLst>
          </p:cNvPr>
          <p:cNvSpPr>
            <a:spLocks noGrp="1"/>
          </p:cNvSpPr>
          <p:nvPr/>
        </p:nvSpPr>
        <p:spPr>
          <a:xfrm>
            <a:off x="9458325" y="2686050"/>
            <a:ext cx="2095500" cy="647700"/>
          </a:xfrm>
          <a:prstGeom prst="roundRect">
            <a:avLst>
              <a:gd name="adj" fmla="val 14706"/>
            </a:avLst>
          </a:prstGeom>
          <a:solidFill>
            <a:srgbClr val="1F2530"/>
          </a:solidFill>
          <a:ln w="12383">
            <a:solidFill>
              <a:srgbClr val="4DA3FF"/>
            </a:solidFill>
          </a:ln>
        </p:spPr>
        <p:txBody>
          <a:bodyPr wrap="square" lIns="76200" tIns="76200" rIns="76200" bIns="76200" anchor="ctr">
            <a:noAutofit/>
          </a:bodyPr>
          <a:lstStyle>
            <a:def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Editor</a:t>
            </a:r>
          </a:p>
          <a:p>
            <a:pPr algn="ctr">
              <a:buNone/>
              <a:defRPr sz="13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에셋 파일 저장</a:t>
            </a:r>
          </a:p>
        </p:txBody>
      </p:sp>
      <p:sp>
        <p:nvSpPr>
          <p:cNvPr id="20" name="Diagram Arrow 6">
            <a:extLst>
              <a:ext uri="{FF2B5EF4-FFF2-40B4-BE49-F238E27FC236}">
                <ns2:creationId id="{CC1A0120-D6CE-49D1-A30B-443F055737EB}"/>
              </a:ext>
            </a:extLst>
          </p:cNvPr>
          <p:cNvSpPr>
            <a:spLocks noGrp="1"/>
          </p:cNvSpPr>
          <p:nvPr/>
        </p:nvSpPr>
        <p:spPr>
          <a:xfrm>
            <a:off x="10401300" y="2162175"/>
            <a:ext cx="19050" cy="238125"/>
          </a:xfrm>
          <a:prstGeom prst="rect">
            <a:avLst/>
          </a:prstGeom>
          <a:solidFill>
            <a:srgbClr val="4DA3FF"/>
          </a:solidFill>
          <a:ln w="0">
            <a:noFill/>
          </a:ln>
        </p:spPr>
        <p:txBody>
          <a:bodyPr/>
          <a:lstStyle>
            <a:defPPr>
              <a:defRPr sz="1388"/>
            </a:defPPr>
            <a:lvl1pPr>
              <a:buNone/>
              <a:defRPr sz="1388"/>
            </a:lvl1pPr>
            <a:lvl2pPr>
              <a:buNone/>
              <a:defRPr sz="1388"/>
            </a:lvl2pPr>
            <a:lvl3pPr>
              <a:buNone/>
              <a:defRPr sz="1388"/>
            </a:lvl3pPr>
            <a:lvl4pPr>
              <a:buNone/>
              <a:defRPr sz="1388"/>
            </a:lvl4pPr>
            <a:lvl5pPr>
              <a:buNone/>
              <a:defRPr sz="1388"/>
            </a:lvl5pPr>
            <a:lvl6pPr>
              <a:buNone/>
              <a:defRPr sz="1388"/>
            </a:lvl6pPr>
            <a:lvl7pPr>
              <a:buNone/>
              <a:defRPr sz="1388"/>
            </a:lvl7pPr>
            <a:lvl8pPr>
              <a:buNone/>
              <a:defRPr sz="1388"/>
            </a:lvl8pPr>
            <a:lvl9pPr>
              <a:buNone/>
              <a:defRPr sz="1388"/>
            </a:lvl9pPr>
          </a:lstStyle>
          <a:p>
            <a:endParaRPr/>
          </a:p>
        </p:txBody>
      </p:sp>
      <p:sp>
        <p:nvSpPr>
          <p:cNvPr id="21" name="Diagram Arrow 7">
            <a:extLst>
              <a:ext uri="{FF2B5EF4-FFF2-40B4-BE49-F238E27FC236}">
                <ns2:creationId id="{E9208477-CA3F-40C7-B701-D123A2EF6981}"/>
              </a:ext>
            </a:extLst>
          </p:cNvPr>
          <p:cNvSpPr>
            <a:spLocks noGrp="1"/>
          </p:cNvSpPr>
          <p:nvPr/>
        </p:nvSpPr>
        <p:spPr>
          <a:xfrm>
            <a:off x="7972425" y="2390775"/>
            <a:ext cx="2447925" cy="19050"/>
          </a:xfrm>
          <a:prstGeom prst="rect">
            <a:avLst/>
          </a:prstGeom>
          <a:solidFill>
            <a:srgbClr val="4DA3FF"/>
          </a:solidFill>
          <a:ln w="0">
            <a:noFill/>
          </a:ln>
        </p:spPr>
        <p:txBody>
          <a:bodyPr/>
          <a:lstStyle>
            <a:defPPr>
              <a:defRPr sz="1500"/>
            </a:defPPr>
            <a:lvl1pPr>
              <a:buNone/>
              <a:defRPr sz="1500"/>
            </a:lvl1pPr>
            <a:lvl2pPr>
              <a:buNone/>
              <a:defRPr sz="1500"/>
            </a:lvl2pPr>
            <a:lvl3pPr>
              <a:buNone/>
              <a:defRPr sz="1500"/>
            </a:lvl3pPr>
            <a:lvl4pPr>
              <a:buNone/>
              <a:defRPr sz="1500"/>
            </a:lvl4pPr>
            <a:lvl5pPr>
              <a:buNone/>
              <a:defRPr sz="1500"/>
            </a:lvl5pPr>
            <a:lvl6pPr>
              <a:buNone/>
              <a:defRPr sz="1500"/>
            </a:lvl6pPr>
            <a:lvl7pPr>
              <a:buNone/>
              <a:defRPr sz="1500"/>
            </a:lvl7pPr>
            <a:lvl8pPr>
              <a:buNone/>
              <a:defRPr sz="1500"/>
            </a:lvl8pPr>
            <a:lvl9pPr>
              <a:buNone/>
              <a:defRPr sz="1500"/>
            </a:lvl9pPr>
          </a:lstStyle>
          <a:p>
            <a:endParaRPr/>
          </a:p>
        </p:txBody>
      </p:sp>
      <p:sp>
        <p:nvSpPr>
          <p:cNvPr id="22" name="Diagram Arrow 8">
            <a:extLst>
              <a:ext uri="{FF2B5EF4-FFF2-40B4-BE49-F238E27FC236}">
                <ns2:creationId id="{377B14DA-BDCA-4109-A485-82C664FB75EE}"/>
              </a:ext>
            </a:extLst>
          </p:cNvPr>
          <p:cNvSpPr>
            <a:spLocks noGrp="1"/>
          </p:cNvSpPr>
          <p:nvPr/>
        </p:nvSpPr>
        <p:spPr>
          <a:xfrm>
            <a:off x="7924800" y="2390775"/>
            <a:ext cx="114300" cy="247650"/>
          </a:xfrm>
          <a:prstGeom prst="downArrow">
            <a:avLst/>
          </a:prstGeom>
          <a:solidFill>
            <a:srgbClr val="4DA3FF"/>
          </a:solidFill>
          <a:ln w="0">
            <a:noFill/>
          </a:ln>
        </p:spPr>
        <p:txBody>
          <a:bodyPr/>
          <a:lstStyle>
            <a:defPPr>
              <a:defRPr sz="1388"/>
            </a:defPPr>
            <a:lvl1pPr>
              <a:buNone/>
              <a:defRPr sz="1388"/>
            </a:lvl1pPr>
            <a:lvl2pPr>
              <a:buNone/>
              <a:defRPr sz="1388"/>
            </a:lvl2pPr>
            <a:lvl3pPr>
              <a:buNone/>
              <a:defRPr sz="1388"/>
            </a:lvl3pPr>
            <a:lvl4pPr>
              <a:buNone/>
              <a:defRPr sz="1388"/>
            </a:lvl4pPr>
            <a:lvl5pPr>
              <a:buNone/>
              <a:defRPr sz="1388"/>
            </a:lvl5pPr>
            <a:lvl6pPr>
              <a:buNone/>
              <a:defRPr sz="1388"/>
            </a:lvl6pPr>
            <a:lvl7pPr>
              <a:buNone/>
              <a:defRPr sz="1388"/>
            </a:lvl7pPr>
            <a:lvl8pPr>
              <a:buNone/>
              <a:defRPr sz="1388"/>
            </a:lvl8pPr>
            <a:lvl9pPr>
              <a:buNone/>
              <a:defRPr sz="1388"/>
            </a:lvl9pPr>
          </a:lstStyle>
          <a:p>
            <a:endParaRPr/>
          </a:p>
        </p:txBody>
      </p:sp>
      <p:sp>
        <p:nvSpPr>
          <p:cNvPr id="23" name="Diagram Arrow 9">
            <a:extLst>
              <a:ext uri="{FF2B5EF4-FFF2-40B4-BE49-F238E27FC236}">
                <ns2:creationId id="{40ED7C92-853E-48A4-A426-1BDEDB4762A0}"/>
              </a:ext>
            </a:extLst>
          </p:cNvPr>
          <p:cNvSpPr>
            <a:spLocks noGrp="1"/>
          </p:cNvSpPr>
          <p:nvPr/>
        </p:nvSpPr>
        <p:spPr>
          <a:xfrm>
            <a:off x="10401300" y="2162175"/>
            <a:ext cx="19050" cy="238125"/>
          </a:xfrm>
          <a:prstGeom prst="rect">
            <a:avLst/>
          </a:prstGeom>
          <a:solidFill>
            <a:srgbClr val="4DA3FF"/>
          </a:solidFill>
          <a:ln w="0">
            <a:noFill/>
          </a:ln>
        </p:spPr>
        <p:txBody>
          <a:bodyPr/>
          <a:lstStyle>
            <a:defPPr>
              <a:defRPr sz="1388"/>
            </a:defPPr>
            <a:lvl1pPr>
              <a:buNone/>
              <a:defRPr sz="1388"/>
            </a:lvl1pPr>
            <a:lvl2pPr>
              <a:buNone/>
              <a:defRPr sz="1388"/>
            </a:lvl2pPr>
            <a:lvl3pPr>
              <a:buNone/>
              <a:defRPr sz="1388"/>
            </a:lvl3pPr>
            <a:lvl4pPr>
              <a:buNone/>
              <a:defRPr sz="1388"/>
            </a:lvl4pPr>
            <a:lvl5pPr>
              <a:buNone/>
              <a:defRPr sz="1388"/>
            </a:lvl5pPr>
            <a:lvl6pPr>
              <a:buNone/>
              <a:defRPr sz="1388"/>
            </a:lvl6pPr>
            <a:lvl7pPr>
              <a:buNone/>
              <a:defRPr sz="1388"/>
            </a:lvl7pPr>
            <a:lvl8pPr>
              <a:buNone/>
              <a:defRPr sz="1388"/>
            </a:lvl8pPr>
            <a:lvl9pPr>
              <a:buNone/>
              <a:defRPr sz="1388"/>
            </a:lvl9pPr>
          </a:lstStyle>
          <a:p>
            <a:endParaRPr/>
          </a:p>
        </p:txBody>
      </p:sp>
      <p:sp>
        <p:nvSpPr>
          <p:cNvPr id="24" name="Diagram Arrow 10">
            <a:extLst>
              <a:ext uri="{FF2B5EF4-FFF2-40B4-BE49-F238E27FC236}">
                <ns2:creationId id="{2E80E0D0-E3C5-4C3F-880E-AA5BF0DD0230}"/>
              </a:ext>
            </a:extLst>
          </p:cNvPr>
          <p:cNvSpPr>
            <a:spLocks noGrp="1"/>
          </p:cNvSpPr>
          <p:nvPr/>
        </p:nvSpPr>
        <p:spPr>
          <a:xfrm>
            <a:off x="10401300" y="2390775"/>
            <a:ext cx="114300" cy="19050"/>
          </a:xfrm>
          <a:prstGeom prst="rect">
            <a:avLst/>
          </a:prstGeom>
          <a:solidFill>
            <a:srgbClr val="4DA3FF"/>
          </a:solidFill>
          <a:ln w="0">
            <a:noFill/>
          </a:ln>
        </p:spPr>
        <p:txBody>
          <a:bodyPr/>
          <a:lstStyle>
            <a:defPPr>
              <a:defRPr sz="1388"/>
            </a:defPPr>
            <a:lvl1pPr>
              <a:buNone/>
              <a:defRPr sz="1388"/>
            </a:lvl1pPr>
            <a:lvl2pPr>
              <a:buNone/>
              <a:defRPr sz="1388"/>
            </a:lvl2pPr>
            <a:lvl3pPr>
              <a:buNone/>
              <a:defRPr sz="1388"/>
            </a:lvl3pPr>
            <a:lvl4pPr>
              <a:buNone/>
              <a:defRPr sz="1388"/>
            </a:lvl4pPr>
            <a:lvl5pPr>
              <a:buNone/>
              <a:defRPr sz="1388"/>
            </a:lvl5pPr>
            <a:lvl6pPr>
              <a:buNone/>
              <a:defRPr sz="1388"/>
            </a:lvl6pPr>
            <a:lvl7pPr>
              <a:buNone/>
              <a:defRPr sz="1388"/>
            </a:lvl7pPr>
            <a:lvl8pPr>
              <a:buNone/>
              <a:defRPr sz="1388"/>
            </a:lvl8pPr>
            <a:lvl9pPr>
              <a:buNone/>
              <a:defRPr sz="1388"/>
            </a:lvl9pPr>
          </a:lstStyle>
          <a:p>
            <a:endParaRPr/>
          </a:p>
        </p:txBody>
      </p:sp>
      <p:sp>
        <p:nvSpPr>
          <p:cNvPr id="25" name="Diagram Arrow 11">
            <a:extLst>
              <a:ext uri="{FF2B5EF4-FFF2-40B4-BE49-F238E27FC236}">
                <ns2:creationId id="{F44204A3-B08B-4661-A684-5956D164F6F3}"/>
              </a:ext>
            </a:extLst>
          </p:cNvPr>
          <p:cNvSpPr>
            <a:spLocks noGrp="1"/>
          </p:cNvSpPr>
          <p:nvPr/>
        </p:nvSpPr>
        <p:spPr>
          <a:xfrm>
            <a:off x="10448925" y="2390775"/>
            <a:ext cx="114300" cy="247650"/>
          </a:xfrm>
          <a:prstGeom prst="downArrow">
            <a:avLst/>
          </a:prstGeom>
          <a:solidFill>
            <a:srgbClr val="4DA3FF"/>
          </a:solidFill>
          <a:ln w="0">
            <a:noFill/>
          </a:ln>
        </p:spPr>
        <p:txBody>
          <a:bodyPr/>
          <a:lstStyle>
            <a:defPPr>
              <a:defRPr sz="1388"/>
            </a:defPPr>
            <a:lvl1pPr>
              <a:buNone/>
              <a:defRPr sz="1388"/>
            </a:lvl1pPr>
            <a:lvl2pPr>
              <a:buNone/>
              <a:defRPr sz="1388"/>
            </a:lvl2pPr>
            <a:lvl3pPr>
              <a:buNone/>
              <a:defRPr sz="1388"/>
            </a:lvl3pPr>
            <a:lvl4pPr>
              <a:buNone/>
              <a:defRPr sz="1388"/>
            </a:lvl4pPr>
            <a:lvl5pPr>
              <a:buNone/>
              <a:defRPr sz="1388"/>
            </a:lvl5pPr>
            <a:lvl6pPr>
              <a:buNone/>
              <a:defRPr sz="1388"/>
            </a:lvl6pPr>
            <a:lvl7pPr>
              <a:buNone/>
              <a:defRPr sz="1388"/>
            </a:lvl7pPr>
            <a:lvl8pPr>
              <a:buNone/>
              <a:defRPr sz="1388"/>
            </a:lvl8pPr>
            <a:lvl9pPr>
              <a:buNone/>
              <a:defRPr sz="1388"/>
            </a:lvl9pPr>
          </a:lstStyle>
          <a:p>
            <a:endParaRPr/>
          </a:p>
        </p:txBody>
      </p:sp>
      <p:sp>
        <p:nvSpPr>
          <p:cNvPr id="26" name="Editor JSON sync">
            <a:extLst>
              <a:ext uri="{FF2B5EF4-FFF2-40B4-BE49-F238E27FC236}">
                <ns2:creationId id="{CE34F96D-A354-4F8B-9662-AD654440AA5F}"/>
              </a:ext>
            </a:extLst>
          </p:cNvPr>
          <p:cNvSpPr>
            <a:spLocks noGrp="1"/>
          </p:cNvSpPr>
          <p:nvPr/>
        </p:nvSpPr>
        <p:spPr>
          <a:xfrm>
            <a:off x="609600" y="3524250"/>
            <a:ext cx="10953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35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35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35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35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35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35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35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35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35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35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35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rPr>
              <a:t>Editor에서 에셋을 저장하면 연결된 JSON에도 현재 값을 기록합니다.</a:t>
            </a:r>
          </a:p>
        </p:txBody>
      </p:sp>
      <p:pic>
        <p:nvPicPr>
          <p:cNvPr id="27" name="그림 26">
            <a:extLst>
              <a:ext uri="{FF2B5EF4-FFF2-40B4-BE49-F238E27FC236}">
                <ns2:creationId id="{54817E97-973B-4B81-BD9C-F1B08A9348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6362700"/>
            <a:ext cx="190500" cy="186612"/>
          </a:xfrm>
          <a:prstGeom prst="rect">
            <a:avLst/>
          </a:prstGeom>
        </p:spPr>
      </p:pic>
      <p:sp>
        <p:nvSpPr>
          <p:cNvPr id="28" name="GitHub code link 0">
            <a:extLst>
              <a:ext uri="{FF2B5EF4-FFF2-40B4-BE49-F238E27FC236}">
                <ns2:creationId id="{F1DF44B1-B217-4B5D-A8B1-3B91772413D2}"/>
              </a:ext>
            </a:extLst>
          </p:cNvPr>
          <p:cNvSpPr>
            <a:spLocks noGrp="1"/>
          </p:cNvSpPr>
          <p:nvPr/>
        </p:nvSpPr>
        <p:spPr>
          <a:xfrm>
            <a:off x="895350" y="6334125"/>
            <a:ext cx="5124450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sz="1388" u="sng">
                <a:solidFill>
                  <a:srgbClr val="7DD3FC"/>
                </a:solidFill>
                <a:latin typeface="Noto Sans KR"/>
                <a:ea typeface="Noto Sans KR"/>
                <a:cs typeface="Noto Sans KR"/>
                <a:hlinkClick r:id="rId4"/>
              </a:rPr>
              <a:t>GitHub / JSON 동기화</a:t>
            </a:r>
          </a:p>
        </p:txBody>
      </p:sp>
      <p:pic>
        <p:nvPicPr>
          <p:cNvPr id="29" name="그림 28">
            <a:extLst>
              <a:ext uri="{FF2B5EF4-FFF2-40B4-BE49-F238E27FC236}">
                <ns2:creationId id="{90E6CA0A-CF7F-4BB0-922A-7F93EB5330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0" y="6362700"/>
            <a:ext cx="190500" cy="186612"/>
          </a:xfrm>
          <a:prstGeom prst="rect">
            <a:avLst/>
          </a:prstGeom>
        </p:spPr>
      </p:pic>
      <p:sp>
        <p:nvSpPr>
          <p:cNvPr id="30" name="GitHub code link 1">
            <a:extLst>
              <a:ext uri="{FF2B5EF4-FFF2-40B4-BE49-F238E27FC236}">
                <ns2:creationId id="{208146C6-2AC7-41CA-8396-68AE2F176C0A}"/>
              </a:ext>
            </a:extLst>
          </p:cNvPr>
          <p:cNvSpPr>
            <a:spLocks noGrp="1"/>
          </p:cNvSpPr>
          <p:nvPr/>
        </p:nvSpPr>
        <p:spPr>
          <a:xfrm>
            <a:off x="6381750" y="6334125"/>
            <a:ext cx="5124450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sz="1388" u="sng">
                <a:solidFill>
                  <a:srgbClr val="7DD3FC"/>
                </a:solidFill>
                <a:latin typeface="Noto Sans KR"/>
                <a:ea typeface="Noto Sans KR"/>
                <a:cs typeface="Noto Sans KR"/>
                <a:hlinkClick r:id="rId5"/>
              </a:rPr>
              <a:t>GitHub / WPF 편집기</a:t>
            </a:r>
          </a:p>
        </p:txBody>
      </p:sp>
    </p:spTree>
    <p:extLst>
      <p:ext uri="{BB962C8B-B14F-4D97-AF65-F5344CB8AC3E}">
        <ns4:creationId val="1628307231"/>
      </p:ext>
    </p:extLst>
  </p:cSld>
  <p:clrMapOvr>
    <a:masterClrMapping/>
  </p:clrMapOvr>
</p:sld>
</file>

<file path=ppt/slides/slide16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ns2:creationId id="{FA19224B-2A67-492E-903C-12EDCE3BCC3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8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ns2:creationId id="{EE970FBA-49E5-4F9D-A419-C59471AF1163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추가 구현 | FIRST PERSON RENDERING</a:t>
            </a:r>
          </a:p>
        </p:txBody>
      </p:sp>
      <p:sp>
        <p:nvSpPr>
          <p:cNvPr id="4" name="TextBox 3">
            <a:extLst>
              <a:ext uri="{FF2B5EF4-FFF2-40B4-BE49-F238E27FC236}">
                <ns2:creationId id="{760BBD97-EBDC-4ACA-A0A2-D7A67741C8C3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벽 밀착 시 로컬 1인칭 무기 표시 보정</a:t>
            </a:r>
          </a:p>
        </p:txBody>
      </p:sp>
      <p:sp>
        <p:nvSpPr>
          <p:cNvPr id="6" name="Rounded Rectangle 5">
            <a:extLst>
              <a:ext uri="{FF2B5EF4-FFF2-40B4-BE49-F238E27FC236}">
                <ns2:creationId id="{B841FB0B-F145-45BA-8C06-A5A0FCBD8B7A}"/>
              </a:ext>
            </a:extLst>
          </p:cNvPr>
          <p:cNvSpPr>
            <a:spLocks noGrp="1"/>
          </p:cNvSpPr>
          <p:nvPr/>
        </p:nvSpPr>
        <p:spPr>
          <a:xfrm>
            <a:off x="6172200" y="1409700"/>
            <a:ext cx="5410200" cy="2209800"/>
          </a:xfrm>
          <a:prstGeom prst="roundRect">
            <a:avLst/>
          </a:prstGeom>
          <a:solidFill>
            <a:srgbClr val="1F2530"/>
          </a:solidFill>
          <a:ln w="12700">
            <a:solidFill>
              <a:srgbClr val="3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66700" tIns="247650" rIns="228600" bIns="171450" anchor="t">
            <a:noAutofit/>
          </a:bodyPr>
          <a:lstStyle>
            <a:defPPr algn="l"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자기 시점의 무기 표시 보정</a:t>
            </a:r>
          </a:p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60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벽에 가까이 섰을 때 자기 시점의 무기 표시 보정</a:t>
            </a:r>
          </a:p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로컬 플레이어</a:t>
            </a: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의 팔 / 무기 / 총구 효과에</a:t>
            </a:r>
          </a:p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1인칭 렌더링 설정과 계산한 스케일 적용</a:t>
            </a:r>
          </a:p>
        </p:txBody>
      </p:sp>
      <p:sp>
        <p:nvSpPr>
          <p:cNvPr id="7" name="Rounded Rectangle 6">
            <a:extLst>
              <a:ext uri="{FF2B5EF4-FFF2-40B4-BE49-F238E27FC236}">
                <ns2:creationId id="{2C327D6F-2490-4732-A309-114C2F80E549}"/>
              </a:ext>
            </a:extLst>
          </p:cNvPr>
          <p:cNvSpPr>
            <a:spLocks noGrp="1"/>
          </p:cNvSpPr>
          <p:nvPr/>
        </p:nvSpPr>
        <p:spPr>
          <a:xfrm>
            <a:off x="6172200" y="3790950"/>
            <a:ext cx="5410200" cy="2476500"/>
          </a:xfrm>
          <a:prstGeom prst="roundRect">
            <a:avLst/>
          </a:prstGeom>
          <a:solidFill>
            <a:srgbClr val="1F2530"/>
          </a:solidFill>
          <a:ln w="12700">
            <a:solidFill>
              <a:srgbClr val="3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66700" tIns="247650" rIns="228600" bIns="171450" anchor="t">
            <a:noAutofit/>
          </a:bodyPr>
          <a:lstStyle>
            <a:defPPr algn="l"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크기 계산과 적용 범위</a:t>
            </a:r>
          </a:p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60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메시 경계 / 캐릭터 충돌 영역 / FOV로</a:t>
            </a:r>
          </a:p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1인칭 렌더링 스케일</a:t>
            </a: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계산</a:t>
            </a:r>
          </a:p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Near Clip과 1인칭 FOV를 적용하고 종료 시 복구</a:t>
            </a:r>
          </a:p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4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적용 한계: 외부 시점의 벽 충돌은 처리하지 않음</a:t>
            </a:r>
          </a:p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1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후속 검토</a:t>
            </a:r>
            <a:r>
              <a:rPr sz="150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: 외부 시점의 무기와 벽 겹침 표현</a:t>
            </a:r>
          </a:p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3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endParaRPr sz="375" b="0">
              <a:solidFill>
                <a:srgbClr val="D1DBE8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1" name="직사각형 10">
            <a:extLst>
              <a:ext uri="{FF2B5EF4-FFF2-40B4-BE49-F238E27FC236}">
                <ns2:creationId id="{CE83D03F-1D25-49D5-AC8E-EBEF689B03DE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15</a:t>
            </a:r>
          </a:p>
        </p:txBody>
      </p:sp>
      <p:sp>
        <p:nvSpPr>
          <p:cNvPr id="12" name="Media 1">
            <a:extLst>
              <a:ext uri="{FF2B5EF4-FFF2-40B4-BE49-F238E27FC236}">
                <ns2:creationId id="{CAA66371-C869-4A97-8F3A-1808210B4FDB}"/>
              </a:ext>
            </a:extLst>
          </p:cNvPr>
          <p:cNvSpPr>
            <a:spLocks noGrp="1"/>
          </p:cNvSpPr>
          <p:nvPr/>
        </p:nvSpPr>
        <p:spPr>
          <a:xfrm>
            <a:off x="609600" y="1409700"/>
            <a:ext cx="5295900" cy="1905000"/>
          </a:xfrm>
          <a:prstGeom prst="roundRect">
            <a:avLst>
              <a:gd name="adj" fmla="val 6364"/>
            </a:avLst>
          </a:prstGeom>
          <a:solidFill>
            <a:srgbClr val="11151D"/>
          </a:solidFill>
          <a:ln w="12383">
            <a:solidFill>
              <a:srgbClr val="4D78A8"/>
            </a:solidFill>
          </a:ln>
        </p:spPr>
        <p:txBody>
          <a:bodyPr/>
          <a:lstStyle/>
          <a:p>
            <a:endParaRPr/>
          </a:p>
        </p:txBody>
      </p:sp>
      <p:pic>
        <p:nvPicPr>
          <p:cNvPr id="17" name="FPR보정비활성화">
            <a:extLst>
              <a:ext uri="{FF2B5EF4-FFF2-40B4-BE49-F238E27FC236}">
                <ns2:creationId id="{54BEFB8D-F60A-4810-87D0-B228B74D91C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210" t="30444" r="590" b="2016"/>
          <a:stretch/>
        </p:blipFill>
        <p:spPr>
          <a:xfrm>
            <a:off x="910936" y="1470314"/>
            <a:ext cx="4693227" cy="1752766"/>
          </a:xfrm>
          <a:prstGeom prst="rect">
            <a:avLst/>
          </a:prstGeom>
        </p:spPr>
      </p:pic>
      <p:sp>
        <p:nvSpPr>
          <p:cNvPr id="13" name="Caption 1">
            <a:extLst>
              <a:ext uri="{FF2B5EF4-FFF2-40B4-BE49-F238E27FC236}">
                <ns2:creationId id="{590281D9-6929-42B7-ADAC-9185C5B96D5E}"/>
              </a:ext>
            </a:extLst>
          </p:cNvPr>
          <p:cNvSpPr>
            <a:spLocks noGrp="1"/>
          </p:cNvSpPr>
          <p:nvPr/>
        </p:nvSpPr>
        <p:spPr>
          <a:xfrm>
            <a:off x="609600" y="3381375"/>
            <a:ext cx="52959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2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기능 비활성화 상태의 1인칭 화면</a:t>
            </a:r>
          </a:p>
        </p:txBody>
      </p:sp>
      <p:sp>
        <p:nvSpPr>
          <p:cNvPr id="14" name="Media 2">
            <a:extLst>
              <a:ext uri="{FF2B5EF4-FFF2-40B4-BE49-F238E27FC236}">
                <ns2:creationId id="{4023876A-3816-4FFD-9C2E-F7A3D60D6650}"/>
              </a:ext>
            </a:extLst>
          </p:cNvPr>
          <p:cNvSpPr>
            <a:spLocks noGrp="1"/>
          </p:cNvSpPr>
          <p:nvPr/>
        </p:nvSpPr>
        <p:spPr>
          <a:xfrm>
            <a:off x="609600" y="3829050"/>
            <a:ext cx="5295900" cy="1905000"/>
          </a:xfrm>
          <a:prstGeom prst="roundRect">
            <a:avLst>
              <a:gd name="adj" fmla="val 6364"/>
            </a:avLst>
          </a:prstGeom>
          <a:solidFill>
            <a:srgbClr val="11151D"/>
          </a:solidFill>
          <a:ln w="12383">
            <a:solidFill>
              <a:srgbClr val="4D78A8"/>
            </a:solidFill>
          </a:ln>
        </p:spPr>
        <p:txBody>
          <a:bodyPr/>
          <a:lstStyle/>
          <a:p>
            <a:endParaRPr/>
          </a:p>
        </p:txBody>
      </p:sp>
      <p:pic>
        <p:nvPicPr>
          <p:cNvPr id="18" name="FPR보정활성화">
            <a:extLst>
              <a:ext uri="{FF2B5EF4-FFF2-40B4-BE49-F238E27FC236}">
                <ns2:creationId id="{72BBCDD1-C9E5-4BC3-B392-24E5252BB8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10936" y="3889664"/>
            <a:ext cx="4693227" cy="1752766"/>
          </a:xfrm>
          <a:prstGeom prst="rect">
            <a:avLst/>
          </a:prstGeom>
        </p:spPr>
      </p:pic>
      <p:sp>
        <p:nvSpPr>
          <p:cNvPr id="15" name="Caption 2">
            <a:extLst>
              <a:ext uri="{FF2B5EF4-FFF2-40B4-BE49-F238E27FC236}">
                <ns2:creationId id="{9DC9B4A6-F5F7-428C-AB54-AF6EAF0B0A72}"/>
              </a:ext>
            </a:extLst>
          </p:cNvPr>
          <p:cNvSpPr>
            <a:spLocks noGrp="1"/>
          </p:cNvSpPr>
          <p:nvPr/>
        </p:nvSpPr>
        <p:spPr>
          <a:xfrm>
            <a:off x="609600" y="5800725"/>
            <a:ext cx="52959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200" b="0">
                <a:solidFill>
                  <a:srgbClr val="BECADA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기능 활성화 상태의 1인칭 화면</a:t>
            </a:r>
          </a:p>
        </p:txBody>
      </p:sp>
      <p:sp>
        <p:nvSpPr>
          <p:cNvPr id="16" name="Comparison conditions">
            <a:extLst>
              <a:ext uri="{FF2B5EF4-FFF2-40B4-BE49-F238E27FC236}">
                <ns2:creationId id="{0539FF05-CB73-4B9A-B932-A680FBBF719A}"/>
              </a:ext>
            </a:extLst>
          </p:cNvPr>
          <p:cNvSpPr>
            <a:spLocks noGrp="1"/>
          </p:cNvSpPr>
          <p:nvPr/>
        </p:nvSpPr>
        <p:spPr>
          <a:xfrm>
            <a:off x="609600" y="1162050"/>
            <a:ext cx="52959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벽 밀착 상태에서 보정 비활성화 / 활성화 비교</a:t>
            </a:r>
          </a:p>
        </p:txBody>
      </p:sp>
      <p:pic>
        <p:nvPicPr>
          <p:cNvPr id="19" name="그림 18">
            <a:extLst>
              <a:ext uri="{FF2B5EF4-FFF2-40B4-BE49-F238E27FC236}">
                <ns2:creationId id="{DE90AC6A-673B-41FE-84E8-B82BBEB99E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09600" y="6362700"/>
            <a:ext cx="190500" cy="186612"/>
          </a:xfrm>
          <a:prstGeom prst="rect">
            <a:avLst/>
          </a:prstGeom>
        </p:spPr>
      </p:pic>
      <p:sp>
        <p:nvSpPr>
          <p:cNvPr id="20" name="GitHub code link 0">
            <a:extLst>
              <a:ext uri="{FF2B5EF4-FFF2-40B4-BE49-F238E27FC236}">
                <ns2:creationId id="{69C2E6E7-9A11-40C9-981C-C0BA2D093CAB}"/>
              </a:ext>
            </a:extLst>
          </p:cNvPr>
          <p:cNvSpPr>
            <a:spLocks noGrp="1"/>
          </p:cNvSpPr>
          <p:nvPr/>
        </p:nvSpPr>
        <p:spPr>
          <a:xfrm>
            <a:off x="895350" y="6334125"/>
            <a:ext cx="10610850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sz="1388" u="sng">
                <a:solidFill>
                  <a:srgbClr val="7DD3FC"/>
                </a:solidFill>
                <a:latin typeface="Noto Sans KR"/>
                <a:ea typeface="Noto Sans KR"/>
                <a:cs typeface="Noto Sans KR"/>
                <a:hlinkClick r:id="rId5"/>
              </a:rPr>
              <a:t>GitHub / 1인칭 렌더링</a:t>
            </a:r>
          </a:p>
        </p:txBody>
      </p:sp>
      <p:sp>
        <p:nvSpPr>
          <p:cNvPr id="22" name="GunHiddenOutlineLabel">
            <a:extLst>
              <a:ext uri="{FF2B5EF4-FFF2-40B4-BE49-F238E27FC236}">
                <ns2:creationId id="{F7481844-855B-433A-B0CF-3C5FB9256311}"/>
              </a:ext>
            </a:extLst>
          </p:cNvPr>
          <p:cNvSpPr>
            <a:spLocks noGrp="1"/>
          </p:cNvSpPr>
          <p:nvPr/>
        </p:nvSpPr>
        <p:spPr>
          <a:xfrm>
            <a:off x="1133475" y="1628775"/>
            <a:ext cx="3286125" cy="2286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1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11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11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11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11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11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11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11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11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11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>
              <a:defRPr sz="11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pPr>
            <a:r>
              <a:t>가려진 총의 형태(개념 표시)</a:t>
            </a:r>
          </a:p>
        </p:txBody>
      </p:sp>
      <p:sp>
        <p:nvSpPr>
          <p:cNvPr id="23" name="GunContourOuter">
            <a:extLst>
              <a:ext uri="{FF2B5EF4-FFF2-40B4-BE49-F238E27FC236}">
                <ns2:creationId id="{55D7A24B-32A3-4587-8522-FDB157EE516A}"/>
              </a:ext>
            </a:extLst>
          </p:cNvPr>
          <p:cNvSpPr>
            <a:spLocks noGrp="1"/>
          </p:cNvSpPr>
          <p:nvPr/>
        </p:nvSpPr>
        <p:spPr>
          <a:xfrm>
            <a:off x="2396870" y="2160948"/>
            <a:ext cx="1308020" cy="947021"/>
          </a:xfrm>
          <a:custGeom>
            <a:pathLst>
              <a:path w="2381250" h="1724025">
                <a:moveTo>
                  <a:pt x="1066800" y="1638300"/>
                </a:moveTo>
                <a:cubicBezTo>
                  <a:pt x="895350" y="1685925"/>
                  <a:pt x="742950" y="1628775"/>
                  <a:pt x="676275" y="1514475"/>
                </a:cubicBezTo>
                <a:lnTo>
                  <a:pt x="514350" y="1266825"/>
                </a:lnTo>
                <a:cubicBezTo>
                  <a:pt x="447675" y="1152525"/>
                  <a:pt x="400050" y="1038225"/>
                  <a:pt x="323850" y="923925"/>
                </a:cubicBezTo>
                <a:lnTo>
                  <a:pt x="104775" y="695325"/>
                </a:lnTo>
                <a:cubicBezTo>
                  <a:pt x="47625" y="590550"/>
                  <a:pt x="66675" y="438150"/>
                  <a:pt x="114300" y="323850"/>
                </a:cubicBezTo>
                <a:cubicBezTo>
                  <a:pt x="161925" y="200025"/>
                  <a:pt x="247650" y="114300"/>
                  <a:pt x="371475" y="85725"/>
                </a:cubicBezTo>
                <a:lnTo>
                  <a:pt x="476250" y="95250"/>
                </a:lnTo>
                <a:lnTo>
                  <a:pt x="485775" y="38100"/>
                </a:lnTo>
                <a:lnTo>
                  <a:pt x="571500" y="57150"/>
                </a:lnTo>
                <a:lnTo>
                  <a:pt x="581025" y="123825"/>
                </a:lnTo>
                <a:lnTo>
                  <a:pt x="742950" y="161925"/>
                </a:lnTo>
                <a:lnTo>
                  <a:pt x="971550" y="361950"/>
                </a:lnTo>
                <a:lnTo>
                  <a:pt x="971550" y="57150"/>
                </a:lnTo>
                <a:cubicBezTo>
                  <a:pt x="1019175" y="38100"/>
                  <a:pt x="1066800" y="47625"/>
                  <a:pt x="1114425" y="66675"/>
                </a:cubicBezTo>
                <a:lnTo>
                  <a:pt x="2152650" y="152400"/>
                </a:lnTo>
                <a:cubicBezTo>
                  <a:pt x="2247900" y="171450"/>
                  <a:pt x="2295525" y="247650"/>
                  <a:pt x="2305050" y="352425"/>
                </a:cubicBezTo>
                <a:lnTo>
                  <a:pt x="2333625" y="971550"/>
                </a:lnTo>
              </a:path>
            </a:pathLst>
          </a:custGeom>
          <a:noFill/>
          <a:ln w="20003">
            <a:solidFill>
              <a:srgbClr val="FF6975"/>
            </a:solidFill>
            <a:prstDash val="dash"/>
          </a:ln>
        </p:spPr>
      </p:sp>
      <p:sp>
        <p:nvSpPr>
          <p:cNvPr id="24" name="GunContourHandleInner">
            <a:extLst>
              <a:ext uri="{FF2B5EF4-FFF2-40B4-BE49-F238E27FC236}">
                <ns2:creationId id="{836F0E94-F352-4559-9FF1-4C9512FD12C1}"/>
              </a:ext>
            </a:extLst>
          </p:cNvPr>
          <p:cNvSpPr>
            <a:spLocks noGrp="1"/>
          </p:cNvSpPr>
          <p:nvPr/>
        </p:nvSpPr>
        <p:spPr>
          <a:xfrm>
            <a:off x="2396870" y="2160948"/>
            <a:ext cx="1308020" cy="947021"/>
          </a:xfrm>
          <a:custGeom>
            <a:pathLst>
              <a:path w="2381250" h="1724025">
                <a:moveTo>
                  <a:pt x="1200150" y="1085850"/>
                </a:moveTo>
                <a:lnTo>
                  <a:pt x="1152525" y="257175"/>
                </a:lnTo>
                <a:cubicBezTo>
                  <a:pt x="1143000" y="209550"/>
                  <a:pt x="1171575" y="180975"/>
                  <a:pt x="1219200" y="190500"/>
                </a:cubicBezTo>
                <a:lnTo>
                  <a:pt x="2038350" y="266700"/>
                </a:lnTo>
                <a:cubicBezTo>
                  <a:pt x="2105025" y="266700"/>
                  <a:pt x="2143125" y="323850"/>
                  <a:pt x="2152650" y="400050"/>
                </a:cubicBezTo>
                <a:lnTo>
                  <a:pt x="2181225" y="885825"/>
                </a:lnTo>
              </a:path>
            </a:pathLst>
          </a:custGeom>
          <a:noFill/>
          <a:ln w="16193">
            <a:solidFill>
              <a:srgbClr val="FF6975"/>
            </a:solidFill>
            <a:prstDash val="dash"/>
          </a:ln>
        </p:spPr>
      </p:sp>
      <p:sp>
        <p:nvSpPr>
          <p:cNvPr id="25" name="GunContourBarrelSeam">
            <a:extLst>
              <a:ext uri="{FF2B5EF4-FFF2-40B4-BE49-F238E27FC236}">
                <ns2:creationId id="{0E01DC65-9DD6-4ADD-91FE-8C46E644963F}"/>
              </a:ext>
            </a:extLst>
          </p:cNvPr>
          <p:cNvSpPr>
            <a:spLocks noGrp="1"/>
          </p:cNvSpPr>
          <p:nvPr/>
        </p:nvSpPr>
        <p:spPr>
          <a:xfrm>
            <a:off x="2396870" y="2160948"/>
            <a:ext cx="1308020" cy="947021"/>
          </a:xfrm>
          <a:custGeom>
            <a:pathLst>
              <a:path w="2381250" h="1724025">
                <a:moveTo>
                  <a:pt x="381000" y="171450"/>
                </a:moveTo>
                <a:lnTo>
                  <a:pt x="847725" y="504825"/>
                </a:lnTo>
                <a:cubicBezTo>
                  <a:pt x="685800" y="571500"/>
                  <a:pt x="581025" y="695325"/>
                  <a:pt x="542925" y="847725"/>
                </a:cubicBezTo>
                <a:lnTo>
                  <a:pt x="495300" y="1152525"/>
                </a:lnTo>
              </a:path>
            </a:pathLst>
          </a:custGeom>
          <a:noFill/>
          <a:ln w="15716">
            <a:solidFill>
              <a:srgbClr val="FF6975"/>
            </a:solidFill>
            <a:prstDash val="dash"/>
          </a:ln>
        </p:spPr>
      </p:sp>
      <p:sp>
        <p:nvSpPr>
          <p:cNvPr id="26" name="GunContourTube">
            <a:extLst>
              <a:ext uri="{FF2B5EF4-FFF2-40B4-BE49-F238E27FC236}">
                <ns2:creationId id="{7E920A8D-7B9E-4BB6-B657-25D81E36F6EB}"/>
              </a:ext>
            </a:extLst>
          </p:cNvPr>
          <p:cNvSpPr>
            <a:spLocks noGrp="1"/>
          </p:cNvSpPr>
          <p:nvPr/>
        </p:nvSpPr>
        <p:spPr>
          <a:xfrm>
            <a:off x="2396870" y="2160948"/>
            <a:ext cx="1308020" cy="947021"/>
          </a:xfrm>
          <a:custGeom>
            <a:pathLst>
              <a:path w="2381250" h="1724025">
                <a:moveTo>
                  <a:pt x="695325" y="933450"/>
                </a:moveTo>
                <a:cubicBezTo>
                  <a:pt x="742950" y="866775"/>
                  <a:pt x="847725" y="885825"/>
                  <a:pt x="933450" y="942975"/>
                </a:cubicBezTo>
                <a:lnTo>
                  <a:pt x="1114425" y="1162050"/>
                </a:lnTo>
              </a:path>
            </a:pathLst>
          </a:custGeom>
          <a:noFill/>
          <a:ln w="15716">
            <a:solidFill>
              <a:srgbClr val="FF6975"/>
            </a:solidFill>
            <a:prstDash val="dash"/>
          </a:ln>
        </p:spPr>
      </p:sp>
    </p:spTree>
    <p:extLst>
      <p:ext uri="{BB962C8B-B14F-4D97-AF65-F5344CB8AC3E}">
        <ns4:creationId val="645961790"/>
      </p:ext>
    </p:extLst>
  </p:cSld>
  <p:clrMapOvr>
    <a:masterClrMapping/>
  </p:clrMapOvr>
</p:sld>
</file>

<file path=ppt/slides/slide17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81C24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0" name="PreservedSourceMedia1">
            <a:extLst>
              <a:ext uri="{FF2B5EF4-FFF2-40B4-BE49-F238E27FC236}">
                <ns2:creationId id="{81E58D53-E99B-40C9-9E0E-7B07CA26E615}"/>
              </a:ext>
            </a:extLst>
          </p:cNvPr>
          <p:cNvPicPr>
            <a:picLocks noChangeAspect="1"/>
          </p:cNvPicPr>
          <p:nvPr/>
        </p:nvPicPr>
        <p:blipFill>
          <a:blip r:embed="rIdMedia1"/>
          <a:srcRect t="17000" b="8000"/>
          <a:stretch/>
        </p:blipFill>
        <p:spPr>
          <a:xfrm>
            <a:off x="609600" y="1943100"/>
            <a:ext cx="5295900" cy="2239725"/>
          </a:xfrm>
          <a:prstGeom prst="rect">
            <a:avLst/>
          </a:prstGeom>
        </p:spPr>
      </p:pic>
      <p:pic>
        <p:nvPicPr>
          <p:cNvPr id="21" name="PreservedSourceMedia2">
            <a:extLst>
              <a:ext uri="{FF2B5EF4-FFF2-40B4-BE49-F238E27FC236}">
                <ns2:creationId id="{262136D4-C41D-40FC-ACA9-889DA78EC88B}"/>
              </a:ext>
            </a:extLst>
          </p:cNvPr>
          <p:cNvPicPr>
            <a:picLocks noChangeAspect="1"/>
          </p:cNvPicPr>
          <p:nvPr/>
        </p:nvPicPr>
        <p:blipFill>
          <a:blip r:embed="rIdMedia2"/>
          <a:srcRect t="17000" b="8000"/>
          <a:stretch/>
        </p:blipFill>
        <p:spPr>
          <a:xfrm>
            <a:off x="6286500" y="1943100"/>
            <a:ext cx="5295900" cy="2239725"/>
          </a:xfrm>
          <a:prstGeom prst="rect">
            <a:avLst/>
          </a:prstGeom>
        </p:spPr>
      </p:pic>
      <p:pic>
        <p:nvPicPr>
          <p:cNvPr id="22" name="PreservedSourceMedia3">
            <a:extLst>
              <a:ext uri="{FF2B5EF4-FFF2-40B4-BE49-F238E27FC236}">
                <ns2:creationId id="{A993EA35-E4D6-4909-8009-33102B8487FE}"/>
              </a:ext>
            </a:extLst>
          </p:cNvPr>
          <p:cNvPicPr>
            <a:picLocks noChangeAspect="1"/>
          </p:cNvPicPr>
          <p:nvPr/>
        </p:nvPicPr>
        <p:blipFill>
          <a:blip r:embed="rIdMedia3"/>
          <a:srcRect t="17000" b="8000"/>
          <a:stretch/>
        </p:blipFill>
        <p:spPr>
          <a:xfrm>
            <a:off x="609600" y="4276725"/>
            <a:ext cx="1714500" cy="723305"/>
          </a:xfrm>
          <a:prstGeom prst="rect">
            <a:avLst/>
          </a:prstGeom>
        </p:spPr>
      </p:pic>
      <p:pic>
        <p:nvPicPr>
          <p:cNvPr id="23" name="PreservedSourceMedia4">
            <a:extLst>
              <a:ext uri="{FF2B5EF4-FFF2-40B4-BE49-F238E27FC236}">
                <ns2:creationId id="{61B5F80C-BE1C-4679-975C-553A404961E1}"/>
              </a:ext>
            </a:extLst>
          </p:cNvPr>
          <p:cNvPicPr>
            <a:picLocks noChangeAspect="1"/>
          </p:cNvPicPr>
          <p:nvPr/>
        </p:nvPicPr>
        <p:blipFill>
          <a:blip r:embed="rIdMedia4"/>
          <a:srcRect t="17000" b="8000"/>
          <a:stretch/>
        </p:blipFill>
        <p:spPr>
          <a:xfrm>
            <a:off x="6286500" y="4276725"/>
            <a:ext cx="1714500" cy="723305"/>
          </a:xfrm>
          <a:prstGeom prst="rect">
            <a:avLst/>
          </a:prstGeom>
        </p:spPr>
      </p:pic>
      <p:sp>
        <p:nvSpPr>
          <p:cNvPr id="19" name="Section">
            <a:extLst>
              <a:ext uri="{FF2B5EF4-FFF2-40B4-BE49-F238E27FC236}">
                <ns2:creationId id="{12D948B4-8309-4A42-8F86-FB2032BDD9EE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추가 구현 | BEAM RENDERING</a:t>
            </a:r>
          </a:p>
        </p:txBody>
      </p:sp>
      <p:sp>
        <p:nvSpPr>
          <p:cNvPr id="2" name="Title">
            <a:extLst>
              <a:ext uri="{FF2B5EF4-FFF2-40B4-BE49-F238E27FC236}">
                <ns2:creationId id="{B01527C7-4DA6-4A78-B511-53374301584C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벽 밀착 상태의 빔 표시 보정</a:t>
            </a:r>
          </a:p>
        </p:txBody>
      </p:sp>
      <p:sp>
        <p:nvSpPr>
          <p:cNvPr id="3" name="PageNumber">
            <a:extLst>
              <a:ext uri="{FF2B5EF4-FFF2-40B4-BE49-F238E27FC236}">
                <ns2:creationId id="{FDA794F3-3A5F-4918-B31D-E5A17B95977A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16</a:t>
            </a:r>
          </a:p>
        </p:txBody>
      </p:sp>
      <p:sp>
        <p:nvSpPr>
          <p:cNvPr id="4" name="BeamGoal">
            <a:extLst>
              <a:ext uri="{FF2B5EF4-FFF2-40B4-BE49-F238E27FC236}">
                <ns2:creationId id="{684E543B-C6E4-4006-B296-F4700271044E}"/>
              </a:ext>
            </a:extLst>
          </p:cNvPr>
          <p:cNvSpPr>
            <a:spLocks noGrp="1"/>
          </p:cNvSpPr>
          <p:nvPr/>
        </p:nvSpPr>
        <p:spPr>
          <a:xfrm>
            <a:off x="609600" y="1266825"/>
            <a:ext cx="10972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총구 쪽 빔의 표시를 보정하고, 실제 명중 판정은 유지합니다.</a:t>
            </a:r>
          </a:p>
        </p:txBody>
      </p:sp>
      <p:sp>
        <p:nvSpPr>
          <p:cNvPr id="5" name="BeamBefore">
            <a:extLst>
              <a:ext uri="{FF2B5EF4-FFF2-40B4-BE49-F238E27FC236}">
                <ns2:creationId id="{6023051E-46EA-4D1A-A245-4B87DE4191CA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5295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보정 비활성화</a:t>
            </a:r>
          </a:p>
        </p:txBody>
      </p:sp>
      <p:sp>
        <p:nvSpPr>
          <p:cNvPr id="6" name="BeamAfter">
            <a:extLst>
              <a:ext uri="{FF2B5EF4-FFF2-40B4-BE49-F238E27FC236}">
                <ns2:creationId id="{958EF286-F3D5-42E6-8225-0D15A0FE7A62}"/>
              </a:ext>
            </a:extLst>
          </p:cNvPr>
          <p:cNvSpPr>
            <a:spLocks noGrp="1"/>
          </p:cNvSpPr>
          <p:nvPr/>
        </p:nvSpPr>
        <p:spPr>
          <a:xfrm>
            <a:off x="6286500" y="1600200"/>
            <a:ext cx="5295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보정 활성화</a:t>
            </a:r>
          </a:p>
        </p:txBody>
      </p:sp>
      <p:sp>
        <p:nvSpPr>
          <p:cNvPr id="7" name="BeforeStillHeading">
            <a:extLst>
              <a:ext uri="{FF2B5EF4-FFF2-40B4-BE49-F238E27FC236}">
                <ns2:creationId id="{D2ADCA21-B308-48A6-850F-2E7B147EE2FC}"/>
              </a:ext>
            </a:extLst>
          </p:cNvPr>
          <p:cNvSpPr>
            <a:spLocks noGrp="1"/>
          </p:cNvSpPr>
          <p:nvPr/>
        </p:nvSpPr>
        <p:spPr>
          <a:xfrm>
            <a:off x="2476500" y="4276725"/>
            <a:ext cx="3429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발사 순간</a:t>
            </a:r>
          </a:p>
        </p:txBody>
      </p:sp>
      <p:sp>
        <p:nvSpPr>
          <p:cNvPr id="8" name="BeforeStillBody">
            <a:extLst>
              <a:ext uri="{FF2B5EF4-FFF2-40B4-BE49-F238E27FC236}">
                <ns2:creationId id="{3F8D9558-702C-4922-B682-01A8582D67E3}"/>
              </a:ext>
            </a:extLst>
          </p:cNvPr>
          <p:cNvSpPr>
            <a:spLocks noGrp="1"/>
          </p:cNvSpPr>
          <p:nvPr/>
        </p:nvSpPr>
        <p:spPr>
          <a:xfrm>
            <a:off x="2476500" y="4552950"/>
            <a:ext cx="3429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총구 쪽 빔이 끊겨 보이는 장면</a:t>
            </a:r>
          </a:p>
        </p:txBody>
      </p:sp>
      <p:sp>
        <p:nvSpPr>
          <p:cNvPr id="9" name="AfterStillHeading">
            <a:extLst>
              <a:ext uri="{FF2B5EF4-FFF2-40B4-BE49-F238E27FC236}">
                <ns2:creationId id="{8FE319B9-6C2E-4EB8-AE35-C8F9CA18C371}"/>
              </a:ext>
            </a:extLst>
          </p:cNvPr>
          <p:cNvSpPr>
            <a:spLocks noGrp="1"/>
          </p:cNvSpPr>
          <p:nvPr/>
        </p:nvSpPr>
        <p:spPr>
          <a:xfrm>
            <a:off x="8153400" y="4276725"/>
            <a:ext cx="3429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발사 순간</a:t>
            </a:r>
          </a:p>
        </p:txBody>
      </p:sp>
      <p:sp>
        <p:nvSpPr>
          <p:cNvPr id="10" name="AfterStillBody">
            <a:extLst>
              <a:ext uri="{FF2B5EF4-FFF2-40B4-BE49-F238E27FC236}">
                <ns2:creationId id="{606D5E55-22D6-46A9-9EE9-BCC877810D2B}"/>
              </a:ext>
            </a:extLst>
          </p:cNvPr>
          <p:cNvSpPr>
            <a:spLocks noGrp="1"/>
          </p:cNvSpPr>
          <p:nvPr/>
        </p:nvSpPr>
        <p:spPr>
          <a:xfrm>
            <a:off x="8153400" y="4552950"/>
            <a:ext cx="3429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총구에서 벽까지 빔이 이어지는 장면</a:t>
            </a:r>
          </a:p>
        </p:txBody>
      </p:sp>
      <p:sp>
        <p:nvSpPr>
          <p:cNvPr id="11" name="BeamFlowHeading">
            <a:extLst>
              <a:ext uri="{FF2B5EF4-FFF2-40B4-BE49-F238E27FC236}">
                <ns2:creationId id="{B520F752-05BE-4660-89C5-197A5ED0ADB9}"/>
              </a:ext>
            </a:extLst>
          </p:cNvPr>
          <p:cNvSpPr>
            <a:spLocks noGrp="1"/>
          </p:cNvSpPr>
          <p:nvPr/>
        </p:nvSpPr>
        <p:spPr>
          <a:xfrm>
            <a:off x="609600" y="5095875"/>
            <a:ext cx="10972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보정 조건과 표시 처리</a:t>
            </a:r>
          </a:p>
        </p:txBody>
      </p:sp>
      <p:sp>
        <p:nvSpPr>
          <p:cNvPr id="12" name="BeamStep0">
            <a:extLst>
              <a:ext uri="{FF2B5EF4-FFF2-40B4-BE49-F238E27FC236}">
                <ns2:creationId id="{663BBDBB-F4E1-46CD-85C2-7EE9E319CE9A}"/>
              </a:ext>
            </a:extLst>
          </p:cNvPr>
          <p:cNvSpPr>
            <a:spLocks noGrp="1"/>
          </p:cNvSpPr>
          <p:nvPr/>
        </p:nvSpPr>
        <p:spPr>
          <a:xfrm>
            <a:off x="609600" y="5457825"/>
            <a:ext cx="3352800" cy="495300"/>
          </a:xfrm>
          <a:prstGeom prst="roundRect">
            <a:avLst>
              <a:gd name="adj" fmla="val 15385"/>
            </a:avLst>
          </a:prstGeom>
          <a:solidFill>
            <a:srgbClr val="202733"/>
          </a:solidFill>
          <a:ln w="14288">
            <a:solidFill>
              <a:srgbClr val="49A6FF"/>
            </a:solidFill>
            <a:prstDash val="solid"/>
          </a:ln>
        </p:spPr>
        <p:txBody>
          <a:bodyPr lIns="28575" tIns="28575" rIns="28575" bIns="28575" anchor="ctr"/>
          <a:lstStyle>
            <a:def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로컬 1인칭 시점과</a:t>
            </a:r>
          </a:p>
          <a:p>
            <a: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카메라 / 총구 사이 가림 확인</a:t>
            </a:r>
          </a:p>
        </p:txBody>
      </p:sp>
      <p:sp>
        <p:nvSpPr>
          <p:cNvPr id="13" name="BeamArrow0">
            <a:extLst>
              <a:ext uri="{FF2B5EF4-FFF2-40B4-BE49-F238E27FC236}">
                <ns2:creationId id="{535B67BE-F584-4571-8F48-ED0B0A523D00}"/>
              </a:ext>
            </a:extLst>
          </p:cNvPr>
          <p:cNvSpPr>
            <a:spLocks noGrp="1"/>
          </p:cNvSpPr>
          <p:nvPr/>
        </p:nvSpPr>
        <p:spPr>
          <a:xfrm>
            <a:off x="4086225" y="5638800"/>
            <a:ext cx="209550" cy="133350"/>
          </a:xfrm>
          <a:prstGeom prst="rightArrow">
            <a:avLst/>
          </a:prstGeom>
          <a:solidFill>
            <a:srgbClr val="49A6FF"/>
          </a:solidFill>
          <a:ln w="0">
            <a:noFill/>
            <a:prstDash val="solid"/>
          </a:ln>
        </p:spPr>
      </p:sp>
      <p:sp>
        <p:nvSpPr>
          <p:cNvPr id="14" name="BeamStep1">
            <a:extLst>
              <a:ext uri="{FF2B5EF4-FFF2-40B4-BE49-F238E27FC236}">
                <ns2:creationId id="{265C38B4-7185-4A97-9611-E67123798C15}"/>
              </a:ext>
            </a:extLst>
          </p:cNvPr>
          <p:cNvSpPr>
            <a:spLocks noGrp="1"/>
          </p:cNvSpPr>
          <p:nvPr/>
        </p:nvSpPr>
        <p:spPr>
          <a:xfrm>
            <a:off x="4419600" y="5457825"/>
            <a:ext cx="3352800" cy="495300"/>
          </a:xfrm>
          <a:prstGeom prst="roundRect">
            <a:avLst>
              <a:gd name="adj" fmla="val 15385"/>
            </a:avLst>
          </a:prstGeom>
          <a:solidFill>
            <a:srgbClr val="202733"/>
          </a:solidFill>
          <a:ln w="14288">
            <a:solidFill>
              <a:srgbClr val="49A6FF"/>
            </a:solidFill>
            <a:prstDash val="solid"/>
          </a:ln>
        </p:spPr>
        <p:txBody>
          <a:bodyPr lIns="28575" tIns="28575" rIns="28575" bIns="28575" anchor="ctr"/>
          <a:lstStyle>
            <a:def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보정용 Niagara /</a:t>
            </a:r>
          </a:p>
          <a:p>
            <a: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머티리얼 변형 선택</a:t>
            </a:r>
          </a:p>
        </p:txBody>
      </p:sp>
      <p:sp>
        <p:nvSpPr>
          <p:cNvPr id="15" name="BeamArrow1">
            <a:extLst>
              <a:ext uri="{FF2B5EF4-FFF2-40B4-BE49-F238E27FC236}">
                <ns2:creationId id="{729CDAB2-1EBE-4378-9D5A-6D49E761B942}"/>
              </a:ext>
            </a:extLst>
          </p:cNvPr>
          <p:cNvSpPr>
            <a:spLocks noGrp="1"/>
          </p:cNvSpPr>
          <p:nvPr/>
        </p:nvSpPr>
        <p:spPr>
          <a:xfrm>
            <a:off x="7896225" y="5638800"/>
            <a:ext cx="209550" cy="133350"/>
          </a:xfrm>
          <a:prstGeom prst="rightArrow">
            <a:avLst/>
          </a:prstGeom>
          <a:solidFill>
            <a:srgbClr val="49A6FF"/>
          </a:solidFill>
          <a:ln w="0">
            <a:noFill/>
            <a:prstDash val="solid"/>
          </a:ln>
        </p:spPr>
      </p:sp>
      <p:sp>
        <p:nvSpPr>
          <p:cNvPr id="16" name="BeamStep2">
            <a:extLst>
              <a:ext uri="{FF2B5EF4-FFF2-40B4-BE49-F238E27FC236}">
                <ns2:creationId id="{87E48CDE-148B-455F-B553-5A57726846FF}"/>
              </a:ext>
            </a:extLst>
          </p:cNvPr>
          <p:cNvSpPr>
            <a:spLocks noGrp="1"/>
          </p:cNvSpPr>
          <p:nvPr/>
        </p:nvSpPr>
        <p:spPr>
          <a:xfrm>
            <a:off x="8229600" y="5457825"/>
            <a:ext cx="3352800" cy="495300"/>
          </a:xfrm>
          <a:prstGeom prst="roundRect">
            <a:avLst>
              <a:gd name="adj" fmla="val 15385"/>
            </a:avLst>
          </a:prstGeom>
          <a:solidFill>
            <a:srgbClr val="202733"/>
          </a:solidFill>
          <a:ln w="14288">
            <a:solidFill>
              <a:srgbClr val="49A6FF"/>
            </a:solidFill>
            <a:prstDash val="solid"/>
          </a:ln>
        </p:spPr>
        <p:txBody>
          <a:bodyPr lIns="28575" tIns="28575" rIns="28575" bIns="28575" anchor="ctr"/>
          <a:lstStyle>
            <a:def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총구 쪽 형상에</a:t>
            </a:r>
          </a:p>
          <a:p>
            <a:pPr algn="ctr">
              <a:defRPr sz="142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1인칭 변환 적용</a:t>
            </a:r>
          </a:p>
        </p:txBody>
      </p:sp>
      <p:sp>
        <p:nvSpPr>
          <p:cNvPr id="17" name="BeamInvariant">
            <a:extLst>
              <a:ext uri="{FF2B5EF4-FFF2-40B4-BE49-F238E27FC236}">
                <ns2:creationId id="{4C384D0D-E262-4580-9403-14104643B5EB}"/>
              </a:ext>
            </a:extLst>
          </p:cNvPr>
          <p:cNvSpPr>
            <a:spLocks noGrp="1"/>
          </p:cNvSpPr>
          <p:nvPr/>
        </p:nvSpPr>
        <p:spPr>
          <a:xfrm>
            <a:off x="609600" y="6057900"/>
            <a:ext cx="10972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13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13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13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13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13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13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13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13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13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13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13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명중 끝점은 월드 좌표로 유지합니다. 원격 시점이나 가림이 없으면 기본 빔을 사용합니다.</a:t>
            </a:r>
          </a:p>
        </p:txBody>
      </p:sp>
      <p:sp>
        <p:nvSpPr>
          <p:cNvPr id="18" name="BeamSource">
            <a:extLst>
              <a:ext uri="{FF2B5EF4-FFF2-40B4-BE49-F238E27FC236}">
                <ns2:creationId id="{ABDC1208-9418-411E-BBD8-7F5CC9D7867A}"/>
              </a:ext>
            </a:extLst>
          </p:cNvPr>
          <p:cNvSpPr>
            <a:spLocks noGrp="1"/>
          </p:cNvSpPr>
          <p:nvPr/>
        </p:nvSpPr>
        <p:spPr>
          <a:xfrm>
            <a:off x="895350" y="6334125"/>
            <a:ext cx="4857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solidFill>
                  <a:srgbClr val="7DD3FC"/>
                </a:solidFill>
                <a:hlinkClick r:id="R610ff1e288d14493"/>
              </a:rPr>
              <a:t>GitHub / 빔 표시 보정</a:t>
            </a:r>
          </a:p>
        </p:txBody>
      </p:sp>
      <p:pic>
        <p:nvPicPr>
          <p:cNvPr id="24" name="GitHubMergedCode1">
            <a:extLst>
              <a:ext uri="{FF2B5EF4-FFF2-40B4-BE49-F238E27FC236}">
                <ns2:creationId id="{58B00E5B-5580-41BB-BE48-F56B56318422}"/>
              </a:ext>
            </a:extLst>
            <a:hlinkClick r:id="R610ff1e288d14493"/>
          </p:cNvPr>
          <p:cNvPicPr>
            <a:picLocks noChangeAspect="1"/>
          </p:cNvPicPr>
          <p:nvPr/>
        </p:nvPicPr>
        <p:blipFill>
          <a:blip r:embed="rIdGitHubIcon"/>
          <a:stretch/>
        </p:blipFill>
        <p:spPr>
          <a:xfrm>
            <a:off x="609600" y="6362700"/>
            <a:ext cx="190500" cy="186612"/>
          </a:xfrm>
          <a:prstGeom prst="rect">
            <a:avLst/>
          </a:prstGeom>
        </p:spPr>
      </p:pic>
    </p:spTree>
    <p:extLst>
      <p:ext uri="{BB962C8B-B14F-4D97-AF65-F5344CB8AC3E}">
        <ns4:creationId val="112516927"/>
      </p:ext>
    </p:extLst>
  </p:cSld>
</p:sld>
</file>

<file path=ppt/slides/slide20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ns2:creationId id="{F94FC3DA-1911-4090-A77B-885FB4857E2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8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ns2:creationId id="{84B2F189-93DD-447F-8DB0-92DE807912DE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추가 구현 | CHARACTER OUTLINE</a:t>
            </a:r>
          </a:p>
        </p:txBody>
      </p:sp>
      <p:sp>
        <p:nvSpPr>
          <p:cNvPr id="4" name="TextBox 3">
            <a:extLst>
              <a:ext uri="{FF2B5EF4-FFF2-40B4-BE49-F238E27FC236}">
                <ns2:creationId id="{F4E9690F-B444-43B0-BC2F-00CDE06C04A7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카메라별 캐릭터 외곽선 표시</a:t>
            </a:r>
          </a:p>
        </p:txBody>
      </p:sp>
      <p:sp>
        <p:nvSpPr>
          <p:cNvPr id="9" name="직사각형 8">
            <a:extLst>
              <a:ext uri="{FF2B5EF4-FFF2-40B4-BE49-F238E27FC236}">
                <ns2:creationId id="{C1813994-D1DE-4F8A-93F1-F9BE91569CD9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17</a:t>
            </a:r>
          </a:p>
        </p:txBody>
      </p:sp>
      <p:pic>
        <p:nvPicPr>
          <p:cNvPr id="10" name="그림 9">
            <a:extLst>
              <a:ext uri="{FF2B5EF4-FFF2-40B4-BE49-F238E27FC236}">
                <ns2:creationId id="{29A56F24-3FF4-4FD8-AEA9-D5286A9A3F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609600" y="1409700"/>
            <a:ext cx="5295900" cy="1866900"/>
          </a:xfrm>
          <a:prstGeom prst="rect">
            <a:avLst/>
          </a:prstGeom>
        </p:spPr>
      </p:pic>
      <p:sp>
        <p:nvSpPr>
          <p:cNvPr id="11" name="First photo caption">
            <a:extLst>
              <a:ext uri="{FF2B5EF4-FFF2-40B4-BE49-F238E27FC236}">
                <ns2:creationId id="{A01587E2-B82C-4D94-8802-AE1626856525}"/>
              </a:ext>
            </a:extLst>
          </p:cNvPr>
          <p:cNvSpPr>
            <a:spLocks noGrp="1"/>
          </p:cNvSpPr>
          <p:nvPr/>
        </p:nvSpPr>
        <p:spPr>
          <a:xfrm>
            <a:off x="609600" y="3371850"/>
            <a:ext cx="52959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t>플레이어 A의 시점에서 본 외곽선</a:t>
            </a:r>
          </a:p>
        </p:txBody>
      </p:sp>
      <p:pic>
        <p:nvPicPr>
          <p:cNvPr id="12" name="그림 11">
            <a:extLst>
              <a:ext uri="{FF2B5EF4-FFF2-40B4-BE49-F238E27FC236}">
                <ns2:creationId id="{9B5FA4AD-0632-47A3-9788-30FDF93E41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3886200"/>
            <a:ext cx="5295900" cy="1866900"/>
          </a:xfrm>
          <a:prstGeom prst="rect">
            <a:avLst/>
          </a:prstGeom>
        </p:spPr>
      </p:pic>
      <p:sp>
        <p:nvSpPr>
          <p:cNvPr id="13" name="Second photo caption">
            <a:extLst>
              <a:ext uri="{FF2B5EF4-FFF2-40B4-BE49-F238E27FC236}">
                <ns2:creationId id="{8CC2B87D-6979-4483-A5B6-983C63762124}"/>
              </a:ext>
            </a:extLst>
          </p:cNvPr>
          <p:cNvSpPr>
            <a:spLocks noGrp="1"/>
          </p:cNvSpPr>
          <p:nvPr/>
        </p:nvSpPr>
        <p:spPr>
          <a:xfrm>
            <a:off x="609600" y="5848350"/>
            <a:ext cx="52959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t>플레이어 B의 시점에서 본 외곽선</a:t>
            </a:r>
          </a:p>
        </p:txBody>
      </p:sp>
      <p:sp>
        <p:nvSpPr>
          <p:cNvPr id="14" name="Outline rendering technique">
            <a:extLst>
              <a:ext uri="{FF2B5EF4-FFF2-40B4-BE49-F238E27FC236}">
                <ns2:creationId id="{DADF638F-D3C6-43EF-BF68-E28E2DAD2713}"/>
              </a:ext>
            </a:extLst>
          </p:cNvPr>
          <p:cNvSpPr>
            <a:spLocks noGrp="1"/>
          </p:cNvSpPr>
          <p:nvPr/>
        </p:nvSpPr>
        <p:spPr>
          <a:xfrm>
            <a:off x="6172200" y="1409700"/>
            <a:ext cx="5410200" cy="3905250"/>
          </a:xfrm>
          <a:prstGeom prst="roundRect">
            <a:avLst>
              <a:gd name="adj" fmla="val 1951"/>
            </a:avLst>
          </a:prstGeom>
          <a:solidFill>
            <a:srgbClr val="202733"/>
          </a:solidFill>
          <a:ln w="9525">
            <a:solidFill>
              <a:srgbClr val="344255"/>
            </a:solidFill>
          </a:ln>
        </p:spPr>
        <p:txBody>
          <a:bodyPr lIns="228600" tIns="228600" rIns="228600" bIns="228600">
            <a:noAutofit/>
          </a:bodyPr>
          <a:lstStyle>
            <a:def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CustomDepth / Stencil 기반 후처리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600">
                <a:latin typeface="Noto Sans KR"/>
                <a:ea typeface="Noto Sans KR"/>
                <a:cs typeface="Noto Sans KR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원본과 별도의 </a:t>
            </a:r>
            <a:r>
              <a:rPr sz="1538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깊이 전용 프록시 메시</a:t>
            </a:r>
            <a: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에</a:t>
            </a:r>
            <a:b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CustomDepth와 </a:t>
            </a:r>
            <a:r>
              <a:rPr sz="1538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Custom Stencil</a:t>
            </a:r>
            <a: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 값을 기록합니다.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375">
                <a:latin typeface="Noto Sans KR"/>
                <a:ea typeface="Noto Sans KR"/>
                <a:cs typeface="Noto Sans KR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38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Post Process 머티리얼</a:t>
            </a:r>
            <a: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로 외곽선을 표시하고,</a:t>
            </a:r>
            <a:b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Stencil 값으로 일반 / 강조 대상을 구분합니다.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375">
                <a:latin typeface="Noto Sans KR"/>
                <a:ea typeface="Noto Sans KR"/>
                <a:cs typeface="Noto Sans KR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38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SceneViewExtension::SetupView</a:t>
            </a:r>
            <a: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에서</a:t>
            </a:r>
            <a:b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38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HiddenPrimitives / ShowOnlyPrimitives</a:t>
            </a:r>
            <a: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를 반영해</a:t>
            </a:r>
            <a:b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카메라마다 프록시의 표시 대상을 분리합니다.</a:t>
            </a:r>
          </a:p>
        </p:txBody>
      </p:sp>
      <p:sp>
        <p:nvSpPr>
          <p:cNvPr id="15" name="Depth proxy">
            <a:extLst>
              <a:ext uri="{FF2B5EF4-FFF2-40B4-BE49-F238E27FC236}">
                <ns2:creationId id="{638F670B-9809-44E8-9442-CB3CA8CB9848}"/>
              </a:ext>
            </a:extLst>
          </p:cNvPr>
          <p:cNvSpPr>
            <a:spLocks noGrp="1"/>
          </p:cNvSpPr>
          <p:nvPr/>
        </p:nvSpPr>
        <p:spPr>
          <a:xfrm>
            <a:off x="6172200" y="5600700"/>
            <a:ext cx="1562100" cy="590550"/>
          </a:xfrm>
          <a:prstGeom prst="roundRect">
            <a:avLst>
              <a:gd name="adj" fmla="val 12903"/>
            </a:avLst>
          </a:prstGeom>
          <a:solidFill>
            <a:srgbClr val="202733"/>
          </a:solidFill>
          <a:ln w="14288">
            <a:solidFill>
              <a:srgbClr val="4DA3FF"/>
            </a:solidFill>
          </a:ln>
        </p:spPr>
        <p:txBody>
          <a:bodyPr lIns="76200" tIns="76200" rIns="76200" bIns="76200" anchor="ctr">
            <a:noAutofit/>
          </a:bodyPr>
          <a:lstStyle>
            <a:def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깊이 전용</a:t>
            </a:r>
          </a:p>
          <a:p>
            <a: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프록시</a:t>
            </a:r>
          </a:p>
        </p:txBody>
      </p:sp>
      <p:sp>
        <p:nvSpPr>
          <p:cNvPr id="16" name="Stencil output">
            <a:extLst>
              <a:ext uri="{FF2B5EF4-FFF2-40B4-BE49-F238E27FC236}">
                <ns2:creationId id="{44965BC6-FFCE-49CB-A733-DF763906C34B}"/>
              </a:ext>
            </a:extLst>
          </p:cNvPr>
          <p:cNvSpPr>
            <a:spLocks noGrp="1"/>
          </p:cNvSpPr>
          <p:nvPr/>
        </p:nvSpPr>
        <p:spPr>
          <a:xfrm>
            <a:off x="8039100" y="5600700"/>
            <a:ext cx="1562100" cy="590550"/>
          </a:xfrm>
          <a:prstGeom prst="roundRect">
            <a:avLst>
              <a:gd name="adj" fmla="val 12903"/>
            </a:avLst>
          </a:prstGeom>
          <a:solidFill>
            <a:srgbClr val="202733"/>
          </a:solidFill>
          <a:ln w="14288">
            <a:solidFill>
              <a:srgbClr val="4DA3FF"/>
            </a:solidFill>
          </a:ln>
        </p:spPr>
        <p:txBody>
          <a:bodyPr lIns="76200" tIns="76200" rIns="76200" bIns="76200" anchor="ctr">
            <a:noAutofit/>
          </a:bodyPr>
          <a:lstStyle>
            <a:def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CustomDepth</a:t>
            </a:r>
          </a:p>
          <a:p>
            <a: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Stencil</a:t>
            </a:r>
          </a:p>
        </p:txBody>
      </p:sp>
      <p:sp>
        <p:nvSpPr>
          <p:cNvPr id="17" name="Postprocess output">
            <a:extLst>
              <a:ext uri="{FF2B5EF4-FFF2-40B4-BE49-F238E27FC236}">
                <ns2:creationId id="{057B1D3F-386F-4DCE-B50F-16AF8E198B40}"/>
              </a:ext>
            </a:extLst>
          </p:cNvPr>
          <p:cNvSpPr>
            <a:spLocks noGrp="1"/>
          </p:cNvSpPr>
          <p:nvPr/>
        </p:nvSpPr>
        <p:spPr>
          <a:xfrm>
            <a:off x="9906000" y="5600700"/>
            <a:ext cx="1676400" cy="590550"/>
          </a:xfrm>
          <a:prstGeom prst="roundRect">
            <a:avLst>
              <a:gd name="adj" fmla="val 12903"/>
            </a:avLst>
          </a:prstGeom>
          <a:solidFill>
            <a:srgbClr val="202733"/>
          </a:solidFill>
          <a:ln w="14288">
            <a:solidFill>
              <a:srgbClr val="4DA3FF"/>
            </a:solidFill>
          </a:ln>
        </p:spPr>
        <p:txBody>
          <a:bodyPr lIns="76200" tIns="76200" rIns="76200" bIns="76200" anchor="ctr">
            <a:noAutofit/>
          </a:bodyPr>
          <a:lstStyle>
            <a:def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카메라별</a:t>
            </a:r>
          </a:p>
          <a:p>
            <a: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후처리</a:t>
            </a:r>
          </a:p>
        </p:txBody>
      </p:sp>
      <p:cxnSp>
        <p:nvCxnSpPr>
          <p:cNvPr id="18" name="직선 화살표 연결선 17">
            <a:extLst>
              <a:ext uri="{FF2B5EF4-FFF2-40B4-BE49-F238E27FC236}">
                <ns2:creationId id="{DE4219DE-2F56-41EE-8A8B-3CEF226C7F3A}"/>
              </a:ext>
            </a:extLst>
          </p:cNvPr>
          <p:cNvCxnSpPr>
            <a:stCxn id="15" idx="3"/>
            <a:endCxn id="16" idx="1"/>
          </p:cNvCxnSpPr>
          <p:nvPr/>
        </p:nvCxnSpPr>
        <p:spPr>
          <a:xfrm>
            <a:off x="7734300" y="5895975"/>
            <a:ext cx="304800" cy="0"/>
          </a:xfrm>
          <a:prstGeom prst="straightConnector1">
            <a:avLst/>
          </a:prstGeom>
          <a:ln w="19050">
            <a:solidFill>
              <a:srgbClr val="4DA3FF"/>
            </a:solidFill>
            <a:prstDash val="solid"/>
            <a:tailEnd type="triangle" w="sm" len="sm"/>
          </a:ln>
        </p:spPr>
      </p:cxnSp>
      <p:cxnSp>
        <p:nvCxnSpPr>
          <p:cNvPr id="19" name="직선 화살표 연결선 18">
            <a:extLst>
              <a:ext uri="{FF2B5EF4-FFF2-40B4-BE49-F238E27FC236}">
                <ns2:creationId id="{9DB8DA18-BCDE-4576-9A85-46F5407B8E9D}"/>
              </a:ext>
            </a:extLst>
          </p:cNvPr>
          <p:cNvCxnSpPr>
            <a:stCxn id="16" idx="3"/>
            <a:endCxn id="17" idx="1"/>
          </p:cNvCxnSpPr>
          <p:nvPr/>
        </p:nvCxnSpPr>
        <p:spPr>
          <a:xfrm>
            <a:off x="9601200" y="5895975"/>
            <a:ext cx="304800" cy="0"/>
          </a:xfrm>
          <a:prstGeom prst="straightConnector1">
            <a:avLst/>
          </a:prstGeom>
          <a:ln w="19050">
            <a:solidFill>
              <a:srgbClr val="4DA3FF"/>
            </a:solidFill>
            <a:prstDash val="solid"/>
            <a:tailEnd type="triangle" w="sm" len="sm"/>
          </a:ln>
        </p:spPr>
      </p:cxnSp>
      <p:pic>
        <p:nvPicPr>
          <p:cNvPr id="20" name="그림 19">
            <a:extLst>
              <a:ext uri="{FF2B5EF4-FFF2-40B4-BE49-F238E27FC236}">
                <ns2:creationId id="{4DB632AE-70D1-40B3-B043-5407E343CD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09600" y="6362700"/>
            <a:ext cx="190500" cy="186612"/>
          </a:xfrm>
          <a:prstGeom prst="rect">
            <a:avLst/>
          </a:prstGeom>
        </p:spPr>
      </p:pic>
      <p:sp>
        <p:nvSpPr>
          <p:cNvPr id="21" name="GitHub code link 0">
            <a:extLst>
              <a:ext uri="{FF2B5EF4-FFF2-40B4-BE49-F238E27FC236}">
                <ns2:creationId id="{2B069D09-980B-4E84-8463-1918461C40E2}"/>
              </a:ext>
            </a:extLst>
          </p:cNvPr>
          <p:cNvSpPr>
            <a:spLocks noGrp="1"/>
          </p:cNvSpPr>
          <p:nvPr/>
        </p:nvSpPr>
        <p:spPr>
          <a:xfrm>
            <a:off x="895350" y="6334125"/>
            <a:ext cx="10610850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sz="1388" u="sng">
                <a:solidFill>
                  <a:srgbClr val="7DD3FC"/>
                </a:solidFill>
                <a:latin typeface="Noto Sans KR"/>
                <a:ea typeface="Noto Sans KR"/>
                <a:cs typeface="Noto Sans KR"/>
                <a:hlinkClick r:id="rId5"/>
              </a:rPr>
              <a:t>GitHub / 외곽선 표시</a:t>
            </a:r>
          </a:p>
        </p:txBody>
      </p:sp>
    </p:spTree>
    <p:extLst>
      <p:ext uri="{BB962C8B-B14F-4D97-AF65-F5344CB8AC3E}">
        <ns4:creationId val="1350670552"/>
      </p:ext>
    </p:extLst>
  </p:cSld>
  <p:clrMapOvr>
    <a:masterClrMapping/>
  </p:clrMapOvr>
</p:sld>
</file>

<file path=ppt/slides/slide21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ns2:creationId id="{F94FC3DA-1911-4090-A77B-885FB4857E2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8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ns2:creationId id="{84B2F189-93DD-447F-8DB0-92DE807912DE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추가 구현 | DEATH ITEM DROP</a:t>
            </a:r>
          </a:p>
        </p:txBody>
      </p:sp>
      <p:sp>
        <p:nvSpPr>
          <p:cNvPr id="4" name="TextBox 3">
            <a:extLst>
              <a:ext uri="{FF2B5EF4-FFF2-40B4-BE49-F238E27FC236}">
                <ns2:creationId id="{F4E9690F-B444-43B0-BC2F-00CDE06C04A7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사망 아이템 생성과 착지 위치 동기화</a:t>
            </a:r>
          </a:p>
        </p:txBody>
      </p:sp>
      <p:sp>
        <p:nvSpPr>
          <p:cNvPr id="9" name="직사각형 8">
            <a:extLst>
              <a:ext uri="{FF2B5EF4-FFF2-40B4-BE49-F238E27FC236}">
                <ns2:creationId id="{C1813994-D1DE-4F8A-93F1-F9BE91569CD9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18</a:t>
            </a:r>
          </a:p>
        </p:txBody>
      </p:sp>
      <p:pic>
        <p:nvPicPr>
          <p:cNvPr id="10" name="그림 9">
            <a:extLst>
              <a:ext uri="{FF2B5EF4-FFF2-40B4-BE49-F238E27FC236}">
                <ns2:creationId id="{A63580D2-71C4-4966-B62C-299968A92C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609600" y="1409700"/>
            <a:ext cx="5295900" cy="1866900"/>
          </a:xfrm>
          <a:prstGeom prst="rect">
            <a:avLst/>
          </a:prstGeom>
        </p:spPr>
      </p:pic>
      <p:sp>
        <p:nvSpPr>
          <p:cNvPr id="11" name="First photo caption">
            <a:extLst>
              <a:ext uri="{FF2B5EF4-FFF2-40B4-BE49-F238E27FC236}">
                <ns2:creationId id="{CF00F731-F25B-4355-9540-792714152FCD}"/>
              </a:ext>
            </a:extLst>
          </p:cNvPr>
          <p:cNvSpPr>
            <a:spLocks noGrp="1"/>
          </p:cNvSpPr>
          <p:nvPr/>
        </p:nvSpPr>
        <p:spPr>
          <a:xfrm>
            <a:off x="609600" y="3371850"/>
            <a:ext cx="52959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t>플레이어 A의 시점에서 본 드롭 아이템</a:t>
            </a:r>
          </a:p>
        </p:txBody>
      </p:sp>
      <p:pic>
        <p:nvPicPr>
          <p:cNvPr id="12" name="그림 11">
            <a:extLst>
              <a:ext uri="{FF2B5EF4-FFF2-40B4-BE49-F238E27FC236}">
                <ns2:creationId id="{31835B59-62B6-443F-A0CF-DDEC052515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3886200"/>
            <a:ext cx="5295900" cy="1866900"/>
          </a:xfrm>
          <a:prstGeom prst="rect">
            <a:avLst/>
          </a:prstGeom>
        </p:spPr>
      </p:pic>
      <p:sp>
        <p:nvSpPr>
          <p:cNvPr id="13" name="Second photo caption">
            <a:extLst>
              <a:ext uri="{FF2B5EF4-FFF2-40B4-BE49-F238E27FC236}">
                <ns2:creationId id="{4D48875C-3BA7-4FBC-A9BB-AA53C75161E2}"/>
              </a:ext>
            </a:extLst>
          </p:cNvPr>
          <p:cNvSpPr>
            <a:spLocks noGrp="1"/>
          </p:cNvSpPr>
          <p:nvPr/>
        </p:nvSpPr>
        <p:spPr>
          <a:xfrm>
            <a:off x="609600" y="5848350"/>
            <a:ext cx="52959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0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t>플레이어 B의 시점에서 본 드롭 아이템</a:t>
            </a:r>
          </a:p>
        </p:txBody>
      </p:sp>
      <p:sp>
        <p:nvSpPr>
          <p:cNvPr id="14" name="Death drop explanation">
            <a:extLst>
              <a:ext uri="{FF2B5EF4-FFF2-40B4-BE49-F238E27FC236}">
                <ns2:creationId id="{2145D446-3943-45FB-8D1C-AE8690CA7320}"/>
              </a:ext>
            </a:extLst>
          </p:cNvPr>
          <p:cNvSpPr>
            <a:spLocks noGrp="1"/>
          </p:cNvSpPr>
          <p:nvPr/>
        </p:nvSpPr>
        <p:spPr>
          <a:xfrm>
            <a:off x="6172200" y="1409700"/>
            <a:ext cx="5410200" cy="3390900"/>
          </a:xfrm>
          <a:prstGeom prst="roundRect">
            <a:avLst>
              <a:gd name="adj" fmla="val 2247"/>
            </a:avLst>
          </a:prstGeom>
          <a:solidFill>
            <a:srgbClr val="202733"/>
          </a:solidFill>
          <a:ln w="9525">
            <a:solidFill>
              <a:srgbClr val="344255"/>
            </a:solidFill>
          </a:ln>
        </p:spPr>
        <p:txBody>
          <a:bodyPr lIns="228600" tIns="228600" rIns="228600" bIns="228600">
            <a:noAutofit/>
          </a:bodyPr>
          <a:lstStyle>
            <a:def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사망 후 아이템 상태를 서버 기준으로 유지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600">
                <a:latin typeface="Noto Sans KR"/>
                <a:ea typeface="Noto Sans KR"/>
                <a:cs typeface="Noto Sans KR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사망 시 무기와 유효한 버프를 수집하고</a:t>
            </a:r>
            <a:b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물리 이동용 액터와 아이템을 생성합니다.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375">
                <a:latin typeface="Noto Sans KR"/>
                <a:ea typeface="Noto Sans KR"/>
                <a:cs typeface="Noto Sans KR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서버</a:t>
            </a: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가 접촉 지점과 높이 보정으로 착지 위치를</a:t>
            </a:r>
            <a:b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결정해 클라이언트에 </a:t>
            </a:r>
            <a:r>
              <a:rPr sz="1575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최종 위치</a:t>
            </a: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를 전달합니다.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375">
                <a:latin typeface="Noto Sans KR"/>
                <a:ea typeface="Noto Sans KR"/>
                <a:cs typeface="Noto Sans KR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7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버프는 기존 서버 종료 시각을 유지합니다.</a:t>
            </a:r>
          </a:p>
        </p:txBody>
      </p:sp>
      <p:sp>
        <p:nvSpPr>
          <p:cNvPr id="15" name="Drop motion">
            <a:extLst>
              <a:ext uri="{FF2B5EF4-FFF2-40B4-BE49-F238E27FC236}">
                <ns2:creationId id="{297A90EF-03DA-457B-999F-B1C1B444B3AC}"/>
              </a:ext>
            </a:extLst>
          </p:cNvPr>
          <p:cNvSpPr>
            <a:spLocks noGrp="1"/>
          </p:cNvSpPr>
          <p:nvPr/>
        </p:nvSpPr>
        <p:spPr>
          <a:xfrm>
            <a:off x="6172200" y="5238750"/>
            <a:ext cx="1562100" cy="704850"/>
          </a:xfrm>
          <a:prstGeom prst="roundRect">
            <a:avLst>
              <a:gd name="adj" fmla="val 10811"/>
            </a:avLst>
          </a:prstGeom>
          <a:solidFill>
            <a:srgbClr val="202733"/>
          </a:solidFill>
          <a:ln w="14288">
            <a:solidFill>
              <a:srgbClr val="4DA3FF"/>
            </a:solidFill>
          </a:ln>
        </p:spPr>
        <p:txBody>
          <a:bodyPr lIns="76200" tIns="76200" rIns="76200" bIns="76200" anchor="ctr">
            <a:noAutofit/>
          </a:bodyPr>
          <a:lstStyle>
            <a:def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물리 이동</a:t>
            </a:r>
          </a:p>
        </p:txBody>
      </p:sp>
      <p:sp>
        <p:nvSpPr>
          <p:cNvPr id="16" name="Drop server result">
            <a:extLst>
              <a:ext uri="{FF2B5EF4-FFF2-40B4-BE49-F238E27FC236}">
                <ns2:creationId id="{2986BA5E-2292-43F2-A729-51ED0BD96D18}"/>
              </a:ext>
            </a:extLst>
          </p:cNvPr>
          <p:cNvSpPr>
            <a:spLocks noGrp="1"/>
          </p:cNvSpPr>
          <p:nvPr/>
        </p:nvSpPr>
        <p:spPr>
          <a:xfrm>
            <a:off x="8039100" y="5238750"/>
            <a:ext cx="1562100" cy="704850"/>
          </a:xfrm>
          <a:prstGeom prst="roundRect">
            <a:avLst>
              <a:gd name="adj" fmla="val 10811"/>
            </a:avLst>
          </a:prstGeom>
          <a:solidFill>
            <a:srgbClr val="202733"/>
          </a:solidFill>
          <a:ln w="14288">
            <a:solidFill>
              <a:srgbClr val="4DA3FF"/>
            </a:solidFill>
          </a:ln>
        </p:spPr>
        <p:txBody>
          <a:bodyPr lIns="76200" tIns="76200" rIns="76200" bIns="76200" anchor="ctr">
            <a:noAutofit/>
          </a:bodyPr>
          <a:lstStyle>
            <a:def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서버 착지 확정</a:t>
            </a:r>
          </a:p>
        </p:txBody>
      </p:sp>
      <p:sp>
        <p:nvSpPr>
          <p:cNvPr id="17" name="Drop replication">
            <a:extLst>
              <a:ext uri="{FF2B5EF4-FFF2-40B4-BE49-F238E27FC236}">
                <ns2:creationId id="{FCCA770A-9F1F-4702-A390-58D1AF0B20B9}"/>
              </a:ext>
            </a:extLst>
          </p:cNvPr>
          <p:cNvSpPr>
            <a:spLocks noGrp="1"/>
          </p:cNvSpPr>
          <p:nvPr/>
        </p:nvSpPr>
        <p:spPr>
          <a:xfrm>
            <a:off x="9906000" y="5238750"/>
            <a:ext cx="1676400" cy="704850"/>
          </a:xfrm>
          <a:prstGeom prst="roundRect">
            <a:avLst>
              <a:gd name="adj" fmla="val 10811"/>
            </a:avLst>
          </a:prstGeom>
          <a:solidFill>
            <a:srgbClr val="202733"/>
          </a:solidFill>
          <a:ln w="14288">
            <a:solidFill>
              <a:srgbClr val="4DA3FF"/>
            </a:solidFill>
          </a:ln>
        </p:spPr>
        <p:txBody>
          <a:bodyPr lIns="76200" tIns="76200" rIns="76200" bIns="76200" anchor="ctr">
            <a:noAutofit/>
          </a:bodyPr>
          <a:lstStyle>
            <a:def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최종 위치 전달</a:t>
            </a:r>
          </a:p>
        </p:txBody>
      </p:sp>
      <p:cxnSp>
        <p:nvCxnSpPr>
          <p:cNvPr id="18" name="직선 화살표 연결선 17">
            <a:extLst>
              <a:ext uri="{FF2B5EF4-FFF2-40B4-BE49-F238E27FC236}">
                <ns2:creationId id="{71A53DCD-D5F1-4830-8A78-DF09E8A33129}"/>
              </a:ext>
            </a:extLst>
          </p:cNvPr>
          <p:cNvCxnSpPr>
            <a:stCxn id="15" idx="3"/>
            <a:endCxn id="16" idx="1"/>
          </p:cNvCxnSpPr>
          <p:nvPr/>
        </p:nvCxnSpPr>
        <p:spPr>
          <a:xfrm>
            <a:off x="7734300" y="5591175"/>
            <a:ext cx="304800" cy="0"/>
          </a:xfrm>
          <a:prstGeom prst="straightConnector1">
            <a:avLst/>
          </a:prstGeom>
          <a:ln w="19050">
            <a:solidFill>
              <a:srgbClr val="4DA3FF"/>
            </a:solidFill>
            <a:prstDash val="solid"/>
            <a:tailEnd type="triangle" w="sm" len="sm"/>
          </a:ln>
        </p:spPr>
      </p:cxnSp>
      <p:cxnSp>
        <p:nvCxnSpPr>
          <p:cNvPr id="19" name="직선 화살표 연결선 18">
            <a:extLst>
              <a:ext uri="{FF2B5EF4-FFF2-40B4-BE49-F238E27FC236}">
                <ns2:creationId id="{C963F7AB-1018-4499-8505-0938CBE51B56}"/>
              </a:ext>
            </a:extLst>
          </p:cNvPr>
          <p:cNvCxnSpPr>
            <a:stCxn id="16" idx="3"/>
            <a:endCxn id="17" idx="1"/>
          </p:cNvCxnSpPr>
          <p:nvPr/>
        </p:nvCxnSpPr>
        <p:spPr>
          <a:xfrm>
            <a:off x="9601200" y="5591175"/>
            <a:ext cx="304800" cy="0"/>
          </a:xfrm>
          <a:prstGeom prst="straightConnector1">
            <a:avLst/>
          </a:prstGeom>
          <a:ln w="19050">
            <a:solidFill>
              <a:srgbClr val="4DA3FF"/>
            </a:solidFill>
            <a:prstDash val="solid"/>
            <a:tailEnd type="triangle" w="sm" len="sm"/>
          </a:ln>
        </p:spPr>
      </p:cxnSp>
      <p:pic>
        <p:nvPicPr>
          <p:cNvPr id="20" name="그림 19">
            <a:extLst>
              <a:ext uri="{FF2B5EF4-FFF2-40B4-BE49-F238E27FC236}">
                <ns2:creationId id="{4AA6AF62-B720-4526-A464-3A49AFDB33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09600" y="6362700"/>
            <a:ext cx="190500" cy="186612"/>
          </a:xfrm>
          <a:prstGeom prst="rect">
            <a:avLst/>
          </a:prstGeom>
        </p:spPr>
      </p:pic>
      <p:sp>
        <p:nvSpPr>
          <p:cNvPr id="21" name="GitHub code link 0">
            <a:extLst>
              <a:ext uri="{FF2B5EF4-FFF2-40B4-BE49-F238E27FC236}">
                <ns2:creationId id="{C561243E-349F-4F53-A98D-A53735D85D51}"/>
              </a:ext>
            </a:extLst>
          </p:cNvPr>
          <p:cNvSpPr>
            <a:spLocks noGrp="1"/>
          </p:cNvSpPr>
          <p:nvPr/>
        </p:nvSpPr>
        <p:spPr>
          <a:xfrm>
            <a:off x="895350" y="6334125"/>
            <a:ext cx="10610850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sz="1388" u="sng">
                <a:solidFill>
                  <a:srgbClr val="7DD3FC"/>
                </a:solidFill>
                <a:latin typeface="Noto Sans KR"/>
                <a:ea typeface="Noto Sans KR"/>
                <a:cs typeface="Noto Sans KR"/>
                <a:hlinkClick r:id="rId5"/>
              </a:rPr>
              <a:t>GitHub / 드롭 동기화</a:t>
            </a:r>
          </a:p>
        </p:txBody>
      </p:sp>
    </p:spTree>
    <p:extLst>
      <p:ext uri="{BB962C8B-B14F-4D97-AF65-F5344CB8AC3E}">
        <ns4:creationId val="1350670552"/>
      </p:ext>
    </p:extLst>
  </p:cSld>
  <p:clrMapOvr>
    <a:masterClrMapping/>
  </p:clrMapOvr>
</p:sld>
</file>

<file path=ppt/slides/slide22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ns2:creationId id="{F94FC3DA-1911-4090-A77B-885FB4857E2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8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ns2:creationId id="{84B2F189-93DD-447F-8DB0-92DE807912DE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추가 구현 | DEATH CAMERA</a:t>
            </a:r>
          </a:p>
        </p:txBody>
      </p:sp>
      <p:sp>
        <p:nvSpPr>
          <p:cNvPr id="4" name="TextBox 3">
            <a:extLst>
              <a:ext uri="{FF2B5EF4-FFF2-40B4-BE49-F238E27FC236}">
                <ns2:creationId id="{F4E9690F-B444-43B0-BC2F-00CDE06C04A7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사망 카메라 전환과 지형 충돌 보정</a:t>
            </a:r>
          </a:p>
        </p:txBody>
      </p:sp>
      <p:sp>
        <p:nvSpPr>
          <p:cNvPr id="9" name="직사각형 8">
            <a:extLst>
              <a:ext uri="{FF2B5EF4-FFF2-40B4-BE49-F238E27FC236}">
                <ns2:creationId id="{C1813994-D1DE-4F8A-93F1-F9BE91569CD9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19</a:t>
            </a:r>
          </a:p>
        </p:txBody>
      </p:sp>
      <p:sp>
        <p:nvSpPr>
          <p:cNvPr id="10" name="Media 1">
            <a:extLst>
              <a:ext uri="{FF2B5EF4-FFF2-40B4-BE49-F238E27FC236}">
                <ns2:creationId id="{57C6A3CB-7837-4956-87AB-8C155AAC430D}"/>
              </a:ext>
            </a:extLst>
          </p:cNvPr>
          <p:cNvSpPr>
            <a:spLocks noGrp="1"/>
          </p:cNvSpPr>
          <p:nvPr/>
        </p:nvSpPr>
        <p:spPr>
          <a:xfrm>
            <a:off x="609600" y="1409700"/>
            <a:ext cx="5312874" cy="1867144"/>
          </a:xfrm>
          <a:prstGeom prst="roundRect">
            <a:avLst>
              <a:gd name="adj" fmla="val 3182"/>
            </a:avLst>
          </a:prstGeom>
          <a:solidFill>
            <a:srgbClr val="11151D"/>
          </a:solidFill>
          <a:ln w="12383">
            <a:solidFill>
              <a:srgbClr val="4D78A8"/>
            </a:solidFill>
          </a:ln>
        </p:spPr>
        <p:txBody>
          <a:bodyPr/>
          <a:lstStyle/>
          <a:p>
            <a:endParaRPr/>
          </a:p>
        </p:txBody>
      </p:sp>
      <p:pic>
        <p:nvPicPr>
          <p:cNvPr id="20" name="데스캠_편집본">
            <a:extLst>
              <a:ext uri="{FF2B5EF4-FFF2-40B4-BE49-F238E27FC236}">
                <ns2:creationId id="{4676FB92-239C-44DE-984D-3120B806646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59412" y="3945609"/>
            <a:ext cx="4413250" cy="1748326"/>
          </a:xfrm>
          <a:prstGeom prst="rect">
            <a:avLst/>
          </a:prstGeom>
        </p:spPr>
      </p:pic>
      <p:sp>
        <p:nvSpPr>
          <p:cNvPr id="11" name="Caption 1">
            <a:extLst>
              <a:ext uri="{FF2B5EF4-FFF2-40B4-BE49-F238E27FC236}">
                <ns2:creationId id="{9CCE37E8-9483-4731-A456-9B8B60609890}"/>
              </a:ext>
            </a:extLst>
          </p:cNvPr>
          <p:cNvSpPr>
            <a:spLocks noGrp="1"/>
          </p:cNvSpPr>
          <p:nvPr/>
        </p:nvSpPr>
        <p:spPr>
          <a:xfrm>
            <a:off x="609600" y="3371850"/>
            <a:ext cx="52959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사망 시점에서 벽 뒤 공격자의 강조 표시</a:t>
            </a:r>
          </a:p>
        </p:txBody>
      </p:sp>
      <p:sp>
        <p:nvSpPr>
          <p:cNvPr id="21" name="Death camera GIF frame">
            <a:extLst>
              <a:ext uri="{FF2B5EF4-FFF2-40B4-BE49-F238E27FC236}">
                <ns2:creationId id="{7B8EE5B1-E831-420D-A160-02C8B340DDE9}"/>
              </a:ext>
            </a:extLst>
          </p:cNvPr>
          <p:cNvSpPr>
            <a:spLocks noGrp="1"/>
          </p:cNvSpPr>
          <p:nvPr/>
        </p:nvSpPr>
        <p:spPr>
          <a:xfrm>
            <a:off x="609600" y="3886200"/>
            <a:ext cx="5312874" cy="1867144"/>
          </a:xfrm>
          <a:prstGeom prst="roundRect">
            <a:avLst>
              <a:gd name="adj" fmla="val 3636"/>
            </a:avLst>
          </a:prstGeom>
          <a:noFill/>
          <a:ln w="9525">
            <a:solidFill>
              <a:srgbClr val="4D7EA8"/>
            </a:solidFill>
          </a:ln>
        </p:spPr>
        <p:txBody>
          <a:bodyPr/>
          <a:lstStyle/>
          <a:p>
            <a:endParaRPr/>
          </a:p>
        </p:txBody>
      </p:sp>
      <p:pic>
        <p:nvPicPr>
          <p:cNvPr id="22" name="그림 21">
            <a:extLst>
              <a:ext uri="{FF2B5EF4-FFF2-40B4-BE49-F238E27FC236}">
                <ns2:creationId id="{4187126A-2966-4E10-B640-7B324974FED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969" t="28472" r="41602" b="39583"/>
          <a:stretch/>
        </p:blipFill>
        <p:spPr>
          <a:xfrm>
            <a:off x="1059412" y="1469109"/>
            <a:ext cx="4413250" cy="1748326"/>
          </a:xfrm>
          <a:prstGeom prst="rect">
            <a:avLst/>
          </a:prstGeom>
        </p:spPr>
      </p:pic>
      <p:sp>
        <p:nvSpPr>
          <p:cNvPr id="23" name="Death camera GIF caption">
            <a:extLst>
              <a:ext uri="{FF2B5EF4-FFF2-40B4-BE49-F238E27FC236}">
                <ns2:creationId id="{2A8FBF4E-BB98-4F3B-ADFC-F98763C8ABEA}"/>
              </a:ext>
            </a:extLst>
          </p:cNvPr>
          <p:cNvSpPr>
            <a:spLocks noGrp="1"/>
          </p:cNvSpPr>
          <p:nvPr/>
        </p:nvSpPr>
        <p:spPr>
          <a:xfrm>
            <a:off x="609600" y="5812753"/>
            <a:ext cx="5312874" cy="246124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>
              <a:buNone/>
              <a:def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35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사망 전후의 시점 전환 과정</a:t>
            </a:r>
          </a:p>
        </p:txBody>
      </p:sp>
      <p:sp>
        <p:nvSpPr>
          <p:cNvPr id="24" name="Killer behind wall marker">
            <a:extLst>
              <a:ext uri="{FF2B5EF4-FFF2-40B4-BE49-F238E27FC236}">
                <ns2:creationId id="{751A2B22-536F-4E0C-BD21-7422C9DBF8DE}"/>
              </a:ext>
            </a:extLst>
          </p:cNvPr>
          <p:cNvSpPr>
            <a:spLocks noGrp="1"/>
          </p:cNvSpPr>
          <p:nvPr/>
        </p:nvSpPr>
        <p:spPr>
          <a:xfrm>
            <a:off x="3033141" y="1817077"/>
            <a:ext cx="271585" cy="364942"/>
          </a:xfrm>
          <a:prstGeom prst="ellipse">
            <a:avLst/>
          </a:prstGeom>
          <a:noFill/>
          <a:ln w="17145">
            <a:solidFill>
              <a:srgbClr val="64E0D7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5" name="Killer behind wall label">
            <a:extLst>
              <a:ext uri="{FF2B5EF4-FFF2-40B4-BE49-F238E27FC236}">
                <ns2:creationId id="{19DE4BB3-E35B-4EC7-A4B7-BA9DD651DED1}"/>
              </a:ext>
            </a:extLst>
          </p:cNvPr>
          <p:cNvSpPr>
            <a:spLocks noGrp="1"/>
          </p:cNvSpPr>
          <p:nvPr/>
        </p:nvSpPr>
        <p:spPr>
          <a:xfrm>
            <a:off x="3435777" y="1825564"/>
            <a:ext cx="1196670" cy="212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>
              <a:defRPr sz="1275" b="1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defPPr>
            <a:lvl1pPr>
              <a:buNone/>
              <a:defRPr sz="1275" b="1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1pPr>
            <a:lvl2pPr>
              <a:buNone/>
              <a:defRPr sz="1275" b="1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2pPr>
            <a:lvl3pPr>
              <a:buNone/>
              <a:defRPr sz="1275" b="1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3pPr>
            <a:lvl4pPr>
              <a:buNone/>
              <a:defRPr sz="1275" b="1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4pPr>
            <a:lvl5pPr>
              <a:buNone/>
              <a:defRPr sz="1275" b="1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5pPr>
            <a:lvl6pPr>
              <a:buNone/>
              <a:defRPr sz="1275" b="1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6pPr>
            <a:lvl7pPr>
              <a:buNone/>
              <a:defRPr sz="1275" b="1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7pPr>
            <a:lvl8pPr>
              <a:buNone/>
              <a:defRPr sz="1275" b="1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8pPr>
            <a:lvl9pPr>
              <a:buNone/>
              <a:defRPr sz="1275" b="1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>
              <a:buNone/>
              <a:defRPr sz="1275" b="1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64E0D7"/>
                </a:solidFill>
                <a:latin typeface="Noto Sans KR"/>
                <a:ea typeface="Noto Sans KR"/>
                <a:cs typeface="Noto Sans KR"/>
              </a:rPr>
              <a:t>벽 뒤의 공격자</a:t>
            </a:r>
          </a:p>
        </p:txBody>
      </p:sp>
      <p:sp>
        <p:nvSpPr>
          <p:cNvPr id="26" name="Death camera explanation">
            <a:extLst>
              <a:ext uri="{FF2B5EF4-FFF2-40B4-BE49-F238E27FC236}">
                <ns2:creationId id="{06E912B7-7A14-4CC8-BFEA-D5F7D3E70C85}"/>
              </a:ext>
            </a:extLst>
          </p:cNvPr>
          <p:cNvSpPr>
            <a:spLocks noGrp="1"/>
          </p:cNvSpPr>
          <p:nvPr/>
        </p:nvSpPr>
        <p:spPr>
          <a:xfrm>
            <a:off x="6172200" y="1409700"/>
            <a:ext cx="5410200" cy="3390900"/>
          </a:xfrm>
          <a:prstGeom prst="roundRect">
            <a:avLst>
              <a:gd name="adj" fmla="val 2247"/>
            </a:avLst>
          </a:prstGeom>
          <a:solidFill>
            <a:srgbClr val="202733"/>
          </a:solidFill>
          <a:ln w="9525">
            <a:solidFill>
              <a:srgbClr val="344255"/>
            </a:solidFill>
          </a:ln>
        </p:spPr>
        <p:txBody>
          <a:bodyPr lIns="228600" tIns="228600" rIns="228600" bIns="228600">
            <a:noAutofit/>
          </a:bodyPr>
          <a:lstStyle>
            <a:def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>
              <a:spcBef>
                <a:spcPts val="0"/>
              </a:spcBef>
              <a:spcAft>
                <a:spcPts val="0"/>
              </a:spcAft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사망한 플레이어의 시점 관리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600">
                <a:latin typeface="Noto Sans KR"/>
                <a:ea typeface="Noto Sans KR"/>
                <a:cs typeface="Noto Sans KR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38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사망한 플레이어에게만</a:t>
            </a:r>
            <a: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 카메라를 전환합니다.</a:t>
            </a:r>
            <a:b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사망 위치에서 공격자 반대편을 보도록 배치합니다.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375">
                <a:latin typeface="Noto Sans KR"/>
                <a:ea typeface="Noto Sans KR"/>
                <a:cs typeface="Noto Sans KR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38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지형 충돌</a:t>
            </a:r>
            <a: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 시 벽면을 따라 카메라를 보정하고,</a:t>
            </a:r>
            <a:b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</a:br>
            <a: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사망 기준점을 넘어가지 않도록 이동을 제한합니다.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375">
                <a:latin typeface="Noto Sans KR"/>
                <a:ea typeface="Noto Sans KR"/>
                <a:cs typeface="Noto Sans KR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538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538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새 캐릭터가 준비되면 플레이 시점으로 복귀합니다.</a:t>
            </a:r>
          </a:p>
        </p:txBody>
      </p:sp>
      <p:sp>
        <p:nvSpPr>
          <p:cNvPr id="27" name="Death event">
            <a:extLst>
              <a:ext uri="{FF2B5EF4-FFF2-40B4-BE49-F238E27FC236}">
                <ns2:creationId id="{D435F07A-E775-4754-99D6-568FFF526654}"/>
              </a:ext>
            </a:extLst>
          </p:cNvPr>
          <p:cNvSpPr>
            <a:spLocks noGrp="1"/>
          </p:cNvSpPr>
          <p:nvPr/>
        </p:nvSpPr>
        <p:spPr>
          <a:xfrm>
            <a:off x="6172200" y="5238750"/>
            <a:ext cx="1562100" cy="704850"/>
          </a:xfrm>
          <a:prstGeom prst="roundRect">
            <a:avLst>
              <a:gd name="adj" fmla="val 10811"/>
            </a:avLst>
          </a:prstGeom>
          <a:solidFill>
            <a:srgbClr val="202733"/>
          </a:solidFill>
          <a:ln w="14288">
            <a:solidFill>
              <a:srgbClr val="4DA3FF"/>
            </a:solidFill>
          </a:ln>
        </p:spPr>
        <p:txBody>
          <a:bodyPr lIns="76200" tIns="76200" rIns="76200" bIns="76200" anchor="ctr">
            <a:noAutofit/>
          </a:bodyPr>
          <a:lstStyle>
            <a:def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75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플레이어 사망</a:t>
            </a:r>
          </a:p>
        </p:txBody>
      </p:sp>
      <p:sp>
        <p:nvSpPr>
          <p:cNvPr id="28" name="Owner camera">
            <a:extLst>
              <a:ext uri="{FF2B5EF4-FFF2-40B4-BE49-F238E27FC236}">
                <ns2:creationId id="{1F308C89-C454-4614-AD35-221D76BFEF28}"/>
              </a:ext>
            </a:extLst>
          </p:cNvPr>
          <p:cNvSpPr>
            <a:spLocks noGrp="1"/>
          </p:cNvSpPr>
          <p:nvPr/>
        </p:nvSpPr>
        <p:spPr>
          <a:xfrm>
            <a:off x="8039100" y="5238750"/>
            <a:ext cx="1562100" cy="704850"/>
          </a:xfrm>
          <a:prstGeom prst="roundRect">
            <a:avLst>
              <a:gd name="adj" fmla="val 10811"/>
            </a:avLst>
          </a:prstGeom>
          <a:solidFill>
            <a:srgbClr val="202733"/>
          </a:solidFill>
          <a:ln w="14288">
            <a:solidFill>
              <a:srgbClr val="4DA3FF"/>
            </a:solidFill>
          </a:ln>
        </p:spPr>
        <p:txBody>
          <a:bodyPr lIns="76200" tIns="76200" rIns="76200" bIns="76200" anchor="ctr">
            <a:noAutofit/>
          </a:bodyPr>
          <a:lstStyle>
            <a:def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소유자 시점 전환</a:t>
            </a:r>
          </a:p>
        </p:txBody>
      </p:sp>
      <p:sp>
        <p:nvSpPr>
          <p:cNvPr id="29" name="Respawn recovery">
            <a:extLst>
              <a:ext uri="{FF2B5EF4-FFF2-40B4-BE49-F238E27FC236}">
                <ns2:creationId id="{86FF314A-0E55-4C22-84C0-81AD31C874E4}"/>
              </a:ext>
            </a:extLst>
          </p:cNvPr>
          <p:cNvSpPr>
            <a:spLocks noGrp="1"/>
          </p:cNvSpPr>
          <p:nvPr/>
        </p:nvSpPr>
        <p:spPr>
          <a:xfrm>
            <a:off x="9906000" y="5238750"/>
            <a:ext cx="1676400" cy="704850"/>
          </a:xfrm>
          <a:prstGeom prst="roundRect">
            <a:avLst>
              <a:gd name="adj" fmla="val 10811"/>
            </a:avLst>
          </a:prstGeom>
          <a:solidFill>
            <a:srgbClr val="202733"/>
          </a:solidFill>
          <a:ln w="14288">
            <a:solidFill>
              <a:srgbClr val="4DA3FF"/>
            </a:solidFill>
          </a:ln>
        </p:spPr>
        <p:txBody>
          <a:bodyPr lIns="76200" tIns="76200" rIns="76200" bIns="76200" anchor="ctr">
            <a:noAutofit/>
          </a:bodyPr>
          <a:lstStyle>
            <a:def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새 캐릭터 준비</a:t>
            </a:r>
          </a:p>
          <a:p>
            <a:pPr algn="ctr">
              <a:defRPr sz="150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플레이 시점 복귀</a:t>
            </a:r>
          </a:p>
        </p:txBody>
      </p:sp>
      <p:cxnSp>
        <p:nvCxnSpPr>
          <p:cNvPr id="30" name="직선 화살표 연결선 29">
            <a:extLst>
              <a:ext uri="{FF2B5EF4-FFF2-40B4-BE49-F238E27FC236}">
                <ns2:creationId id="{D3702582-96A6-4CD9-A7DF-ADD2763FE1FD}"/>
              </a:ext>
            </a:extLst>
          </p:cNvPr>
          <p:cNvCxnSpPr>
            <a:stCxn id="27" idx="3"/>
            <a:endCxn id="28" idx="1"/>
          </p:cNvCxnSpPr>
          <p:nvPr/>
        </p:nvCxnSpPr>
        <p:spPr>
          <a:xfrm>
            <a:off x="7734300" y="5591175"/>
            <a:ext cx="304800" cy="0"/>
          </a:xfrm>
          <a:prstGeom prst="straightConnector1">
            <a:avLst/>
          </a:prstGeom>
          <a:ln w="19050">
            <a:solidFill>
              <a:srgbClr val="4DA3FF"/>
            </a:solidFill>
            <a:prstDash val="solid"/>
            <a:tailEnd type="triangle" w="sm" len="sm"/>
          </a:ln>
        </p:spPr>
      </p:cxnSp>
      <p:cxnSp>
        <p:nvCxnSpPr>
          <p:cNvPr id="31" name="직선 화살표 연결선 30">
            <a:extLst>
              <a:ext uri="{FF2B5EF4-FFF2-40B4-BE49-F238E27FC236}">
                <ns2:creationId id="{D19693C8-FFD5-4207-9F30-2F5E96692C30}"/>
              </a:ext>
            </a:extLst>
          </p:cNvPr>
          <p:cNvCxnSpPr>
            <a:stCxn id="28" idx="3"/>
            <a:endCxn id="29" idx="1"/>
          </p:cNvCxnSpPr>
          <p:nvPr/>
        </p:nvCxnSpPr>
        <p:spPr>
          <a:xfrm>
            <a:off x="9601200" y="5591175"/>
            <a:ext cx="304800" cy="0"/>
          </a:xfrm>
          <a:prstGeom prst="straightConnector1">
            <a:avLst/>
          </a:prstGeom>
          <a:ln w="19050">
            <a:solidFill>
              <a:srgbClr val="4DA3FF"/>
            </a:solidFill>
            <a:prstDash val="solid"/>
            <a:tailEnd type="triangle" w="sm" len="sm"/>
          </a:ln>
        </p:spPr>
      </p:cxnSp>
      <p:pic>
        <p:nvPicPr>
          <p:cNvPr id="32" name="그림 31">
            <a:extLst>
              <a:ext uri="{FF2B5EF4-FFF2-40B4-BE49-F238E27FC236}">
                <ns2:creationId id="{628D2930-7EE9-4090-8E93-064722F32E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09600" y="6362700"/>
            <a:ext cx="190500" cy="186612"/>
          </a:xfrm>
          <a:prstGeom prst="rect">
            <a:avLst/>
          </a:prstGeom>
        </p:spPr>
      </p:pic>
      <p:sp>
        <p:nvSpPr>
          <p:cNvPr id="33" name="GitHub code link 0">
            <a:extLst>
              <a:ext uri="{FF2B5EF4-FFF2-40B4-BE49-F238E27FC236}">
                <ns2:creationId id="{184AB650-55DF-4865-AFCC-15722B212C9C}"/>
              </a:ext>
            </a:extLst>
          </p:cNvPr>
          <p:cNvSpPr>
            <a:spLocks noGrp="1"/>
          </p:cNvSpPr>
          <p:nvPr/>
        </p:nvSpPr>
        <p:spPr>
          <a:xfrm>
            <a:off x="895350" y="6334125"/>
            <a:ext cx="10610850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sz="1388" u="sng">
                <a:solidFill>
                  <a:srgbClr val="7DD3FC"/>
                </a:solidFill>
                <a:latin typeface="Noto Sans KR"/>
                <a:ea typeface="Noto Sans KR"/>
                <a:cs typeface="Noto Sans KR"/>
                <a:hlinkClick r:id="rId5"/>
              </a:rPr>
              <a:t>GitHub / 사망 카메라</a:t>
            </a:r>
          </a:p>
        </p:txBody>
      </p:sp>
    </p:spTree>
    <p:extLst>
      <p:ext uri="{BB962C8B-B14F-4D97-AF65-F5344CB8AC3E}">
        <ns4:creationId val="1350670552"/>
      </p:ext>
    </p:extLst>
  </p:cSld>
  <p:clrMapOvr>
    <a:masterClrMapping/>
  </p:clrMapOvr>
</p:sld>
</file>

<file path=ppt/slides/slide23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ns2:creationId id="{F94FC3DA-1911-4090-A77B-885FB4857E2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8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ns2:creationId id="{84B2F189-93DD-447F-8DB0-92DE807912DE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추가 구현 | RETURN TO PLAY</a:t>
            </a:r>
          </a:p>
        </p:txBody>
      </p:sp>
      <p:sp>
        <p:nvSpPr>
          <p:cNvPr id="4" name="TextBox 3">
            <a:extLst>
              <a:ext uri="{FF2B5EF4-FFF2-40B4-BE49-F238E27FC236}">
                <ns2:creationId id="{F4E9690F-B444-43B0-BC2F-00CDE06C04A7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사망 후 다시 플레이하기 위한 스폰 위치 선택</a:t>
            </a:r>
          </a:p>
        </p:txBody>
      </p:sp>
      <p:sp>
        <p:nvSpPr>
          <p:cNvPr id="9" name="직사각형 8">
            <a:extLst>
              <a:ext uri="{FF2B5EF4-FFF2-40B4-BE49-F238E27FC236}">
                <ns2:creationId id="{C1813994-D1DE-4F8A-93F1-F9BE91569CD9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20</a:t>
            </a:r>
          </a:p>
        </p:txBody>
      </p:sp>
      <p:sp>
        <p:nvSpPr>
          <p:cNvPr id="10" name="Initial spawn heading">
            <a:extLst>
              <a:ext uri="{FF2B5EF4-FFF2-40B4-BE49-F238E27FC236}">
                <ns2:creationId id="{748060E4-CC5F-451D-9B47-624A6C3D1C8C}"/>
              </a:ext>
            </a:extLst>
          </p:cNvPr>
          <p:cNvSpPr>
            <a:spLocks noGrp="1"/>
          </p:cNvSpPr>
          <p:nvPr/>
        </p:nvSpPr>
        <p:spPr>
          <a:xfrm>
            <a:off x="609600" y="1428750"/>
            <a:ext cx="15240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 algn="l"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최초 스폰</a:t>
            </a:r>
          </a:p>
        </p:txBody>
      </p:sp>
      <p:sp>
        <p:nvSpPr>
          <p:cNvPr id="11" name="Initial spawn summary">
            <a:extLst>
              <a:ext uri="{FF2B5EF4-FFF2-40B4-BE49-F238E27FC236}">
                <ns2:creationId id="{ACC0A060-82B6-406E-A8B7-4588654E95DA}"/>
              </a:ext>
            </a:extLst>
          </p:cNvPr>
          <p:cNvSpPr>
            <a:spLocks noGrp="1"/>
          </p:cNvSpPr>
          <p:nvPr/>
        </p:nvSpPr>
        <p:spPr>
          <a:xfrm>
            <a:off x="2343150" y="1428750"/>
            <a:ext cx="9239250" cy="590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 algn="l"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t>전용 지점 우선 배정 / 배정 횟수 기록</a:t>
            </a:r>
          </a:p>
          <a:p>
            <a:pPr algn="l">
              <a:buNone/>
              <a:defRPr sz="16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t>생성 또는 조종 연결 실패 시 배정 횟수 복구</a:t>
            </a:r>
          </a:p>
        </p:txBody>
      </p:sp>
      <p:sp>
        <p:nvSpPr>
          <p:cNvPr id="12" name="Respawn heading">
            <a:extLst>
              <a:ext uri="{FF2B5EF4-FFF2-40B4-BE49-F238E27FC236}">
                <ns2:creationId id="{0CE965C2-2E90-485D-AF11-94B3B9222415}"/>
              </a:ext>
            </a:extLst>
          </p:cNvPr>
          <p:cNvSpPr>
            <a:spLocks noGrp="1"/>
          </p:cNvSpPr>
          <p:nvPr/>
        </p:nvSpPr>
        <p:spPr>
          <a:xfrm>
            <a:off x="609600" y="2343150"/>
            <a:ext cx="1097280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 algn="l">
              <a:defRPr sz="20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0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0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0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0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0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0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0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0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0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0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리스폰: 먼 절반을 남기고 그중 한 곳을 무작위 선택</a:t>
            </a:r>
          </a:p>
        </p:txBody>
      </p:sp>
      <p:sp>
        <p:nvSpPr>
          <p:cNvPr id="13" name="Respawn prefilter">
            <a:extLst>
              <a:ext uri="{FF2B5EF4-FFF2-40B4-BE49-F238E27FC236}">
                <ns2:creationId id="{CE532993-BE33-49E9-95F4-41E4AB63C40C}"/>
              </a:ext>
            </a:extLst>
          </p:cNvPr>
          <p:cNvSpPr>
            <a:spLocks noGrp="1"/>
          </p:cNvSpPr>
          <p:nvPr/>
        </p:nvSpPr>
        <p:spPr>
          <a:xfrm>
            <a:off x="609600" y="2809875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 algn="l"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t>사용 가능한 타입의 후보를 추린 뒤, 사망 위치와의 거리를 계산</a:t>
            </a:r>
          </a:p>
        </p:txBody>
      </p:sp>
      <p:sp>
        <p:nvSpPr>
          <p:cNvPr id="14" name="Respawn ordered example">
            <a:extLst>
              <a:ext uri="{FF2B5EF4-FFF2-40B4-BE49-F238E27FC236}">
                <ns2:creationId id="{3719163C-C30F-473F-88EE-353BCA1B9BD5}"/>
              </a:ext>
            </a:extLst>
          </p:cNvPr>
          <p:cNvSpPr>
            <a:spLocks noGrp="1"/>
          </p:cNvSpPr>
          <p:nvPr/>
        </p:nvSpPr>
        <p:spPr>
          <a:xfrm>
            <a:off x="609600" y="3267075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 algn="l">
              <a:defRPr sz="153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3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3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3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3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3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3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3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3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3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53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t>거리순 정렬 예시: 사용 가능한 후보 6곳</a:t>
            </a:r>
          </a:p>
        </p:txBody>
      </p:sp>
      <p:sp>
        <p:nvSpPr>
          <p:cNvPr id="15" name="Respawn far end">
            <a:extLst>
              <a:ext uri="{FF2B5EF4-FFF2-40B4-BE49-F238E27FC236}">
                <ns2:creationId id="{1D6FAE1D-9D99-46D4-9D6E-3286B56FA4C3}"/>
              </a:ext>
            </a:extLst>
          </p:cNvPr>
          <p:cNvSpPr>
            <a:spLocks noGrp="1"/>
          </p:cNvSpPr>
          <p:nvPr/>
        </p:nvSpPr>
        <p:spPr>
          <a:xfrm>
            <a:off x="609600" y="3600450"/>
            <a:ext cx="16383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 algn="ctr">
              <a:defRPr sz="142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42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42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42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42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42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42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42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42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42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425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pPr>
            <a:r>
              <a:t>먼 쪽</a:t>
            </a:r>
          </a:p>
        </p:txBody>
      </p:sp>
      <p:sp>
        <p:nvSpPr>
          <p:cNvPr id="16" name="Respawn near end">
            <a:extLst>
              <a:ext uri="{FF2B5EF4-FFF2-40B4-BE49-F238E27FC236}">
                <ns2:creationId id="{CE206056-892B-4E22-B881-7455A362038D}"/>
              </a:ext>
            </a:extLst>
          </p:cNvPr>
          <p:cNvSpPr>
            <a:spLocks noGrp="1"/>
          </p:cNvSpPr>
          <p:nvPr/>
        </p:nvSpPr>
        <p:spPr>
          <a:xfrm>
            <a:off x="9944100" y="3600450"/>
            <a:ext cx="16383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 algn="ctr">
              <a:defRPr sz="142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42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42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42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42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42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42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42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42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42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42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pPr>
            <a:r>
              <a:t>가까운 쪽</a:t>
            </a:r>
          </a:p>
        </p:txBody>
      </p:sp>
      <p:sp>
        <p:nvSpPr>
          <p:cNvPr id="17" name="Respawn candidate A">
            <a:extLst>
              <a:ext uri="{FF2B5EF4-FFF2-40B4-BE49-F238E27FC236}">
                <ns2:creationId id="{46FB2820-7898-4ED0-BB6C-CF6BDA3B44AD}"/>
              </a:ext>
            </a:extLst>
          </p:cNvPr>
          <p:cNvSpPr>
            <a:spLocks noGrp="1"/>
          </p:cNvSpPr>
          <p:nvPr/>
        </p:nvSpPr>
        <p:spPr>
          <a:xfrm>
            <a:off x="609600" y="3962400"/>
            <a:ext cx="1638300" cy="742950"/>
          </a:xfrm>
          <a:prstGeom prst="roundRect">
            <a:avLst>
              <a:gd name="adj" fmla="val 15385"/>
            </a:avLst>
          </a:prstGeom>
          <a:solidFill>
            <a:srgbClr val="203650"/>
          </a:solidFill>
          <a:ln w="14288">
            <a:solidFill>
              <a:srgbClr val="4DA3FF"/>
            </a:solidFill>
          </a:ln>
        </p:spPr>
        <p:txBody>
          <a:bodyPr lIns="76200" tIns="76200" rIns="76200" bIns="76200" anchor="ctr"/>
          <a:lstStyle>
            <a:defPPr algn="ctr"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후보 A</a:t>
            </a:r>
          </a:p>
        </p:txBody>
      </p:sp>
      <p:sp>
        <p:nvSpPr>
          <p:cNvPr id="18" name="Respawn candidate B">
            <a:extLst>
              <a:ext uri="{FF2B5EF4-FFF2-40B4-BE49-F238E27FC236}">
                <ns2:creationId id="{11F04B5F-F7D6-4A31-AA3D-5C295BE6C301}"/>
              </a:ext>
            </a:extLst>
          </p:cNvPr>
          <p:cNvSpPr>
            <a:spLocks noGrp="1"/>
          </p:cNvSpPr>
          <p:nvPr/>
        </p:nvSpPr>
        <p:spPr>
          <a:xfrm>
            <a:off x="2476500" y="3962400"/>
            <a:ext cx="1638300" cy="742950"/>
          </a:xfrm>
          <a:prstGeom prst="roundRect">
            <a:avLst>
              <a:gd name="adj" fmla="val 15385"/>
            </a:avLst>
          </a:prstGeom>
          <a:solidFill>
            <a:srgbClr val="203650"/>
          </a:solidFill>
          <a:ln w="28575">
            <a:solidFill>
              <a:srgbClr val="FFFFFF"/>
            </a:solidFill>
          </a:ln>
        </p:spPr>
        <p:txBody>
          <a:bodyPr lIns="76200" tIns="76200" rIns="76200" bIns="76200" anchor="ctr"/>
          <a:lstStyle>
            <a:defPPr algn="ctr"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후보 B</a:t>
            </a:r>
          </a:p>
        </p:txBody>
      </p:sp>
      <p:sp>
        <p:nvSpPr>
          <p:cNvPr id="19" name="Respawn candidate C">
            <a:extLst>
              <a:ext uri="{FF2B5EF4-FFF2-40B4-BE49-F238E27FC236}">
                <ns2:creationId id="{DFAC5BFC-9F56-46A5-8A59-36DA2F98DB28}"/>
              </a:ext>
            </a:extLst>
          </p:cNvPr>
          <p:cNvSpPr>
            <a:spLocks noGrp="1"/>
          </p:cNvSpPr>
          <p:nvPr/>
        </p:nvSpPr>
        <p:spPr>
          <a:xfrm>
            <a:off x="4343400" y="3962400"/>
            <a:ext cx="1638300" cy="742950"/>
          </a:xfrm>
          <a:prstGeom prst="roundRect">
            <a:avLst>
              <a:gd name="adj" fmla="val 15385"/>
            </a:avLst>
          </a:prstGeom>
          <a:solidFill>
            <a:srgbClr val="203650"/>
          </a:solidFill>
          <a:ln w="14288">
            <a:solidFill>
              <a:srgbClr val="4DA3FF"/>
            </a:solidFill>
          </a:ln>
        </p:spPr>
        <p:txBody>
          <a:bodyPr lIns="76200" tIns="76200" rIns="76200" bIns="76200" anchor="ctr"/>
          <a:lstStyle>
            <a:defPPr algn="ctr"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8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후보 C</a:t>
            </a:r>
          </a:p>
        </p:txBody>
      </p:sp>
      <p:sp>
        <p:nvSpPr>
          <p:cNvPr id="20" name="Respawn candidate D">
            <a:extLst>
              <a:ext uri="{FF2B5EF4-FFF2-40B4-BE49-F238E27FC236}">
                <ns2:creationId id="{578D5B9B-34EF-4220-BB5A-8795B4F9288E}"/>
              </a:ext>
            </a:extLst>
          </p:cNvPr>
          <p:cNvSpPr>
            <a:spLocks noGrp="1"/>
          </p:cNvSpPr>
          <p:nvPr/>
        </p:nvSpPr>
        <p:spPr>
          <a:xfrm>
            <a:off x="6210300" y="3962400"/>
            <a:ext cx="1638300" cy="742950"/>
          </a:xfrm>
          <a:prstGeom prst="roundRect">
            <a:avLst>
              <a:gd name="adj" fmla="val 15385"/>
            </a:avLst>
          </a:prstGeom>
          <a:solidFill>
            <a:srgbClr val="20252D"/>
          </a:solidFill>
          <a:ln w="14288">
            <a:solidFill>
              <a:srgbClr val="657183"/>
            </a:solidFill>
          </a:ln>
        </p:spPr>
        <p:txBody>
          <a:bodyPr lIns="76200" tIns="76200" rIns="76200" bIns="76200" anchor="ctr"/>
          <a:lstStyle>
            <a:defPPr algn="ctr"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pPr>
            <a:r>
              <a:t>후보 D</a:t>
            </a:r>
          </a:p>
        </p:txBody>
      </p:sp>
      <p:sp>
        <p:nvSpPr>
          <p:cNvPr id="21" name="Respawn candidate E">
            <a:extLst>
              <a:ext uri="{FF2B5EF4-FFF2-40B4-BE49-F238E27FC236}">
                <ns2:creationId id="{F3D75257-9906-40EB-9C8A-34AB2BBB04A5}"/>
              </a:ext>
            </a:extLst>
          </p:cNvPr>
          <p:cNvSpPr>
            <a:spLocks noGrp="1"/>
          </p:cNvSpPr>
          <p:nvPr/>
        </p:nvSpPr>
        <p:spPr>
          <a:xfrm>
            <a:off x="8077200" y="3962400"/>
            <a:ext cx="1638300" cy="742950"/>
          </a:xfrm>
          <a:prstGeom prst="roundRect">
            <a:avLst>
              <a:gd name="adj" fmla="val 15385"/>
            </a:avLst>
          </a:prstGeom>
          <a:solidFill>
            <a:srgbClr val="20252D"/>
          </a:solidFill>
          <a:ln w="14288">
            <a:solidFill>
              <a:srgbClr val="657183"/>
            </a:solidFill>
          </a:ln>
        </p:spPr>
        <p:txBody>
          <a:bodyPr lIns="76200" tIns="76200" rIns="76200" bIns="76200" anchor="ctr"/>
          <a:lstStyle>
            <a:defPPr algn="ctr"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pPr>
            <a:r>
              <a:t>후보 E</a:t>
            </a:r>
          </a:p>
        </p:txBody>
      </p:sp>
      <p:sp>
        <p:nvSpPr>
          <p:cNvPr id="22" name="Respawn candidate F">
            <a:extLst>
              <a:ext uri="{FF2B5EF4-FFF2-40B4-BE49-F238E27FC236}">
                <ns2:creationId id="{A1A20D5C-7476-4227-88EE-3722F5A5F21D}"/>
              </a:ext>
            </a:extLst>
          </p:cNvPr>
          <p:cNvSpPr>
            <a:spLocks noGrp="1"/>
          </p:cNvSpPr>
          <p:nvPr/>
        </p:nvSpPr>
        <p:spPr>
          <a:xfrm>
            <a:off x="9944100" y="3962400"/>
            <a:ext cx="1638300" cy="742950"/>
          </a:xfrm>
          <a:prstGeom prst="roundRect">
            <a:avLst>
              <a:gd name="adj" fmla="val 15385"/>
            </a:avLst>
          </a:prstGeom>
          <a:solidFill>
            <a:srgbClr val="20252D"/>
          </a:solidFill>
          <a:ln w="14288">
            <a:solidFill>
              <a:srgbClr val="657183"/>
            </a:solidFill>
          </a:ln>
        </p:spPr>
        <p:txBody>
          <a:bodyPr lIns="76200" tIns="76200" rIns="76200" bIns="76200" anchor="ctr"/>
          <a:lstStyle>
            <a:defPPr algn="ctr"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875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pPr>
            <a:r>
              <a:t>후보 F</a:t>
            </a:r>
          </a:p>
        </p:txBody>
      </p:sp>
      <p:sp>
        <p:nvSpPr>
          <p:cNvPr id="23" name="Respawn selected example">
            <a:extLst>
              <a:ext uri="{FF2B5EF4-FFF2-40B4-BE49-F238E27FC236}">
                <ns2:creationId id="{66848359-1CC9-420E-AC7E-FC61F6295E35}"/>
              </a:ext>
            </a:extLst>
          </p:cNvPr>
          <p:cNvSpPr>
            <a:spLocks noGrp="1"/>
          </p:cNvSpPr>
          <p:nvPr/>
        </p:nvSpPr>
        <p:spPr>
          <a:xfrm>
            <a:off x="2476500" y="4781550"/>
            <a:ext cx="1638300" cy="2571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 algn="ctr"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42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선택 예시</a:t>
            </a:r>
          </a:p>
        </p:txBody>
      </p:sp>
      <p:sp>
        <p:nvSpPr>
          <p:cNvPr id="24" name="Respawn retained group">
            <a:extLst>
              <a:ext uri="{FF2B5EF4-FFF2-40B4-BE49-F238E27FC236}">
                <ns2:creationId id="{CD633AC0-178F-4502-98E5-52F1CBE52D2B}"/>
              </a:ext>
            </a:extLst>
          </p:cNvPr>
          <p:cNvSpPr>
            <a:spLocks noGrp="1"/>
          </p:cNvSpPr>
          <p:nvPr/>
        </p:nvSpPr>
        <p:spPr>
          <a:xfrm>
            <a:off x="609600" y="5191125"/>
            <a:ext cx="5372100" cy="552450"/>
          </a:xfrm>
          <a:prstGeom prst="roundRect">
            <a:avLst>
              <a:gd name="adj" fmla="val 20690"/>
            </a:avLst>
          </a:prstGeom>
          <a:solidFill>
            <a:srgbClr val="1F2530"/>
          </a:solidFill>
          <a:ln w="14288">
            <a:solidFill>
              <a:srgbClr val="4DA3FF"/>
            </a:solidFill>
          </a:ln>
        </p:spPr>
        <p:txBody>
          <a:bodyPr lIns="76200" tIns="76200" rIns="76200" bIns="76200" anchor="ctr"/>
          <a:lstStyle>
            <a:defPPr algn="ctr"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먼 절반 유지: A / B / C</a:t>
            </a:r>
          </a:p>
        </p:txBody>
      </p:sp>
      <p:sp>
        <p:nvSpPr>
          <p:cNvPr id="25" name="Respawn excluded group">
            <a:extLst>
              <a:ext uri="{FF2B5EF4-FFF2-40B4-BE49-F238E27FC236}">
                <ns2:creationId id="{E2026358-182B-480F-BDD6-750F27F8F84B}"/>
              </a:ext>
            </a:extLst>
          </p:cNvPr>
          <p:cNvSpPr>
            <a:spLocks noGrp="1"/>
          </p:cNvSpPr>
          <p:nvPr/>
        </p:nvSpPr>
        <p:spPr>
          <a:xfrm>
            <a:off x="6210300" y="5191125"/>
            <a:ext cx="5372100" cy="552450"/>
          </a:xfrm>
          <a:prstGeom prst="roundRect">
            <a:avLst>
              <a:gd name="adj" fmla="val 20690"/>
            </a:avLst>
          </a:prstGeom>
          <a:solidFill>
            <a:srgbClr val="1F2530"/>
          </a:solidFill>
          <a:ln w="14288">
            <a:solidFill>
              <a:srgbClr val="657183"/>
            </a:solidFill>
          </a:ln>
        </p:spPr>
        <p:txBody>
          <a:bodyPr lIns="76200" tIns="76200" rIns="76200" bIns="76200" anchor="ctr"/>
          <a:lstStyle>
            <a:defPPr algn="ctr">
              <a:defRPr sz="1650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650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650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650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650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650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650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650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650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650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650" b="0">
                <a:solidFill>
                  <a:srgbClr val="AAB3C0"/>
                </a:solidFill>
                <a:latin typeface="Noto Sans KR"/>
                <a:ea typeface="Noto Sans KR"/>
                <a:cs typeface="Noto Sans KR"/>
              </a:defRPr>
            </a:pPr>
            <a:r>
              <a:t>가까운 절반 제외: D / E / F</a:t>
            </a:r>
          </a:p>
        </p:txBody>
      </p:sp>
      <p:sp>
        <p:nvSpPr>
          <p:cNvPr id="26" name="Respawn exact count">
            <a:extLst>
              <a:ext uri="{FF2B5EF4-FFF2-40B4-BE49-F238E27FC236}">
                <ns2:creationId id="{1278DA6B-F98D-4B7B-A2D0-3E543DFC20F7}"/>
              </a:ext>
            </a:extLst>
          </p:cNvPr>
          <p:cNvSpPr>
            <a:spLocks noGrp="1"/>
          </p:cNvSpPr>
          <p:nvPr/>
        </p:nvSpPr>
        <p:spPr>
          <a:xfrm>
            <a:off x="609600" y="5800725"/>
            <a:ext cx="89535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 algn="l"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t>먼 절반: 내림(N / 2), 최소 1곳. 같은 거리는 무작위로 순서 결정</a:t>
            </a:r>
          </a:p>
        </p:txBody>
      </p:sp>
      <p:sp>
        <p:nvSpPr>
          <p:cNvPr id="27" name="Respawn safety limit">
            <a:extLst>
              <a:ext uri="{FF2B5EF4-FFF2-40B4-BE49-F238E27FC236}">
                <ns2:creationId id="{F2E07DF1-F777-41C6-B346-E7B1C73FAF34}"/>
              </a:ext>
            </a:extLst>
          </p:cNvPr>
          <p:cNvSpPr>
            <a:spLocks noGrp="1"/>
          </p:cNvSpPr>
          <p:nvPr/>
        </p:nvSpPr>
        <p:spPr>
          <a:xfrm>
            <a:off x="609600" y="6057900"/>
            <a:ext cx="895350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 algn="l"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t>거리 기준 선택이며 주변 적의 존재 여부는 검사하지 않음</a:t>
            </a:r>
          </a:p>
        </p:txBody>
      </p:sp>
      <p:sp>
        <p:nvSpPr>
          <p:cNvPr id="28" name="Respawn code link">
            <a:extLst>
              <a:ext uri="{FF2B5EF4-FFF2-40B4-BE49-F238E27FC236}">
                <ns2:creationId id="{8F8C0BCA-8806-47AF-A7AA-2A5698656821}"/>
              </a:ext>
            </a:extLst>
          </p:cNvPr>
          <p:cNvSpPr>
            <a:spLocks noGrp="1"/>
          </p:cNvSpPr>
          <p:nvPr/>
        </p:nvSpPr>
        <p:spPr>
          <a:xfrm>
            <a:off x="9544050" y="6096000"/>
            <a:ext cx="2038350" cy="247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/>
          <a:lstStyle>
            <a:defPPr algn="l">
              <a:def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88" b="0">
                <a:solidFill>
                  <a:srgbClr val="64E0D7"/>
                </a:solidFill>
                <a:latin typeface="Noto Sans KR"/>
                <a:ea typeface="Noto Sans KR"/>
                <a:cs typeface="Noto Sans KR"/>
              </a:defRPr>
            </a:pPr>
            <a:endParaRPr/>
          </a:p>
        </p:txBody>
      </p:sp>
      <p:sp>
        <p:nvSpPr>
          <p:cNvPr id="29" name="Respawn context">
            <a:extLst>
              <a:ext uri="{FF2B5EF4-FFF2-40B4-BE49-F238E27FC236}">
                <ns2:creationId id="{AB3C48B8-4768-46F8-B705-5468BF03623F}"/>
              </a:ext>
            </a:extLst>
          </p:cNvPr>
          <p:cNvSpPr>
            <a:spLocks noGrp="1"/>
          </p:cNvSpPr>
          <p:nvPr/>
        </p:nvSpPr>
        <p:spPr>
          <a:xfrm>
            <a:off x="609600" y="1133475"/>
            <a:ext cx="10972800" cy="22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425" b="0">
                <a:solidFill>
                  <a:srgbClr val="778899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425" b="0">
                <a:solidFill>
                  <a:srgbClr val="778899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425" b="0">
                <a:solidFill>
                  <a:srgbClr val="778899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425" b="0">
                <a:solidFill>
                  <a:srgbClr val="778899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425" b="0">
                <a:solidFill>
                  <a:srgbClr val="778899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425" b="0">
                <a:solidFill>
                  <a:srgbClr val="778899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425" b="0">
                <a:solidFill>
                  <a:srgbClr val="778899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425" b="0">
                <a:solidFill>
                  <a:srgbClr val="778899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425" b="0">
                <a:solidFill>
                  <a:srgbClr val="778899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425" b="0">
                <a:solidFill>
                  <a:srgbClr val="778899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425" b="0">
                <a:solidFill>
                  <a:srgbClr val="778899"/>
                </a:solidFill>
                <a:latin typeface="Noto Sans KR"/>
                <a:ea typeface="Noto Sans KR"/>
                <a:cs typeface="Noto Sans KR"/>
              </a:defRPr>
            </a:pPr>
            <a:r>
              <a:t>사망 처리 후 새 캐릭터를 배치할 위치를 선택하는 단계</a:t>
            </a:r>
          </a:p>
        </p:txBody>
      </p:sp>
      <p:pic>
        <p:nvPicPr>
          <p:cNvPr id="30" name="그림 29">
            <a:extLst>
              <a:ext uri="{FF2B5EF4-FFF2-40B4-BE49-F238E27FC236}">
                <ns2:creationId id="{666F2C15-3813-437E-83E8-2B2213EFFF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609600" y="6362700"/>
            <a:ext cx="190500" cy="186612"/>
          </a:xfrm>
          <a:prstGeom prst="rect">
            <a:avLst/>
          </a:prstGeom>
        </p:spPr>
      </p:pic>
      <p:sp>
        <p:nvSpPr>
          <p:cNvPr id="31" name="GitHub code link 0">
            <a:extLst>
              <a:ext uri="{FF2B5EF4-FFF2-40B4-BE49-F238E27FC236}">
                <ns2:creationId id="{29DFD70D-A302-450D-A2E5-B72C2C7D7ECD}"/>
              </a:ext>
            </a:extLst>
          </p:cNvPr>
          <p:cNvSpPr>
            <a:spLocks noGrp="1"/>
          </p:cNvSpPr>
          <p:nvPr/>
        </p:nvSpPr>
        <p:spPr>
          <a:xfrm>
            <a:off x="895350" y="6334125"/>
            <a:ext cx="10610850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sz="1388" u="sng">
                <a:solidFill>
                  <a:srgbClr val="7DD3FC"/>
                </a:solidFill>
                <a:latin typeface="Noto Sans KR"/>
                <a:ea typeface="Noto Sans KR"/>
                <a:cs typeface="Noto Sans KR"/>
                <a:hlinkClick r:id="rId3"/>
              </a:rPr>
              <a:t>GitHub / 스폰 / 리스폰</a:t>
            </a:r>
          </a:p>
        </p:txBody>
      </p:sp>
    </p:spTree>
    <p:extLst>
      <p:ext uri="{BB962C8B-B14F-4D97-AF65-F5344CB8AC3E}">
        <ns4:creationId val="1350670552"/>
      </p:ext>
    </p:extLst>
  </p:cSld>
  <p:clrMapOvr>
    <a:masterClrMapping/>
  </p:clrMapOvr>
</p:sld>
</file>

<file path=ppt/slides/slide25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ns2:creationId id="{2CFE3EBD-EB20-42ED-899B-12C8D5FD8AB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8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ns2:creationId id="{9B6BFC95-D67C-44E0-AA3E-6EAD6D696DC8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DA3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SOURCE &amp; CONTACT</a:t>
            </a:r>
          </a:p>
        </p:txBody>
      </p:sp>
      <p:sp>
        <p:nvSpPr>
          <p:cNvPr id="4" name="TextBox 3">
            <a:extLst>
              <a:ext uri="{FF2B5EF4-FFF2-40B4-BE49-F238E27FC236}">
                <ns2:creationId id="{16AD111B-268C-430D-A685-91983B600964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소스 코드와 연락처</a:t>
            </a:r>
          </a:p>
        </p:txBody>
      </p:sp>
      <p:sp>
        <p:nvSpPr>
          <p:cNvPr id="5" name="Rounded Rectangle 4">
            <a:extLst>
              <a:ext uri="{FF2B5EF4-FFF2-40B4-BE49-F238E27FC236}">
                <ns2:creationId id="{005CB708-AA48-4937-9536-DC9A88EF52AC}"/>
              </a:ext>
            </a:extLst>
          </p:cNvPr>
          <p:cNvSpPr>
            <a:spLocks noGrp="1"/>
          </p:cNvSpPr>
          <p:nvPr/>
        </p:nvSpPr>
        <p:spPr>
          <a:xfrm>
            <a:off x="609600" y="1409700"/>
            <a:ext cx="5276850" cy="1962150"/>
          </a:xfrm>
          <a:prstGeom prst="roundRect">
            <a:avLst/>
          </a:prstGeom>
          <a:solidFill>
            <a:srgbClr val="1F2530"/>
          </a:solidFill>
          <a:ln>
            <a:solidFill>
              <a:srgbClr val="3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42900" tIns="247650" rIns="228600" bIns="152400" anchor="t">
            <a:noAutofit/>
          </a:bodyPr>
          <a:lstStyle>
            <a:defPPr algn="l">
              <a:defRPr sz="153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53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개인 구현 코드 저장소</a:t>
            </a:r>
          </a:p>
          <a:p>
            <a:pPr algn="l">
              <a:buNone/>
              <a:defRPr sz="153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6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buNone/>
              <a:defRPr sz="153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3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C++ / WPF 도구 / 선별한 무기 Blueprint 수록</a:t>
            </a:r>
          </a:p>
          <a:p>
            <a:pPr algn="l">
              <a:buNone/>
              <a:defRPr sz="153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4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buNone/>
              <a:defRPr sz="153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7DD3FC"/>
                </a:solidFill>
                <a:latin typeface="Noto Sans KR"/>
                <a:ea typeface="Noto Sans KR"/>
                <a:cs typeface="Noto Sans KR"/>
                <a:hlinkClick r:id="rId2"/>
              </a:rPr>
              <a:t>GitHub 코드</a:t>
            </a:r>
            <a:r>
              <a:rPr sz="1388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/ </a:t>
            </a:r>
            <a:r>
              <a:rPr sz="1388" b="0" u="sng">
                <a:solidFill>
                  <a:srgbClr val="7DD3FC"/>
                </a:solidFill>
                <a:latin typeface="Noto Sans KR"/>
                <a:ea typeface="Noto Sans KR"/>
                <a:cs typeface="Noto Sans KR"/>
                <a:hlinkClick r:id="rId3"/>
              </a:rPr>
              <a:t>Notion 기술 문서</a:t>
            </a:r>
          </a:p>
        </p:txBody>
      </p:sp>
      <p:sp>
        <p:nvSpPr>
          <p:cNvPr id="6" name="Rounded Rectangle 5">
            <a:extLst>
              <a:ext uri="{FF2B5EF4-FFF2-40B4-BE49-F238E27FC236}">
                <ns2:creationId id="{D342A5DF-C971-4D33-8B4C-352E4CC56939}"/>
              </a:ext>
            </a:extLst>
          </p:cNvPr>
          <p:cNvSpPr>
            <a:spLocks noGrp="1"/>
          </p:cNvSpPr>
          <p:nvPr/>
        </p:nvSpPr>
        <p:spPr>
          <a:xfrm>
            <a:off x="6115050" y="1409700"/>
            <a:ext cx="5467350" cy="1962150"/>
          </a:xfrm>
          <a:prstGeom prst="roundRect">
            <a:avLst/>
          </a:prstGeom>
          <a:solidFill>
            <a:srgbClr val="1F2530"/>
          </a:solidFill>
          <a:ln>
            <a:solidFill>
              <a:srgbClr val="3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66700" tIns="228600" rIns="228600" bIns="171450" anchor="t">
            <a:noAutofit/>
          </a:bodyPr>
          <a:lstStyle>
            <a:defPPr algn="l"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박장한 / 게임플레이 프로그래머</a:t>
            </a:r>
          </a:p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60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개발 기간  2025.12 ~ 현재 진행 중</a:t>
            </a:r>
          </a:p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450" b="0">
                <a:solidFill>
                  <a:srgbClr val="D1DBE8"/>
                </a:solidFill>
                <a:latin typeface="Noto Sans KR"/>
                <a:ea typeface="Noto Sans KR"/>
                <a:cs typeface="Noto Sans KR"/>
              </a:rPr>
              <a:t> </a:t>
            </a:r>
          </a:p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7DD3FC"/>
                </a:solidFill>
                <a:latin typeface="Noto Sans KR"/>
                <a:ea typeface="Noto Sans KR"/>
                <a:cs typeface="Noto Sans KR"/>
                <a:hlinkClick r:id="rId4"/>
              </a:rPr>
              <a:t>wkdgks88009@gmail.com</a:t>
            </a:r>
          </a:p>
          <a:p>
            <a: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388" b="0" u="sng">
                <a:solidFill>
                  <a:srgbClr val="7DD3FC"/>
                </a:solidFill>
                <a:latin typeface="Noto Sans KR"/>
                <a:ea typeface="Noto Sans KR"/>
                <a:cs typeface="Noto Sans KR"/>
                <a:hlinkClick r:id="rId5"/>
              </a:rPr>
              <a:t>GitHub  msg1150</a:t>
            </a:r>
          </a:p>
        </p:txBody>
      </p:sp>
      <p:sp>
        <p:nvSpPr>
          <p:cNvPr id="7" name="Rounded Rectangle 6">
            <a:extLst>
              <a:ext uri="{FF2B5EF4-FFF2-40B4-BE49-F238E27FC236}">
                <ns2:creationId id="{A5788AF7-F7B8-4B83-8415-82DB4CC6770A}"/>
              </a:ext>
            </a:extLst>
          </p:cNvPr>
          <p:cNvSpPr>
            <a:spLocks noGrp="1"/>
          </p:cNvSpPr>
          <p:nvPr/>
        </p:nvSpPr>
        <p:spPr>
          <a:xfrm>
            <a:off x="609600" y="5657850"/>
            <a:ext cx="10972800" cy="609600"/>
          </a:xfrm>
          <a:prstGeom prst="roundRect">
            <a:avLst/>
          </a:prstGeom>
          <a:solidFill>
            <a:srgbClr val="1F2530"/>
          </a:solidFill>
          <a:ln>
            <a:solidFill>
              <a:srgbClr val="344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9550" tIns="95250" rIns="209550" bIns="76200" anchor="t">
            <a:noAutofit/>
          </a:bodyPr>
          <a:lstStyle>
            <a:defPPr algn="l"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spcBef>
                <a:spcPts val="0"/>
              </a:spcBef>
              <a:spcAft>
                <a:spcPts val="0"/>
              </a:spcAft>
              <a:buNone/>
              <a:defRPr sz="1575" b="0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실행 안내: </a:t>
            </a:r>
            <a:r>
              <a:rPr sz="127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실행과 테스트에는 원본 프로젝트와 Unreal Engine 5.6.1 환경이 필요합니다.</a:t>
            </a:r>
          </a:p>
        </p:txBody>
      </p:sp>
      <p:sp>
        <p:nvSpPr>
          <p:cNvPr id="8" name="직사각형 7">
            <a:extLst>
              <a:ext uri="{FF2B5EF4-FFF2-40B4-BE49-F238E27FC236}">
                <ns2:creationId id="{09B83C62-55FE-4293-A920-E7FC853C4A6C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796AA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21</a:t>
            </a:r>
          </a:p>
        </p:txBody>
      </p:sp>
      <p:sp>
        <p:nvSpPr>
          <p:cNvPr id="9" name="Automation Test scenarios">
            <a:extLst>
              <a:ext uri="{FF2B5EF4-FFF2-40B4-BE49-F238E27FC236}">
                <ns2:creationId id="{3DD5A1C5-2438-404F-A1A3-9095EBC2D254}"/>
              </a:ext>
            </a:extLst>
          </p:cNvPr>
          <p:cNvSpPr>
            <a:spLocks noGrp="1"/>
          </p:cNvSpPr>
          <p:nvPr/>
        </p:nvSpPr>
        <p:spPr>
          <a:xfrm>
            <a:off x="609600" y="3581400"/>
            <a:ext cx="10972800" cy="1866900"/>
          </a:xfrm>
          <a:prstGeom prst="roundRect">
            <a:avLst>
              <a:gd name="adj" fmla="val 4082"/>
            </a:avLst>
          </a:prstGeom>
          <a:solidFill>
            <a:srgbClr val="1F2530"/>
          </a:solidFill>
          <a:ln w="13335">
            <a:solidFill>
              <a:srgbClr val="4DA3FF"/>
            </a:solidFill>
          </a:ln>
        </p:spPr>
        <p:txBody>
          <a:bodyPr wrap="square" lIns="304800" tIns="228600" rIns="266700" bIns="190500" anchor="t">
            <a:noAutofit/>
          </a:bodyPr>
          <a:lstStyle>
            <a:defPPr algn="l">
              <a:defRPr sz="142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575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575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575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575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575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575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575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575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575">
                <a:solidFill>
                  <a:srgbClr val="D1DBE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spcAft>
                <a:spcPts val="8"/>
              </a:spcAft>
              <a:defRPr sz="142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Unreal Automation Test: 경계 조건 반복 검사</a:t>
            </a:r>
          </a:p>
          <a:p>
            <a:pPr algn="l">
              <a:defRPr sz="142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자동화 목적: 코드 변경 후 같은 조건을 반복 검사하는 테스트 시나리오 작성</a:t>
            </a:r>
          </a:p>
          <a:p>
            <a:pPr algn="l">
              <a:defRPr sz="142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투사체: </a:t>
            </a:r>
            <a:r>
              <a:rPr sz="1425" b="1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충돌 순서 / 벽 가림 / 합류 지점의 시간 분할</a:t>
            </a:r>
          </a:p>
          <a:p>
            <a:pPr algn="l">
              <a:defRPr sz="142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1인칭 렌더링: 충돌 영역 내 스케일과 FOV / Near Clip 입력 검사</a:t>
            </a:r>
          </a:p>
          <a:p>
            <a:pPr algn="l">
              <a:defRPr sz="1425">
                <a:solidFill>
                  <a:srgbClr val="CBD5E1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CBD5E1"/>
                </a:solidFill>
                <a:latin typeface="Noto Sans KR"/>
                <a:ea typeface="Noto Sans KR"/>
                <a:cs typeface="Noto Sans KR"/>
              </a:rPr>
              <a:t>공간 포탈: 좌표 / 속도 변환, 투영, 통과 조건과 도착 충돌</a:t>
            </a:r>
          </a:p>
        </p:txBody>
      </p:sp>
      <p:pic>
        <p:nvPicPr>
          <p:cNvPr id="10" name="그림 9">
            <a:extLst>
              <a:ext uri="{FF2B5EF4-FFF2-40B4-BE49-F238E27FC236}">
                <ns2:creationId id="{3503B763-7303-4297-AE8B-E9C2AD7E81A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609600" y="6362700"/>
            <a:ext cx="190500" cy="186612"/>
          </a:xfrm>
          <a:prstGeom prst="rect">
            <a:avLst/>
          </a:prstGeom>
        </p:spPr>
      </p:pic>
      <p:sp>
        <p:nvSpPr>
          <p:cNvPr id="11" name="GitHub code link 0">
            <a:extLst>
              <a:ext uri="{FF2B5EF4-FFF2-40B4-BE49-F238E27FC236}">
                <ns2:creationId id="{01410B54-0A53-4C8D-8893-5D47F218D8DF}"/>
              </a:ext>
            </a:extLst>
          </p:cNvPr>
          <p:cNvSpPr>
            <a:spLocks noGrp="1"/>
          </p:cNvSpPr>
          <p:nvPr/>
        </p:nvSpPr>
        <p:spPr>
          <a:xfrm>
            <a:off x="895350" y="6334125"/>
            <a:ext cx="2381250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sz="1388" u="sng">
                <a:solidFill>
                  <a:srgbClr val="7DD3FC"/>
                </a:solidFill>
                <a:latin typeface="Noto Sans KR"/>
                <a:ea typeface="Noto Sans KR"/>
                <a:cs typeface="Noto Sans KR"/>
                <a:hlinkClick r:id="rId7"/>
              </a:rPr>
              <a:t>GitHub / 충돌 테스트</a:t>
            </a:r>
          </a:p>
        </p:txBody>
      </p:sp>
      <p:pic>
        <p:nvPicPr>
          <p:cNvPr id="12" name="그림 11">
            <a:extLst>
              <a:ext uri="{FF2B5EF4-FFF2-40B4-BE49-F238E27FC236}">
                <ns2:creationId id="{D73F9054-54A3-479A-83A9-281D600B02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3352800" y="6362700"/>
            <a:ext cx="190500" cy="186612"/>
          </a:xfrm>
          <a:prstGeom prst="rect">
            <a:avLst/>
          </a:prstGeom>
        </p:spPr>
      </p:pic>
      <p:sp>
        <p:nvSpPr>
          <p:cNvPr id="13" name="GitHub code link 1">
            <a:extLst>
              <a:ext uri="{FF2B5EF4-FFF2-40B4-BE49-F238E27FC236}">
                <ns2:creationId id="{51814EAB-5D3F-4A3D-ABDD-F2EB7BE2D113}"/>
              </a:ext>
            </a:extLst>
          </p:cNvPr>
          <p:cNvSpPr>
            <a:spLocks noGrp="1"/>
          </p:cNvSpPr>
          <p:nvPr/>
        </p:nvSpPr>
        <p:spPr>
          <a:xfrm>
            <a:off x="3638550" y="6334125"/>
            <a:ext cx="2381250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sz="1388" u="sng">
                <a:solidFill>
                  <a:srgbClr val="7DD3FC"/>
                </a:solidFill>
                <a:latin typeface="Noto Sans KR"/>
                <a:ea typeface="Noto Sans KR"/>
                <a:cs typeface="Noto Sans KR"/>
                <a:hlinkClick r:id="rId8"/>
              </a:rPr>
              <a:t>GitHub / 합류 테스트</a:t>
            </a:r>
          </a:p>
        </p:txBody>
      </p:sp>
      <p:pic>
        <p:nvPicPr>
          <p:cNvPr id="14" name="그림 13">
            <a:extLst>
              <a:ext uri="{FF2B5EF4-FFF2-40B4-BE49-F238E27FC236}">
                <ns2:creationId id="{C2B2DAD0-C6BA-4DED-8143-F88B4BECF1C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6096000" y="6362700"/>
            <a:ext cx="190500" cy="186612"/>
          </a:xfrm>
          <a:prstGeom prst="rect">
            <a:avLst/>
          </a:prstGeom>
        </p:spPr>
      </p:pic>
      <p:sp>
        <p:nvSpPr>
          <p:cNvPr id="15" name="GitHub code link 2">
            <a:extLst>
              <a:ext uri="{FF2B5EF4-FFF2-40B4-BE49-F238E27FC236}">
                <ns2:creationId id="{E97106E7-EE64-41C8-88D3-64FA0915BB5E}"/>
              </a:ext>
            </a:extLst>
          </p:cNvPr>
          <p:cNvSpPr>
            <a:spLocks noGrp="1"/>
          </p:cNvSpPr>
          <p:nvPr/>
        </p:nvSpPr>
        <p:spPr>
          <a:xfrm>
            <a:off x="6381750" y="6334125"/>
            <a:ext cx="2381250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sz="1388" u="sng">
                <a:solidFill>
                  <a:srgbClr val="7DD3FC"/>
                </a:solidFill>
                <a:latin typeface="Noto Sans KR"/>
                <a:ea typeface="Noto Sans KR"/>
                <a:cs typeface="Noto Sans KR"/>
                <a:hlinkClick r:id="rId9"/>
              </a:rPr>
              <a:t>GitHub / 렌더링 테스트</a:t>
            </a:r>
          </a:p>
        </p:txBody>
      </p:sp>
      <p:pic>
        <p:nvPicPr>
          <p:cNvPr id="16" name="그림 15">
            <a:extLst>
              <a:ext uri="{FF2B5EF4-FFF2-40B4-BE49-F238E27FC236}">
                <ns2:creationId id="{92812ED0-4FE7-4358-BB9C-39E86C52AC0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8839200" y="6362700"/>
            <a:ext cx="190500" cy="186612"/>
          </a:xfrm>
          <a:prstGeom prst="rect">
            <a:avLst/>
          </a:prstGeom>
        </p:spPr>
      </p:pic>
      <p:sp>
        <p:nvSpPr>
          <p:cNvPr id="17" name="GitHub code link 3">
            <a:extLst>
              <a:ext uri="{FF2B5EF4-FFF2-40B4-BE49-F238E27FC236}">
                <ns2:creationId id="{51EAB897-B3E4-4338-9A42-5012C2412039}"/>
              </a:ext>
            </a:extLst>
          </p:cNvPr>
          <p:cNvSpPr>
            <a:spLocks noGrp="1"/>
          </p:cNvSpPr>
          <p:nvPr/>
        </p:nvSpPr>
        <p:spPr>
          <a:xfrm>
            <a:off x="9124950" y="6334125"/>
            <a:ext cx="2381250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sz="1388" u="sng">
                <a:solidFill>
                  <a:srgbClr val="7DD3FC"/>
                </a:solidFill>
                <a:latin typeface="Noto Sans KR"/>
                <a:ea typeface="Noto Sans KR"/>
                <a:cs typeface="Noto Sans KR"/>
                <a:hlinkClick r:id="rId10"/>
              </a:rPr>
              <a:t>GitHub / 포탈 테스트</a:t>
            </a:r>
          </a:p>
        </p:txBody>
      </p:sp>
      <p:pic>
        <p:nvPicPr>
          <p:cNvPr id="18" name="그림 17">
            <a:extLst>
              <a:ext uri="{FF2B5EF4-FFF2-40B4-BE49-F238E27FC236}">
                <ns2:creationId id="{BF1DBE83-DB5F-468A-89EB-240DF9674D9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800100" y="2457450"/>
            <a:ext cx="171450" cy="167951"/>
          </a:xfrm>
          <a:prstGeom prst="rect">
            <a:avLst/>
          </a:prstGeom>
        </p:spPr>
      </p:pic>
    </p:spTree>
    <p:extLst>
      <p:ext uri="{BB962C8B-B14F-4D97-AF65-F5344CB8AC3E}">
        <ns4:creationId val="1613311315"/>
      </p:ext>
    </p:extLst>
  </p:cSld>
  <p:clrMapOvr>
    <a:masterClrMapping/>
  </p:clrMapOvr>
</p:sld>
</file>

<file path=ppt/slides/slide26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81C24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40" name="Section">
            <a:extLst>
              <a:ext uri="{FF2B5EF4-FFF2-40B4-BE49-F238E27FC236}">
                <ns2:creationId id="{DD71CF33-5EEC-46BF-9EA3-5C2C4553AAC9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49A6FF"/>
                </a:solidFill>
                <a:latin typeface="Noto Sans KR"/>
                <a:ea typeface="Noto Sans KR"/>
                <a:cs typeface="Noto Sans KR"/>
              </a:rPr>
              <a:t>핵심 구현 3/5 | PORTAL CLIPPING</a:t>
            </a:r>
          </a:p>
        </p:txBody>
      </p:sp>
      <p:sp>
        <p:nvSpPr>
          <p:cNvPr id="2" name="Title">
            <a:extLst>
              <a:ext uri="{FF2B5EF4-FFF2-40B4-BE49-F238E27FC236}">
                <ns2:creationId id="{829569E2-3D9E-4648-930D-711E214A35C9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10972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출구 면을 렌더링 시작 경계로 설정</a:t>
            </a:r>
          </a:p>
        </p:txBody>
      </p:sp>
      <p:sp>
        <p:nvSpPr>
          <p:cNvPr id="3" name="Goal">
            <a:extLst>
              <a:ext uri="{FF2B5EF4-FFF2-40B4-BE49-F238E27FC236}">
                <ns2:creationId id="{AF705F8C-B3E9-4426-8992-9EC88F56F292}"/>
              </a:ext>
            </a:extLst>
          </p:cNvPr>
          <p:cNvSpPr>
            <a:spLocks noGrp="1"/>
          </p:cNvSpPr>
          <p:nvPr/>
        </p:nvSpPr>
        <p:spPr>
          <a:xfrm>
            <a:off x="609600" y="1295400"/>
            <a:ext cx="10972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구현 목표: 가상 카메라와 출구 사이의 벽이 포탈 화면을 가리지 않도록 처리</a:t>
            </a:r>
          </a:p>
        </p:txBody>
      </p:sp>
      <p:sp>
        <p:nvSpPr>
          <p:cNvPr id="4" name="DiagramLabel">
            <a:extLst>
              <a:ext uri="{FF2B5EF4-FFF2-40B4-BE49-F238E27FC236}">
                <ns2:creationId id="{52AC4924-D20F-4662-B905-9404A4EDE756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6762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출구 측 공간을 옆에서 본 개념도</a:t>
            </a:r>
          </a:p>
        </p:txBody>
      </p:sp>
      <p:sp>
        <p:nvSpPr>
          <p:cNvPr id="5" name="ExcludedVolume">
            <a:extLst>
              <a:ext uri="{FF2B5EF4-FFF2-40B4-BE49-F238E27FC236}">
                <ns2:creationId id="{B4E4D9EB-2D93-4A90-BFB6-8D21F54B50F7}"/>
              </a:ext>
            </a:extLst>
          </p:cNvPr>
          <p:cNvSpPr>
            <a:spLocks noGrp="1"/>
          </p:cNvSpPr>
          <p:nvPr/>
        </p:nvSpPr>
        <p:spPr>
          <a:xfrm>
            <a:off x="1333500" y="2714625"/>
            <a:ext cx="3048000" cy="1143000"/>
          </a:xfrm>
          <a:custGeom>
            <a:pathLst>
              <a:path w="3048000" h="1143000">
                <a:moveTo>
                  <a:pt x="0" y="571500"/>
                </a:moveTo>
                <a:lnTo>
                  <a:pt x="3048000" y="0"/>
                </a:lnTo>
                <a:lnTo>
                  <a:pt x="3048000" y="1143000"/>
                </a:lnTo>
                <a:close/>
              </a:path>
            </a:pathLst>
          </a:custGeom>
          <a:solidFill>
            <a:srgbClr val="30262D"/>
          </a:solidFill>
          <a:ln w="0">
            <a:noFill/>
            <a:prstDash val="solid"/>
          </a:ln>
        </p:spPr>
      </p:sp>
      <p:sp>
        <p:nvSpPr>
          <p:cNvPr id="6" name="VisibleVolume">
            <a:extLst>
              <a:ext uri="{FF2B5EF4-FFF2-40B4-BE49-F238E27FC236}">
                <ns2:creationId id="{154AB92E-FE43-4CD1-A12F-26EDE0F2770B}"/>
              </a:ext>
            </a:extLst>
          </p:cNvPr>
          <p:cNvSpPr>
            <a:spLocks noGrp="1"/>
          </p:cNvSpPr>
          <p:nvPr/>
        </p:nvSpPr>
        <p:spPr>
          <a:xfrm>
            <a:off x="4381500" y="2178844"/>
            <a:ext cx="2857500" cy="2214563"/>
          </a:xfrm>
          <a:custGeom>
            <a:pathLst>
              <a:path w="2857500" h="2214563">
                <a:moveTo>
                  <a:pt x="0" y="535781"/>
                </a:moveTo>
                <a:lnTo>
                  <a:pt x="2857500" y="0"/>
                </a:lnTo>
                <a:lnTo>
                  <a:pt x="2857500" y="2214563"/>
                </a:lnTo>
                <a:lnTo>
                  <a:pt x="0" y="1678781"/>
                </a:lnTo>
                <a:close/>
              </a:path>
            </a:pathLst>
          </a:custGeom>
          <a:solidFill>
            <a:srgbClr val="1C2E42"/>
          </a:solidFill>
          <a:ln w="0">
            <a:noFill/>
            <a:prstDash val="solid"/>
          </a:ln>
        </p:spPr>
      </p:sp>
      <p:sp>
        <p:nvSpPr>
          <p:cNvPr id="7" name="RayTop">
            <a:extLst>
              <a:ext uri="{FF2B5EF4-FFF2-40B4-BE49-F238E27FC236}">
                <ns2:creationId id="{45DCA64A-9226-4600-9907-71073A829252}"/>
              </a:ext>
            </a:extLst>
          </p:cNvPr>
          <p:cNvSpPr>
            <a:spLocks noGrp="1"/>
          </p:cNvSpPr>
          <p:nvPr/>
        </p:nvSpPr>
        <p:spPr>
          <a:xfrm>
            <a:off x="1333500" y="2239566"/>
            <a:ext cx="5581650" cy="1046559"/>
          </a:xfrm>
          <a:custGeom>
            <a:pathLst>
              <a:path w="5581650" h="1046559">
                <a:moveTo>
                  <a:pt x="0" y="1046559"/>
                </a:moveTo>
                <a:lnTo>
                  <a:pt x="3048000" y="475059"/>
                </a:lnTo>
                <a:lnTo>
                  <a:pt x="5581650" y="0"/>
                </a:lnTo>
              </a:path>
            </a:pathLst>
          </a:custGeom>
          <a:noFill/>
          <a:ln w="14288">
            <a:solidFill>
              <a:srgbClr val="8092A5"/>
            </a:solidFill>
            <a:prstDash val="dash"/>
          </a:ln>
        </p:spPr>
      </p:sp>
      <p:sp>
        <p:nvSpPr>
          <p:cNvPr id="8" name="RayBottom">
            <a:extLst>
              <a:ext uri="{FF2B5EF4-FFF2-40B4-BE49-F238E27FC236}">
                <ns2:creationId id="{C5EF8C92-5BDA-4F12-95CC-6C0C16380E67}"/>
              </a:ext>
            </a:extLst>
          </p:cNvPr>
          <p:cNvSpPr>
            <a:spLocks noGrp="1"/>
          </p:cNvSpPr>
          <p:nvPr/>
        </p:nvSpPr>
        <p:spPr>
          <a:xfrm>
            <a:off x="1333500" y="3286125"/>
            <a:ext cx="5581650" cy="1046559"/>
          </a:xfrm>
          <a:custGeom>
            <a:pathLst>
              <a:path w="5581650" h="1046559">
                <a:moveTo>
                  <a:pt x="0" y="0"/>
                </a:moveTo>
                <a:lnTo>
                  <a:pt x="3048000" y="571500"/>
                </a:lnTo>
                <a:lnTo>
                  <a:pt x="5581650" y="1046559"/>
                </a:lnTo>
              </a:path>
            </a:pathLst>
          </a:custGeom>
          <a:noFill/>
          <a:ln w="14288">
            <a:solidFill>
              <a:srgbClr val="8092A5"/>
            </a:solidFill>
            <a:prstDash val="dash"/>
          </a:ln>
        </p:spPr>
      </p:sp>
      <p:sp>
        <p:nvSpPr>
          <p:cNvPr id="9" name="IntermediateWall">
            <a:extLst>
              <a:ext uri="{FF2B5EF4-FFF2-40B4-BE49-F238E27FC236}">
                <ns2:creationId id="{97B3A97D-CED1-44D7-9859-3AE0E74D2099}"/>
              </a:ext>
            </a:extLst>
          </p:cNvPr>
          <p:cNvSpPr>
            <a:spLocks noGrp="1"/>
          </p:cNvSpPr>
          <p:nvPr/>
        </p:nvSpPr>
        <p:spPr>
          <a:xfrm>
            <a:off x="2771775" y="2686050"/>
            <a:ext cx="228600" cy="1200150"/>
          </a:xfrm>
          <a:prstGeom prst="rect">
            <a:avLst/>
          </a:prstGeom>
          <a:solidFill>
            <a:srgbClr val="53505A"/>
          </a:solidFill>
          <a:ln w="19050">
            <a:solidFill>
              <a:srgbClr val="FF7B83"/>
            </a:solidFill>
            <a:prstDash val="solid"/>
          </a:ln>
        </p:spPr>
      </p:sp>
      <p:sp>
        <p:nvSpPr>
          <p:cNvPr id="10" name="WallHatch1">
            <a:extLst>
              <a:ext uri="{FF2B5EF4-FFF2-40B4-BE49-F238E27FC236}">
                <ns2:creationId id="{4206774E-521A-4C59-B46F-9B70AD93985C}"/>
              </a:ext>
            </a:extLst>
          </p:cNvPr>
          <p:cNvSpPr>
            <a:spLocks noGrp="1"/>
          </p:cNvSpPr>
          <p:nvPr/>
        </p:nvSpPr>
        <p:spPr>
          <a:xfrm>
            <a:off x="2790825" y="2800350"/>
            <a:ext cx="190500" cy="190500"/>
          </a:xfrm>
          <a:custGeom>
            <a:pathLst>
              <a:path w="190500" h="190500">
                <a:moveTo>
                  <a:pt x="0" y="0"/>
                </a:moveTo>
                <a:lnTo>
                  <a:pt x="190500" y="190500"/>
                </a:lnTo>
              </a:path>
            </a:pathLst>
          </a:custGeom>
          <a:noFill/>
          <a:ln w="11430">
            <a:solidFill>
              <a:srgbClr val="FF7B83"/>
            </a:solidFill>
            <a:prstDash val="solid"/>
          </a:ln>
        </p:spPr>
      </p:sp>
      <p:sp>
        <p:nvSpPr>
          <p:cNvPr id="11" name="WallHatch2">
            <a:extLst>
              <a:ext uri="{FF2B5EF4-FFF2-40B4-BE49-F238E27FC236}">
                <ns2:creationId id="{D8E7D543-747B-47A7-A6AE-D7C16D00901E}"/>
              </a:ext>
            </a:extLst>
          </p:cNvPr>
          <p:cNvSpPr>
            <a:spLocks noGrp="1"/>
          </p:cNvSpPr>
          <p:nvPr/>
        </p:nvSpPr>
        <p:spPr>
          <a:xfrm>
            <a:off x="2790825" y="3105150"/>
            <a:ext cx="190500" cy="190500"/>
          </a:xfrm>
          <a:custGeom>
            <a:pathLst>
              <a:path w="190500" h="190500">
                <a:moveTo>
                  <a:pt x="0" y="0"/>
                </a:moveTo>
                <a:lnTo>
                  <a:pt x="190500" y="190500"/>
                </a:lnTo>
              </a:path>
            </a:pathLst>
          </a:custGeom>
          <a:noFill/>
          <a:ln w="11430">
            <a:solidFill>
              <a:srgbClr val="FF7B83"/>
            </a:solidFill>
            <a:prstDash val="solid"/>
          </a:ln>
        </p:spPr>
      </p:sp>
      <p:sp>
        <p:nvSpPr>
          <p:cNvPr id="12" name="WallHatch3">
            <a:extLst>
              <a:ext uri="{FF2B5EF4-FFF2-40B4-BE49-F238E27FC236}">
                <ns2:creationId id="{79E3FD5E-00FF-4CD0-901B-115B65ADBF7B}"/>
              </a:ext>
            </a:extLst>
          </p:cNvPr>
          <p:cNvSpPr>
            <a:spLocks noGrp="1"/>
          </p:cNvSpPr>
          <p:nvPr/>
        </p:nvSpPr>
        <p:spPr>
          <a:xfrm>
            <a:off x="2790825" y="3409950"/>
            <a:ext cx="190500" cy="190500"/>
          </a:xfrm>
          <a:custGeom>
            <a:pathLst>
              <a:path w="190500" h="190500">
                <a:moveTo>
                  <a:pt x="0" y="0"/>
                </a:moveTo>
                <a:lnTo>
                  <a:pt x="190500" y="190500"/>
                </a:lnTo>
              </a:path>
            </a:pathLst>
          </a:custGeom>
          <a:noFill/>
          <a:ln w="11430">
            <a:solidFill>
              <a:srgbClr val="FF7B83"/>
            </a:solidFill>
            <a:prstDash val="solid"/>
          </a:ln>
        </p:spPr>
      </p:sp>
      <p:sp>
        <p:nvSpPr>
          <p:cNvPr id="13" name="WallHatch4">
            <a:extLst>
              <a:ext uri="{FF2B5EF4-FFF2-40B4-BE49-F238E27FC236}">
                <ns2:creationId id="{96528FAB-0926-489D-AB16-CC6FC17E7D23}"/>
              </a:ext>
            </a:extLst>
          </p:cNvPr>
          <p:cNvSpPr>
            <a:spLocks noGrp="1"/>
          </p:cNvSpPr>
          <p:nvPr/>
        </p:nvSpPr>
        <p:spPr>
          <a:xfrm>
            <a:off x="2790825" y="3714750"/>
            <a:ext cx="133350" cy="133350"/>
          </a:xfrm>
          <a:custGeom>
            <a:pathLst>
              <a:path w="133350" h="133350">
                <a:moveTo>
                  <a:pt x="0" y="0"/>
                </a:moveTo>
                <a:lnTo>
                  <a:pt x="133350" y="133350"/>
                </a:lnTo>
              </a:path>
            </a:pathLst>
          </a:custGeom>
          <a:noFill/>
          <a:ln w="11430">
            <a:solidFill>
              <a:srgbClr val="FF7B83"/>
            </a:solidFill>
            <a:prstDash val="solid"/>
          </a:ln>
        </p:spPr>
      </p:sp>
      <p:sp>
        <p:nvSpPr>
          <p:cNvPr id="14" name="ExitPlane">
            <a:extLst>
              <a:ext uri="{FF2B5EF4-FFF2-40B4-BE49-F238E27FC236}">
                <ns2:creationId id="{D4DA5248-4C77-42A2-B73F-C255E6621C0A}"/>
              </a:ext>
            </a:extLst>
          </p:cNvPr>
          <p:cNvSpPr>
            <a:spLocks noGrp="1"/>
          </p:cNvSpPr>
          <p:nvPr/>
        </p:nvSpPr>
        <p:spPr>
          <a:xfrm>
            <a:off x="4352925" y="2238375"/>
            <a:ext cx="57150" cy="2095500"/>
          </a:xfrm>
          <a:prstGeom prst="rect">
            <a:avLst/>
          </a:prstGeom>
          <a:solidFill>
            <a:srgbClr val="49A6FF"/>
          </a:solidFill>
          <a:ln w="0">
            <a:noFill/>
            <a:prstDash val="solid"/>
          </a:ln>
        </p:spPr>
      </p:sp>
      <p:sp>
        <p:nvSpPr>
          <p:cNvPr id="15" name="VisibleObject">
            <a:extLst>
              <a:ext uri="{FF2B5EF4-FFF2-40B4-BE49-F238E27FC236}">
                <ns2:creationId id="{95268985-9A8C-4F1F-8096-5F08B4283FCC}"/>
              </a:ext>
            </a:extLst>
          </p:cNvPr>
          <p:cNvSpPr>
            <a:spLocks noGrp="1"/>
          </p:cNvSpPr>
          <p:nvPr/>
        </p:nvSpPr>
        <p:spPr>
          <a:xfrm>
            <a:off x="6124575" y="2886075"/>
            <a:ext cx="571500" cy="800100"/>
          </a:xfrm>
          <a:prstGeom prst="rect">
            <a:avLst/>
          </a:prstGeom>
          <a:solidFill>
            <a:srgbClr val="244B71"/>
          </a:solidFill>
          <a:ln w="19050">
            <a:solidFill>
              <a:srgbClr val="7DD3FC"/>
            </a:solidFill>
            <a:prstDash val="solid"/>
          </a:ln>
        </p:spPr>
      </p:sp>
      <p:sp>
        <p:nvSpPr>
          <p:cNvPr id="16" name="VirtualEye">
            <a:extLst>
              <a:ext uri="{FF2B5EF4-FFF2-40B4-BE49-F238E27FC236}">
                <ns2:creationId id="{47F813DD-1538-4D50-BEA3-432BE30BAD98}"/>
              </a:ext>
            </a:extLst>
          </p:cNvPr>
          <p:cNvSpPr>
            <a:spLocks noGrp="1"/>
          </p:cNvSpPr>
          <p:nvPr/>
        </p:nvSpPr>
        <p:spPr>
          <a:xfrm>
            <a:off x="1200150" y="3152775"/>
            <a:ext cx="266700" cy="266700"/>
          </a:xfrm>
          <a:prstGeom prst="ellipse">
            <a:avLst/>
          </a:prstGeom>
          <a:solidFill>
            <a:srgbClr val="181C24"/>
          </a:solidFill>
          <a:ln w="28575">
            <a:solidFill>
              <a:srgbClr val="FFCE72"/>
            </a:solidFill>
            <a:prstDash val="solid"/>
          </a:ln>
        </p:spPr>
      </p:sp>
      <p:sp>
        <p:nvSpPr>
          <p:cNvPr id="17" name="EyeDirection">
            <a:extLst>
              <a:ext uri="{FF2B5EF4-FFF2-40B4-BE49-F238E27FC236}">
                <ns2:creationId id="{551A7D5B-30DE-4350-83B3-9827E8B2AD2B}"/>
              </a:ext>
            </a:extLst>
          </p:cNvPr>
          <p:cNvSpPr>
            <a:spLocks noGrp="1"/>
          </p:cNvSpPr>
          <p:nvPr/>
        </p:nvSpPr>
        <p:spPr>
          <a:xfrm>
            <a:off x="1514475" y="3286125"/>
            <a:ext cx="247650" cy="9525"/>
          </a:xfrm>
          <a:custGeom>
            <a:pathLst>
              <a:path w="247650" h="9525">
                <a:moveTo>
                  <a:pt x="0" y="0"/>
                </a:moveTo>
                <a:lnTo>
                  <a:pt x="247650" y="0"/>
                </a:lnTo>
              </a:path>
            </a:pathLst>
          </a:custGeom>
          <a:noFill/>
          <a:ln w="19050">
            <a:solidFill>
              <a:srgbClr val="FFCE72"/>
            </a:solidFill>
            <a:prstDash val="solid"/>
          </a:ln>
        </p:spPr>
      </p:sp>
      <p:sp>
        <p:nvSpPr>
          <p:cNvPr id="18" name="EyeArrow">
            <a:extLst>
              <a:ext uri="{FF2B5EF4-FFF2-40B4-BE49-F238E27FC236}">
                <ns2:creationId id="{A001B088-3881-4E12-BDE7-CFEA2711AA99}"/>
              </a:ext>
            </a:extLst>
          </p:cNvPr>
          <p:cNvSpPr>
            <a:spLocks noGrp="1"/>
          </p:cNvSpPr>
          <p:nvPr/>
        </p:nvSpPr>
        <p:spPr>
          <a:xfrm>
            <a:off x="1704975" y="3238500"/>
            <a:ext cx="66675" cy="95250"/>
          </a:xfrm>
          <a:custGeom>
            <a:pathLst>
              <a:path w="66675" h="95250">
                <a:moveTo>
                  <a:pt x="0" y="0"/>
                </a:moveTo>
                <a:lnTo>
                  <a:pt x="66675" y="47625"/>
                </a:lnTo>
                <a:lnTo>
                  <a:pt x="0" y="95250"/>
                </a:lnTo>
              </a:path>
            </a:pathLst>
          </a:custGeom>
          <a:noFill/>
          <a:ln w="19050">
            <a:solidFill>
              <a:srgbClr val="FFCE72"/>
            </a:solidFill>
            <a:prstDash val="solid"/>
          </a:ln>
        </p:spPr>
      </p:sp>
      <p:sp>
        <p:nvSpPr>
          <p:cNvPr id="19" name="CameraLabel">
            <a:extLst>
              <a:ext uri="{FF2B5EF4-FFF2-40B4-BE49-F238E27FC236}">
                <ns2:creationId id="{9FFC73D1-E2DA-4DD1-8A33-28166CC370FA}"/>
              </a:ext>
            </a:extLst>
          </p:cNvPr>
          <p:cNvSpPr>
            <a:spLocks noGrp="1"/>
          </p:cNvSpPr>
          <p:nvPr/>
        </p:nvSpPr>
        <p:spPr>
          <a:xfrm>
            <a:off x="619125" y="3619500"/>
            <a:ext cx="16002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425" b="1">
                <a:solidFill>
                  <a:srgbClr val="FFCE72"/>
                </a:solidFill>
                <a:latin typeface="Noto Sans KR"/>
                <a:ea typeface="Noto Sans KR"/>
                <a:cs typeface="Noto Sans KR"/>
              </a:defRPr>
            </a:pPr>
            <a:r>
              <a:t>가상 카메라</a:t>
            </a:r>
          </a:p>
        </p:txBody>
      </p:sp>
      <p:sp>
        <p:nvSpPr>
          <p:cNvPr id="20" name="WallLabel">
            <a:extLst>
              <a:ext uri="{FF2B5EF4-FFF2-40B4-BE49-F238E27FC236}">
                <ns2:creationId id="{83A78A17-5D0C-4146-9AAD-7EE5FE7D9347}"/>
              </a:ext>
            </a:extLst>
          </p:cNvPr>
          <p:cNvSpPr>
            <a:spLocks noGrp="1"/>
          </p:cNvSpPr>
          <p:nvPr/>
        </p:nvSpPr>
        <p:spPr>
          <a:xfrm>
            <a:off x="2371725" y="4048125"/>
            <a:ext cx="1066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4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4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4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4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4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4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4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4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4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4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425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pPr>
            <a:r>
              <a:t>중간 벽</a:t>
            </a:r>
          </a:p>
        </p:txBody>
      </p:sp>
      <p:sp>
        <p:nvSpPr>
          <p:cNvPr id="21" name="NearPlaneLabel">
            <a:extLst>
              <a:ext uri="{FF2B5EF4-FFF2-40B4-BE49-F238E27FC236}">
                <ns2:creationId id="{03D83AB9-231F-421A-8166-48C8C5D162AF}"/>
              </a:ext>
            </a:extLst>
          </p:cNvPr>
          <p:cNvSpPr>
            <a:spLocks noGrp="1"/>
          </p:cNvSpPr>
          <p:nvPr/>
        </p:nvSpPr>
        <p:spPr>
          <a:xfrm>
            <a:off x="3476625" y="1847850"/>
            <a:ext cx="19335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425" b="1">
                <a:solidFill>
                  <a:srgbClr val="49A6FF"/>
                </a:solidFill>
                <a:latin typeface="Noto Sans KR"/>
                <a:ea typeface="Noto Sans KR"/>
                <a:cs typeface="Noto Sans KR"/>
              </a:defRPr>
            </a:pPr>
            <a:r>
              <a:t>출구 면 = Near Clip</a:t>
            </a:r>
          </a:p>
        </p:txBody>
      </p:sp>
      <p:sp>
        <p:nvSpPr>
          <p:cNvPr id="22" name="SceneLabel">
            <a:extLst>
              <a:ext uri="{FF2B5EF4-FFF2-40B4-BE49-F238E27FC236}">
                <ns2:creationId id="{C80F36EB-7B05-43D4-B7AD-68D81A5BF17B}"/>
              </a:ext>
            </a:extLst>
          </p:cNvPr>
          <p:cNvSpPr>
            <a:spLocks noGrp="1"/>
          </p:cNvSpPr>
          <p:nvPr/>
        </p:nvSpPr>
        <p:spPr>
          <a:xfrm>
            <a:off x="5591175" y="2571750"/>
            <a:ext cx="1657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buNone/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buNone/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buNone/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buNone/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buNone/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buNone/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buNone/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buNone/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buNone/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buNone/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t>출구 앞쪽 물체</a:t>
            </a:r>
          </a:p>
        </p:txBody>
      </p:sp>
      <p:sp>
        <p:nvSpPr>
          <p:cNvPr id="23" name="ExcludedLabel">
            <a:extLst>
              <a:ext uri="{FF2B5EF4-FFF2-40B4-BE49-F238E27FC236}">
                <ns2:creationId id="{7C846CC5-643B-4874-931B-C8357D1E71F2}"/>
              </a:ext>
            </a:extLst>
          </p:cNvPr>
          <p:cNvSpPr>
            <a:spLocks noGrp="1"/>
          </p:cNvSpPr>
          <p:nvPr/>
        </p:nvSpPr>
        <p:spPr>
          <a:xfrm>
            <a:off x="1857375" y="2343150"/>
            <a:ext cx="19716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ctr">
              <a:defRPr sz="1350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350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350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350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350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350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350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350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350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350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350" b="1">
                <a:solidFill>
                  <a:srgbClr val="FF7B83"/>
                </a:solidFill>
                <a:latin typeface="Noto Sans KR"/>
                <a:ea typeface="Noto Sans KR"/>
                <a:cs typeface="Noto Sans KR"/>
              </a:defRPr>
            </a:pPr>
            <a:r>
              <a:t>출구 이전: 잘라냄</a:t>
            </a:r>
          </a:p>
        </p:txBody>
      </p:sp>
      <p:sp>
        <p:nvSpPr>
          <p:cNvPr id="24" name="DiagramCaption">
            <a:extLst>
              <a:ext uri="{FF2B5EF4-FFF2-40B4-BE49-F238E27FC236}">
                <ns2:creationId id="{B8867E27-D288-4C46-AFEE-1772A71C1B0D}"/>
              </a:ext>
            </a:extLst>
          </p:cNvPr>
          <p:cNvSpPr>
            <a:spLocks noGrp="1"/>
          </p:cNvSpPr>
          <p:nvPr/>
        </p:nvSpPr>
        <p:spPr>
          <a:xfrm>
            <a:off x="609600" y="4600575"/>
            <a:ext cx="6667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카메라의 거리는 원근감 계산에 유지하고,</a:t>
            </a:r>
          </a:p>
          <a:p>
            <a: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출구 면부터 장면을 그립니다.</a:t>
            </a:r>
          </a:p>
        </p:txBody>
      </p:sp>
      <p:sp>
        <p:nvSpPr>
          <p:cNvPr id="25" name="Step1Title">
            <a:extLst>
              <a:ext uri="{FF2B5EF4-FFF2-40B4-BE49-F238E27FC236}">
                <ns2:creationId id="{CE29837D-35FF-48B9-81BF-6D3DCA8B6E00}"/>
              </a:ext>
            </a:extLst>
          </p:cNvPr>
          <p:cNvSpPr>
            <a:spLocks noGrp="1"/>
          </p:cNvSpPr>
          <p:nvPr/>
        </p:nvSpPr>
        <p:spPr>
          <a:xfrm>
            <a:off x="7848600" y="1838325"/>
            <a:ext cx="3733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1. 가상 카메라 위치 변환</a:t>
            </a:r>
          </a:p>
        </p:txBody>
      </p:sp>
      <p:sp>
        <p:nvSpPr>
          <p:cNvPr id="26" name="Step1Body">
            <a:extLst>
              <a:ext uri="{FF2B5EF4-FFF2-40B4-BE49-F238E27FC236}">
                <ns2:creationId id="{32462E00-FFF9-4E88-8C0C-427976DE42CC}"/>
              </a:ext>
            </a:extLst>
          </p:cNvPr>
          <p:cNvSpPr>
            <a:spLocks noGrp="1"/>
          </p:cNvSpPr>
          <p:nvPr/>
        </p:nvSpPr>
        <p:spPr>
          <a:xfrm>
            <a:off x="7848600" y="2209800"/>
            <a:ext cx="37338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입구 기준 플레이어 카메라 위치를</a:t>
            </a:r>
          </a:p>
          <a:p>
            <a: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출구 좌표계로 옮깁니다.</a:t>
            </a:r>
          </a:p>
        </p:txBody>
      </p:sp>
      <p:sp>
        <p:nvSpPr>
          <p:cNvPr id="27" name="Step2Title">
            <a:extLst>
              <a:ext uri="{FF2B5EF4-FFF2-40B4-BE49-F238E27FC236}">
                <ns2:creationId id="{3BEBCF95-9547-4C35-8F88-4C7068A4CC7D}"/>
              </a:ext>
            </a:extLst>
          </p:cNvPr>
          <p:cNvSpPr>
            <a:spLocks noGrp="1"/>
          </p:cNvSpPr>
          <p:nvPr/>
        </p:nvSpPr>
        <p:spPr>
          <a:xfrm>
            <a:off x="7848600" y="2971800"/>
            <a:ext cx="3733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2. 투영 행렬에 경계 반영</a:t>
            </a:r>
          </a:p>
        </p:txBody>
      </p:sp>
      <p:sp>
        <p:nvSpPr>
          <p:cNvPr id="28" name="Step2Body">
            <a:extLst>
              <a:ext uri="{FF2B5EF4-FFF2-40B4-BE49-F238E27FC236}">
                <ns2:creationId id="{CA024953-3364-430E-94CC-A2C609DF2341}"/>
              </a:ext>
            </a:extLst>
          </p:cNvPr>
          <p:cNvSpPr>
            <a:spLocks noGrp="1"/>
          </p:cNvSpPr>
          <p:nvPr/>
        </p:nvSpPr>
        <p:spPr>
          <a:xfrm>
            <a:off x="7848600" y="3343275"/>
            <a:ext cx="37338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포탈 크기와 카메라 거리로</a:t>
            </a:r>
          </a:p>
          <a:p>
            <a: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비대칭 투영을 계산하고, Near Clip을</a:t>
            </a:r>
          </a:p>
          <a:p>
            <a:pPr algn="l">
              <a:defRPr sz="142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출구 면에 맞춥니다.</a:t>
            </a:r>
          </a:p>
        </p:txBody>
      </p:sp>
      <p:sp>
        <p:nvSpPr>
          <p:cNvPr id="29" name="Step3Title">
            <a:extLst>
              <a:ext uri="{FF2B5EF4-FFF2-40B4-BE49-F238E27FC236}">
                <ns2:creationId id="{59F0F915-3546-4D68-9A4A-CC5AB2579D4B}"/>
              </a:ext>
            </a:extLst>
          </p:cNvPr>
          <p:cNvSpPr>
            <a:spLocks noGrp="1"/>
          </p:cNvSpPr>
          <p:nvPr/>
        </p:nvSpPr>
        <p:spPr>
          <a:xfrm>
            <a:off x="7848600" y="4333875"/>
            <a:ext cx="3733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3. SceneCapture에 적용</a:t>
            </a:r>
          </a:p>
        </p:txBody>
      </p:sp>
      <p:sp>
        <p:nvSpPr>
          <p:cNvPr id="30" name="Step3Body">
            <a:extLst>
              <a:ext uri="{FF2B5EF4-FFF2-40B4-BE49-F238E27FC236}">
                <ns2:creationId id="{376F984D-985A-41B9-A5FF-98315B175D71}"/>
              </a:ext>
            </a:extLst>
          </p:cNvPr>
          <p:cNvSpPr>
            <a:spLocks noGrp="1"/>
          </p:cNvSpPr>
          <p:nvPr/>
        </p:nvSpPr>
        <p:spPr>
          <a:xfrm>
            <a:off x="7848600" y="4705350"/>
            <a:ext cx="37338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buNone/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buNone/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buNone/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buNone/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buNone/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buNone/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buNone/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buNone/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buNone/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buNone/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계산한 비대칭 투영 행렬을 SceneCapture의</a:t>
            </a:r>
          </a:p>
          <a:p>
            <a:pPr algn="l">
              <a:buNone/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CustomProjectionMatrix에 적용합니다.</a:t>
            </a:r>
          </a:p>
          <a:p>
            <a:pPr algn="l">
              <a:buNone/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Global Clip Plane 전역 설정과</a:t>
            </a:r>
          </a:p>
          <a:p>
            <a:pPr algn="l">
              <a:buNone/>
              <a:defRPr sz="135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셰이더 재빌드 없이 클리핑을 처리합니다.</a:t>
            </a:r>
          </a:p>
        </p:txBody>
      </p:sp>
      <p:sp>
        <p:nvSpPr>
          <p:cNvPr id="31" name="CodeBackground">
            <a:extLst>
              <a:ext uri="{FF2B5EF4-FFF2-40B4-BE49-F238E27FC236}">
                <ns2:creationId id="{F69DB50E-195C-4C5D-93F0-033004C609A8}"/>
              </a:ext>
            </a:extLst>
          </p:cNvPr>
          <p:cNvSpPr>
            <a:spLocks noGrp="1"/>
          </p:cNvSpPr>
          <p:nvPr/>
        </p:nvSpPr>
        <p:spPr>
          <a:xfrm>
            <a:off x="609600" y="5248275"/>
            <a:ext cx="6762750" cy="742950"/>
          </a:xfrm>
          <a:prstGeom prst="rect">
            <a:avLst/>
          </a:prstGeom>
          <a:solidFill>
            <a:srgbClr val="10151D"/>
          </a:solidFill>
          <a:ln w="0">
            <a:noFill/>
            <a:prstDash val="solid"/>
          </a:ln>
        </p:spPr>
      </p:sp>
      <p:sp>
        <p:nvSpPr>
          <p:cNvPr id="32" name="CodeLabel">
            <a:extLst>
              <a:ext uri="{FF2B5EF4-FFF2-40B4-BE49-F238E27FC236}">
                <ns2:creationId id="{0E4D40CF-B668-4287-8261-4887DCA115FF}"/>
              </a:ext>
            </a:extLst>
          </p:cNvPr>
          <p:cNvSpPr>
            <a:spLocks noGrp="1"/>
          </p:cNvSpPr>
          <p:nvPr/>
        </p:nvSpPr>
        <p:spPr>
          <a:xfrm>
            <a:off x="742950" y="5314950"/>
            <a:ext cx="64960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125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125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125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125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125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125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125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125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125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125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125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t>BuildWindowProjection() / 투영 행렬의 깊이 항 발췌</a:t>
            </a:r>
          </a:p>
        </p:txBody>
      </p:sp>
      <p:sp>
        <p:nvSpPr>
          <p:cNvPr id="33" name="CodeDistance">
            <a:extLst>
              <a:ext uri="{FF2B5EF4-FFF2-40B4-BE49-F238E27FC236}">
                <ns2:creationId id="{F737C4F3-D123-4F01-94B6-3081DDD0D720}"/>
              </a:ext>
            </a:extLst>
          </p:cNvPr>
          <p:cNvSpPr>
            <a:spLocks noGrp="1"/>
          </p:cNvSpPr>
          <p:nvPr/>
        </p:nvSpPr>
        <p:spPr>
          <a:xfrm>
            <a:off x="742950" y="5572125"/>
            <a:ext cx="64960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9pPr>
          </a:lstStyle>
          <a:p>
            <a:pPr algn="l">
              <a:defRPr sz="1275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const double distance = -eye.X;</a:t>
            </a:r>
          </a:p>
        </p:txBody>
      </p:sp>
      <p:sp>
        <p:nvSpPr>
          <p:cNvPr id="34" name="CodeDepth">
            <a:extLst>
              <a:ext uri="{FF2B5EF4-FFF2-40B4-BE49-F238E27FC236}">
                <ns2:creationId id="{878531DD-E9EE-475D-9FC3-41667FCE506C}"/>
              </a:ext>
            </a:extLst>
          </p:cNvPr>
          <p:cNvSpPr>
            <a:spLocks noGrp="1"/>
          </p:cNvSpPr>
          <p:nvPr/>
        </p:nvSpPr>
        <p:spPr>
          <a:xfrm>
            <a:off x="742950" y="5800725"/>
            <a:ext cx="64960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2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2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2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2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2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2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2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2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2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2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lvl9pPr>
          </a:lstStyle>
          <a:p>
            <a:pPr algn="l">
              <a:defRPr sz="12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FPlane(0, 0, distance + FMath::Max(0.0, clipOffset), 0)</a:t>
            </a:r>
          </a:p>
        </p:txBody>
      </p:sp>
      <p:sp>
        <p:nvSpPr>
          <p:cNvPr id="35" name="CodeExplanation">
            <a:extLst>
              <a:ext uri="{FF2B5EF4-FFF2-40B4-BE49-F238E27FC236}">
                <ns2:creationId id="{8312E1B0-CBEC-4BE9-8BE2-77E9FFF055BA}"/>
              </a:ext>
            </a:extLst>
          </p:cNvPr>
          <p:cNvSpPr>
            <a:spLocks noGrp="1"/>
          </p:cNvSpPr>
          <p:nvPr/>
        </p:nvSpPr>
        <p:spPr>
          <a:xfrm>
            <a:off x="7848600" y="5638800"/>
            <a:ext cx="3733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2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2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2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2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2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2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2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2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2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2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2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현재 clipOffset = 0</a:t>
            </a:r>
          </a:p>
          <a:p>
            <a:pPr algn="l">
              <a:defRPr sz="1275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출구 면이 렌더링 시작 경계</a:t>
            </a:r>
          </a:p>
        </p:txBody>
      </p:sp>
      <p:sp>
        <p:nvSpPr>
          <p:cNvPr id="36" name="Verification">
            <a:extLst>
              <a:ext uri="{FF2B5EF4-FFF2-40B4-BE49-F238E27FC236}">
                <ns2:creationId id="{951ED421-F197-45D1-B3CD-1FDEDF54B2F0}"/>
              </a:ext>
            </a:extLst>
          </p:cNvPr>
          <p:cNvSpPr>
            <a:spLocks noGrp="1"/>
          </p:cNvSpPr>
          <p:nvPr/>
        </p:nvSpPr>
        <p:spPr>
          <a:xfrm>
            <a:off x="609600" y="6096000"/>
            <a:ext cx="10972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2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2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2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2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2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2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2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2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2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2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200" b="0">
                <a:solidFill>
                  <a:srgbClr val="BECAD8"/>
                </a:solidFill>
                <a:latin typeface="Noto Sans KR"/>
                <a:ea typeface="Noto Sans KR"/>
                <a:cs typeface="Noto Sans KR"/>
              </a:defRPr>
            </a:pPr>
            <a:r>
              <a:t>검증 코드: 출구 면 이전 / 이후 점의 깊이값을 비교해 클리핑 경계를 검사합니다.</a:t>
            </a:r>
          </a:p>
        </p:txBody>
      </p:sp>
      <p:sp>
        <p:nvSpPr>
          <p:cNvPr id="37" name="LinkProjection">
            <a:extLst>
              <a:ext uri="{FF2B5EF4-FFF2-40B4-BE49-F238E27FC236}">
                <ns2:creationId id="{B98B78D3-976D-4D4A-9D15-074AD8FF488C}"/>
              </a:ext>
            </a:extLst>
          </p:cNvPr>
          <p:cNvSpPr>
            <a:spLocks noGrp="1"/>
          </p:cNvSpPr>
          <p:nvPr/>
        </p:nvSpPr>
        <p:spPr>
          <a:xfrm>
            <a:off x="895350" y="6334125"/>
            <a:ext cx="438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solidFill>
                  <a:srgbClr val="7DD3FC"/>
                </a:solidFill>
                <a:hlinkClick r:id="R594936f70d464aa7"/>
              </a:rPr>
              <a:t>GitHub / 투영 행렬 구현</a:t>
            </a:r>
          </a:p>
        </p:txBody>
      </p:sp>
      <p:sp>
        <p:nvSpPr>
          <p:cNvPr id="38" name="LinkTests">
            <a:extLst>
              <a:ext uri="{FF2B5EF4-FFF2-40B4-BE49-F238E27FC236}">
                <ns2:creationId id="{41E167DB-7172-48E1-9C68-EC0762E8E68A}"/>
              </a:ext>
            </a:extLst>
          </p:cNvPr>
          <p:cNvSpPr>
            <a:spLocks noGrp="1"/>
          </p:cNvSpPr>
          <p:nvPr/>
        </p:nvSpPr>
        <p:spPr>
          <a:xfrm>
            <a:off x="6381750" y="6334125"/>
            <a:ext cx="438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l">
              <a:defRPr sz="1388" b="0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solidFill>
                  <a:srgbClr val="7DD3FC"/>
                </a:solidFill>
                <a:hlinkClick r:id="Rd5e676af673b484b"/>
              </a:rPr>
              <a:t>GitHub / 클리핑 경계 검증</a:t>
            </a:r>
          </a:p>
        </p:txBody>
      </p:sp>
      <p:sp>
        <p:nvSpPr>
          <p:cNvPr id="39" name="PageNumber">
            <a:extLst>
              <a:ext uri="{FF2B5EF4-FFF2-40B4-BE49-F238E27FC236}">
                <ns2:creationId id="{FB772B31-9B0F-4FDC-8914-6A9C368F7EF9}"/>
              </a:ext>
            </a:extLst>
          </p:cNvPr>
          <p:cNvSpPr>
            <a:spLocks noGrp="1"/>
          </p:cNvSpPr>
          <p:nvPr/>
        </p:nvSpPr>
        <p:spPr>
          <a:xfrm>
            <a:off x="11144250" y="6486525"/>
            <a:ext cx="438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>
            <a:defPPr algn="r"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defPPr>
            <a:lvl1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1pPr>
            <a:lvl2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2pPr>
            <a:lvl3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3pPr>
            <a:lvl4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4pPr>
            <a:lvl5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5pPr>
            <a:lvl6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6pPr>
            <a:lvl7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7pPr>
            <a:lvl8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8pPr>
            <a:lvl9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r">
              <a:buNone/>
              <a:def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8092A5"/>
                </a:solidFill>
                <a:latin typeface="Noto Sans KR"/>
                <a:ea typeface="Noto Sans KR"/>
                <a:cs typeface="Noto Sans KR"/>
              </a:rPr>
              <a:t>08</a:t>
            </a:r>
          </a:p>
        </p:txBody>
      </p:sp>
      <p:pic>
        <p:nvPicPr>
          <p:cNvPr id="41" name="GitHubClippingSource1">
            <a:extLst>
              <a:ext uri="{FF2B5EF4-FFF2-40B4-BE49-F238E27FC236}">
                <ns2:creationId id="{58B00E5B-5580-41BB-BE48-F56B56318422}"/>
              </a:ext>
            </a:extLst>
            <a:hlinkClick r:id="R594936f70d464aa7"/>
          </p:cNvPr>
          <p:cNvPicPr>
            <a:picLocks noChangeAspect="1"/>
          </p:cNvPicPr>
          <p:nvPr/>
        </p:nvPicPr>
        <p:blipFill>
          <a:blip r:embed="rIdGitHubIcon"/>
          <a:stretch/>
        </p:blipFill>
        <p:spPr>
          <a:xfrm>
            <a:off x="609600" y="6362700"/>
            <a:ext cx="190500" cy="186612"/>
          </a:xfrm>
          <a:prstGeom prst="rect">
            <a:avLst/>
          </a:prstGeom>
        </p:spPr>
      </p:pic>
      <p:pic>
        <p:nvPicPr>
          <p:cNvPr id="42" name="GitHubClippingSource2">
            <a:extLst>
              <a:ext uri="{FF2B5EF4-FFF2-40B4-BE49-F238E27FC236}">
                <ns2:creationId id="{58B00E5B-5580-41BB-BE48-F56B56318422}"/>
              </a:ext>
            </a:extLst>
            <a:hlinkClick r:id="Rd5e676af673b484b"/>
          </p:cNvPr>
          <p:cNvPicPr>
            <a:picLocks noChangeAspect="1"/>
          </p:cNvPicPr>
          <p:nvPr/>
        </p:nvPicPr>
        <p:blipFill>
          <a:blip r:embed="rIdGitHubIcon"/>
          <a:stretch/>
        </p:blipFill>
        <p:spPr>
          <a:xfrm>
            <a:off x="6096000" y="6362700"/>
            <a:ext cx="190500" cy="186612"/>
          </a:xfrm>
          <a:prstGeom prst="rect">
            <a:avLst/>
          </a:prstGeom>
        </p:spPr>
      </p:pic>
      <p:sp>
        <p:nvSpPr>
          <p:cNvPr id="43" name="SceneNormalLabel">
            <a:extLst>
              <a:ext uri="{FF2B5EF4-FFF2-40B4-BE49-F238E27FC236}">
                <ns2:creationId id="{D03B281A-0634-4F67-AC9F-24A013FBD2E6}"/>
              </a:ext>
            </a:extLst>
          </p:cNvPr>
          <p:cNvSpPr>
            <a:spLocks noGrp="1"/>
          </p:cNvSpPr>
          <p:nvPr/>
        </p:nvSpPr>
        <p:spPr>
          <a:xfrm>
            <a:off x="5762625" y="3781425"/>
            <a:ext cx="13335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>
            <a:defPPr algn="ctr"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defPPr>
            <a:lvl1pPr algn="ctr"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1pPr>
            <a:lvl2pPr algn="ctr"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2pPr>
            <a:lvl3pPr algn="ctr"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3pPr>
            <a:lvl4pPr algn="ctr"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4pPr>
            <a:lvl5pPr algn="ctr"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5pPr>
            <a:lvl6pPr algn="ctr"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6pPr>
            <a:lvl7pPr algn="ctr"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7pPr>
            <a:lvl8pPr algn="ctr"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8pPr>
            <a:lvl9pPr algn="ctr"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 algn="ctr">
              <a:defRPr sz="1350" b="1">
                <a:solidFill>
                  <a:srgbClr val="7DD3FC"/>
                </a:solidFill>
                <a:latin typeface="Noto Sans KR"/>
                <a:ea typeface="Noto Sans KR"/>
                <a:cs typeface="Noto Sans KR"/>
              </a:defRPr>
            </a:pPr>
            <a:r>
              <a:t>정상 표시</a:t>
            </a:r>
          </a:p>
        </p:txBody>
      </p:sp>
    </p:spTree>
    <p:extLst>
      <p:ext uri="{BB962C8B-B14F-4D97-AF65-F5344CB8AC3E}">
        <ns4:creationId val="1466954083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7DD3FC"/>
      </a:hlink>
      <a:folHlink>
        <a:srgbClr val="7DD3FC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ns0:Properties xmlns:ns0="http://schemas.openxmlformats.org/officeDocument/2006/extended-properties" xmlns:ns1="http://schemas.openxmlformats.org/officeDocument/2006/docPropsVTypes">
  <ns0:TotalTime>0</ns0:TotalTime>
  <ns0:Words>2356</ns0:Words>
  <ns0:Application>Microsoft Office PowerPoint</ns0:Application>
  <ns0:DocSecurity>0</ns0:DocSecurity>
  <ns0:PresentationFormat>와이드스크린</ns0:PresentationFormat>
  <ns0:Paragraphs>473</ns0:Paragraphs>
  <ns0:Slides>21</ns0:Slides>
  <ns0:Notes>0</ns0:Notes>
  <ns0:HiddenSlides>0</ns0:HiddenSlides>
  <ns0:MMClips>0</ns0:MMClips>
  <ns0:ScaleCrop>false</ns0:ScaleCrop>
  <ns0:HeadingPairs>
    <ns1:vector size="6" baseType="variant">
      <ns1:variant>
        <ns1:lpstr>사용한 글꼴</ns1:lpstr>
      </ns1:variant>
      <ns1:variant>
        <ns1:i4>3</ns1:i4>
      </ns1:variant>
      <ns1:variant>
        <ns1:lpstr>테마</ns1:lpstr>
      </ns1:variant>
      <ns1:variant>
        <ns1:i4>1</ns1:i4>
      </ns1:variant>
      <ns1:variant>
        <ns1:lpstr>슬라이드 제목</ns1:lpstr>
      </ns1:variant>
      <ns1:variant>
        <ns1:i4>21</ns1:i4>
      </ns1:variant>
    </ns1:vector>
  </ns0:HeadingPairs>
  <ns0:TitlesOfParts>
    <ns1:vector size="29" baseType="lpstr">
      <ns1:lpstr>Noto Sans KR</ns1:lpstr>
      <ns1:lpstr>Arial</ns1:lpstr>
      <ns1:lpstr>Calibri</ns1:lpstr>
      <ns1:lpstr>Office Theme</ns1:lpstr>
      <ns1:lpstr>PowerPoint 프레젠테이션</ns1:lpstr>
      <ns1:lpstr>PowerPoint 프레젠테이션</ns1:lpstr>
      <ns1:lpstr>PowerPoint 프레젠테이션</ns1:lpstr>
      <ns1:lpstr>PowerPoint 프레젠테이션</ns1:lpstr>
      <ns1:lpstr>PowerPoint 프레젠테이션</ns1:lpstr>
      <ns1:lpstr>PowerPoint 프레젠테이션</ns1:lpstr>
      <ns1:lpstr>PowerPoint 프레젠테이션</ns1:lpstr>
      <ns1:lpstr>PowerPoint 프레젠테이션</ns1:lpstr>
      <ns1:lpstr>PowerPoint 프레젠테이션</ns1:lpstr>
      <ns1:lpstr>PowerPoint 프레젠테이션</ns1:lpstr>
      <ns1:lpstr>PowerPoint 프레젠테이션</ns1:lpstr>
      <ns1:lpstr>PowerPoint 프레젠테이션</ns1:lpstr>
      <ns1:lpstr>PowerPoint 프레젠테이션</ns1:lpstr>
      <ns1:lpstr>PowerPoint 프레젠테이션</ns1:lpstr>
      <ns1:lpstr>PowerPoint 프레젠테이션</ns1:lpstr>
      <ns1:lpstr>PowerPoint 프레젠테이션</ns1:lpstr>
      <ns1:lpstr>PowerPoint 프레젠테이션</ns1:lpstr>
      <ns1:lpstr>PowerPoint 프레젠테이션</ns1:lpstr>
      <ns1:lpstr>PowerPoint 프레젠테이션</ns1:lpstr>
      <ns1:lpstr>PowerPoint 프레젠테이션</ns1:lpstr>
      <ns1:lpstr>PowerPoint 프레젠테이션</ns1:lpstr>
      <ns1:lpstr>PowerPoint 프레젠테이션</ns1:lpstr>
      <ns1:lpstr>PowerPoint 프레젠테이션</ns1:lpstr>
      <ns1:lpstr>PowerPoint 프레젠테이션</ns1:lpstr>
      <ns1:lpstr>PowerPoint 프레젠테이션</ns1:lpstr>
    </ns1:vector>
  </ns0:TitlesOfParts>
  <ns0:LinksUpToDate>false</ns0:LinksUpToDate>
  <ns0:SharedDoc>false</ns0:SharedDoc>
  <ns0:HyperlinksChanged>false</ns0:HyperlinksChanged>
  <ns0:AppVersion>16.0000</ns0:AppVersion>
</ns0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장한 박</cp:lastModifiedBy>
  <cp:revision>1</cp:revision>
  <dcterms:created xsi:type="dcterms:W3CDTF">2026-10-22T05:23:05Z</dcterms:created>
  <dcterms:modified xsi:type="dcterms:W3CDTF">2026-10-22T05:27:30Z</dcterms:modified>
</cp:coreProperties>
</file>