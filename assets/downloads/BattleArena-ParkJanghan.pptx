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gif" ContentType="image/gif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f6b8d710f44c38" /><Relationship Type="http://schemas.openxmlformats.org/officeDocument/2006/relationships/extended-properties" Target="/docProps/app.xml" Id="R90de321d98ca4aa3" /><Relationship Type="http://schemas.openxmlformats.org/officeDocument/2006/relationships/officeDocument" Target="/ppt/presentation.xml" Id="R48d4f8967cec4b07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896353492c554348"/>
  </p:sldMasterIdLst>
  <p:sldIdLst>
    <p:sldId id="256" r:id="R653fc92af83841f4"/>
    <p:sldId id="257" r:id="R8c229862cd0249ca"/>
    <p:sldId id="258" r:id="Rc3759f292eb8465b"/>
    <p:sldId id="259" r:id="Rf9cd914a60eb4ec0"/>
    <p:sldId id="260" r:id="R4e1e8191f96d4092"/>
    <p:sldId id="261" r:id="R8bcb194faed14abc"/>
    <p:sldId id="262" r:id="R0c77ea2f9cec48ac"/>
    <p:sldId id="263" r:id="R1cd006646a7649c2"/>
    <p:sldId id="264" r:id="R1d968bd839e64bf9"/>
    <p:sldId id="265" r:id="R6a7a6e05b8684334"/>
    <p:sldId id="266" r:id="R50e491e8042d4ec6"/>
    <p:sldId id="267" r:id="R8dc70af0afc649d5"/>
    <p:sldId id="268" r:id="Rc4dbbe209e8d4e3f"/>
    <p:sldId id="269" r:id="R8bc215fee6bf4a09"/>
    <p:sldId id="270" r:id="Rc5951aa6ff7f4e23"/>
    <p:sldId id="271" r:id="Rb098fe3b1f484389"/>
    <p:sldId id="272" r:id="R5ceb7bc475dd429c"/>
    <p:sldId id="273" r:id="R21ec3bffb6fe4b97"/>
    <p:sldId id="274" r:id="R6edb521b92594aab"/>
    <p:sldId id="275" r:id="Rb367db118a8346cf"/>
    <p:sldId id="276" r:id="R4db753cc5da34562"/>
    <p:sldId id="277" r:id="R9d3fc52924764ece"/>
    <p:sldId id="278" r:id="Rbdc9da809a814b31"/>
    <p:sldId id="279" r:id="R291f9ddc89bc439f"/>
  </p:sldIdLst>
  <p:sldSz cx="12192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b3e217d9d69e433e" /><Relationship Type="http://schemas.openxmlformats.org/officeDocument/2006/relationships/slideMaster" Target="/ppt/slideMasters/slideMaster1.xml" Id="R896353492c554348" /><Relationship Type="http://schemas.openxmlformats.org/officeDocument/2006/relationships/presProps" Target="/ppt/presProps.xml" Id="R7a77938036174725" /><Relationship Type="http://schemas.openxmlformats.org/officeDocument/2006/relationships/viewProps" Target="/ppt/viewProps.xml" Id="R59fc52e783c94661" /><Relationship Type="http://schemas.openxmlformats.org/officeDocument/2006/relationships/tableStyles" Target="/ppt/tableStyles.xml" Id="R5210608789c04a71" /><Relationship Type="http://schemas.openxmlformats.org/officeDocument/2006/relationships/slide" Target="/ppt/slides/slide1.xml" Id="R653fc92af83841f4" /><Relationship Type="http://schemas.openxmlformats.org/officeDocument/2006/relationships/slide" Target="/ppt/slides/slide2.xml" Id="R8c229862cd0249ca" /><Relationship Type="http://schemas.openxmlformats.org/officeDocument/2006/relationships/slide" Target="/ppt/slides/slide3.xml" Id="Rc3759f292eb8465b" /><Relationship Type="http://schemas.openxmlformats.org/officeDocument/2006/relationships/slide" Target="/ppt/slides/slide4.xml" Id="Rf9cd914a60eb4ec0" /><Relationship Type="http://schemas.openxmlformats.org/officeDocument/2006/relationships/slide" Target="/ppt/slides/slide5.xml" Id="R4e1e8191f96d4092" /><Relationship Type="http://schemas.openxmlformats.org/officeDocument/2006/relationships/slide" Target="/ppt/slides/slide6.xml" Id="R8bcb194faed14abc" /><Relationship Type="http://schemas.openxmlformats.org/officeDocument/2006/relationships/slide" Target="/ppt/slides/slide7.xml" Id="R0c77ea2f9cec48ac" /><Relationship Type="http://schemas.openxmlformats.org/officeDocument/2006/relationships/slide" Target="/ppt/slides/slide8.xml" Id="R1cd006646a7649c2" /><Relationship Type="http://schemas.openxmlformats.org/officeDocument/2006/relationships/slide" Target="/ppt/slides/slide9.xml" Id="R1d968bd839e64bf9" /><Relationship Type="http://schemas.openxmlformats.org/officeDocument/2006/relationships/slide" Target="/ppt/slides/slide10.xml" Id="R6a7a6e05b8684334" /><Relationship Type="http://schemas.openxmlformats.org/officeDocument/2006/relationships/slide" Target="/ppt/slides/slide11.xml" Id="R50e491e8042d4ec6" /><Relationship Type="http://schemas.openxmlformats.org/officeDocument/2006/relationships/slide" Target="/ppt/slides/slide12.xml" Id="R8dc70af0afc649d5" /><Relationship Type="http://schemas.openxmlformats.org/officeDocument/2006/relationships/slide" Target="/ppt/slides/slide13.xml" Id="Rc4dbbe209e8d4e3f" /><Relationship Type="http://schemas.openxmlformats.org/officeDocument/2006/relationships/slide" Target="/ppt/slides/slide14.xml" Id="R8bc215fee6bf4a09" /><Relationship Type="http://schemas.openxmlformats.org/officeDocument/2006/relationships/slide" Target="/ppt/slides/slide15.xml" Id="Rc5951aa6ff7f4e23" /><Relationship Type="http://schemas.openxmlformats.org/officeDocument/2006/relationships/slide" Target="/ppt/slides/slide16.xml" Id="Rb098fe3b1f484389" /><Relationship Type="http://schemas.openxmlformats.org/officeDocument/2006/relationships/slide" Target="/ppt/slides/slide17.xml" Id="R5ceb7bc475dd429c" /><Relationship Type="http://schemas.openxmlformats.org/officeDocument/2006/relationships/slide" Target="/ppt/slides/slide18.xml" Id="R21ec3bffb6fe4b97" /><Relationship Type="http://schemas.openxmlformats.org/officeDocument/2006/relationships/slide" Target="/ppt/slides/slide19.xml" Id="R6edb521b92594aab" /><Relationship Type="http://schemas.openxmlformats.org/officeDocument/2006/relationships/slide" Target="/ppt/slides/slide20.xml" Id="Rb367db118a8346cf" /><Relationship Type="http://schemas.openxmlformats.org/officeDocument/2006/relationships/slide" Target="/ppt/slides/slide21.xml" Id="R4db753cc5da34562" /><Relationship Type="http://schemas.openxmlformats.org/officeDocument/2006/relationships/slide" Target="/ppt/slides/slide22.xml" Id="R9d3fc52924764ece" /><Relationship Type="http://schemas.openxmlformats.org/officeDocument/2006/relationships/slide" Target="/ppt/slides/slide23.xml" Id="Rbdc9da809a814b31" /><Relationship Type="http://schemas.openxmlformats.org/officeDocument/2006/relationships/slide" Target="/ppt/slides/slide24.xml" Id="R291f9ddc89bc439f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ded878665d4d4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b4a0f0af624dc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8997850aab4db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c7cae1fd454ab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0b11855f794ab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c94d9f88c644f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a7521e2fa447b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79a0d252b84cf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0c4edf640f4c7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f4320b221d424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c3a1e3821b4d0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85D3DF4-0E79-4BC8-89E0-13DDCDE188C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4670F2C-C024-4D15-ADBF-9EF0FBA5C80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86008FB-5A2D-4A03-B310-536719E4EB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2026-10-17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85DC815-675E-4FE6-A19D-67EDAFCA81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C111EC7-61B3-4C7B-A411-2808B7613D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6741CA-6094-454A-98A2-ABE4E24897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FF73198-411B-44DA-8FD4-77D6865A2C7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CFEEAC-191D-43E8-8EDF-392920D743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2026-10-17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B818EFD-44F5-4166-A6BA-AE8E230439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309491D-E6FE-4291-B4F6-61FE51453E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AC9E44-E415-45FC-A27A-2E3166E2FF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A3B6E9-BF62-46FA-A5E9-EEE837BF98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70189B-02EF-4FD3-8362-76ED17DA5A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2026-10-17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CFC23AB-7323-437E-B541-5B5270319F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D6A209-0E52-416B-A483-3AA0B92A76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8DF84B2-CAD1-4A4C-B3FD-8357931B46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281F75B-C314-432B-B6FE-2FBE2045E2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350162C-0535-4759-B318-77FBABC8239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4840E52-F7C1-4821-83D2-28AA89DE6F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2026-10-17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BB841A1-4E43-41DB-AA8E-743666DC7D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2C10F5B-185D-4727-AC68-90FA8CFC1B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18A7EFB-66EB-434C-890A-DE4F2D1124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1B31ED1-21A6-4790-861B-746478C9DF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32A3C36-F3E5-4062-A53D-8CD1C0DB96F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BDC9F9A-E6CF-44C1-B7A1-3FEECF447B7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84B4BC1-30DD-45A9-960E-2C3A3F9D92D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3BD94F2-4993-456F-A79E-771682145A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2026-10-17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B88EA78C-0239-461C-810D-09B5FFEB46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9E66D8B-D011-4A87-A5ED-2659CE9AD0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EF4DB87-478B-44F9-8197-51D2CDE574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E2D1C1D-777E-453F-810E-6D691A5216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2026-10-17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9C1F193-0B57-419C-A517-7DC05DD2AC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C9D2407-3020-4835-89AD-5162E756AB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085499A-D551-42FF-B4FE-198E02367A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2026-10-17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C78D7CF-CBA9-40D6-9DE7-38EA891FC9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EF75762-8BBC-4881-9945-85FE263059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80EC97-D56D-4508-B094-89A0717AC1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EC3F130-AE1D-42F2-AE36-E4048868B27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0EF4B39-D996-473D-8514-54FCEDE91A9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C74338-1AD8-4AE5-BDCA-F96E869122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2026-10-17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549480E-17B8-41F5-86CF-EB4C3596CB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E58EF22-639F-47F9-A94A-373CD4B4A8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72D0CF9-FCD6-443E-BDBF-77F235CB5E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2C6D015-E383-49C4-8C30-6722A136885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9F834CB-014C-4296-8FA4-F5B26B31B0B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982E4D9-1AAC-473D-BEB6-594654742A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2026-10-17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359D9B0-008D-4976-B3A2-8ACC902AB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C89EF1E-8763-4C23-95B7-9015F88D3A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1BA0C8A-0EC9-44B6-8B7D-86DC0C8A35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08B4F5B-614E-4049-B91C-3D10A2B978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85DA442-D272-4F62-AEED-1E65913659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2026-10-17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2029A18-1C60-4C9C-9DA8-4385DDA159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8EA201B-C67E-4410-8984-FACE8480A8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5632463-3544-49A1-A949-FCBD0F95D3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CD5D8EF-A3CC-4E21-AB0F-FD54635BC1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433D82-1E1A-4CCB-A5D7-421020F829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2026-10-17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6A4C63E-23AE-4AD4-929F-DDE954FB0C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5BFD3D-CD8E-4A95-850B-5C7CFC7112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45454665004839" /><Relationship Type="http://schemas.openxmlformats.org/officeDocument/2006/relationships/slideLayout" Target="/ppt/slideLayouts/slideLayout1.xml" Id="R6903cbbcf053414b" /><Relationship Type="http://schemas.openxmlformats.org/officeDocument/2006/relationships/slideLayout" Target="/ppt/slideLayouts/slideLayout2.xml" Id="R8b16864bbaaf4964" /><Relationship Type="http://schemas.openxmlformats.org/officeDocument/2006/relationships/slideLayout" Target="/ppt/slideLayouts/slideLayout3.xml" Id="R754ccc0c906a4cbc" /><Relationship Type="http://schemas.openxmlformats.org/officeDocument/2006/relationships/slideLayout" Target="/ppt/slideLayouts/slideLayout4.xml" Id="R6ad322e34b3f4cdf" /><Relationship Type="http://schemas.openxmlformats.org/officeDocument/2006/relationships/slideLayout" Target="/ppt/slideLayouts/slideLayout5.xml" Id="R0258d195e2734b84" /><Relationship Type="http://schemas.openxmlformats.org/officeDocument/2006/relationships/slideLayout" Target="/ppt/slideLayouts/slideLayout6.xml" Id="R9bb7e237fbc448c8" /><Relationship Type="http://schemas.openxmlformats.org/officeDocument/2006/relationships/slideLayout" Target="/ppt/slideLayouts/slideLayout7.xml" Id="R767eb72de941428d" /><Relationship Type="http://schemas.openxmlformats.org/officeDocument/2006/relationships/slideLayout" Target="/ppt/slideLayouts/slideLayout8.xml" Id="R0cc5947551d14ef2" /><Relationship Type="http://schemas.openxmlformats.org/officeDocument/2006/relationships/slideLayout" Target="/ppt/slideLayouts/slideLayout9.xml" Id="Rb595697b40544a0c" /><Relationship Type="http://schemas.openxmlformats.org/officeDocument/2006/relationships/slideLayout" Target="/ppt/slideLayouts/slideLayout10.xml" Id="R2a06243fc03d4cc1" /><Relationship Type="http://schemas.openxmlformats.org/officeDocument/2006/relationships/slideLayout" Target="/ppt/slideLayouts/slideLayout11.xml" Id="Re26584863850485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C50920F-6327-4BB3-97C5-D3822AB0D0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0EBBBCD-344E-4F40-8EA2-53B151837E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D3024AA-0778-49DD-9BFA-C162A154EF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2026-10-17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2EC623B-00AF-4B51-BE7C-F3B92C8E70C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53109E3-4EA6-4E25-BA50-31A980A563E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03cbbcf053414b"/>
    <p:sldLayoutId xmlns:r="http://schemas.openxmlformats.org/officeDocument/2006/relationships" id="2147483650" r:id="R8b16864bbaaf4964"/>
    <p:sldLayoutId xmlns:r="http://schemas.openxmlformats.org/officeDocument/2006/relationships" id="2147483651" r:id="R754ccc0c906a4cbc"/>
    <p:sldLayoutId xmlns:r="http://schemas.openxmlformats.org/officeDocument/2006/relationships" id="2147483652" r:id="R6ad322e34b3f4cdf"/>
    <p:sldLayoutId xmlns:r="http://schemas.openxmlformats.org/officeDocument/2006/relationships" id="2147483653" r:id="R0258d195e2734b84"/>
    <p:sldLayoutId xmlns:r="http://schemas.openxmlformats.org/officeDocument/2006/relationships" id="2147483654" r:id="R9bb7e237fbc448c8"/>
    <p:sldLayoutId xmlns:r="http://schemas.openxmlformats.org/officeDocument/2006/relationships" id="2147483655" r:id="R767eb72de941428d"/>
    <p:sldLayoutId xmlns:r="http://schemas.openxmlformats.org/officeDocument/2006/relationships" id="2147483656" r:id="R0cc5947551d14ef2"/>
    <p:sldLayoutId xmlns:r="http://schemas.openxmlformats.org/officeDocument/2006/relationships" id="2147483657" r:id="Rb595697b40544a0c"/>
    <p:sldLayoutId xmlns:r="http://schemas.openxmlformats.org/officeDocument/2006/relationships" id="2147483658" r:id="R2a06243fc03d4cc1"/>
    <p:sldLayoutId xmlns:r="http://schemas.openxmlformats.org/officeDocument/2006/relationships" id="2147483659" r:id="Re265848638504855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DD3FC"/>
      </a:hlink>
      <a:folHlink>
        <a:srgbClr val="7DD3F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7.xml" Id="R40ba91251ced4794" /><Relationship Type="http://schemas.openxmlformats.org/officeDocument/2006/relationships/image" Target="/ppt/media/image.png" Id="R6fd742e56cf24069" /><Relationship Type="http://schemas.openxmlformats.org/officeDocument/2006/relationships/image" Target="/ppt/media/image.gif" Id="R85cb7c1c7e94494e" /><Relationship Type="http://schemas.openxmlformats.org/officeDocument/2006/relationships/image" Target="/ppt/media/image.svg" Id="R096428b9677646a2" /><Relationship Type="http://schemas.openxmlformats.org/officeDocument/2006/relationships/image" Target="/ppt/media/image2.png" Id="R888a5eed94bb426d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7.xml" Id="R798de9e3b41e4b42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7.xml" Id="R9e6a8d6b1595448d" /><Relationship Type="http://schemas.openxmlformats.org/officeDocument/2006/relationships/hyperlink" Target="https://github.com/msg1150/UnrealTeamProjectPortfolio/blob/fee0b72e4cc6236acfcb332139613f53fd87b244/Weapon/ProjectileConvergenceComponent.cpp" TargetMode="External" Id="R58e13ac1ba2a495a" /><Relationship Type="http://schemas.openxmlformats.org/officeDocument/2006/relationships/image" Target="/ppt/media/image.gif" Id="R3318afee10e248b5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7.xml" Id="R412ce006ea864e92" /><Relationship Type="http://schemas.openxmlformats.org/officeDocument/2006/relationships/hyperlink" Target="https://github.com/msg1150/UnrealTeamProjectPortfolio/blob/fee0b72e4cc6236acfcb332139613f53fd87b244/Weapon/ProjectileWorldCollisionComponent.cpp" TargetMode="External" Id="R66c0a0a6cbbc4e33" /><Relationship Type="http://schemas.openxmlformats.org/officeDocument/2006/relationships/image" Target="/ppt/media/image3.png" Id="R8c35d8039b4e48a0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7.xml" Id="Rf98bd22c524f43e4" /><Relationship Type="http://schemas.openxmlformats.org/officeDocument/2006/relationships/hyperlink" Target="https://github.com/msg1150/UnrealTeamProjectPortfolio/blob/2d5b0c733c93af8702e434e984767b7501b3d082/PathLink/PathLinkRouteFinder.cpp" TargetMode="External" Id="Rc4cc20a5420647fa" /><Relationship Type="http://schemas.openxmlformats.org/officeDocument/2006/relationships/image" Target="/ppt/media/image4.png" Id="R904edc96ed7e4a44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7.xml" Id="R34165d3dd61041bd" /><Relationship Type="http://schemas.openxmlformats.org/officeDocument/2006/relationships/hyperlink" Target="https://github.com/msg1150/UnrealTeamProjectPortfolio/blob/fee0b72e4cc6236acfcb332139613f53fd87b244/Teleport/SeamlessPortalActor.cpp#L363-L389" TargetMode="External" Id="R0c249bfed50e4e6f" /><Relationship Type="http://schemas.openxmlformats.org/officeDocument/2006/relationships/hyperlink" Target="https://github.com/msg1150/UnrealTeamProjectPortfolio/blob/fee0b72e4cc6236acfcb332139613f53fd87b244/Teleport/PortalViewSubsystem.cpp#L133-L230" TargetMode="External" Id="R65e51d22a4cb472e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7.xml" Id="Rcd5088ffe3034617" /><Relationship Type="http://schemas.openxmlformats.org/officeDocument/2006/relationships/image" Target="/ppt/media/image5.png" Id="Rc4956d13bf3d4e32" /><Relationship Type="http://schemas.openxmlformats.org/officeDocument/2006/relationships/image" Target="/ppt/media/image6.png" Id="R64e5db347a364abe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7.xml" Id="Rd1dcfd5b9ae54a66" /><Relationship Type="http://schemas.openxmlformats.org/officeDocument/2006/relationships/hyperlink" Target="https://github.com/msg1150/UnrealTeamProjectPortfolio/blob/fee0b72e4cc6236acfcb332139613f53fd87b244/Teleport/SeamlessPortalActor.cpp#L497-L610" TargetMode="External" Id="R30ce9eb8800d4cff" /><Relationship Type="http://schemas.openxmlformats.org/officeDocument/2006/relationships/hyperlink" Target="https://github.com/msg1150/UnrealTeamProjectPortfolio/blob/fee0b72e4cc6236acfcb332139613f53fd87b244/Teleport/SeamlessPortalTraversalSubsystem.cpp" TargetMode="External" Id="Rea0feff0138844fa" 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7.xml" Id="R72bf3a396143435d" /><Relationship Type="http://schemas.openxmlformats.org/officeDocument/2006/relationships/image" Target="/ppt/media/image2.gif" Id="R0521081201834218" /><Relationship Type="http://schemas.openxmlformats.org/officeDocument/2006/relationships/image" Target="/ppt/media/image7.png" Id="R5ba06fb05cbe44d3" /><Relationship Type="http://schemas.openxmlformats.org/officeDocument/2006/relationships/image" Target="/ppt/media/image8.png" Id="R4f8fe99b365d48a7" 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7.xml" Id="Rae8a13186edc4785" /><Relationship Type="http://schemas.openxmlformats.org/officeDocument/2006/relationships/hyperlink" Target="https://github.com/msg1150/UnrealTeamProjectPortfolio/tree/fee0b72e4cc6236acfcb332139613f53fd87b244/JsonAssetSync" TargetMode="External" Id="R5258d43c0d5c4bd5" /><Relationship Type="http://schemas.openxmlformats.org/officeDocument/2006/relationships/hyperlink" Target="https://github.com/msg1150/UnrealTeamProjectPortfolio/tree/fee0b72e4cc6236acfcb332139613f53fd87b244/DataEditor" TargetMode="External" Id="Rc2bd3c4c96ea4528" /><Relationship Type="http://schemas.openxmlformats.org/officeDocument/2006/relationships/image" Target="/ppt/media/image9.png" Id="R6a40f2d6c8a8480a" 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/ppt/slideLayouts/slideLayout7.xml" Id="Rcd759f5e83834cb8" /><Relationship Type="http://schemas.openxmlformats.org/officeDocument/2006/relationships/image" Target="/ppt/media/image10.png" Id="Re8c95cd8081b481a" /><Relationship Type="http://schemas.openxmlformats.org/officeDocument/2006/relationships/image" Target="/ppt/media/image11.png" Id="R4616c5bab542494c" 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7.xml" Id="R9b69aaf5cc094a8e" /><Relationship Type="http://schemas.openxmlformats.org/officeDocument/2006/relationships/hyperlink" Target="https://github.com/msg1150/UnrealTeamProjectPortfolio/tree/fee0b72e4cc6236acfcb332139613f53fd87b244/GameplayValidator" TargetMode="External" Id="R9e9a349a16484022" /><Relationship Type="http://schemas.openxmlformats.org/officeDocument/2006/relationships/image" Target="/ppt/media/image12.png" Id="R0655d9d833164beb" 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slideLayouts/slideLayout7.xml" Id="Rc17558dcc7874df9" /><Relationship Type="http://schemas.openxmlformats.org/officeDocument/2006/relationships/hyperlink" Target="https://github.com/msg1150/UnrealTeamProjectPortfolio/blob/fee0b72e4cc6236acfcb332139613f53fd87b244/Weapon/ProjectileFirstPersonRenderingComponent.cpp" TargetMode="External" Id="Re280272d1e05491c" /><Relationship Type="http://schemas.openxmlformats.org/officeDocument/2006/relationships/image" Target="/ppt/media/image13.png" Id="Rc7ca30babdad4824" /><Relationship Type="http://schemas.openxmlformats.org/officeDocument/2006/relationships/image" Target="/ppt/media/image14.png" Id="R2e5ba3b5084145aa" 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/ppt/slideLayouts/slideLayout7.xml" Id="R09f941c4432947fe" /><Relationship Type="http://schemas.openxmlformats.org/officeDocument/2006/relationships/hyperlink" Target="https://github.com/msg1150/UnrealTeamProjectPortfolio/blob/fee0b72e4cc6236acfcb332139613f53fd87b244/Weapon/WeaponBeamEffectLibrary.cpp" TargetMode="External" Id="R3511427e73f14af4" /><Relationship Type="http://schemas.openxmlformats.org/officeDocument/2006/relationships/hyperlink" Target="https://github.com/msg1150/UnrealTeamProjectPortfolio/blob/fee0b72e4cc6236acfcb332139613f53fd87b244/Weapon/RailBeamWaveMath.h" TargetMode="External" Id="Rd96e6bc85239445c" /></Relationships>
</file>

<file path=ppt/slides/_rels/slide15.xml.rels><?xml version='1.0' encoding='utf-8'?>
<Relationships xmlns="http://schemas.openxmlformats.org/package/2006/relationships"><Relationship Type="http://schemas.openxmlformats.org/officeDocument/2006/relationships/slideLayout" Target="/ppt/slideLayouts/slideLayout7.xml" Id="R59d5349653a741de" /><Relationship Type="http://schemas.openxmlformats.org/officeDocument/2006/relationships/image" Target="/ppt/media/image3.gif" Id="Rf4aa186a9fa7448b" /><Relationship Type="http://schemas.openxmlformats.org/officeDocument/2006/relationships/image" Target="/ppt/media/image15.png" Id="R27e65fe27eae4fd5" /><Relationship Type="http://schemas.openxmlformats.org/officeDocument/2006/relationships/image" Target="/ppt/media/image4.gif" Id="R7d9c3d0223924155" /><Relationship Type="http://schemas.openxmlformats.org/officeDocument/2006/relationships/image" Target="/ppt/media/image16.png" Id="R972f319341134773" /></Relationships>
</file>

<file path=ppt/slides/_rels/slide16.xml.rels><?xml version='1.0' encoding='utf-8'?>
<Relationships xmlns="http://schemas.openxmlformats.org/package/2006/relationships"><Relationship Type="http://schemas.openxmlformats.org/officeDocument/2006/relationships/slideLayout" Target="/ppt/slideLayouts/slideLayout7.xml" Id="Rfb14309da5334eab" /><Relationship Type="http://schemas.openxmlformats.org/officeDocument/2006/relationships/hyperlink" Target="https://github.com/msg1150/UnrealTeamProjectPortfolio/blob/fee0b72e4cc6236acfcb332139613f53fd87b244/SpawnSelectionSystem/SpawnSelectionComponent.cpp#L546-L614" TargetMode="External" Id="R188eca52a88549a2" /></Relationships>
</file>

<file path=ppt/slides/_rels/slide17.xml.rels><?xml version='1.0' encoding='utf-8'?>
<Relationships xmlns="http://schemas.openxmlformats.org/package/2006/relationships"><Relationship Type="http://schemas.openxmlformats.org/officeDocument/2006/relationships/slideLayout" Target="/ppt/slideLayouts/slideLayout7.xml" Id="R9a5202a6a252468e" /><Relationship Type="http://schemas.openxmlformats.org/officeDocument/2006/relationships/hyperlink" Target="https://github.com/msg1150/UnrealTeamProjectPortfolio/blob/fee0b72e4cc6236acfcb332139613f53fd87b244/SpawnSelectionSystem/CharacterSpawnSoundComponent.cpp" TargetMode="External" Id="R7774cdc9c0354583" /><Relationship Type="http://schemas.openxmlformats.org/officeDocument/2006/relationships/hyperlink" Target="https://github.com/msg1150/UnrealTeamProjectPortfolio/blob/fee0b72e4cc6236acfcb332139613f53fd87b244/SpawnSelectionSystem/CharacterSpawnSoundTests.cpp" TargetMode="External" Id="R85c4bc8d705d4b6b" /></Relationships>
</file>

<file path=ppt/slides/_rels/slide18.xml.rels><?xml version='1.0' encoding='utf-8'?>
<Relationships xmlns="http://schemas.openxmlformats.org/package/2006/relationships"><Relationship Type="http://schemas.openxmlformats.org/officeDocument/2006/relationships/slideLayout" Target="/ppt/slideLayouts/slideLayout7.xml" Id="R9ab1a852f2b54510" /><Relationship Type="http://schemas.openxmlformats.org/officeDocument/2006/relationships/hyperlink" Target="https://github.com/msg1150/UnrealTeamProjectPortfolio/blob/fee0b72e4cc6236acfcb332139613f53fd87b244/DeathDrop/DeathDropCarrier.cpp" TargetMode="External" Id="R755790f8b6244d52" /><Relationship Type="http://schemas.openxmlformats.org/officeDocument/2006/relationships/image" Target="/ppt/media/image17.png" Id="R3f5bbf9912ad4f73" /><Relationship Type="http://schemas.openxmlformats.org/officeDocument/2006/relationships/image" Target="/ppt/media/image18.png" Id="R450cdabffad24540" /></Relationships>
</file>

<file path=ppt/slides/_rels/slide19.xml.rels><?xml version='1.0' encoding='utf-8'?>
<Relationships xmlns="http://schemas.openxmlformats.org/package/2006/relationships"><Relationship Type="http://schemas.openxmlformats.org/officeDocument/2006/relationships/slideLayout" Target="/ppt/slideLayouts/slideLayout7.xml" Id="R1ad6c75c86284b2d" /><Relationship Type="http://schemas.openxmlformats.org/officeDocument/2006/relationships/hyperlink" Target="https://github.com/msg1150/UnrealTeamProjectPortfolio/blob/fee0b72e4cc6236acfcb332139613f53fd87b244/DeathCam/DeathCamActor.cpp" TargetMode="External" Id="R00e4eec16713491f" /><Relationship Type="http://schemas.openxmlformats.org/officeDocument/2006/relationships/image" Target="/ppt/media/image5.gif" Id="Rdb9cf035e18e4b63" /><Relationship Type="http://schemas.openxmlformats.org/officeDocument/2006/relationships/image" Target="/ppt/media/image.jpeg" Id="Rbfafb29cb6824e40" /></Relationships>
</file>

<file path=ppt/slides/_rels/slide20.xml.rels><?xml version='1.0' encoding='utf-8'?>
<Relationships xmlns="http://schemas.openxmlformats.org/package/2006/relationships"><Relationship Type="http://schemas.openxmlformats.org/officeDocument/2006/relationships/slideLayout" Target="/ppt/slideLayouts/slideLayout7.xml" Id="R9b85d4263e504154" /><Relationship Type="http://schemas.openxmlformats.org/officeDocument/2006/relationships/hyperlink" Target="https://github.com/msg1150/UnrealTeamProjectPortfolio/blob/fee0b72e4cc6236acfcb332139613f53fd87b244/CharacterDisplay/ShooterOutlineComponent.cpp" TargetMode="External" Id="R631460e9d0aa4392" /><Relationship Type="http://schemas.openxmlformats.org/officeDocument/2006/relationships/image" Target="/ppt/media/image19.png" Id="R396e0b67148647d6" /><Relationship Type="http://schemas.openxmlformats.org/officeDocument/2006/relationships/image" Target="/ppt/media/image20.png" Id="Rdd4b3106af9d43e3" /></Relationships>
</file>

<file path=ppt/slides/_rels/slide21.xml.rels><?xml version='1.0' encoding='utf-8'?>
<Relationships xmlns="http://schemas.openxmlformats.org/package/2006/relationships"><Relationship Type="http://schemas.openxmlformats.org/officeDocument/2006/relationships/slideLayout" Target="/ppt/slideLayouts/slideLayout7.xml" Id="R56a749a9d1a94a09" /><Relationship Type="http://schemas.openxmlformats.org/officeDocument/2006/relationships/hyperlink" Target="https://github.com/msg1150/UnrealTeamProjectPortfolio/blob/fee0b72e4cc6236acfcb332139613f53fd87b244/CharacterDisplay/ShooterNicknameComponent.cpp" TargetMode="External" Id="Rce8ad6325500401f" /><Relationship Type="http://schemas.openxmlformats.org/officeDocument/2006/relationships/image" Target="/ppt/media/image21.png" Id="R5a95f685653842ab" /><Relationship Type="http://schemas.openxmlformats.org/officeDocument/2006/relationships/image" Target="/ppt/media/image22.png" Id="Racbe774648444db4" /></Relationships>
</file>

<file path=ppt/slides/_rels/slide22.xml.rels><?xml version='1.0' encoding='utf-8'?>
<Relationships xmlns="http://schemas.openxmlformats.org/package/2006/relationships"><Relationship Type="http://schemas.openxmlformats.org/officeDocument/2006/relationships/slideLayout" Target="/ppt/slideLayouts/slideLayout7.xml" Id="R088b447ec8654860" /><Relationship Type="http://schemas.openxmlformats.org/officeDocument/2006/relationships/image" Target="/ppt/media/image23.png" Id="R7d53d88cbfe64192" /><Relationship Type="http://schemas.openxmlformats.org/officeDocument/2006/relationships/hyperlink" Target="https://github.com/msg1150/UnrealTeamProjectPortfolio/blob/fee0b72e4cc6236acfcb332139613f53fd87b244/CharacterAppearance/CharacterAppearanceComponent.cpp#L167-L183" TargetMode="External" Id="R757f8a4e0e4c4563" /></Relationships>
</file>

<file path=ppt/slides/_rels/slide23.xml.rels><?xml version='1.0' encoding='utf-8'?>
<Relationships xmlns="http://schemas.openxmlformats.org/package/2006/relationships"><Relationship Type="http://schemas.openxmlformats.org/officeDocument/2006/relationships/slideLayout" Target="/ppt/slideLayouts/slideLayout7.xml" Id="R4becf8d63d2f4c14" /><Relationship Type="http://schemas.openxmlformats.org/officeDocument/2006/relationships/image" Target="/ppt/media/image24.png" Id="R9aca508102ac4190" /><Relationship Type="http://schemas.openxmlformats.org/officeDocument/2006/relationships/hyperlink" Target="https://github.com/msg1150/UnrealTeamProjectPortfolio/blob/fee0b72e4cc6236acfcb332139613f53fd87b244/Audio/BGMSubsystem.cpp" TargetMode="External" Id="R1e7a2b129a194aa0" /><Relationship Type="http://schemas.openxmlformats.org/officeDocument/2006/relationships/hyperlink" Target="https://github.com/msg1150/UnrealTeamProjectPortfolio/blob/fee0b72e4cc6236acfcb332139613f53fd87b244/Audio/BGMPlayback.cpp" TargetMode="External" Id="R47e366d1487b4ef2" /></Relationships>
</file>

<file path=ppt/slides/_rels/slide24.xml.rels><?xml version='1.0' encoding='utf-8'?>
<Relationships xmlns="http://schemas.openxmlformats.org/package/2006/relationships"><Relationship Type="http://schemas.openxmlformats.org/officeDocument/2006/relationships/slideLayout" Target="/ppt/slideLayouts/slideLayout7.xml" Id="R6230a22ca51d4ff9" /><Relationship Type="http://schemas.openxmlformats.org/officeDocument/2006/relationships/hyperlink" Target="https://github.com/msg1150/UnrealTeamProjectPortfolio" TargetMode="External" Id="R6fbb11c2c4374742" /><Relationship Type="http://schemas.openxmlformats.org/officeDocument/2006/relationships/hyperlink" Target="https://pjhgameprogramming.notion.site/Game-Programming-Technical-Wiki-3cea186e6315804cb41ff052b738453a" TargetMode="External" Id="Re4a03960f6e744cb" /><Relationship Type="http://schemas.openxmlformats.org/officeDocument/2006/relationships/hyperlink" Target="mailto:wkdgks88009@gmail.com" TargetMode="External" Id="R5aeda854712e4519" /><Relationship Type="http://schemas.openxmlformats.org/officeDocument/2006/relationships/hyperlink" Target="https://github.com/msg1150" TargetMode="External" Id="R6a51fd669b674e68" /><Relationship Type="http://schemas.openxmlformats.org/officeDocument/2006/relationships/hyperlink" Target="https://github.com/msg1150/UnrealTeamProjectPortfolio/blob/fee0b72e4cc6236acfcb332139613f53fd87b244/Weapon/ProjectileSplitCollisionTests.cpp" TargetMode="External" Id="R699d365c16e649ac" /><Relationship Type="http://schemas.openxmlformats.org/officeDocument/2006/relationships/hyperlink" Target="https://github.com/msg1150/UnrealTeamProjectPortfolio/blob/fee0b72e4cc6236acfcb332139613f53fd87b244/Weapon/ProjectileConvergenceTests.cpp" TargetMode="External" Id="R918251b7f0bb4a8b" /><Relationship Type="http://schemas.openxmlformats.org/officeDocument/2006/relationships/hyperlink" Target="https://github.com/msg1150/UnrealTeamProjectPortfolio/blob/fee0b72e4cc6236acfcb332139613f53fd87b244/Weapon/FirstPersonRenderingTests.cpp" TargetMode="External" Id="R5eb5e6749fac43b3" /><Relationship Type="http://schemas.openxmlformats.org/officeDocument/2006/relationships/hyperlink" Target="https://github.com/msg1150/UnrealTeamProjectPortfolio/blob/fee0b72e4cc6236acfcb332139613f53fd87b244/Teleport/SeamlessPortalTests.cpp" TargetMode="External" Id="R869baae2e5354eac" /><Relationship Type="http://schemas.openxmlformats.org/officeDocument/2006/relationships/hyperlink" Target="https://github.com/msg1150/UnrealTeamProjectPortfolio/blob/fee0b72e4cc6236acfcb332139613f53fd87b244/SpawnSelectionSystem/CharacterSpawnSoundTests.cpp" TargetMode="External" Id="R69eba6c89db4497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FA402B1-DD23-4DC6-BC26-F7B1E8E3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6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C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4095DD6-0C14-4556-A650-F75833A1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55A0F5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125" b="1">
                <a:solidFill>
                  <a:srgbClr val="55A0F5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125" b="1">
                <a:solidFill>
                  <a:srgbClr val="55A0F5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125" b="1">
                <a:solidFill>
                  <a:srgbClr val="55A0F5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125" b="1">
                <a:solidFill>
                  <a:srgbClr val="55A0F5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125" b="1">
                <a:solidFill>
                  <a:srgbClr val="55A0F5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125" b="1">
                <a:solidFill>
                  <a:srgbClr val="55A0F5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125" b="1">
                <a:solidFill>
                  <a:srgbClr val="55A0F5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125" b="1">
                <a:solidFill>
                  <a:srgbClr val="55A0F5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125" b="1">
                <a:solidFill>
                  <a:srgbClr val="55A0F5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100" b="1">
                <a:solidFill>
                  <a:srgbClr val="55A0F5"/>
                </a:solidFill>
                <a:latin typeface="Noto Sans KR"/>
                <a:ea typeface="Noto Sans KR"/>
                <a:cs typeface="Noto Sans KR"/>
              </a:defRPr>
            </a:pPr>
            <a:r>
              <a:t>GAMEPLAY PROGRAMMER PORTFOLIO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E12EB8C-D88F-4B1E-9B22-1213FF65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spcAft>
                <a:spcPts val="10"/>
              </a:spcAft>
              <a:buNone/>
              <a:defRPr sz="3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BattleArena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B923404-B9A7-4725-A7E2-32DD56A3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0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0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0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0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0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0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0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0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0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spcAft>
                <a:spcPts val="10"/>
              </a:spcAft>
              <a:buNone/>
              <a:defRPr sz="150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박장한</a:t>
            </a:r>
          </a:p>
          <a:p xmlns:a="http://schemas.openxmlformats.org/drawingml/2006/main">
            <a:pPr algn="l">
              <a:spcAft>
                <a:spcPts val="12"/>
              </a:spcAft>
              <a:buNone/>
              <a:defRPr sz="150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BECADA"/>
                </a:solidFill>
                <a:latin typeface="Noto Sans KR"/>
                <a:ea typeface="Noto Sans KR"/>
                <a:cs typeface="Noto Sans KR"/>
              </a:rPr>
              <a:t>3D 멀티플레이 슈팅 게임</a:t>
            </a:r>
          </a:p>
          <a:p xmlns:a="http://schemas.openxmlformats.org/drawingml/2006/main">
            <a:pPr algn="l">
              <a:spcAft>
                <a:spcPts val="12"/>
              </a:spcAft>
              <a:buNone/>
              <a:defRPr sz="150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rPr>
              <a:t>2025.12 ~ 현재 개발 진행 중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33CCA3C-516D-4EA8-9E37-92BB70CA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762500" cy="1981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2530"/>
          </a:solidFill>
          <a:ln xmlns:a="http://schemas.openxmlformats.org/drawingml/2006/main" w="12700">
            <a:solidFill>
              <a:srgbClr val="34405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47650" tIns="247650" rIns="247650" bIns="24765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425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425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425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425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425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425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425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425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425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spcAft>
                <a:spcPts val="18"/>
              </a:spcAft>
              <a:buNone/>
              <a:defRPr sz="1425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주요 구현</a:t>
            </a:r>
          </a:p>
          <a:p xmlns:a="http://schemas.openxmlformats.org/drawingml/2006/main">
            <a:pPr algn="l">
              <a:spcAft>
                <a:spcPts val="12"/>
              </a:spcAft>
              <a:buNone/>
              <a:defRPr sz="1425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pPr>
            <a:r>
              <a:rPr sz="525" b="0">
                <a:solidFill>
                  <a:srgbClr val="BECADA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spcAft>
                <a:spcPts val="14"/>
              </a:spcAft>
              <a:buNone/>
              <a:defRPr sz="1425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BECADA"/>
                </a:solidFill>
                <a:latin typeface="Noto Sans KR"/>
                <a:ea typeface="Noto Sans KR"/>
                <a:cs typeface="Noto Sans KR"/>
              </a:rPr>
              <a:t>무기 조준, 투사체, 충돌 판정</a:t>
            </a:r>
          </a:p>
          <a:p xmlns:a="http://schemas.openxmlformats.org/drawingml/2006/main">
            <a:pPr algn="l">
              <a:spcAft>
                <a:spcPts val="12"/>
              </a:spcAft>
              <a:buNone/>
              <a:defRPr sz="1425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pPr>
            <a:r>
              <a:rPr sz="45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spcAft>
                <a:spcPts val="14"/>
              </a:spcAft>
              <a:buNone/>
              <a:defRPr sz="1425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BECADA"/>
                </a:solidFill>
                <a:latin typeface="Noto Sans KR"/>
                <a:ea typeface="Noto Sans KR"/>
                <a:cs typeface="Noto Sans KR"/>
              </a:rPr>
              <a:t>외부 데이터 편집 및 레벨 검증 도구</a:t>
            </a:r>
          </a:p>
          <a:p xmlns:a="http://schemas.openxmlformats.org/drawingml/2006/main">
            <a:pPr algn="l">
              <a:spcAft>
                <a:spcPts val="12"/>
              </a:spcAft>
              <a:buNone/>
              <a:defRPr sz="1425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pPr>
            <a:r>
              <a:rPr sz="45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spcAft>
                <a:spcPts val="14"/>
              </a:spcAft>
              <a:buNone/>
              <a:defRPr sz="1425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BECADA"/>
                </a:solidFill>
                <a:latin typeface="Noto Sans KR"/>
                <a:ea typeface="Noto Sans KR"/>
                <a:cs typeface="Noto Sans KR"/>
              </a:rPr>
              <a:t>AI 특수 이동 경로 탐색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9DFEBF4-E631-47C8-8D08-B32D0DBC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609600"/>
            <a:ext cx="3543300" cy="565785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28600" tIns="182880" rIns="228600" bIns="182880" anchor="ctr"/>
          <a:lstStyle xmlns:a="http://schemas.openxmlformats.org/drawingml/2006/main"/>
          <a:p xmlns:a="http://schemas.openxmlformats.org/drawingml/2006/main">
            <a:pPr algn="ctr">
              <a:spcAft>
                <a:spcPts val="600"/>
              </a:spcAft>
              <a:buNone/>
              <a:defRPr sz="1300" b="1">
                <a:solidFill>
                  <a:srgbClr val="55A0F5"/>
                </a:solidFill>
                <a:latin typeface="Noto Sans KR"/>
                <a:ea typeface="Noto Sans KR"/>
                <a:cs typeface="Noto Sans KR"/>
              </a:defRPr>
            </a:pPr>
            <a:endParaRPr/>
          </a:p>
        </p:txBody>
      </p:sp>
      <p:pic>
        <p:nvPicPr>
          <p:cNvPr id="13" name="게임대표이미지">
            <a:extLst xmlns:a="http://schemas.openxmlformats.org/drawingml/2006/main">
              <a:ext uri="{FF2B5EF4-FFF2-40B4-BE49-F238E27FC236}">
                <a16:creationId xmlns:a16="http://schemas.microsoft.com/office/drawing/2014/main" id="{A509CD26-3392-4E76-AB7D-BBEAEB2EC3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d742e56cf2406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993093" y="676275"/>
            <a:ext cx="3368364" cy="5524500"/>
          </a:xfrm>
          <a:prstGeom xmlns:a="http://schemas.openxmlformats.org/drawingml/2006/main" prst="rect">
            <a:avLst/>
          </a:prstGeom>
        </p:spPr>
      </p:pic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61ABA5E6-ECA4-448E-BCCF-57FA919C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6334125"/>
            <a:ext cx="354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프로젝트 대표 이미지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EC0C23D2-E58C-47CA-986B-5174CF0F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pPr>
            <a:r>
              <a:t>01</a:t>
            </a:r>
          </a:p>
        </p:txBody>
      </p:sp>
      <p:pic>
        <p:nvPicPr>
          <p:cNvPr id="10" name="그래픽 9">
            <a:extLst xmlns:a="http://schemas.openxmlformats.org/drawingml/2006/main">
              <a:ext uri="{FF2B5EF4-FFF2-40B4-BE49-F238E27FC236}">
                <a16:creationId xmlns:a16="http://schemas.microsoft.com/office/drawing/2014/main" id="{37FAD281-AA9A-4EF2-B7DA-30D4214860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cb7c1c7e94494e">
            <a:extLst>
              <a:ext uri="{96DAC541-7B7A-43D3-8B79-37D633B846F1}">
                <asvg:svgBlip xmlns:asvg="http://schemas.microsoft.com/office/drawing/2016/SVG/main" r:embed="R096428b9677646a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2152650"/>
            <a:ext cx="590550" cy="590550"/>
          </a:xfrm>
          <a:prstGeom xmlns:a="http://schemas.openxmlformats.org/drawingml/2006/main" prst="rect">
            <a:avLst/>
          </a:prstGeom>
        </p:spPr>
      </p:pic>
      <p:pic>
        <p:nvPicPr>
          <p:cNvPr id="11" name="그림 10">
            <a:extLst xmlns:a="http://schemas.openxmlformats.org/drawingml/2006/main">
              <a:ext uri="{FF2B5EF4-FFF2-40B4-BE49-F238E27FC236}">
                <a16:creationId xmlns:a16="http://schemas.microsoft.com/office/drawing/2014/main" id="{B2DDFEBF-4A38-4B7C-9AF3-C45970A6DB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8a5eed94bb426d"/>
          <a:stretch xmlns:a="http://schemas.openxmlformats.org/drawingml/2006/main"/>
        </p:blipFill>
        <p:spPr>
          <a:xfrm xmlns:a="http://schemas.openxmlformats.org/drawingml/2006/main">
            <a:off x="3371850" y="2153459"/>
            <a:ext cx="523875" cy="588931"/>
          </a:xfrm>
          <a:prstGeom xmlns:a="http://schemas.openxmlformats.org/drawingml/2006/main" prst="rect">
            <a:avLst/>
          </a:prstGeom>
        </p:spPr>
      </p:pic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FF679DCE-C7EB-496B-B218-63EDE248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5742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>
              <a:defRPr sz="1425">
                <a:solidFill>
                  <a:srgbClr val="46D2C8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425">
                <a:solidFill>
                  <a:srgbClr val="46D2C8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425">
                <a:solidFill>
                  <a:srgbClr val="46D2C8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425">
                <a:solidFill>
                  <a:srgbClr val="46D2C8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425">
                <a:solidFill>
                  <a:srgbClr val="46D2C8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425">
                <a:solidFill>
                  <a:srgbClr val="46D2C8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425">
                <a:solidFill>
                  <a:srgbClr val="46D2C8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425">
                <a:solidFill>
                  <a:srgbClr val="46D2C8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425">
                <a:solidFill>
                  <a:srgbClr val="46D2C8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425">
                <a:solidFill>
                  <a:srgbClr val="46D2C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425">
                <a:solidFill>
                  <a:srgbClr val="46D2C8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46D2C8"/>
                </a:solidFill>
                <a:latin typeface="Noto Sans KR"/>
                <a:ea typeface="Noto Sans KR"/>
                <a:cs typeface="Noto Sans KR"/>
              </a:rPr>
              <a:t>Unreal Engine 5.6.1</a:t>
            </a:r>
          </a:p>
        </p:txBody>
      </p:sp>
    </p:spTree>
    <p:extLst>
      <p:ext uri="{BB962C8B-B14F-4D97-AF65-F5344CB8AC3E}">
        <p14:creationId xmlns:p14="http://schemas.microsoft.com/office/powerpoint/2010/main" val="202033217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B3DC714-D698-48E3-AE11-C991A703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6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C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36920B6-11A0-4091-9295-D742F39B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20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20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20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20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20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20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20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20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20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rPr>
              <a:t>01  PROJECT OVERVIEW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4FD3263-2DB0-40CB-85AD-3DB988FF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400"/>
              <a:t>프로젝트 개요와 담당 범위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A8F889F-D8DC-43D8-9ABA-278B1BB6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4762500" cy="4857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2530"/>
          </a:solidFill>
          <a:ln xmlns:a="http://schemas.openxmlformats.org/drawingml/2006/main" w="12700">
            <a:solidFill>
              <a:srgbClr val="34405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23850" tIns="304800" rIns="266700" bIns="22860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BattleArena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Unreal Engine 5.6.1 기반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3D 멀티플레이 슈팅 팀 프로젝트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개발 기간  2025.12 ~ 현재 진행 중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담당: 게임플레이 / 제작 도구 프로그래밍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AI 관련 구현: 특수 이동 경로 탐색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개발 환경: C++ / Blueprint / .NET 8 WPF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컴포넌트와 서브시스템에 핵심 처리를 분리하고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Blueprint의 발사와 피격 연출에 연결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6701208-7008-4F40-AF10-24116AC3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09700"/>
            <a:ext cx="5943600" cy="4857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2530"/>
          </a:solidFill>
          <a:ln xmlns:a="http://schemas.openxmlformats.org/drawingml/2006/main">
            <a:solidFill>
              <a:srgbClr val="34405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23850" tIns="304800" rIns="266700" bIns="22860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핵심 구현 5개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 전투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조준 보정, 투사체 충돌과 빔 표시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3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 AI 특수 이동 경로 탐색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일반 이동과 포탈 / 점프패드 경로 통합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3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 포탈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위치 / 속도 / 시점 변환과 출구 화면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3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 데이터 도구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Reflection / WPF / JSON 데이터 흐름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3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05 레벨 검증 도구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배치 오류 검사와 대상 오브젝트 탐색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추가 구현: 1인칭 / 조준점 보정, 스폰 / 사망 처리,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캐릭터 표시와 AI 외형 데이터, BGM / 스폰 사운드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83A27D07-EA0F-4F9A-B832-B6389E03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98749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C05124A-6C4E-45BA-9DDA-5DAD53B0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6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C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C5EA127-A6C4-46A4-8EE7-4AA9A941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rPr>
              <a:t>핵심 구현 1/5 | WEAPON SYSTEM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1D9D2A1-77CF-4CB0-84D6-1AE9BBF0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400"/>
              <a:t>조준선 기준 투사체 이동과 무기 자세 보정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9D4A57F-5DFE-431B-A171-1A30A0E6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09700"/>
            <a:ext cx="5410200" cy="2209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2530"/>
          </a:solidFill>
          <a:ln xmlns:a="http://schemas.openxmlformats.org/drawingml/2006/main" w="12700">
            <a:solidFill>
              <a:srgbClr val="34405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66700" tIns="247650" rIns="228600" bIns="17145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과제: 조준선과 총구의 위치 차이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카메라 방향과 총구 위치로 </a:t>
            </a:r>
            <a:r>
              <a:rPr sz="1575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합류 지점</a:t>
            </a: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계산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총구 출발 경로를 조준선 방향으로 연결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AnimGraph</a:t>
            </a: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에서 조준에 맞춰 무기 자세 보정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607D0ED-DA3B-405D-A539-80EEFEA9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5410200" cy="2476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1219"/>
          </a:solidFill>
          <a:ln xmlns:a="http://schemas.openxmlformats.org/drawingml/2006/main" w="12700">
            <a:solidFill>
              <a:srgbClr val="2A364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66700" tIns="247650" rIns="228600" bIns="17145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핵심 로직: 한 프레임 안의 방향 전환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합류까지 걸리는 </a:t>
            </a:r>
            <a:r>
              <a:rPr sz="1575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시간과 남은 시간을 분리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전환 전후를 나눠 </a:t>
            </a:r>
            <a:r>
              <a:rPr sz="1575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같은 프레임</a:t>
            </a: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에서 이동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충돌로 멈추거나 사라지면 추가 이동 중단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4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적용: 합류 전후의 이동 시간과 속도를 유지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3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7DD3FC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58e13ac1ba2a495a"/>
              </a:rPr>
              <a:t>투사체 이동 코드 보기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DA80F53A-B47F-4446-80F3-5FC40E83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pPr>
            <a:r>
              <a:t>03</a:t>
            </a:r>
          </a:p>
        </p:txBody>
      </p:sp>
      <p:sp>
        <p:nvSpPr>
          <p:cNvPr id="10" name="Media 1">
            <a:extLst xmlns:a="http://schemas.openxmlformats.org/drawingml/2006/main">
              <a:ext uri="{FF2B5EF4-FFF2-40B4-BE49-F238E27FC236}">
                <a16:creationId xmlns:a16="http://schemas.microsoft.com/office/drawing/2014/main" id="{3C7497E8-8A56-45EA-B492-35212452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5295900" cy="2981325"/>
          </a:xfrm>
          <a:prstGeom xmlns:a="http://schemas.openxmlformats.org/drawingml/2006/main" prst="roundRect">
            <a:avLst>
              <a:gd name="adj" fmla="val 4473"/>
            </a:avLst>
          </a:prstGeom>
          <a:solidFill xmlns:a="http://schemas.openxmlformats.org/drawingml/2006/main">
            <a:srgbClr val="11151D"/>
          </a:solidFill>
          <a:ln xmlns:a="http://schemas.openxmlformats.org/drawingml/2006/main" w="12383">
            <a:solidFill>
              <a:srgbClr val="4D78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7" name="사격_편집본">
            <a:extLst xmlns:a="http://schemas.openxmlformats.org/drawingml/2006/main">
              <a:ext uri="{FF2B5EF4-FFF2-40B4-BE49-F238E27FC236}">
                <a16:creationId xmlns:a16="http://schemas.microsoft.com/office/drawing/2014/main" id="{4F6EFCA1-7D47-4A7E-8377-16426C7144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18afee10e248b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76275" y="1980186"/>
            <a:ext cx="5162550" cy="1840353"/>
          </a:xfrm>
          <a:prstGeom xmlns:a="http://schemas.openxmlformats.org/drawingml/2006/main" prst="rect">
            <a:avLst/>
          </a:prstGeom>
        </p:spPr>
      </p:pic>
      <p:sp>
        <p:nvSpPr>
          <p:cNvPr id="11" name="Caption 1">
            <a:extLst xmlns:a="http://schemas.openxmlformats.org/drawingml/2006/main">
              <a:ext uri="{FF2B5EF4-FFF2-40B4-BE49-F238E27FC236}">
                <a16:creationId xmlns:a16="http://schemas.microsoft.com/office/drawing/2014/main" id="{66E76BAD-3765-417F-ACE9-F1E176D3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5295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조준 후 발사 장면(GIF) / 이동 로직은 아래 흐름도로 설명</a:t>
            </a:r>
          </a:p>
        </p:txBody>
      </p:sp>
      <p:sp>
        <p:nvSpPr>
          <p:cNvPr id="12" name="Diagram Flow 0 0">
            <a:extLst xmlns:a="http://schemas.openxmlformats.org/drawingml/2006/main">
              <a:ext uri="{FF2B5EF4-FFF2-40B4-BE49-F238E27FC236}">
                <a16:creationId xmlns:a16="http://schemas.microsoft.com/office/drawing/2014/main" id="{040EF690-0B4B-4519-A8D3-24059B69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5621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총구에서</a:t>
            </a:r>
          </a:p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발사</a:t>
            </a:r>
          </a:p>
        </p:txBody>
      </p:sp>
      <p:sp>
        <p:nvSpPr>
          <p:cNvPr id="13" name="Diagram Flow 0 1">
            <a:extLst xmlns:a="http://schemas.openxmlformats.org/drawingml/2006/main">
              <a:ext uri="{FF2B5EF4-FFF2-40B4-BE49-F238E27FC236}">
                <a16:creationId xmlns:a16="http://schemas.microsoft.com/office/drawing/2014/main" id="{FB3F9D8B-E67F-466D-9AD8-80990BA3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05400"/>
            <a:ext cx="15621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조준선에</a:t>
            </a:r>
          </a:p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합류</a:t>
            </a:r>
          </a:p>
        </p:txBody>
      </p:sp>
      <p:sp>
        <p:nvSpPr>
          <p:cNvPr id="14" name="Diagram Flow 0 2">
            <a:extLst xmlns:a="http://schemas.openxmlformats.org/drawingml/2006/main">
              <a:ext uri="{FF2B5EF4-FFF2-40B4-BE49-F238E27FC236}">
                <a16:creationId xmlns:a16="http://schemas.microsoft.com/office/drawing/2014/main" id="{3E0AF70F-E81D-442C-A80E-FCF6DE4A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05400"/>
            <a:ext cx="15621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조준 방향으로</a:t>
            </a:r>
          </a:p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전방 비행</a:t>
            </a:r>
          </a:p>
        </p:txBody>
      </p:sp>
      <p:sp>
        <p:nvSpPr>
          <p:cNvPr id="15" name="Diagram Arrow new 1">
            <a:extLst xmlns:a="http://schemas.openxmlformats.org/drawingml/2006/main">
              <a:ext uri="{FF2B5EF4-FFF2-40B4-BE49-F238E27FC236}">
                <a16:creationId xmlns:a16="http://schemas.microsoft.com/office/drawing/2014/main" id="{2C030150-70CF-43A3-A264-2148F0E1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5400675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/>
            </a:defPPr>
            <a:lvl1pPr>
              <a:buNone/>
              <a:defRPr sz="1388"/>
            </a:lvl1pPr>
            <a:lvl2pPr>
              <a:buNone/>
              <a:defRPr sz="1388"/>
            </a:lvl2pPr>
            <a:lvl3pPr>
              <a:buNone/>
              <a:defRPr sz="1388"/>
            </a:lvl3pPr>
            <a:lvl4pPr>
              <a:buNone/>
              <a:defRPr sz="1388"/>
            </a:lvl4pPr>
            <a:lvl5pPr>
              <a:buNone/>
              <a:defRPr sz="1388"/>
            </a:lvl5pPr>
            <a:lvl6pPr>
              <a:buNone/>
              <a:defRPr sz="1388"/>
            </a:lvl6pPr>
            <a:lvl7pPr>
              <a:buNone/>
              <a:defRPr sz="1388"/>
            </a:lvl7pPr>
            <a:lvl8pPr>
              <a:buNone/>
              <a:defRPr sz="1388"/>
            </a:lvl8pPr>
            <a:lvl9pPr>
              <a:buNone/>
              <a:defRPr sz="1388"/>
            </a:lvl9pPr>
          </a:lstStyle>
          <a:p xmlns:a="http://schemas.openxmlformats.org/drawingml/2006/main">
            <a:endParaRPr/>
          </a:p>
        </p:txBody>
      </p:sp>
      <p:sp>
        <p:nvSpPr>
          <p:cNvPr id="16" name="Diagram Arrow new 2">
            <a:extLst xmlns:a="http://schemas.openxmlformats.org/drawingml/2006/main">
              <a:ext uri="{FF2B5EF4-FFF2-40B4-BE49-F238E27FC236}">
                <a16:creationId xmlns:a16="http://schemas.microsoft.com/office/drawing/2014/main" id="{E1EC4624-DD84-4398-B10A-3A321C93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400675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/>
            </a:defPPr>
            <a:lvl1pPr>
              <a:buNone/>
              <a:defRPr sz="1388"/>
            </a:lvl1pPr>
            <a:lvl2pPr>
              <a:buNone/>
              <a:defRPr sz="1388"/>
            </a:lvl2pPr>
            <a:lvl3pPr>
              <a:buNone/>
              <a:defRPr sz="1388"/>
            </a:lvl3pPr>
            <a:lvl4pPr>
              <a:buNone/>
              <a:defRPr sz="1388"/>
            </a:lvl4pPr>
            <a:lvl5pPr>
              <a:buNone/>
              <a:defRPr sz="1388"/>
            </a:lvl5pPr>
            <a:lvl6pPr>
              <a:buNone/>
              <a:defRPr sz="1388"/>
            </a:lvl6pPr>
            <a:lvl7pPr>
              <a:buNone/>
              <a:defRPr sz="1388"/>
            </a:lvl7pPr>
            <a:lvl8pPr>
              <a:buNone/>
              <a:defRPr sz="1388"/>
            </a:lvl8pPr>
            <a:lvl9pPr>
              <a:buNone/>
              <a:defRPr sz="1388"/>
            </a:lvl9pPr>
          </a:lstStyle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93290062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4F1CCB8-0D4E-48DF-B885-CEC403B1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6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C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63534EC-62DC-4DF0-B2F4-2318F275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rPr>
              <a:t>핵심 구현 1/5 | PROJECTILE COLLISION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1D68FA9-BED7-449C-BD45-7EE3FA64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400"/>
              <a:t>플레이어 명중과 환경 충돌 판정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BCE1872-4C74-4F57-81B0-F39E7A4E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09700"/>
            <a:ext cx="5410200" cy="2209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2530"/>
          </a:solidFill>
          <a:ln xmlns:a="http://schemas.openxmlformats.org/drawingml/2006/main" w="12700">
            <a:solidFill>
              <a:srgbClr val="34405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66700" tIns="247650" rIns="228600" bIns="17145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명중과 환경의 검사 반경 분리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명중용 Sphere와 환경 충돌용 Sphere에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서로 다른 반경</a:t>
            </a: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을 적용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4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실제로 이동한 시작점과 끝점 사이를 각각 검사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03C4857-B884-497E-8A08-5CFF79A8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5410200" cy="2476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1219"/>
          </a:solidFill>
          <a:ln xmlns:a="http://schemas.openxmlformats.org/drawingml/2006/main" w="12700">
            <a:solidFill>
              <a:srgbClr val="2A364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66700" tIns="247650" rIns="228600" bIns="17145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충돌 순서와 가림 여부 검사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충돌 시점을 비교해 먼저 만나는 대상을 선택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Line Trace</a:t>
            </a: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로 벽에 가려진 명중 후보 제외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플레이어 명중은 </a:t>
            </a:r>
            <a:r>
              <a:rPr sz="1575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서버 권한</a:t>
            </a: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에서 검사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확정된 충돌 결과를 이벤트로 전달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4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7DD3FC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66c0a0a6cbbc4e33"/>
              </a:rPr>
              <a:t>충돌 판정 코드 보기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5A89E6FB-E02E-43A8-9202-225A929F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pPr>
            <a:r>
              <a:t>04</a:t>
            </a:r>
          </a:p>
        </p:txBody>
      </p:sp>
      <p:sp>
        <p:nvSpPr>
          <p:cNvPr id="10" name="Media 1">
            <a:extLst xmlns:a="http://schemas.openxmlformats.org/drawingml/2006/main">
              <a:ext uri="{FF2B5EF4-FFF2-40B4-BE49-F238E27FC236}">
                <a16:creationId xmlns:a16="http://schemas.microsoft.com/office/drawing/2014/main" id="{328972BE-E633-4F8A-B42E-C5DB6414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5295900" cy="2981325"/>
          </a:xfrm>
          <a:prstGeom xmlns:a="http://schemas.openxmlformats.org/drawingml/2006/main" prst="roundRect">
            <a:avLst>
              <a:gd name="adj" fmla="val 4473"/>
            </a:avLst>
          </a:prstGeom>
          <a:solidFill xmlns:a="http://schemas.openxmlformats.org/drawingml/2006/main">
            <a:srgbClr val="11151D"/>
          </a:solidFill>
          <a:ln xmlns:a="http://schemas.openxmlformats.org/drawingml/2006/main" w="12383">
            <a:solidFill>
              <a:srgbClr val="4D78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7" name="플레이어판정콜리전과환경판정콜리전">
            <a:extLst xmlns:a="http://schemas.openxmlformats.org/drawingml/2006/main">
              <a:ext uri="{FF2B5EF4-FFF2-40B4-BE49-F238E27FC236}">
                <a16:creationId xmlns:a16="http://schemas.microsoft.com/office/drawing/2014/main" id="{A3D88F42-7BB4-42D0-9A09-0FADFC87E1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5d8039b4e48a0"/>
          <a:srcRect xmlns:a="http://schemas.openxmlformats.org/drawingml/2006/main" l="19305" t="16820" r="13127" b="8257"/>
          <a:stretch xmlns:a="http://schemas.openxmlformats.org/drawingml/2006/main"/>
        </p:blipFill>
        <p:spPr>
          <a:xfrm xmlns:a="http://schemas.openxmlformats.org/drawingml/2006/main">
            <a:off x="1223282" y="1476375"/>
            <a:ext cx="4068536" cy="2847975"/>
          </a:xfrm>
          <a:prstGeom xmlns:a="http://schemas.openxmlformats.org/drawingml/2006/main" prst="rect">
            <a:avLst/>
          </a:prstGeom>
        </p:spPr>
      </p:pic>
      <p:sp>
        <p:nvSpPr>
          <p:cNvPr id="11" name="Caption 1">
            <a:extLst xmlns:a="http://schemas.openxmlformats.org/drawingml/2006/main">
              <a:ext uri="{FF2B5EF4-FFF2-40B4-BE49-F238E27FC236}">
                <a16:creationId xmlns:a16="http://schemas.microsoft.com/office/drawing/2014/main" id="{D516C6EF-D382-44DB-8038-A1850DA1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5295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플레이어 명중 범위와 환경 충돌 범위</a:t>
            </a:r>
          </a:p>
        </p:txBody>
      </p:sp>
      <p:sp>
        <p:nvSpPr>
          <p:cNvPr id="12" name="Diagram Collision query">
            <a:extLst xmlns:a="http://schemas.openxmlformats.org/drawingml/2006/main">
              <a:ext uri="{FF2B5EF4-FFF2-40B4-BE49-F238E27FC236}">
                <a16:creationId xmlns:a16="http://schemas.microsoft.com/office/drawing/2014/main" id="{D745DB9B-6CA3-4F96-84B6-EF7455A6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5621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플레이어와</a:t>
            </a:r>
          </a:p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환경 검사</a:t>
            </a:r>
          </a:p>
        </p:txBody>
      </p:sp>
      <p:sp>
        <p:nvSpPr>
          <p:cNvPr id="13" name="Diagram First contact">
            <a:extLst xmlns:a="http://schemas.openxmlformats.org/drawingml/2006/main">
              <a:ext uri="{FF2B5EF4-FFF2-40B4-BE49-F238E27FC236}">
                <a16:creationId xmlns:a16="http://schemas.microsoft.com/office/drawing/2014/main" id="{CC1FB6C6-95DE-4793-8F51-A9D20D1E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05400"/>
            <a:ext cx="15621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먼저 검출된</a:t>
            </a:r>
          </a:p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충돌 선택</a:t>
            </a:r>
          </a:p>
        </p:txBody>
      </p:sp>
      <p:sp>
        <p:nvSpPr>
          <p:cNvPr id="14" name="Diagram Occlusion filter">
            <a:extLst xmlns:a="http://schemas.openxmlformats.org/drawingml/2006/main">
              <a:ext uri="{FF2B5EF4-FFF2-40B4-BE49-F238E27FC236}">
                <a16:creationId xmlns:a16="http://schemas.microsoft.com/office/drawing/2014/main" id="{835018CC-4575-4976-839D-001DB67F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05400"/>
            <a:ext cx="15621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가려진 후보</a:t>
            </a:r>
          </a:p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제외</a:t>
            </a:r>
          </a:p>
        </p:txBody>
      </p:sp>
      <p:sp>
        <p:nvSpPr>
          <p:cNvPr id="15" name="Diagram Arrow collision 233">
            <a:extLst xmlns:a="http://schemas.openxmlformats.org/drawingml/2006/main">
              <a:ext uri="{FF2B5EF4-FFF2-40B4-BE49-F238E27FC236}">
                <a16:creationId xmlns:a16="http://schemas.microsoft.com/office/drawing/2014/main" id="{93C8A320-F21B-4AEA-8AD9-FCF1F623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5400675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/>
            </a:defPPr>
            <a:lvl1pPr>
              <a:buNone/>
              <a:defRPr sz="1388"/>
            </a:lvl1pPr>
            <a:lvl2pPr>
              <a:buNone/>
              <a:defRPr sz="1388"/>
            </a:lvl2pPr>
            <a:lvl3pPr>
              <a:buNone/>
              <a:defRPr sz="1388"/>
            </a:lvl3pPr>
            <a:lvl4pPr>
              <a:buNone/>
              <a:defRPr sz="1388"/>
            </a:lvl4pPr>
            <a:lvl5pPr>
              <a:buNone/>
              <a:defRPr sz="1388"/>
            </a:lvl5pPr>
            <a:lvl6pPr>
              <a:buNone/>
              <a:defRPr sz="1388"/>
            </a:lvl6pPr>
            <a:lvl7pPr>
              <a:buNone/>
              <a:defRPr sz="1388"/>
            </a:lvl7pPr>
            <a:lvl8pPr>
              <a:buNone/>
              <a:defRPr sz="1388"/>
            </a:lvl8pPr>
            <a:lvl9pPr>
              <a:buNone/>
              <a:defRPr sz="1388"/>
            </a:lvl9pPr>
          </a:lstStyle>
          <a:p xmlns:a="http://schemas.openxmlformats.org/drawingml/2006/main">
            <a:endParaRPr/>
          </a:p>
        </p:txBody>
      </p:sp>
      <p:sp>
        <p:nvSpPr>
          <p:cNvPr id="16" name="Diagram Arrow collision 429">
            <a:extLst xmlns:a="http://schemas.openxmlformats.org/drawingml/2006/main">
              <a:ext uri="{FF2B5EF4-FFF2-40B4-BE49-F238E27FC236}">
                <a16:creationId xmlns:a16="http://schemas.microsoft.com/office/drawing/2014/main" id="{89129096-0A89-48CC-AB76-48D7A116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400675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/>
            </a:defPPr>
            <a:lvl1pPr>
              <a:buNone/>
              <a:defRPr sz="1388"/>
            </a:lvl1pPr>
            <a:lvl2pPr>
              <a:buNone/>
              <a:defRPr sz="1388"/>
            </a:lvl2pPr>
            <a:lvl3pPr>
              <a:buNone/>
              <a:defRPr sz="1388"/>
            </a:lvl3pPr>
            <a:lvl4pPr>
              <a:buNone/>
              <a:defRPr sz="1388"/>
            </a:lvl4pPr>
            <a:lvl5pPr>
              <a:buNone/>
              <a:defRPr sz="1388"/>
            </a:lvl5pPr>
            <a:lvl6pPr>
              <a:buNone/>
              <a:defRPr sz="1388"/>
            </a:lvl6pPr>
            <a:lvl7pPr>
              <a:buNone/>
              <a:defRPr sz="1388"/>
            </a:lvl7pPr>
            <a:lvl8pPr>
              <a:buNone/>
              <a:defRPr sz="1388"/>
            </a:lvl8pPr>
            <a:lvl9pPr>
              <a:buNone/>
              <a:defRPr sz="1388"/>
            </a:lvl9pPr>
          </a:lstStyle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72321489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135A1AB-169E-46CC-BEC9-B4EEC8FF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6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C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16FB9DE-E886-4128-ABBC-E9822FA1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rPr>
              <a:t>핵심 구현 2/5 | AI NAVIGATION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8CD56B4-BD54-4BF1-916C-9A8CABCB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400"/>
              <a:t>AI가 포탈과 점프패드를 이용하는 경로 탐색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2833813-B309-47F7-955B-3CE56BF0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09700"/>
            <a:ext cx="5410200" cy="2209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2530"/>
          </a:solidFill>
          <a:ln xmlns:a="http://schemas.openxmlformats.org/drawingml/2006/main" w="12700">
            <a:solidFill>
              <a:srgbClr val="34405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66700" tIns="247650" rIns="228600" bIns="17145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일반 이동과 특수 이동 그래프 통합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과제: </a:t>
            </a:r>
            <a:r>
              <a:rPr sz="1575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NavMesh</a:t>
            </a: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만으로 연결되지 않는 이동 구간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포탈 / 점프패드 / 점프 / 낙하 연결 추가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걷는 거리와 특수 이동 비용을 </a:t>
            </a:r>
            <a:r>
              <a:rPr sz="1575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Dijkstra</a:t>
            </a: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로 비교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4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적용: 두 이동 방식을 포함한 경로 선택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FF2D75A-6EFE-4C24-96B8-60F4AB87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5410200" cy="2476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1219"/>
          </a:solidFill>
          <a:ln xmlns:a="http://schemas.openxmlformats.org/drawingml/2006/main" w="12700">
            <a:solidFill>
              <a:srgbClr val="2A364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66700" tIns="247650" rIns="228600" bIns="17145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정적 그래프 재사용과 상세 경로 생성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특수 이동 지점 사이의 거리와 연결 정보를 </a:t>
            </a:r>
            <a:r>
              <a:rPr sz="1575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캐시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출발점 / 도착점 후보는 추정 거리로 비교 후 검증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선택한 일반 이동 구간만</a:t>
            </a: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상세 경로 생성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4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적용: 반복 요청에서 정적 구간의 거리 쿼리 재사용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3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7DD3FC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c4cc20a5420647fa"/>
              </a:rPr>
              <a:t>경로 탐색 코드 보기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02BFDAB9-6005-43C5-8E6E-81351455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pPr>
            <a:r>
              <a:t>05</a:t>
            </a:r>
          </a:p>
        </p:txBody>
      </p:sp>
      <p:sp>
        <p:nvSpPr>
          <p:cNvPr id="10" name="Media 1">
            <a:extLst xmlns:a="http://schemas.openxmlformats.org/drawingml/2006/main">
              <a:ext uri="{FF2B5EF4-FFF2-40B4-BE49-F238E27FC236}">
                <a16:creationId xmlns:a16="http://schemas.microsoft.com/office/drawing/2014/main" id="{60C04477-35DD-4999-A1F7-922039AF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5295900" cy="3409950"/>
          </a:xfrm>
          <a:prstGeom xmlns:a="http://schemas.openxmlformats.org/drawingml/2006/main" prst="roundRect">
            <a:avLst>
              <a:gd name="adj" fmla="val 4473"/>
            </a:avLst>
          </a:prstGeom>
          <a:solidFill xmlns:a="http://schemas.openxmlformats.org/drawingml/2006/main">
            <a:srgbClr val="11151D"/>
          </a:solidFill>
          <a:ln xmlns:a="http://schemas.openxmlformats.org/drawingml/2006/main" w="12383">
            <a:solidFill>
              <a:srgbClr val="4D78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Caption 1">
            <a:extLst xmlns:a="http://schemas.openxmlformats.org/drawingml/2006/main">
              <a:ext uri="{FF2B5EF4-FFF2-40B4-BE49-F238E27FC236}">
                <a16:creationId xmlns:a16="http://schemas.microsoft.com/office/drawing/2014/main" id="{EE56EB38-DFF1-4FE2-93E5-434B2170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529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흰색: 현재 이동 경로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900DD-B8C8-4657-9FD4-C73BE46978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4edc96ed7e4a4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76275" y="1476375"/>
            <a:ext cx="5162550" cy="3271098"/>
          </a:xfrm>
          <a:prstGeom xmlns:a="http://schemas.openxmlformats.org/drawingml/2006/main" prst="rect">
            <a:avLst/>
          </a:prstGeom>
        </p:spPr>
      </p:pic>
      <p:sp>
        <p:nvSpPr>
          <p:cNvPr id="13" name="Route red legend">
            <a:extLst xmlns:a="http://schemas.openxmlformats.org/drawingml/2006/main">
              <a:ext uri="{FF2B5EF4-FFF2-40B4-BE49-F238E27FC236}">
                <a16:creationId xmlns:a16="http://schemas.microsoft.com/office/drawing/2014/main" id="{5A36E9C6-0558-4568-8BC9-3C40DF98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29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F8585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00" b="0">
                <a:solidFill>
                  <a:srgbClr val="FF8585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00" b="0">
                <a:solidFill>
                  <a:srgbClr val="FF8585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00" b="0">
                <a:solidFill>
                  <a:srgbClr val="FF8585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00" b="0">
                <a:solidFill>
                  <a:srgbClr val="FF8585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00" b="0">
                <a:solidFill>
                  <a:srgbClr val="FF8585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00" b="0">
                <a:solidFill>
                  <a:srgbClr val="FF8585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00" b="0">
                <a:solidFill>
                  <a:srgbClr val="FF8585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00" b="0">
                <a:solidFill>
                  <a:srgbClr val="FF8585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00" b="0">
                <a:solidFill>
                  <a:srgbClr val="FF8585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FF8585"/>
                </a:solidFill>
                <a:latin typeface="Noto Sans KR"/>
                <a:ea typeface="Noto Sans KR"/>
                <a:cs typeface="Noto Sans KR"/>
              </a:defRPr>
            </a:pPr>
            <a:r>
              <a:t>빨강: 특수 이동 연결(PathLink)</a:t>
            </a:r>
          </a:p>
        </p:txBody>
      </p:sp>
      <p:sp>
        <p:nvSpPr>
          <p:cNvPr id="14" name="Route blue legend">
            <a:extLst xmlns:a="http://schemas.openxmlformats.org/drawingml/2006/main">
              <a:ext uri="{FF2B5EF4-FFF2-40B4-BE49-F238E27FC236}">
                <a16:creationId xmlns:a16="http://schemas.microsoft.com/office/drawing/2014/main" id="{ED209909-EF8B-4616-B49C-0FD61706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529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5B9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00" b="0">
                <a:solidFill>
                  <a:srgbClr val="75B9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00" b="0">
                <a:solidFill>
                  <a:srgbClr val="75B9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00" b="0">
                <a:solidFill>
                  <a:srgbClr val="75B9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00" b="0">
                <a:solidFill>
                  <a:srgbClr val="75B9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00" b="0">
                <a:solidFill>
                  <a:srgbClr val="75B9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00" b="0">
                <a:solidFill>
                  <a:srgbClr val="75B9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00" b="0">
                <a:solidFill>
                  <a:srgbClr val="75B9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00" b="0">
                <a:solidFill>
                  <a:srgbClr val="75B9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00" b="0">
                <a:solidFill>
                  <a:srgbClr val="75B9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75B9FF"/>
                </a:solidFill>
                <a:latin typeface="Noto Sans KR"/>
                <a:ea typeface="Noto Sans KR"/>
                <a:cs typeface="Noto Sans KR"/>
              </a:defRPr>
            </a:pPr>
            <a:r>
              <a:t>파랑: 이후 이동 경로</a:t>
            </a:r>
          </a:p>
        </p:txBody>
      </p:sp>
      <p:sp>
        <p:nvSpPr>
          <p:cNvPr id="15" name="AI position circle">
            <a:extLst xmlns:a="http://schemas.openxmlformats.org/drawingml/2006/main">
              <a:ext uri="{FF2B5EF4-FFF2-40B4-BE49-F238E27FC236}">
                <a16:creationId xmlns:a16="http://schemas.microsoft.com/office/drawing/2014/main" id="{C26701CF-AC54-430A-9F53-3C44B52F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43200"/>
            <a:ext cx="438150" cy="438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</a:ln>
        </p:spPr>
      </p:sp>
      <p:sp>
        <p:nvSpPr>
          <p:cNvPr id="16" name="AI position label">
            <a:extLst xmlns:a="http://schemas.openxmlformats.org/drawingml/2006/main">
              <a:ext uri="{FF2B5EF4-FFF2-40B4-BE49-F238E27FC236}">
                <a16:creationId xmlns:a16="http://schemas.microsoft.com/office/drawing/2014/main" id="{CE346EA3-7820-4934-B55C-65EB2F85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838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AI</a:t>
            </a:r>
          </a:p>
        </p:txBody>
      </p:sp>
      <p:sp>
        <p:nvSpPr>
          <p:cNvPr id="17" name="PathLink personal implementation baseline">
            <a:extLst xmlns:a="http://schemas.openxmlformats.org/drawingml/2006/main">
              <a:ext uri="{FF2B5EF4-FFF2-40B4-BE49-F238E27FC236}">
                <a16:creationId xmlns:a16="http://schemas.microsoft.com/office/drawing/2014/main" id="{230E1FD5-406B-466E-8D8F-E4C160BF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529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PathLink 개인 구현 버전 기준</a:t>
            </a:r>
          </a:p>
        </p:txBody>
      </p:sp>
    </p:spTree>
    <p:extLst>
      <p:ext uri="{BB962C8B-B14F-4D97-AF65-F5344CB8AC3E}">
        <p14:creationId xmlns:p14="http://schemas.microsoft.com/office/powerpoint/2010/main" val="3974164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177CC06-D038-4BDA-8BA6-28D7E10E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6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C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59EC950-0B7B-4957-B45E-6FA954FC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rPr>
              <a:t>핵심 구현 3/5 | PORTAL SYSTEM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6E412D2-FE15-458C-9F18-6645A032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400"/>
              <a:t>공간 포탈의 출구 화면과 촬영 부하 제어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DE661DB9-E92D-4F17-A0E0-5FF44F62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pPr>
            <a:r>
              <a:t>06</a:t>
            </a:r>
          </a:p>
        </p:txBody>
      </p:sp>
      <p:sp>
        <p:nvSpPr>
          <p:cNvPr id="19" name="Spatial window rendering">
            <a:extLst xmlns:a="http://schemas.openxmlformats.org/drawingml/2006/main">
              <a:ext uri="{FF2B5EF4-FFF2-40B4-BE49-F238E27FC236}">
                <a16:creationId xmlns:a16="http://schemas.microsoft.com/office/drawing/2014/main" id="{8A5AF3AE-0724-416E-879A-FE74640B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09700"/>
            <a:ext cx="5410200" cy="2209800"/>
          </a:xfrm>
          <a:prstGeom xmlns:a="http://schemas.openxmlformats.org/drawingml/2006/main" prst="roundRect">
            <a:avLst>
              <a:gd name="adj" fmla="val 16379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1430">
            <a:solidFill>
              <a:srgbClr val="344253"/>
            </a:solidFill>
          </a:ln>
        </p:spPr>
        <p:txBody>
          <a:bodyPr xmlns:a="http://schemas.openxmlformats.org/drawingml/2006/main" lIns="285750" tIns="285750" rIns="238125" bIns="190500"/>
          <a:lstStyle xmlns:a="http://schemas.openxmlformats.org/drawingml/2006/main">
            <a:defPPr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시점에 맞춘 출구 화면</a:t>
            </a:r>
          </a:p>
          <a:p xmlns:a="http://schemas.openxmlformats.org/drawingml/2006/main">
            <a: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입구 기준 카메라 위치를 출구 좌표로 변환</a:t>
            </a:r>
          </a:p>
          <a:p xmlns:a="http://schemas.openxmlformats.org/drawingml/2006/main">
            <a: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포탈 경계를 기준으로 비대칭 투영 계산</a:t>
            </a:r>
          </a:p>
          <a:p xmlns:a="http://schemas.openxmlformats.org/drawingml/2006/main">
            <a: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SceneCapture 결과를 포탈 표면에 표시</a:t>
            </a:r>
          </a:p>
          <a:p xmlns:a="http://schemas.openxmlformats.org/drawingml/2006/main">
            <a: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적용: 보는 위치에 따라 달라지는 출구 화면</a:t>
            </a:r>
          </a:p>
          <a:p xmlns:a="http://schemas.openxmlformats.org/drawingml/2006/main">
            <a: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7DD3FC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0c249bfed50e4e6f"/>
              </a:rPr>
              <a:t>공간 포탈 렌더링 코드 보기</a:t>
            </a:r>
          </a:p>
        </p:txBody>
      </p:sp>
      <p:sp>
        <p:nvSpPr>
          <p:cNvPr id="20" name="Capture budget and near views">
            <a:extLst xmlns:a="http://schemas.openxmlformats.org/drawingml/2006/main">
              <a:ext uri="{FF2B5EF4-FFF2-40B4-BE49-F238E27FC236}">
                <a16:creationId xmlns:a16="http://schemas.microsoft.com/office/drawing/2014/main" id="{B5B2E068-1FC2-40D0-AD52-C0B4C0FF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5410200" cy="2476500"/>
          </a:xfrm>
          <a:prstGeom xmlns:a="http://schemas.openxmlformats.org/drawingml/2006/main" prst="roundRect">
            <a:avLst>
              <a:gd name="adj" fmla="val 14615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1430">
            <a:solidFill>
              <a:srgbClr val="344253"/>
            </a:solidFill>
          </a:ln>
        </p:spPr>
        <p:txBody>
          <a:bodyPr xmlns:a="http://schemas.openxmlformats.org/drawingml/2006/main" lIns="285750" tIns="285750" rIns="238125" bIns="190500"/>
          <a:lstStyle xmlns:a="http://schemas.openxmlformats.org/drawingml/2006/main">
            <a:defPPr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촬영 부하 제어와 근접 갱신</a:t>
            </a:r>
          </a:p>
          <a:p xmlns:a="http://schemas.openxmlformats.org/drawingml/2006/main">
            <a: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화면 점유율로 렌더 타깃 해상도 선택</a:t>
            </a:r>
          </a:p>
          <a:p xmlns:a="http://schemas.openxmlformats.org/drawingml/2006/main">
            <a: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기본 정지 갱신 5회/초, 촬영 상한 2회/프레임</a:t>
            </a:r>
          </a:p>
          <a:p xmlns:a="http://schemas.openxmlformats.org/drawingml/2006/main">
            <a: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새 공간 포탈은 가까우면 갱신 간격을 생략</a:t>
            </a:r>
          </a:p>
          <a:p xmlns:a="http://schemas.openxmlformats.org/drawingml/2006/main">
            <a: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이 경우에도 프레임당 촬영 상한은 유지</a:t>
            </a:r>
          </a:p>
          <a:p xmlns:a="http://schemas.openxmlformats.org/drawingml/2006/main">
            <a: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7DD3FC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65e51d22a4cb472e"/>
              </a:rPr>
              <a:t>촬영 스케줄링 코드 보기</a:t>
            </a:r>
          </a:p>
        </p:txBody>
      </p:sp>
      <p:sp>
        <p:nvSpPr>
          <p:cNvPr id="21" name="Portal calculation heading">
            <a:extLst xmlns:a="http://schemas.openxmlformats.org/drawingml/2006/main">
              <a:ext uri="{FF2B5EF4-FFF2-40B4-BE49-F238E27FC236}">
                <a16:creationId xmlns:a16="http://schemas.microsoft.com/office/drawing/2014/main" id="{FEEDD5C6-08C6-40B1-95F8-468DF9C0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29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출구 화면 계산 흐름</a:t>
            </a:r>
          </a:p>
        </p:txBody>
      </p:sp>
      <p:sp>
        <p:nvSpPr>
          <p:cNvPr id="22" name="Portal render pipeline 0">
            <a:extLst xmlns:a="http://schemas.openxmlformats.org/drawingml/2006/main">
              <a:ext uri="{FF2B5EF4-FFF2-40B4-BE49-F238E27FC236}">
                <a16:creationId xmlns:a16="http://schemas.microsoft.com/office/drawing/2014/main" id="{4D501859-B23B-4EE5-BE0A-E89CE0D9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4762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3335">
            <a:solidFill>
              <a:srgbClr val="4DA3FF"/>
            </a:solidFill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플레이어 카메라 위치</a:t>
            </a:r>
          </a:p>
        </p:txBody>
      </p:sp>
      <p:sp>
        <p:nvSpPr>
          <p:cNvPr id="23" name="Portal render pipeline 1">
            <a:extLst xmlns:a="http://schemas.openxmlformats.org/drawingml/2006/main">
              <a:ext uri="{FF2B5EF4-FFF2-40B4-BE49-F238E27FC236}">
                <a16:creationId xmlns:a16="http://schemas.microsoft.com/office/drawing/2014/main" id="{D308E5DA-F920-4246-A1FC-1A7560ED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4762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3335">
            <a:solidFill>
              <a:srgbClr val="4DA3FF"/>
            </a:solidFill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입구 좌표를 출구 좌표로 변환</a:t>
            </a:r>
          </a:p>
        </p:txBody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49FF60-2C5D-43F6-9F7F-1925A57A3EC5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3257550" y="281940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DA3FF"/>
            </a:solidFill>
            <a:tailEnd type="triangle" w="sm" len="sm"/>
          </a:ln>
        </p:spPr>
      </p:cxnSp>
      <p:sp>
        <p:nvSpPr>
          <p:cNvPr id="25" name="Portal render pipeline 2">
            <a:extLst xmlns:a="http://schemas.openxmlformats.org/drawingml/2006/main">
              <a:ext uri="{FF2B5EF4-FFF2-40B4-BE49-F238E27FC236}">
                <a16:creationId xmlns:a16="http://schemas.microsoft.com/office/drawing/2014/main" id="{8D9C7263-E54F-47C0-9D8A-82EC72F4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4762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3335">
            <a:solidFill>
              <a:srgbClr val="4DA3FF"/>
            </a:solidFill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포탈 경계로 비대칭 투영 계산</a:t>
            </a:r>
          </a:p>
        </p:txBody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C3C93A-860D-43C7-812E-01C74BAE0854}"/>
              </a:ext>
            </a:extLst>
          </p:cNvPr>
          <p:cNvCxnSpPr>
            <a:stCxn xmlns:a="http://schemas.openxmlformats.org/drawingml/2006/main" id="23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3257550" y="38290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DA3FF"/>
            </a:solidFill>
            <a:tailEnd type="triangle" w="sm" len="sm"/>
          </a:ln>
        </p:spPr>
      </p:cxnSp>
      <p:sp>
        <p:nvSpPr>
          <p:cNvPr id="27" name="Portal render pipeline 3">
            <a:extLst xmlns:a="http://schemas.openxmlformats.org/drawingml/2006/main">
              <a:ext uri="{FF2B5EF4-FFF2-40B4-BE49-F238E27FC236}">
                <a16:creationId xmlns:a16="http://schemas.microsoft.com/office/drawing/2014/main" id="{82782CE4-4218-413B-80A3-77D78F37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4762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3335">
            <a:solidFill>
              <a:srgbClr val="4DA3FF"/>
            </a:solidFill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SceneCapture 결과를 표면에 표시</a:t>
            </a:r>
          </a:p>
        </p:txBody>
      </p: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681DBA-A13A-4A64-A81E-75081614C0D5}"/>
              </a:ext>
            </a:extLst>
          </p:cNvPr>
          <p:cNvCxnSpPr>
            <a:stCxn xmlns:a="http://schemas.openxmlformats.org/drawingml/2006/main" id="25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3257550" y="483870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DA3FF"/>
            </a:solidFill>
            <a:tailEnd type="triangle" w="sm" len="sm"/>
          </a:ln>
        </p:spPr>
      </p:cxnSp>
      <p:sp>
        <p:nvSpPr>
          <p:cNvPr id="29" name="Portal projection terminology">
            <a:extLst xmlns:a="http://schemas.openxmlformats.org/drawingml/2006/main">
              <a:ext uri="{FF2B5EF4-FFF2-40B4-BE49-F238E27FC236}">
                <a16:creationId xmlns:a16="http://schemas.microsoft.com/office/drawing/2014/main" id="{33055E9C-8621-4012-A9D2-54D57796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5295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비대칭 투영(Off-axis projection)으로 포탈 경계에 맞춤</a:t>
            </a:r>
          </a:p>
        </p:txBody>
      </p:sp>
    </p:spTree>
    <p:extLst>
      <p:ext uri="{BB962C8B-B14F-4D97-AF65-F5344CB8AC3E}">
        <p14:creationId xmlns:p14="http://schemas.microsoft.com/office/powerpoint/2010/main" val="4451176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8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27D1D99F-B27E-4A63-85A4-552EBA33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pPr>
            <a:r>
              <a:t>핵심 구현 3/5 | PORTAL VIEW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6AED6DB-8D3C-4056-B21D-2CAF8887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공간 포탈 화면의 시점 변화</a:t>
            </a:r>
          </a:p>
        </p:txBody>
      </p:sp>
      <p:sp>
        <p:nvSpPr>
          <p:cNvPr id="3" name="Page number">
            <a:extLst xmlns:a="http://schemas.openxmlformats.org/drawingml/2006/main">
              <a:ext uri="{FF2B5EF4-FFF2-40B4-BE49-F238E27FC236}">
                <a16:creationId xmlns:a16="http://schemas.microsoft.com/office/drawing/2014/main" id="{B399D825-6F5D-4E3C-BCF4-B4CFB5EE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pPr>
            <a:r>
              <a:t>07</a:t>
            </a:r>
          </a:p>
        </p:txBody>
      </p:sp>
      <p:sp>
        <p:nvSpPr>
          <p:cNvPr id="12" name="Photo comparison description">
            <a:extLst xmlns:a="http://schemas.openxmlformats.org/drawingml/2006/main">
              <a:ext uri="{FF2B5EF4-FFF2-40B4-BE49-F238E27FC236}">
                <a16:creationId xmlns:a16="http://schemas.microsoft.com/office/drawing/2014/main" id="{1F5A9AE6-6C98-4DC4-B7C0-6BC429DF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카메라 위치에 따라 달라지는 포탈 내부 시야</a:t>
            </a:r>
          </a:p>
        </p:txBody>
      </p:sp>
      <p:sp>
        <p:nvSpPr>
          <p:cNvPr id="13" name="Front view heading">
            <a:extLst xmlns:a="http://schemas.openxmlformats.org/drawingml/2006/main">
              <a:ext uri="{FF2B5EF4-FFF2-40B4-BE49-F238E27FC236}">
                <a16:creationId xmlns:a16="http://schemas.microsoft.com/office/drawing/2014/main" id="{F5136B93-1F96-4B8C-BEEC-73732725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29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포탈 정면</a:t>
            </a:r>
          </a:p>
        </p:txBody>
      </p:sp>
      <p:sp>
        <p:nvSpPr>
          <p:cNvPr id="14" name="Side view heading">
            <a:extLst xmlns:a="http://schemas.openxmlformats.org/drawingml/2006/main">
              <a:ext uri="{FF2B5EF4-FFF2-40B4-BE49-F238E27FC236}">
                <a16:creationId xmlns:a16="http://schemas.microsoft.com/office/drawing/2014/main" id="{26D001D3-0275-4244-AB2B-A20F6B65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71675"/>
            <a:ext cx="529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포탈 측면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5BC38E-322E-483E-8669-FEE1D06CDE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956d13bf3d4e32"/>
          <a:srcRect xmlns:a="http://schemas.openxmlformats.org/drawingml/2006/main" l="20372" t="5736" r="18513" b="2294"/>
          <a:stretch xmlns:a="http://schemas.openxmlformats.org/drawingml/2006/main"/>
        </p:blipFill>
        <p:spPr>
          <a:xfrm xmlns:a="http://schemas.openxmlformats.org/drawingml/2006/main">
            <a:off x="609600" y="2381250"/>
            <a:ext cx="5295900" cy="2978944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37357C-C322-44F9-919D-2AE093C14B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e5db347a364abe"/>
          <a:srcRect xmlns:a="http://schemas.openxmlformats.org/drawingml/2006/main" l="17806" t="4717" r="19516" b="1887"/>
          <a:stretch xmlns:a="http://schemas.openxmlformats.org/drawingml/2006/main"/>
        </p:blipFill>
        <p:spPr>
          <a:xfrm xmlns:a="http://schemas.openxmlformats.org/drawingml/2006/main">
            <a:off x="6286500" y="2381250"/>
            <a:ext cx="5295900" cy="2978944"/>
          </a:xfrm>
          <a:prstGeom xmlns:a="http://schemas.openxmlformats.org/drawingml/2006/main" prst="rect">
            <a:avLst/>
          </a:prstGeom>
        </p:spPr>
      </p:pic>
      <p:sp>
        <p:nvSpPr>
          <p:cNvPr id="17" name="Front view caption">
            <a:extLst xmlns:a="http://schemas.openxmlformats.org/drawingml/2006/main">
              <a:ext uri="{FF2B5EF4-FFF2-40B4-BE49-F238E27FC236}">
                <a16:creationId xmlns:a16="http://schemas.microsoft.com/office/drawing/2014/main" id="{6A58E496-C653-4D76-A900-72A1DCC0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5295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정면에서 본 포탈 내부의 출구 전경</a:t>
            </a:r>
          </a:p>
        </p:txBody>
      </p:sp>
      <p:sp>
        <p:nvSpPr>
          <p:cNvPr id="18" name="Side view caption">
            <a:extLst xmlns:a="http://schemas.openxmlformats.org/drawingml/2006/main">
              <a:ext uri="{FF2B5EF4-FFF2-40B4-BE49-F238E27FC236}">
                <a16:creationId xmlns:a16="http://schemas.microsoft.com/office/drawing/2014/main" id="{764B8D37-67FE-415B-B39B-443D5BA0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72125"/>
            <a:ext cx="5295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측면으로 이동했을 때 달라지는</a:t>
            </a:r>
          </a:p>
          <a:p xmlns:a="http://schemas.openxmlformats.org/drawingml/2006/main">
            <a: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포탈 내부의 시야</a:t>
            </a:r>
          </a:p>
        </p:txBody>
      </p:sp>
    </p:spTree>
    <p:extLst>
      <p:ext uri="{BB962C8B-B14F-4D97-AF65-F5344CB8AC3E}">
        <p14:creationId xmlns:p14="http://schemas.microsoft.com/office/powerpoint/2010/main" val="1910647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8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B4CEDB64-26B1-44AA-878A-CB8DB8C7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pPr>
            <a:r>
              <a:t>핵심 구현 3/5 | PORTAL TRAVERSAL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EC886D8-9347-4E3D-84A4-3C2C50CE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공간 포탈 통과 판정과 안전한 도착</a:t>
            </a:r>
          </a:p>
        </p:txBody>
      </p:sp>
      <p:sp>
        <p:nvSpPr>
          <p:cNvPr id="3" name="Page number">
            <a:extLst xmlns:a="http://schemas.openxmlformats.org/drawingml/2006/main">
              <a:ext uri="{FF2B5EF4-FFF2-40B4-BE49-F238E27FC236}">
                <a16:creationId xmlns:a16="http://schemas.microsoft.com/office/drawing/2014/main" id="{426B5D89-18AD-47F6-8A6F-A3DD5F18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pPr>
            <a:r>
              <a:t>08</a:t>
            </a:r>
          </a:p>
        </p:txBody>
      </p:sp>
      <p:sp>
        <p:nvSpPr>
          <p:cNvPr id="21" name="Portal scope">
            <a:extLst xmlns:a="http://schemas.openxmlformats.org/drawingml/2006/main">
              <a:ext uri="{FF2B5EF4-FFF2-40B4-BE49-F238E27FC236}">
                <a16:creationId xmlns:a16="http://schemas.microsoft.com/office/drawing/2014/main" id="{042954D5-0CA2-47A5-B146-2F1F384F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서버가 통과 조건과 도착 충돌을 확인한 뒤 이동을 확정</a:t>
            </a:r>
          </a:p>
        </p:txBody>
      </p:sp>
      <p:sp>
        <p:nvSpPr>
          <p:cNvPr id="22" name="Portal Entry checks">
            <a:extLst xmlns:a="http://schemas.openxmlformats.org/drawingml/2006/main">
              <a:ext uri="{FF2B5EF4-FFF2-40B4-BE49-F238E27FC236}">
                <a16:creationId xmlns:a16="http://schemas.microsoft.com/office/drawing/2014/main" id="{8FF226F6-6083-4C7D-89F6-A4AC6D5B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22860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4288">
            <a:solidFill>
              <a:srgbClr val="4DA3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1. 입구 접촉과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통과 방향 검사</a:t>
            </a:r>
          </a:p>
        </p:txBody>
      </p:sp>
      <p:sp>
        <p:nvSpPr>
          <p:cNvPr id="23" name="Portal Entry checks details">
            <a:extLst xmlns:a="http://schemas.openxmlformats.org/drawingml/2006/main">
              <a:ext uri="{FF2B5EF4-FFF2-40B4-BE49-F238E27FC236}">
                <a16:creationId xmlns:a16="http://schemas.microsoft.com/office/drawing/2014/main" id="{A5DDF3F1-8C8A-4327-A2AE-4FB3A3E9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이전 / 현재 이동 구간</a:t>
            </a:r>
          </a:p>
          <a:p xmlns:a="http://schemas.openxmlformats.org/drawingml/2006/main">
            <a: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여러 포탈 중 첫 접촉</a:t>
            </a:r>
          </a:p>
        </p:txBody>
      </p:sp>
      <p:sp>
        <p:nvSpPr>
          <p:cNvPr id="24" name="Portal main arrow 0">
            <a:extLst xmlns:a="http://schemas.openxmlformats.org/drawingml/2006/main">
              <a:ext uri="{FF2B5EF4-FFF2-40B4-BE49-F238E27FC236}">
                <a16:creationId xmlns:a16="http://schemas.microsoft.com/office/drawing/2014/main" id="{C09A3E9F-2E81-41B1-B3D9-477168CE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33675"/>
            <a:ext cx="381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</p:sp>
      <p:sp>
        <p:nvSpPr>
          <p:cNvPr id="25" name="Portal Transform">
            <a:extLst xmlns:a="http://schemas.openxmlformats.org/drawingml/2006/main">
              <a:ext uri="{FF2B5EF4-FFF2-40B4-BE49-F238E27FC236}">
                <a16:creationId xmlns:a16="http://schemas.microsoft.com/office/drawing/2014/main" id="{B7BE471F-4BCC-423B-94B1-37AC7CF1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22860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4288">
            <a:solidFill>
              <a:srgbClr val="4DA3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2. 출구 좌표와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속도 / 시점 변환</a:t>
            </a:r>
          </a:p>
        </p:txBody>
      </p:sp>
      <p:sp>
        <p:nvSpPr>
          <p:cNvPr id="26" name="Portal Transform details">
            <a:extLst xmlns:a="http://schemas.openxmlformats.org/drawingml/2006/main">
              <a:ext uri="{FF2B5EF4-FFF2-40B4-BE49-F238E27FC236}">
                <a16:creationId xmlns:a16="http://schemas.microsoft.com/office/drawing/2014/main" id="{2AF45110-1026-4402-AD33-3F2C9D95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05200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입구 / 출구 좌표계</a:t>
            </a:r>
          </a:p>
          <a:p xmlns:a="http://schemas.openxmlformats.org/drawingml/2006/main">
            <a: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높이 / 속도 관계 유지</a:t>
            </a:r>
          </a:p>
        </p:txBody>
      </p:sp>
      <p:sp>
        <p:nvSpPr>
          <p:cNvPr id="27" name="Portal main arrow 1">
            <a:extLst xmlns:a="http://schemas.openxmlformats.org/drawingml/2006/main">
              <a:ext uri="{FF2B5EF4-FFF2-40B4-BE49-F238E27FC236}">
                <a16:creationId xmlns:a16="http://schemas.microsoft.com/office/drawing/2014/main" id="{C7E55CE4-6194-4C5C-AE88-AAA52AE1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33675"/>
            <a:ext cx="381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</p:sp>
      <p:sp>
        <p:nvSpPr>
          <p:cNvPr id="28" name="Portal Destination checks">
            <a:extLst xmlns:a="http://schemas.openxmlformats.org/drawingml/2006/main">
              <a:ext uri="{FF2B5EF4-FFF2-40B4-BE49-F238E27FC236}">
                <a16:creationId xmlns:a16="http://schemas.microsoft.com/office/drawing/2014/main" id="{1AE455E1-4E32-4027-BD2F-1D2967CF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05050"/>
            <a:ext cx="22860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4288">
            <a:solidFill>
              <a:srgbClr val="4DA3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3. 도착 영역과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경로 충돌 검사</a:t>
            </a:r>
          </a:p>
        </p:txBody>
      </p:sp>
      <p:sp>
        <p:nvSpPr>
          <p:cNvPr id="29" name="Portal Destination checks details">
            <a:extLst xmlns:a="http://schemas.openxmlformats.org/drawingml/2006/main">
              <a:ext uri="{FF2B5EF4-FFF2-40B4-BE49-F238E27FC236}">
                <a16:creationId xmlns:a16="http://schemas.microsoft.com/office/drawing/2014/main" id="{D0A6FCAA-90B7-48AC-813E-98BE240A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05200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전체 Capsule 중첩</a:t>
            </a:r>
          </a:p>
          <a:p xmlns:a="http://schemas.openxmlformats.org/drawingml/2006/main">
            <a: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도착까지의 경로</a:t>
            </a:r>
          </a:p>
        </p:txBody>
      </p:sp>
      <p:sp>
        <p:nvSpPr>
          <p:cNvPr id="30" name="Portal main arrow 2">
            <a:extLst xmlns:a="http://schemas.openxmlformats.org/drawingml/2006/main">
              <a:ext uri="{FF2B5EF4-FFF2-40B4-BE49-F238E27FC236}">
                <a16:creationId xmlns:a16="http://schemas.microsoft.com/office/drawing/2014/main" id="{EF3444F7-146A-44C9-8445-2F78B6B1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33675"/>
            <a:ext cx="381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</p:sp>
      <p:sp>
        <p:nvSpPr>
          <p:cNvPr id="31" name="Portal Commit">
            <a:extLst xmlns:a="http://schemas.openxmlformats.org/drawingml/2006/main">
              <a:ext uri="{FF2B5EF4-FFF2-40B4-BE49-F238E27FC236}">
                <a16:creationId xmlns:a16="http://schemas.microsoft.com/office/drawing/2014/main" id="{DE8ADFDD-5C1F-4860-A0CF-F6EC8F05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05050"/>
            <a:ext cx="22860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4288">
            <a:solidFill>
              <a:srgbClr val="4DA3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4. 서버 이동 확정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변환 값 적용</a:t>
            </a:r>
          </a:p>
        </p:txBody>
      </p:sp>
      <p:sp>
        <p:nvSpPr>
          <p:cNvPr id="32" name="Portal Commit details">
            <a:extLst xmlns:a="http://schemas.openxmlformats.org/drawingml/2006/main">
              <a:ext uri="{FF2B5EF4-FFF2-40B4-BE49-F238E27FC236}">
                <a16:creationId xmlns:a16="http://schemas.microsoft.com/office/drawing/2014/main" id="{78B8467D-1FC8-42D1-AEB0-35E49EB7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05200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위치 / 속도 / 시점 적용</a:t>
            </a:r>
          </a:p>
          <a:p xmlns:a="http://schemas.openxmlformats.org/drawingml/2006/main">
            <a:pPr algn="ctr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이동 후 재진입 제한</a:t>
            </a:r>
          </a:p>
        </p:txBody>
      </p:sp>
      <p:sp>
        <p:nvSpPr>
          <p:cNvPr id="33" name="Portal valid label">
            <a:extLst xmlns:a="http://schemas.openxmlformats.org/drawingml/2006/main">
              <a:ext uri="{FF2B5EF4-FFF2-40B4-BE49-F238E27FC236}">
                <a16:creationId xmlns:a16="http://schemas.microsoft.com/office/drawing/2014/main" id="{05292C5A-4FC2-4ED6-93FF-8D7DEA0E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765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388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388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388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388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388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388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388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388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388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388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88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pPr>
            <a:r>
              <a:t>유효</a:t>
            </a:r>
          </a:p>
        </p:txBody>
      </p:sp>
      <p:sp>
        <p:nvSpPr>
          <p:cNvPr id="34" name="Portal rejection branch">
            <a:extLst xmlns:a="http://schemas.openxmlformats.org/drawingml/2006/main">
              <a:ext uri="{FF2B5EF4-FFF2-40B4-BE49-F238E27FC236}">
                <a16:creationId xmlns:a16="http://schemas.microsoft.com/office/drawing/2014/main" id="{4C9E949B-FA06-4E46-9795-5B7D3A45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171950"/>
            <a:ext cx="13335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D281"/>
          </a:solidFill>
          <a:ln xmlns:a="http://schemas.openxmlformats.org/drawingml/2006/main" w="0">
            <a:noFill/>
          </a:ln>
        </p:spPr>
      </p:sp>
      <p:sp>
        <p:nvSpPr>
          <p:cNvPr id="35" name="Portal rejected label">
            <a:extLst xmlns:a="http://schemas.openxmlformats.org/drawingml/2006/main">
              <a:ext uri="{FF2B5EF4-FFF2-40B4-BE49-F238E27FC236}">
                <a16:creationId xmlns:a16="http://schemas.microsoft.com/office/drawing/2014/main" id="{579BBA18-CF96-49C2-9529-B82FE89A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910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88" b="1">
                <a:solidFill>
                  <a:srgbClr val="FFD281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88" b="1">
                <a:solidFill>
                  <a:srgbClr val="FFD281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88" b="1">
                <a:solidFill>
                  <a:srgbClr val="FFD281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88" b="1">
                <a:solidFill>
                  <a:srgbClr val="FFD281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88" b="1">
                <a:solidFill>
                  <a:srgbClr val="FFD281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88" b="1">
                <a:solidFill>
                  <a:srgbClr val="FFD281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88" b="1">
                <a:solidFill>
                  <a:srgbClr val="FFD281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88" b="1">
                <a:solidFill>
                  <a:srgbClr val="FFD281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88" b="1">
                <a:solidFill>
                  <a:srgbClr val="FFD281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88" b="1">
                <a:solidFill>
                  <a:srgbClr val="FFD281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88" b="1">
                <a:solidFill>
                  <a:srgbClr val="FFD281"/>
                </a:solidFill>
                <a:latin typeface="Noto Sans KR"/>
                <a:ea typeface="Noto Sans KR"/>
                <a:cs typeface="Noto Sans KR"/>
              </a:defRPr>
            </a:pPr>
            <a:r>
              <a:t>막힘</a:t>
            </a:r>
          </a:p>
        </p:txBody>
      </p:sp>
      <p:sp>
        <p:nvSpPr>
          <p:cNvPr id="36" name="Portal rejection">
            <a:extLst xmlns:a="http://schemas.openxmlformats.org/drawingml/2006/main">
              <a:ext uri="{FF2B5EF4-FFF2-40B4-BE49-F238E27FC236}">
                <a16:creationId xmlns:a16="http://schemas.microsoft.com/office/drawing/2014/main" id="{3784ADA9-1733-4B35-A676-2CE4DA68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29150"/>
            <a:ext cx="51816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4288">
            <a:solidFill>
              <a:srgbClr val="FFD281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 b="1">
                <a:solidFill>
                  <a:srgbClr val="FFD281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725" b="1">
                <a:solidFill>
                  <a:srgbClr val="FFD281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725" b="1">
                <a:solidFill>
                  <a:srgbClr val="FFD281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725" b="1">
                <a:solidFill>
                  <a:srgbClr val="FFD281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725" b="1">
                <a:solidFill>
                  <a:srgbClr val="FFD281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725" b="1">
                <a:solidFill>
                  <a:srgbClr val="FFD281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725" b="1">
                <a:solidFill>
                  <a:srgbClr val="FFD281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725" b="1">
                <a:solidFill>
                  <a:srgbClr val="FFD281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725" b="1">
                <a:solidFill>
                  <a:srgbClr val="FFD281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725" b="1">
                <a:solidFill>
                  <a:srgbClr val="FFD281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FFD281"/>
                </a:solidFill>
                <a:latin typeface="Noto Sans KR"/>
                <a:ea typeface="Noto Sans KR"/>
                <a:cs typeface="Noto Sans KR"/>
              </a:defRPr>
            </a:pPr>
            <a:r>
              <a:t>중첩 / 경로 막힘: 통과 거부</a:t>
            </a:r>
          </a:p>
        </p:txBody>
      </p:sp>
      <p:sp>
        <p:nvSpPr>
          <p:cNvPr id="37" name="Portal collision scope">
            <a:extLst xmlns:a="http://schemas.openxmlformats.org/drawingml/2006/main">
              <a:ext uri="{FF2B5EF4-FFF2-40B4-BE49-F238E27FC236}">
                <a16:creationId xmlns:a16="http://schemas.microsoft.com/office/drawing/2014/main" id="{3335DF0A-3359-4594-A020-805ED7B3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43550"/>
            <a:ext cx="5181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실제 캐릭터 충돌 영역을 유지한 채 검사</a:t>
            </a:r>
          </a:p>
        </p:txBody>
      </p:sp>
      <p:sp>
        <p:nvSpPr>
          <p:cNvPr id="38" name="Portal arrival heading">
            <a:extLst xmlns:a="http://schemas.openxmlformats.org/drawingml/2006/main">
              <a:ext uri="{FF2B5EF4-FFF2-40B4-BE49-F238E27FC236}">
                <a16:creationId xmlns:a16="http://schemas.microsoft.com/office/drawing/2014/main" id="{118FCDDC-BB82-470C-936B-7825A760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기본 도착 규칙</a:t>
            </a:r>
          </a:p>
        </p:txBody>
      </p:sp>
      <p:sp>
        <p:nvSpPr>
          <p:cNvPr id="39" name="Portal arrival rules">
            <a:extLst xmlns:a="http://schemas.openxmlformats.org/drawingml/2006/main">
              <a:ext uri="{FF2B5EF4-FFF2-40B4-BE49-F238E27FC236}">
                <a16:creationId xmlns:a16="http://schemas.microsoft.com/office/drawing/2014/main" id="{7B1C184D-C179-491F-A7DC-B476F02E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5334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출구 가로 중앙에 도착 / 높이 유지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포탈 크기에 따라 속도의 크기를 바꾸지 않음</a:t>
            </a:r>
          </a:p>
        </p:txBody>
      </p:sp>
      <p:sp>
        <p:nvSpPr>
          <p:cNvPr id="40" name="Portal traversal link">
            <a:extLst xmlns:a="http://schemas.openxmlformats.org/drawingml/2006/main">
              <a:ext uri="{FF2B5EF4-FFF2-40B4-BE49-F238E27FC236}">
                <a16:creationId xmlns:a16="http://schemas.microsoft.com/office/drawing/2014/main" id="{8CD66492-454A-4A44-8A2F-FF2E15BA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pPr>
            <a:r>
              <a:rPr u="sng">
                <a:solidFill>
                  <a:srgbClr val="7DD3FC"/>
                </a:solidFill>
                <a:hlinkClick xmlns:r="http://schemas.openxmlformats.org/officeDocument/2006/relationships" r:id="R30ce9eb8800d4cff"/>
              </a:rPr>
              <a:t>통과 판정 코드 보기</a:t>
            </a:r>
          </a:p>
        </p:txBody>
      </p:sp>
      <p:sp>
        <p:nvSpPr>
          <p:cNvPr id="41" name="Portal scheduler link">
            <a:extLst xmlns:a="http://schemas.openxmlformats.org/drawingml/2006/main">
              <a:ext uri="{FF2B5EF4-FFF2-40B4-BE49-F238E27FC236}">
                <a16:creationId xmlns:a16="http://schemas.microsoft.com/office/drawing/2014/main" id="{785A4968-9EB2-404E-8587-C2A29842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61150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pPr>
            <a:r>
              <a:rPr u="sng">
                <a:solidFill>
                  <a:srgbClr val="7DD3FC"/>
                </a:solidFill>
                <a:hlinkClick xmlns:r="http://schemas.openxmlformats.org/officeDocument/2006/relationships" r:id="Rea0feff0138844fa"/>
              </a:rPr>
              <a:t>통과 관리 코드 보기</a:t>
            </a:r>
          </a:p>
        </p:txBody>
      </p:sp>
    </p:spTree>
    <p:extLst>
      <p:ext uri="{BB962C8B-B14F-4D97-AF65-F5344CB8AC3E}">
        <p14:creationId xmlns:p14="http://schemas.microsoft.com/office/powerpoint/2010/main" val="11193309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8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DC353595-C91E-4A07-9689-15AA9BB9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pPr>
            <a:r>
              <a:t>핵심 구현 3/5 | PORTAL TRAVERSAL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BBB6B201-C9CF-474F-BF3F-D2E29444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공간 포탈 통과 과정</a:t>
            </a:r>
          </a:p>
        </p:txBody>
      </p:sp>
      <p:sp>
        <p:nvSpPr>
          <p:cNvPr id="3" name="Page number">
            <a:extLst xmlns:a="http://schemas.openxmlformats.org/drawingml/2006/main">
              <a:ext uri="{FF2B5EF4-FFF2-40B4-BE49-F238E27FC236}">
                <a16:creationId xmlns:a16="http://schemas.microsoft.com/office/drawing/2014/main" id="{CAD0D23C-A6F6-4B1E-87F5-EB946252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pPr>
            <a:r>
              <a:t>09</a:t>
            </a:r>
          </a:p>
        </p:txBody>
      </p:sp>
      <p:sp>
        <p:nvSpPr>
          <p:cNvPr id="12" name="Portal GIF heading">
            <a:extLst xmlns:a="http://schemas.openxmlformats.org/drawingml/2006/main">
              <a:ext uri="{FF2B5EF4-FFF2-40B4-BE49-F238E27FC236}">
                <a16:creationId xmlns:a16="http://schemas.microsoft.com/office/drawing/2014/main" id="{3DDB633C-7B21-4807-A078-D4A88857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입구 접근부터 출구 도착까지 / GIF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61BB1E-70A5-41EA-9058-BEBDB1F1A8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21081201834218"/>
          <a:stretch xmlns:a="http://schemas.openxmlformats.org/drawingml/2006/main"/>
        </p:blipFill>
        <p:spPr>
          <a:xfrm xmlns:a="http://schemas.openxmlformats.org/drawingml/2006/main">
            <a:off x="609600" y="1943100"/>
            <a:ext cx="7620000" cy="2849880"/>
          </a:xfrm>
          <a:prstGeom xmlns:a="http://schemas.openxmlformats.org/drawingml/2006/main" prst="rect">
            <a:avLst/>
          </a:prstGeom>
        </p:spPr>
      </p:pic>
      <p:sp>
        <p:nvSpPr>
          <p:cNvPr id="14" name="Portal traversal description">
            <a:extLst xmlns:a="http://schemas.openxmlformats.org/drawingml/2006/main">
              <a:ext uri="{FF2B5EF4-FFF2-40B4-BE49-F238E27FC236}">
                <a16:creationId xmlns:a16="http://schemas.microsoft.com/office/drawing/2014/main" id="{BC95A877-51F0-4EAF-8EB7-1FC6D9E9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포탈을 향해 이동한 뒤 출구 공간으로 전환</a:t>
            </a:r>
          </a:p>
          <a:p xmlns:a="http://schemas.openxmlformats.org/drawingml/2006/main">
            <a: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오른쪽 정지 화면으로 통과 전후 위치와 시점을 비교</a:t>
            </a:r>
          </a:p>
        </p:txBody>
      </p:sp>
      <p:sp>
        <p:nvSpPr>
          <p:cNvPr id="15" name="Before portal caption">
            <a:extLst xmlns:a="http://schemas.openxmlformats.org/drawingml/2006/main">
              <a:ext uri="{FF2B5EF4-FFF2-40B4-BE49-F238E27FC236}">
                <a16:creationId xmlns:a16="http://schemas.microsoft.com/office/drawing/2014/main" id="{15FC3E54-CC75-4CD6-ACA6-78C3837A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통과 전 / 입구 접근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74D6D0-EF10-4C19-88D4-4290BF510E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a06fb05cbe44d3"/>
          <a:stretch xmlns:a="http://schemas.openxmlformats.org/drawingml/2006/main"/>
        </p:blipFill>
        <p:spPr>
          <a:xfrm xmlns:a="http://schemas.openxmlformats.org/drawingml/2006/main">
            <a:off x="8572544" y="2209800"/>
            <a:ext cx="3009811" cy="1128141"/>
          </a:xfrm>
          <a:prstGeom xmlns:a="http://schemas.openxmlformats.org/drawingml/2006/main" prst="rect">
            <a:avLst/>
          </a:prstGeom>
        </p:spPr>
      </p:pic>
      <p:sp>
        <p:nvSpPr>
          <p:cNvPr id="17" name="After portal caption">
            <a:extLst xmlns:a="http://schemas.openxmlformats.org/drawingml/2006/main">
              <a:ext uri="{FF2B5EF4-FFF2-40B4-BE49-F238E27FC236}">
                <a16:creationId xmlns:a16="http://schemas.microsoft.com/office/drawing/2014/main" id="{86A6DFF1-7680-4098-AF9E-DDEB019B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76675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통과 후 / 출구 공간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CF4D61-C9A5-4961-8639-2A70CF9D74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fe99b365d48a7"/>
          <a:stretch xmlns:a="http://schemas.openxmlformats.org/drawingml/2006/main"/>
        </p:blipFill>
        <p:spPr>
          <a:xfrm xmlns:a="http://schemas.openxmlformats.org/drawingml/2006/main">
            <a:off x="8572544" y="4276725"/>
            <a:ext cx="3009811" cy="112814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3394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2FE9225-3933-4D11-B3BA-AA17026B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6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C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B1D107F-0C80-402B-81CB-9F2C47A7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rPr>
              <a:t>핵심 구현 4/5 | DATA PIPELINE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978B422-3E47-4ED2-AD66-3D48469F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400"/>
              <a:t>외부 데이터 편집과 Unreal 에셋 동기화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1837D99-C00B-4896-BAA6-4376757E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295900" cy="23050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2530"/>
          </a:solidFill>
          <a:ln xmlns:a="http://schemas.openxmlformats.org/drawingml/2006/main" w="12700">
            <a:solidFill>
              <a:srgbClr val="34405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66700" tIns="247650" rIns="228600" bIns="17145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과제: Unreal Editor 밖에서 수치 편집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.NET 8 WPF</a:t>
            </a: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가 </a:t>
            </a:r>
            <a:r>
              <a:rPr sz="1575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Manifest</a:t>
            </a: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로 편집 화면 구성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Reflection</a:t>
            </a: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에서 타입 / Enum / 입력 범위를 추출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4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적용: JSON 편집과 저장 전 검증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A968FF8-38A3-45C6-B244-22F797AB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5410200" cy="23050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1219"/>
          </a:solidFill>
          <a:ln xmlns:a="http://schemas.openxmlformats.org/drawingml/2006/main" w="12700">
            <a:solidFill>
              <a:srgbClr val="2A364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66700" tIns="247650" rIns="228600" bIns="17145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값 적용과 파일 저장의 시점 분리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Runtime에서는 </a:t>
            </a:r>
            <a:r>
              <a:rPr sz="1575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메모리 값만</a:t>
            </a: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변경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Editor에서는 값 적용과 에셋 파일 저장을 분리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에셋 저장 시 연결된 JSON도 갱신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4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7DD3FC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5258d43c0d5c4bd5"/>
              </a:rPr>
              <a:t>JSON 동기화</a:t>
            </a:r>
            <a:r>
              <a: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/ </a:t>
            </a:r>
            <a:r>
              <a:rPr sz="1388" b="0" u="sng">
                <a:solidFill>
                  <a:srgbClr val="7DD3FC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c2bd3c4c96ea4528"/>
              </a:rPr>
              <a:t>WPF 편집기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2E04C7BD-F680-467C-BCA2-117D84D6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pPr>
            <a:r>
              <a:t>10</a:t>
            </a:r>
          </a:p>
        </p:txBody>
      </p:sp>
      <p:pic>
        <p:nvPicPr>
          <p:cNvPr id="10" name="그림 9">
            <a:extLst xmlns:a="http://schemas.openxmlformats.org/drawingml/2006/main">
              <a:ext uri="{FF2B5EF4-FFF2-40B4-BE49-F238E27FC236}">
                <a16:creationId xmlns:a16="http://schemas.microsoft.com/office/drawing/2014/main" id="{22253FE8-EFBD-4BEC-A03C-09E8111270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40f2d6c8a8480a"/>
          <a:stretch xmlns:a="http://schemas.openxmlformats.org/drawingml/2006/main"/>
        </p:blipFill>
        <p:spPr>
          <a:xfrm xmlns:a="http://schemas.openxmlformats.org/drawingml/2006/main">
            <a:off x="10972800" y="45720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11" name="Diagram Reflection">
            <a:extLst xmlns:a="http://schemas.openxmlformats.org/drawingml/2006/main">
              <a:ext uri="{FF2B5EF4-FFF2-40B4-BE49-F238E27FC236}">
                <a16:creationId xmlns:a16="http://schemas.microsoft.com/office/drawing/2014/main" id="{7AEC8919-2ED3-404E-9F53-22516923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22860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Unreal 속성 정보</a:t>
            </a:r>
          </a:p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Reflection</a:t>
            </a:r>
          </a:p>
        </p:txBody>
      </p:sp>
      <p:sp>
        <p:nvSpPr>
          <p:cNvPr id="12" name="Diagram Manifest">
            <a:extLst xmlns:a="http://schemas.openxmlformats.org/drawingml/2006/main">
              <a:ext uri="{FF2B5EF4-FFF2-40B4-BE49-F238E27FC236}">
                <a16:creationId xmlns:a16="http://schemas.microsoft.com/office/drawing/2014/main" id="{A1F83280-4C79-4CB9-A02B-16DB6C3A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409700"/>
            <a:ext cx="22860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데이터 명세</a:t>
            </a:r>
          </a:p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타입과 입력 범위</a:t>
            </a:r>
          </a:p>
        </p:txBody>
      </p:sp>
      <p:sp>
        <p:nvSpPr>
          <p:cNvPr id="13" name="Diagram WPF">
            <a:extLst xmlns:a="http://schemas.openxmlformats.org/drawingml/2006/main">
              <a:ext uri="{FF2B5EF4-FFF2-40B4-BE49-F238E27FC236}">
                <a16:creationId xmlns:a16="http://schemas.microsoft.com/office/drawing/2014/main" id="{13CF6703-EDD1-43D9-A5F6-20D524E9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09700"/>
            <a:ext cx="22860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WPF 편집기</a:t>
            </a:r>
          </a:p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값 편집과 검증</a:t>
            </a:r>
          </a:p>
        </p:txBody>
      </p:sp>
      <p:sp>
        <p:nvSpPr>
          <p:cNvPr id="14" name="Diagram JSON">
            <a:extLst xmlns:a="http://schemas.openxmlformats.org/drawingml/2006/main">
              <a:ext uri="{FF2B5EF4-FFF2-40B4-BE49-F238E27FC236}">
                <a16:creationId xmlns:a16="http://schemas.microsoft.com/office/drawing/2014/main" id="{5FBD5618-8A56-4856-81AE-0C91C98F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409700"/>
            <a:ext cx="22860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JSON</a:t>
            </a:r>
          </a:p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변경 값 저장</a:t>
            </a:r>
          </a:p>
        </p:txBody>
      </p:sp>
      <p:sp>
        <p:nvSpPr>
          <p:cNvPr id="15" name="Diagram Arrow 3">
            <a:extLst xmlns:a="http://schemas.openxmlformats.org/drawingml/2006/main">
              <a:ext uri="{FF2B5EF4-FFF2-40B4-BE49-F238E27FC236}">
                <a16:creationId xmlns:a16="http://schemas.microsoft.com/office/drawing/2014/main" id="{285D9622-2B4D-4398-8FC3-1E52DC8A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704975"/>
            <a:ext cx="50482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/>
            </a:defPPr>
            <a:lvl1pPr>
              <a:buNone/>
              <a:defRPr sz="1388"/>
            </a:lvl1pPr>
            <a:lvl2pPr>
              <a:buNone/>
              <a:defRPr sz="1388"/>
            </a:lvl2pPr>
            <a:lvl3pPr>
              <a:buNone/>
              <a:defRPr sz="1388"/>
            </a:lvl3pPr>
            <a:lvl4pPr>
              <a:buNone/>
              <a:defRPr sz="1388"/>
            </a:lvl4pPr>
            <a:lvl5pPr>
              <a:buNone/>
              <a:defRPr sz="1388"/>
            </a:lvl5pPr>
            <a:lvl6pPr>
              <a:buNone/>
              <a:defRPr sz="1388"/>
            </a:lvl6pPr>
            <a:lvl7pPr>
              <a:buNone/>
              <a:defRPr sz="1388"/>
            </a:lvl7pPr>
            <a:lvl8pPr>
              <a:buNone/>
              <a:defRPr sz="1388"/>
            </a:lvl8pPr>
            <a:lvl9pPr>
              <a:buNone/>
              <a:defRPr sz="1388"/>
            </a:lvl9pPr>
          </a:lstStyle>
          <a:p xmlns:a="http://schemas.openxmlformats.org/drawingml/2006/main">
            <a:endParaRPr/>
          </a:p>
        </p:txBody>
      </p:sp>
      <p:sp>
        <p:nvSpPr>
          <p:cNvPr id="16" name="Diagram Arrow 4">
            <a:extLst xmlns:a="http://schemas.openxmlformats.org/drawingml/2006/main">
              <a:ext uri="{FF2B5EF4-FFF2-40B4-BE49-F238E27FC236}">
                <a16:creationId xmlns:a16="http://schemas.microsoft.com/office/drawing/2014/main" id="{5DA1BDDE-4683-422A-83B6-EDD53E71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04975"/>
            <a:ext cx="50482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/>
            </a:defPPr>
            <a:lvl1pPr>
              <a:buNone/>
              <a:defRPr sz="1388"/>
            </a:lvl1pPr>
            <a:lvl2pPr>
              <a:buNone/>
              <a:defRPr sz="1388"/>
            </a:lvl2pPr>
            <a:lvl3pPr>
              <a:buNone/>
              <a:defRPr sz="1388"/>
            </a:lvl3pPr>
            <a:lvl4pPr>
              <a:buNone/>
              <a:defRPr sz="1388"/>
            </a:lvl4pPr>
            <a:lvl5pPr>
              <a:buNone/>
              <a:defRPr sz="1388"/>
            </a:lvl5pPr>
            <a:lvl6pPr>
              <a:buNone/>
              <a:defRPr sz="1388"/>
            </a:lvl6pPr>
            <a:lvl7pPr>
              <a:buNone/>
              <a:defRPr sz="1388"/>
            </a:lvl7pPr>
            <a:lvl8pPr>
              <a:buNone/>
              <a:defRPr sz="1388"/>
            </a:lvl8pPr>
            <a:lvl9pPr>
              <a:buNone/>
              <a:defRPr sz="1388"/>
            </a:lvl9pPr>
          </a:lstStyle>
          <a:p xmlns:a="http://schemas.openxmlformats.org/drawingml/2006/main">
            <a:endParaRPr/>
          </a:p>
        </p:txBody>
      </p:sp>
      <p:sp>
        <p:nvSpPr>
          <p:cNvPr id="17" name="Diagram Arrow 5">
            <a:extLst xmlns:a="http://schemas.openxmlformats.org/drawingml/2006/main">
              <a:ext uri="{FF2B5EF4-FFF2-40B4-BE49-F238E27FC236}">
                <a16:creationId xmlns:a16="http://schemas.microsoft.com/office/drawing/2014/main" id="{2432D6F1-3680-4D1B-9D1B-385BC3AE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704975"/>
            <a:ext cx="50482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/>
            </a:defPPr>
            <a:lvl1pPr>
              <a:buNone/>
              <a:defRPr sz="1388"/>
            </a:lvl1pPr>
            <a:lvl2pPr>
              <a:buNone/>
              <a:defRPr sz="1388"/>
            </a:lvl2pPr>
            <a:lvl3pPr>
              <a:buNone/>
              <a:defRPr sz="1388"/>
            </a:lvl3pPr>
            <a:lvl4pPr>
              <a:buNone/>
              <a:defRPr sz="1388"/>
            </a:lvl4pPr>
            <a:lvl5pPr>
              <a:buNone/>
              <a:defRPr sz="1388"/>
            </a:lvl5pPr>
            <a:lvl6pPr>
              <a:buNone/>
              <a:defRPr sz="1388"/>
            </a:lvl6pPr>
            <a:lvl7pPr>
              <a:buNone/>
              <a:defRPr sz="1388"/>
            </a:lvl7pPr>
            <a:lvl8pPr>
              <a:buNone/>
              <a:defRPr sz="1388"/>
            </a:lvl8pPr>
            <a:lvl9pPr>
              <a:buNone/>
              <a:defRPr sz="1388"/>
            </a:lvl9pPr>
          </a:lstStyle>
          <a:p xmlns:a="http://schemas.openxmlformats.org/drawingml/2006/main">
            <a:endParaRPr/>
          </a:p>
        </p:txBody>
      </p:sp>
      <p:sp>
        <p:nvSpPr>
          <p:cNvPr id="18" name="Diagram Runtime">
            <a:extLst xmlns:a="http://schemas.openxmlformats.org/drawingml/2006/main">
              <a:ext uri="{FF2B5EF4-FFF2-40B4-BE49-F238E27FC236}">
                <a16:creationId xmlns:a16="http://schemas.microsoft.com/office/drawing/2014/main" id="{289451E6-07F8-4499-9A1C-13B80BFB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86050"/>
            <a:ext cx="209550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Runtime</a:t>
            </a:r>
          </a:p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메모리 값 적용</a:t>
            </a:r>
          </a:p>
        </p:txBody>
      </p:sp>
      <p:sp>
        <p:nvSpPr>
          <p:cNvPr id="19" name="Diagram Editor">
            <a:extLst xmlns:a="http://schemas.openxmlformats.org/drawingml/2006/main">
              <a:ext uri="{FF2B5EF4-FFF2-40B4-BE49-F238E27FC236}">
                <a16:creationId xmlns:a16="http://schemas.microsoft.com/office/drawing/2014/main" id="{BD04EC52-05F1-47D3-AD05-D1C9688E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686050"/>
            <a:ext cx="209550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Editor</a:t>
            </a:r>
          </a:p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에셋 파일 저장</a:t>
            </a:r>
          </a:p>
        </p:txBody>
      </p:sp>
      <p:sp>
        <p:nvSpPr>
          <p:cNvPr id="20" name="Diagram Arrow 6">
            <a:extLst xmlns:a="http://schemas.openxmlformats.org/drawingml/2006/main">
              <a:ext uri="{FF2B5EF4-FFF2-40B4-BE49-F238E27FC236}">
                <a16:creationId xmlns:a16="http://schemas.microsoft.com/office/drawing/2014/main" id="{CC1A0120-D6CE-49D1-A30B-443F0557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162175"/>
            <a:ext cx="19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/>
            </a:defPPr>
            <a:lvl1pPr>
              <a:buNone/>
              <a:defRPr sz="1388"/>
            </a:lvl1pPr>
            <a:lvl2pPr>
              <a:buNone/>
              <a:defRPr sz="1388"/>
            </a:lvl2pPr>
            <a:lvl3pPr>
              <a:buNone/>
              <a:defRPr sz="1388"/>
            </a:lvl3pPr>
            <a:lvl4pPr>
              <a:buNone/>
              <a:defRPr sz="1388"/>
            </a:lvl4pPr>
            <a:lvl5pPr>
              <a:buNone/>
              <a:defRPr sz="1388"/>
            </a:lvl5pPr>
            <a:lvl6pPr>
              <a:buNone/>
              <a:defRPr sz="1388"/>
            </a:lvl6pPr>
            <a:lvl7pPr>
              <a:buNone/>
              <a:defRPr sz="1388"/>
            </a:lvl7pPr>
            <a:lvl8pPr>
              <a:buNone/>
              <a:defRPr sz="1388"/>
            </a:lvl8pPr>
            <a:lvl9pPr>
              <a:buNone/>
              <a:defRPr sz="1388"/>
            </a:lvl9pPr>
          </a:lstStyle>
          <a:p xmlns:a="http://schemas.openxmlformats.org/drawingml/2006/main">
            <a:endParaRPr/>
          </a:p>
        </p:txBody>
      </p:sp>
      <p:sp>
        <p:nvSpPr>
          <p:cNvPr id="21" name="Diagram Arrow 7">
            <a:extLst xmlns:a="http://schemas.openxmlformats.org/drawingml/2006/main">
              <a:ext uri="{FF2B5EF4-FFF2-40B4-BE49-F238E27FC236}">
                <a16:creationId xmlns:a16="http://schemas.microsoft.com/office/drawing/2014/main" id="{E9208477-CA3F-40C7-B701-D123A2EF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390775"/>
            <a:ext cx="2447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/>
            </a:defPPr>
            <a:lvl1pPr>
              <a:buNone/>
              <a:defRPr sz="1500"/>
            </a:lvl1pPr>
            <a:lvl2pPr>
              <a:buNone/>
              <a:defRPr sz="1500"/>
            </a:lvl2pPr>
            <a:lvl3pPr>
              <a:buNone/>
              <a:defRPr sz="15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 xmlns:a="http://schemas.openxmlformats.org/drawingml/2006/main">
            <a:endParaRPr/>
          </a:p>
        </p:txBody>
      </p:sp>
      <p:sp>
        <p:nvSpPr>
          <p:cNvPr id="22" name="Diagram Arrow 8">
            <a:extLst xmlns:a="http://schemas.openxmlformats.org/drawingml/2006/main">
              <a:ext uri="{FF2B5EF4-FFF2-40B4-BE49-F238E27FC236}">
                <a16:creationId xmlns:a16="http://schemas.microsoft.com/office/drawing/2014/main" id="{377B14DA-BDCA-4109-A485-82C664FB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90775"/>
            <a:ext cx="11430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/>
            </a:defPPr>
            <a:lvl1pPr>
              <a:buNone/>
              <a:defRPr sz="1388"/>
            </a:lvl1pPr>
            <a:lvl2pPr>
              <a:buNone/>
              <a:defRPr sz="1388"/>
            </a:lvl2pPr>
            <a:lvl3pPr>
              <a:buNone/>
              <a:defRPr sz="1388"/>
            </a:lvl3pPr>
            <a:lvl4pPr>
              <a:buNone/>
              <a:defRPr sz="1388"/>
            </a:lvl4pPr>
            <a:lvl5pPr>
              <a:buNone/>
              <a:defRPr sz="1388"/>
            </a:lvl5pPr>
            <a:lvl6pPr>
              <a:buNone/>
              <a:defRPr sz="1388"/>
            </a:lvl6pPr>
            <a:lvl7pPr>
              <a:buNone/>
              <a:defRPr sz="1388"/>
            </a:lvl7pPr>
            <a:lvl8pPr>
              <a:buNone/>
              <a:defRPr sz="1388"/>
            </a:lvl8pPr>
            <a:lvl9pPr>
              <a:buNone/>
              <a:defRPr sz="1388"/>
            </a:lvl9pPr>
          </a:lstStyle>
          <a:p xmlns:a="http://schemas.openxmlformats.org/drawingml/2006/main">
            <a:endParaRPr/>
          </a:p>
        </p:txBody>
      </p:sp>
      <p:sp>
        <p:nvSpPr>
          <p:cNvPr id="23" name="Diagram Arrow 9">
            <a:extLst xmlns:a="http://schemas.openxmlformats.org/drawingml/2006/main">
              <a:ext uri="{FF2B5EF4-FFF2-40B4-BE49-F238E27FC236}">
                <a16:creationId xmlns:a16="http://schemas.microsoft.com/office/drawing/2014/main" id="{40ED7C92-853E-48A4-A426-1BDEDB47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162175"/>
            <a:ext cx="190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/>
            </a:defPPr>
            <a:lvl1pPr>
              <a:buNone/>
              <a:defRPr sz="1388"/>
            </a:lvl1pPr>
            <a:lvl2pPr>
              <a:buNone/>
              <a:defRPr sz="1388"/>
            </a:lvl2pPr>
            <a:lvl3pPr>
              <a:buNone/>
              <a:defRPr sz="1388"/>
            </a:lvl3pPr>
            <a:lvl4pPr>
              <a:buNone/>
              <a:defRPr sz="1388"/>
            </a:lvl4pPr>
            <a:lvl5pPr>
              <a:buNone/>
              <a:defRPr sz="1388"/>
            </a:lvl5pPr>
            <a:lvl6pPr>
              <a:buNone/>
              <a:defRPr sz="1388"/>
            </a:lvl6pPr>
            <a:lvl7pPr>
              <a:buNone/>
              <a:defRPr sz="1388"/>
            </a:lvl7pPr>
            <a:lvl8pPr>
              <a:buNone/>
              <a:defRPr sz="1388"/>
            </a:lvl8pPr>
            <a:lvl9pPr>
              <a:buNone/>
              <a:defRPr sz="1388"/>
            </a:lvl9pPr>
          </a:lstStyle>
          <a:p xmlns:a="http://schemas.openxmlformats.org/drawingml/2006/main">
            <a:endParaRPr/>
          </a:p>
        </p:txBody>
      </p:sp>
      <p:sp>
        <p:nvSpPr>
          <p:cNvPr id="24" name="Diagram Arrow 10">
            <a:extLst xmlns:a="http://schemas.openxmlformats.org/drawingml/2006/main">
              <a:ext uri="{FF2B5EF4-FFF2-40B4-BE49-F238E27FC236}">
                <a16:creationId xmlns:a16="http://schemas.microsoft.com/office/drawing/2014/main" id="{2E80E0D0-E3C5-4C3F-880E-AA5BF0DD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390775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/>
            </a:defPPr>
            <a:lvl1pPr>
              <a:buNone/>
              <a:defRPr sz="1388"/>
            </a:lvl1pPr>
            <a:lvl2pPr>
              <a:buNone/>
              <a:defRPr sz="1388"/>
            </a:lvl2pPr>
            <a:lvl3pPr>
              <a:buNone/>
              <a:defRPr sz="1388"/>
            </a:lvl3pPr>
            <a:lvl4pPr>
              <a:buNone/>
              <a:defRPr sz="1388"/>
            </a:lvl4pPr>
            <a:lvl5pPr>
              <a:buNone/>
              <a:defRPr sz="1388"/>
            </a:lvl5pPr>
            <a:lvl6pPr>
              <a:buNone/>
              <a:defRPr sz="1388"/>
            </a:lvl6pPr>
            <a:lvl7pPr>
              <a:buNone/>
              <a:defRPr sz="1388"/>
            </a:lvl7pPr>
            <a:lvl8pPr>
              <a:buNone/>
              <a:defRPr sz="1388"/>
            </a:lvl8pPr>
            <a:lvl9pPr>
              <a:buNone/>
              <a:defRPr sz="1388"/>
            </a:lvl9pPr>
          </a:lstStyle>
          <a:p xmlns:a="http://schemas.openxmlformats.org/drawingml/2006/main">
            <a:endParaRPr/>
          </a:p>
        </p:txBody>
      </p:sp>
      <p:sp>
        <p:nvSpPr>
          <p:cNvPr id="25" name="Diagram Arrow 11">
            <a:extLst xmlns:a="http://schemas.openxmlformats.org/drawingml/2006/main">
              <a:ext uri="{FF2B5EF4-FFF2-40B4-BE49-F238E27FC236}">
                <a16:creationId xmlns:a16="http://schemas.microsoft.com/office/drawing/2014/main" id="{F44204A3-B08B-4661-A684-5956D164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390775"/>
            <a:ext cx="11430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/>
            </a:defPPr>
            <a:lvl1pPr>
              <a:buNone/>
              <a:defRPr sz="1388"/>
            </a:lvl1pPr>
            <a:lvl2pPr>
              <a:buNone/>
              <a:defRPr sz="1388"/>
            </a:lvl2pPr>
            <a:lvl3pPr>
              <a:buNone/>
              <a:defRPr sz="1388"/>
            </a:lvl3pPr>
            <a:lvl4pPr>
              <a:buNone/>
              <a:defRPr sz="1388"/>
            </a:lvl4pPr>
            <a:lvl5pPr>
              <a:buNone/>
              <a:defRPr sz="1388"/>
            </a:lvl5pPr>
            <a:lvl6pPr>
              <a:buNone/>
              <a:defRPr sz="1388"/>
            </a:lvl6pPr>
            <a:lvl7pPr>
              <a:buNone/>
              <a:defRPr sz="1388"/>
            </a:lvl7pPr>
            <a:lvl8pPr>
              <a:buNone/>
              <a:defRPr sz="1388"/>
            </a:lvl8pPr>
            <a:lvl9pPr>
              <a:buNone/>
              <a:defRPr sz="1388"/>
            </a:lvl9pPr>
          </a:lstStyle>
          <a:p xmlns:a="http://schemas.openxmlformats.org/drawingml/2006/main">
            <a:endParaRPr/>
          </a:p>
        </p:txBody>
      </p:sp>
      <p:sp>
        <p:nvSpPr>
          <p:cNvPr id="26" name="Editor JSON sync">
            <a:extLst xmlns:a="http://schemas.openxmlformats.org/drawingml/2006/main">
              <a:ext uri="{FF2B5EF4-FFF2-40B4-BE49-F238E27FC236}">
                <a16:creationId xmlns:a16="http://schemas.microsoft.com/office/drawing/2014/main" id="{CE34F96D-A354-4F8B-9662-AD654440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35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35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35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35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35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35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35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35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35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rPr>
              <a:t>Editor에서 에셋을 저장하면 연결된 JSON에도 현재 값을 기록</a:t>
            </a:r>
          </a:p>
        </p:txBody>
      </p:sp>
    </p:spTree>
    <p:extLst>
      <p:ext uri="{BB962C8B-B14F-4D97-AF65-F5344CB8AC3E}">
        <p14:creationId xmlns:p14="http://schemas.microsoft.com/office/powerpoint/2010/main" val="162830723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2FE9225-3933-4D11-B3BA-AA17026B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6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C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B1D107F-0C80-402B-81CB-9F2C47A7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rPr>
              <a:t>핵심 구현 4/5 | DATA EDITOR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978B422-3E47-4ED2-AD66-3D48469F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외부 데이터 편집 화면과 입력 검증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1837D99-C00B-4896-BAA6-4376757E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4762500" cy="2857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2530"/>
          </a:solidFill>
          <a:ln xmlns:a="http://schemas.openxmlformats.org/drawingml/2006/main" w="12700">
            <a:solidFill>
              <a:srgbClr val="34405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66700" tIns="247650" rIns="228600" bIns="17145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과제: 잘못된 값의 저장 방지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타입 / Enum / 중첩 구조에 맞춰 화면 구성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52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저장 전에 </a:t>
            </a:r>
            <a:r>
              <a:rPr sz="1575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타입과 허용 범위</a:t>
            </a: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를 검증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52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검증 실패 시 오류를 표시하고 저장 중단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2E04C7BD-F680-467C-BCA2-117D84D6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pPr>
            <a:r>
              <a:t>11</a:t>
            </a:r>
          </a:p>
        </p:txBody>
      </p:sp>
      <p:sp>
        <p:nvSpPr>
          <p:cNvPr id="12" name="Diagram Input">
            <a:extLst xmlns:a="http://schemas.openxmlformats.org/drawingml/2006/main">
              <a:ext uri="{FF2B5EF4-FFF2-40B4-BE49-F238E27FC236}">
                <a16:creationId xmlns:a16="http://schemas.microsoft.com/office/drawing/2014/main" id="{93E08550-3A57-4C0F-B9A4-17ACCD94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1430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입력값</a:t>
            </a:r>
          </a:p>
        </p:txBody>
      </p:sp>
      <p:sp>
        <p:nvSpPr>
          <p:cNvPr id="13" name="Diagram Validation">
            <a:extLst xmlns:a="http://schemas.openxmlformats.org/drawingml/2006/main">
              <a:ext uri="{FF2B5EF4-FFF2-40B4-BE49-F238E27FC236}">
                <a16:creationId xmlns:a16="http://schemas.microsoft.com/office/drawing/2014/main" id="{8C03FF86-AB85-42CF-85FF-809DD546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457700"/>
            <a:ext cx="1428750" cy="8191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명세와</a:t>
            </a:r>
          </a:p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일치?</a:t>
            </a:r>
          </a:p>
        </p:txBody>
      </p:sp>
      <p:sp>
        <p:nvSpPr>
          <p:cNvPr id="14" name="Diagram Save">
            <a:extLst xmlns:a="http://schemas.openxmlformats.org/drawingml/2006/main">
              <a:ext uri="{FF2B5EF4-FFF2-40B4-BE49-F238E27FC236}">
                <a16:creationId xmlns:a16="http://schemas.microsoft.com/office/drawing/2014/main" id="{5085ECB0-C61D-44F8-BD2A-7AEC3CBB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610100"/>
            <a:ext cx="1428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저장</a:t>
            </a:r>
          </a:p>
        </p:txBody>
      </p:sp>
      <p:sp>
        <p:nvSpPr>
          <p:cNvPr id="15" name="Diagram Reject">
            <a:extLst xmlns:a="http://schemas.openxmlformats.org/drawingml/2006/main">
              <a:ext uri="{FF2B5EF4-FFF2-40B4-BE49-F238E27FC236}">
                <a16:creationId xmlns:a16="http://schemas.microsoft.com/office/drawing/2014/main" id="{D1A6C59C-4C10-4D44-BDE2-CA441C02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734050"/>
            <a:ext cx="24765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오류 표시와 </a:t>
            </a: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저장 중단</a:t>
            </a:r>
          </a:p>
        </p:txBody>
      </p:sp>
      <p:sp>
        <p:nvSpPr>
          <p:cNvPr id="16" name="Diagram Arrow new 5">
            <a:extLst xmlns:a="http://schemas.openxmlformats.org/drawingml/2006/main">
              <a:ext uri="{FF2B5EF4-FFF2-40B4-BE49-F238E27FC236}">
                <a16:creationId xmlns:a16="http://schemas.microsoft.com/office/drawing/2014/main" id="{07AE1C18-1A06-4C0C-BDCD-13DBE372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810125"/>
            <a:ext cx="2667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/>
            </a:defPPr>
            <a:lvl1pPr>
              <a:buNone/>
              <a:defRPr sz="1388"/>
            </a:lvl1pPr>
            <a:lvl2pPr>
              <a:buNone/>
              <a:defRPr sz="1388"/>
            </a:lvl2pPr>
            <a:lvl3pPr>
              <a:buNone/>
              <a:defRPr sz="1388"/>
            </a:lvl3pPr>
            <a:lvl4pPr>
              <a:buNone/>
              <a:defRPr sz="1388"/>
            </a:lvl4pPr>
            <a:lvl5pPr>
              <a:buNone/>
              <a:defRPr sz="1388"/>
            </a:lvl5pPr>
            <a:lvl6pPr>
              <a:buNone/>
              <a:defRPr sz="1388"/>
            </a:lvl6pPr>
            <a:lvl7pPr>
              <a:buNone/>
              <a:defRPr sz="1388"/>
            </a:lvl7pPr>
            <a:lvl8pPr>
              <a:buNone/>
              <a:defRPr sz="1388"/>
            </a:lvl8pPr>
            <a:lvl9pPr>
              <a:buNone/>
              <a:defRPr sz="1388"/>
            </a:lvl9pPr>
          </a:lstStyle>
          <a:p xmlns:a="http://schemas.openxmlformats.org/drawingml/2006/main">
            <a:endParaRPr/>
          </a:p>
        </p:txBody>
      </p:sp>
      <p:sp>
        <p:nvSpPr>
          <p:cNvPr id="17" name="Diagram Arrow new 6">
            <a:extLst xmlns:a="http://schemas.openxmlformats.org/drawingml/2006/main">
              <a:ext uri="{FF2B5EF4-FFF2-40B4-BE49-F238E27FC236}">
                <a16:creationId xmlns:a16="http://schemas.microsoft.com/office/drawing/2014/main" id="{E6D17D58-5F3A-4B04-98BD-E833D6E8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810125"/>
            <a:ext cx="3048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/>
            </a:defPPr>
            <a:lvl1pPr>
              <a:buNone/>
              <a:defRPr sz="1388"/>
            </a:lvl1pPr>
            <a:lvl2pPr>
              <a:buNone/>
              <a:defRPr sz="1388"/>
            </a:lvl2pPr>
            <a:lvl3pPr>
              <a:buNone/>
              <a:defRPr sz="1388"/>
            </a:lvl3pPr>
            <a:lvl4pPr>
              <a:buNone/>
              <a:defRPr sz="1388"/>
            </a:lvl4pPr>
            <a:lvl5pPr>
              <a:buNone/>
              <a:defRPr sz="1388"/>
            </a:lvl5pPr>
            <a:lvl6pPr>
              <a:buNone/>
              <a:defRPr sz="1388"/>
            </a:lvl6pPr>
            <a:lvl7pPr>
              <a:buNone/>
              <a:defRPr sz="1388"/>
            </a:lvl7pPr>
            <a:lvl8pPr>
              <a:buNone/>
              <a:defRPr sz="1388"/>
            </a:lvl8pPr>
            <a:lvl9pPr>
              <a:buNone/>
              <a:defRPr sz="1388"/>
            </a:lvl9pPr>
          </a:lstStyle>
          <a:p xmlns:a="http://schemas.openxmlformats.org/drawingml/2006/main">
            <a:endParaRPr/>
          </a:p>
        </p:txBody>
      </p:sp>
      <p:sp>
        <p:nvSpPr>
          <p:cNvPr id="18" name="Diagram Arrow new 7">
            <a:extLst xmlns:a="http://schemas.openxmlformats.org/drawingml/2006/main">
              <a:ext uri="{FF2B5EF4-FFF2-40B4-BE49-F238E27FC236}">
                <a16:creationId xmlns:a16="http://schemas.microsoft.com/office/drawing/2014/main" id="{390B3C09-E09C-458C-B12C-DA186ACE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324475"/>
            <a:ext cx="19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/>
            </a:defPPr>
            <a:lvl1pPr>
              <a:buNone/>
              <a:defRPr sz="1388"/>
            </a:lvl1pPr>
            <a:lvl2pPr>
              <a:buNone/>
              <a:defRPr sz="1388"/>
            </a:lvl2pPr>
            <a:lvl3pPr>
              <a:buNone/>
              <a:defRPr sz="1388"/>
            </a:lvl3pPr>
            <a:lvl4pPr>
              <a:buNone/>
              <a:defRPr sz="1388"/>
            </a:lvl4pPr>
            <a:lvl5pPr>
              <a:buNone/>
              <a:defRPr sz="1388"/>
            </a:lvl5pPr>
            <a:lvl6pPr>
              <a:buNone/>
              <a:defRPr sz="1388"/>
            </a:lvl6pPr>
            <a:lvl7pPr>
              <a:buNone/>
              <a:defRPr sz="1388"/>
            </a:lvl7pPr>
            <a:lvl8pPr>
              <a:buNone/>
              <a:defRPr sz="1388"/>
            </a:lvl8pPr>
            <a:lvl9pPr>
              <a:buNone/>
              <a:defRPr sz="1388"/>
            </a:lvl9pPr>
          </a:lstStyle>
          <a:p xmlns:a="http://schemas.openxmlformats.org/drawingml/2006/main">
            <a:endParaRPr/>
          </a:p>
        </p:txBody>
      </p:sp>
      <p:sp>
        <p:nvSpPr>
          <p:cNvPr id="19" name="Diagram Arrow new 8">
            <a:extLst xmlns:a="http://schemas.openxmlformats.org/drawingml/2006/main">
              <a:ext uri="{FF2B5EF4-FFF2-40B4-BE49-F238E27FC236}">
                <a16:creationId xmlns:a16="http://schemas.microsoft.com/office/drawing/2014/main" id="{027CBA5D-5F38-4230-9E09-134CC9D7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495925"/>
            <a:ext cx="447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/>
            </a:defPPr>
            <a:lvl1pPr>
              <a:buNone/>
              <a:defRPr sz="1388"/>
            </a:lvl1pPr>
            <a:lvl2pPr>
              <a:buNone/>
              <a:defRPr sz="1388"/>
            </a:lvl2pPr>
            <a:lvl3pPr>
              <a:buNone/>
              <a:defRPr sz="1388"/>
            </a:lvl3pPr>
            <a:lvl4pPr>
              <a:buNone/>
              <a:defRPr sz="1388"/>
            </a:lvl4pPr>
            <a:lvl5pPr>
              <a:buNone/>
              <a:defRPr sz="1388"/>
            </a:lvl5pPr>
            <a:lvl6pPr>
              <a:buNone/>
              <a:defRPr sz="1388"/>
            </a:lvl6pPr>
            <a:lvl7pPr>
              <a:buNone/>
              <a:defRPr sz="1388"/>
            </a:lvl7pPr>
            <a:lvl8pPr>
              <a:buNone/>
              <a:defRPr sz="1388"/>
            </a:lvl8pPr>
            <a:lvl9pPr>
              <a:buNone/>
              <a:defRPr sz="1388"/>
            </a:lvl9pPr>
          </a:lstStyle>
          <a:p xmlns:a="http://schemas.openxmlformats.org/drawingml/2006/main">
            <a:endParaRPr/>
          </a:p>
        </p:txBody>
      </p:sp>
      <p:sp>
        <p:nvSpPr>
          <p:cNvPr id="20" name="Diagram Arrow new 9">
            <a:extLst xmlns:a="http://schemas.openxmlformats.org/drawingml/2006/main">
              <a:ext uri="{FF2B5EF4-FFF2-40B4-BE49-F238E27FC236}">
                <a16:creationId xmlns:a16="http://schemas.microsoft.com/office/drawing/2014/main" id="{CA5B313C-C211-4ED6-8DFC-2B18479C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495925"/>
            <a:ext cx="1143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/>
            </a:defPPr>
            <a:lvl1pPr>
              <a:buNone/>
              <a:defRPr sz="1388"/>
            </a:lvl1pPr>
            <a:lvl2pPr>
              <a:buNone/>
              <a:defRPr sz="1388"/>
            </a:lvl2pPr>
            <a:lvl3pPr>
              <a:buNone/>
              <a:defRPr sz="1388"/>
            </a:lvl3pPr>
            <a:lvl4pPr>
              <a:buNone/>
              <a:defRPr sz="1388"/>
            </a:lvl4pPr>
            <a:lvl5pPr>
              <a:buNone/>
              <a:defRPr sz="1388"/>
            </a:lvl5pPr>
            <a:lvl6pPr>
              <a:buNone/>
              <a:defRPr sz="1388"/>
            </a:lvl6pPr>
            <a:lvl7pPr>
              <a:buNone/>
              <a:defRPr sz="1388"/>
            </a:lvl7pPr>
            <a:lvl8pPr>
              <a:buNone/>
              <a:defRPr sz="1388"/>
            </a:lvl8pPr>
            <a:lvl9pPr>
              <a:buNone/>
              <a:defRPr sz="1388"/>
            </a:lvl9pPr>
          </a:lstStyle>
          <a:p xmlns:a="http://schemas.openxmlformats.org/drawingml/2006/main">
            <a:endParaRPr/>
          </a:p>
        </p:txBody>
      </p:sp>
      <p:sp>
        <p:nvSpPr>
          <p:cNvPr id="21" name="Valid label">
            <a:extLst xmlns:a="http://schemas.openxmlformats.org/drawingml/2006/main">
              <a:ext uri="{FF2B5EF4-FFF2-40B4-BE49-F238E27FC236}">
                <a16:creationId xmlns:a16="http://schemas.microsoft.com/office/drawing/2014/main" id="{AB14B73A-0AEE-406B-ACB2-F1E505DD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434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200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200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200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200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200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200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200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200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200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200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4DA3FF"/>
                </a:solidFill>
                <a:latin typeface="Noto Sans KR"/>
                <a:ea typeface="Noto Sans KR"/>
                <a:cs typeface="Noto Sans KR"/>
              </a:rPr>
              <a:t>일치</a:t>
            </a:r>
          </a:p>
        </p:txBody>
      </p:sp>
      <p:sp>
        <p:nvSpPr>
          <p:cNvPr id="22" name="Invalid label">
            <a:extLst xmlns:a="http://schemas.openxmlformats.org/drawingml/2006/main">
              <a:ext uri="{FF2B5EF4-FFF2-40B4-BE49-F238E27FC236}">
                <a16:creationId xmlns:a16="http://schemas.microsoft.com/office/drawing/2014/main" id="{7B745A5D-9253-4B57-A205-7E82447A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3721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20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20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20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20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20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20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20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20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20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BECADA"/>
                </a:solidFill>
                <a:latin typeface="Noto Sans KR"/>
                <a:ea typeface="Noto Sans KR"/>
                <a:cs typeface="Noto Sans KR"/>
              </a:rPr>
              <a:t>불일치</a:t>
            </a:r>
          </a:p>
        </p:txBody>
      </p:sp>
      <p:sp>
        <p:nvSpPr>
          <p:cNvPr id="23" name="Media 1">
            <a:extLst xmlns:a="http://schemas.openxmlformats.org/drawingml/2006/main">
              <a:ext uri="{FF2B5EF4-FFF2-40B4-BE49-F238E27FC236}">
                <a16:creationId xmlns:a16="http://schemas.microsoft.com/office/drawing/2014/main" id="{0B98AB18-DF44-4825-9E41-A426C533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09700"/>
            <a:ext cx="5943600" cy="2343150"/>
          </a:xfrm>
          <a:prstGeom xmlns:a="http://schemas.openxmlformats.org/drawingml/2006/main" prst="roundRect">
            <a:avLst>
              <a:gd name="adj" fmla="val 5691"/>
            </a:avLst>
          </a:prstGeom>
          <a:solidFill xmlns:a="http://schemas.openxmlformats.org/drawingml/2006/main">
            <a:srgbClr val="11151D"/>
          </a:solidFill>
          <a:ln xmlns:a="http://schemas.openxmlformats.org/drawingml/2006/main" w="12383">
            <a:solidFill>
              <a:srgbClr val="4D78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7" name="편집화면">
            <a:extLst xmlns:a="http://schemas.openxmlformats.org/drawingml/2006/main">
              <a:ext uri="{FF2B5EF4-FFF2-40B4-BE49-F238E27FC236}">
                <a16:creationId xmlns:a16="http://schemas.microsoft.com/office/drawing/2014/main" id="{AD522384-0A50-4D42-B154-267C1774BA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95cd8081b481a"/>
          <a:srcRect xmlns:a="http://schemas.openxmlformats.org/drawingml/2006/main" l="0" t="5576" r="234" b="35564"/>
          <a:stretch xmlns:a="http://schemas.openxmlformats.org/drawingml/2006/main"/>
        </p:blipFill>
        <p:spPr>
          <a:xfrm xmlns:a="http://schemas.openxmlformats.org/drawingml/2006/main">
            <a:off x="5686425" y="1503201"/>
            <a:ext cx="5810250" cy="2156147"/>
          </a:xfrm>
          <a:prstGeom xmlns:a="http://schemas.openxmlformats.org/drawingml/2006/main" prst="rect">
            <a:avLst/>
          </a:prstGeom>
        </p:spPr>
      </p:pic>
      <p:sp>
        <p:nvSpPr>
          <p:cNvPr id="24" name="Caption 1">
            <a:extLst xmlns:a="http://schemas.openxmlformats.org/drawingml/2006/main">
              <a:ext uri="{FF2B5EF4-FFF2-40B4-BE49-F238E27FC236}">
                <a16:creationId xmlns:a16="http://schemas.microsoft.com/office/drawing/2014/main" id="{4154BFA0-FDA5-4671-ABBA-AA8BBFF7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19525"/>
            <a:ext cx="5943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편집 화면: 데이터 행과 필드값</a:t>
            </a:r>
          </a:p>
        </p:txBody>
      </p:sp>
      <p:sp>
        <p:nvSpPr>
          <p:cNvPr id="25" name="Media 2">
            <a:extLst xmlns:a="http://schemas.openxmlformats.org/drawingml/2006/main">
              <a:ext uri="{FF2B5EF4-FFF2-40B4-BE49-F238E27FC236}">
                <a16:creationId xmlns:a16="http://schemas.microsoft.com/office/drawing/2014/main" id="{FBEEE6CE-3354-4038-91B8-66B33CBC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38650"/>
            <a:ext cx="594360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11151D"/>
          </a:solidFill>
          <a:ln xmlns:a="http://schemas.openxmlformats.org/drawingml/2006/main" w="12383">
            <a:solidFill>
              <a:srgbClr val="4D78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8" name="검증메시지">
            <a:extLst xmlns:a="http://schemas.openxmlformats.org/drawingml/2006/main">
              <a:ext uri="{FF2B5EF4-FFF2-40B4-BE49-F238E27FC236}">
                <a16:creationId xmlns:a16="http://schemas.microsoft.com/office/drawing/2014/main" id="{B3BE3C41-CCF5-4040-9F99-3F4EB53A75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6c5bab542494c"/>
          <a:srcRect xmlns:a="http://schemas.openxmlformats.org/drawingml/2006/main" l="35464" t="46964" r="39127" b="33829"/>
          <a:stretch xmlns:a="http://schemas.openxmlformats.org/drawingml/2006/main"/>
        </p:blipFill>
        <p:spPr>
          <a:xfrm xmlns:a="http://schemas.openxmlformats.org/drawingml/2006/main">
            <a:off x="6948825" y="4505325"/>
            <a:ext cx="3285449" cy="1562100"/>
          </a:xfrm>
          <a:prstGeom xmlns:a="http://schemas.openxmlformats.org/drawingml/2006/main" prst="rect">
            <a:avLst/>
          </a:prstGeom>
        </p:spPr>
      </p:pic>
      <p:sp>
        <p:nvSpPr>
          <p:cNvPr id="26" name="Caption 2">
            <a:extLst xmlns:a="http://schemas.openxmlformats.org/drawingml/2006/main">
              <a:ext uri="{FF2B5EF4-FFF2-40B4-BE49-F238E27FC236}">
                <a16:creationId xmlns:a16="http://schemas.microsoft.com/office/drawing/2014/main" id="{70686ACD-9226-46D5-99F6-55BA7D5A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200775"/>
            <a:ext cx="5943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검증 메시지: 숫자 필드의 잘못된 입력으로 </a:t>
            </a:r>
            <a:r>
              <a:rPr sz="1350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저장 중단</a:t>
            </a:r>
          </a:p>
        </p:txBody>
      </p:sp>
    </p:spTree>
    <p:extLst>
      <p:ext uri="{BB962C8B-B14F-4D97-AF65-F5344CB8AC3E}">
        <p14:creationId xmlns:p14="http://schemas.microsoft.com/office/powerpoint/2010/main" val="162830723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34FA35D-33D4-489E-B8BD-614F0F6E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6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C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59097C8-4778-4847-AB61-A0F35872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rPr>
              <a:t>핵심 구현 5/5 | EDITOR TOOL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73A681A-FBE4-4BFB-BD6B-0DEE173D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400"/>
              <a:t>레벨 배치 오류 검증 도구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0D9ECFE-95F3-4378-B122-715E750B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09700"/>
            <a:ext cx="5410200" cy="2209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2530"/>
          </a:solidFill>
          <a:ln xmlns:a="http://schemas.openxmlformats.org/drawingml/2006/main" w="12700">
            <a:solidFill>
              <a:srgbClr val="34405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66700" tIns="247650" rIns="228600" bIns="17145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과제: 플레이 전 레벨 배치 오류 확인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포탈 / 점프패드 / 이동 경로 연결을 모듈별 검사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검사 모듈</a:t>
            </a: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등록으로 새 검사 대상을 확장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Reflection과 네이티브 연동으로 설정값 검사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2C783D1-11C4-4C94-89A4-F2E3A515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5410200" cy="2476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1219"/>
          </a:solidFill>
          <a:ln xmlns:a="http://schemas.openxmlformats.org/drawingml/2006/main" w="12700">
            <a:solidFill>
              <a:srgbClr val="2A364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66700" tIns="247650" rIns="228600" bIns="17145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검사 결과에서 수정할 대상 찾기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출구와 목적지 누락, 잘못된 연결 / 값 검사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이동 경로 입구의 </a:t>
            </a:r>
            <a:r>
              <a:rPr sz="1575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지면 이격</a:t>
            </a: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도 오류로 보고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Slate의 </a:t>
            </a:r>
            <a:r>
              <a:rPr sz="1575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Focus 버튼</a:t>
            </a: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으로 대상 선택과 시점 이동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4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적용: 오류 목록에서 수정할 대상을 바로 확인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3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7DD3FC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9e9a349a16484022"/>
              </a:rPr>
              <a:t>레벨 검증 도구 코드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AFE6AE44-CBD5-4FA8-9745-ECB68FB2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pPr>
            <a:r>
              <a:t>12</a:t>
            </a:r>
          </a:p>
        </p:txBody>
      </p:sp>
      <p:sp>
        <p:nvSpPr>
          <p:cNvPr id="10" name="Media 1">
            <a:extLst xmlns:a="http://schemas.openxmlformats.org/drawingml/2006/main">
              <a:ext uri="{FF2B5EF4-FFF2-40B4-BE49-F238E27FC236}">
                <a16:creationId xmlns:a16="http://schemas.microsoft.com/office/drawing/2014/main" id="{BF2C1A9D-0BC7-4FD5-B5CC-B3CA3E6F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5295900" cy="2981325"/>
          </a:xfrm>
          <a:prstGeom xmlns:a="http://schemas.openxmlformats.org/drawingml/2006/main" prst="roundRect">
            <a:avLst>
              <a:gd name="adj" fmla="val 4473"/>
            </a:avLst>
          </a:prstGeom>
          <a:solidFill xmlns:a="http://schemas.openxmlformats.org/drawingml/2006/main">
            <a:srgbClr val="11151D"/>
          </a:solidFill>
          <a:ln xmlns:a="http://schemas.openxmlformats.org/drawingml/2006/main" w="12383">
            <a:solidFill>
              <a:srgbClr val="4D78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7" name="레벨검증">
            <a:extLst xmlns:a="http://schemas.openxmlformats.org/drawingml/2006/main">
              <a:ext uri="{FF2B5EF4-FFF2-40B4-BE49-F238E27FC236}">
                <a16:creationId xmlns:a16="http://schemas.microsoft.com/office/drawing/2014/main" id="{F4A3B5E7-D06F-475A-8600-9EFB077E3B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55d9d833164beb"/>
          <a:srcRect xmlns:a="http://schemas.openxmlformats.org/drawingml/2006/main" l="13226" t="6883" r="661" b="5736"/>
          <a:stretch xmlns:a="http://schemas.openxmlformats.org/drawingml/2006/main"/>
        </p:blipFill>
        <p:spPr>
          <a:xfrm xmlns:a="http://schemas.openxmlformats.org/drawingml/2006/main">
            <a:off x="676275" y="1562100"/>
            <a:ext cx="5162550" cy="2013014"/>
          </a:xfrm>
          <a:prstGeom xmlns:a="http://schemas.openxmlformats.org/drawingml/2006/main" prst="rect">
            <a:avLst/>
          </a:prstGeom>
        </p:spPr>
      </p:pic>
      <p:sp>
        <p:nvSpPr>
          <p:cNvPr id="11" name="Caption 1">
            <a:extLst xmlns:a="http://schemas.openxmlformats.org/drawingml/2006/main">
              <a:ext uri="{FF2B5EF4-FFF2-40B4-BE49-F238E27FC236}">
                <a16:creationId xmlns:a16="http://schemas.microsoft.com/office/drawing/2014/main" id="{1CB753A6-9ECB-4D5A-B411-BB2C8727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5295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오류 목록과 레벨의 대상 오브젝트</a:t>
            </a:r>
          </a:p>
        </p:txBody>
      </p:sp>
      <p:sp>
        <p:nvSpPr>
          <p:cNvPr id="12" name="Diagram Flow 9 0">
            <a:extLst xmlns:a="http://schemas.openxmlformats.org/drawingml/2006/main">
              <a:ext uri="{FF2B5EF4-FFF2-40B4-BE49-F238E27FC236}">
                <a16:creationId xmlns:a16="http://schemas.microsoft.com/office/drawing/2014/main" id="{C499DAD8-B348-47D1-BC9D-C52FE65F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5621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배치 오류</a:t>
            </a:r>
          </a:p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목록 확인</a:t>
            </a:r>
          </a:p>
        </p:txBody>
      </p:sp>
      <p:sp>
        <p:nvSpPr>
          <p:cNvPr id="13" name="Diagram Flow 9 1">
            <a:extLst xmlns:a="http://schemas.openxmlformats.org/drawingml/2006/main">
              <a:ext uri="{FF2B5EF4-FFF2-40B4-BE49-F238E27FC236}">
                <a16:creationId xmlns:a16="http://schemas.microsoft.com/office/drawing/2014/main" id="{D9A28CA7-D351-4C0B-9B86-DE95324D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05400"/>
            <a:ext cx="15621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대상 오브젝트</a:t>
            </a:r>
          </a:p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선택</a:t>
            </a:r>
          </a:p>
        </p:txBody>
      </p:sp>
      <p:sp>
        <p:nvSpPr>
          <p:cNvPr id="14" name="Diagram Flow 9 2">
            <a:extLst xmlns:a="http://schemas.openxmlformats.org/drawingml/2006/main">
              <a:ext uri="{FF2B5EF4-FFF2-40B4-BE49-F238E27FC236}">
                <a16:creationId xmlns:a16="http://schemas.microsoft.com/office/drawing/2014/main" id="{47771E99-7A26-46EA-93F0-8456F7FB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05400"/>
            <a:ext cx="15621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레벨에서</a:t>
            </a:r>
          </a:p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위치 확인</a:t>
            </a:r>
          </a:p>
        </p:txBody>
      </p:sp>
      <p:sp>
        <p:nvSpPr>
          <p:cNvPr id="15" name="Diagram Arrow new 10">
            <a:extLst xmlns:a="http://schemas.openxmlformats.org/drawingml/2006/main">
              <a:ext uri="{FF2B5EF4-FFF2-40B4-BE49-F238E27FC236}">
                <a16:creationId xmlns:a16="http://schemas.microsoft.com/office/drawing/2014/main" id="{D1493B30-812B-44A6-A7C4-FB6F4239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5400675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/>
            </a:defPPr>
            <a:lvl1pPr>
              <a:buNone/>
              <a:defRPr sz="1388"/>
            </a:lvl1pPr>
            <a:lvl2pPr>
              <a:buNone/>
              <a:defRPr sz="1388"/>
            </a:lvl2pPr>
            <a:lvl3pPr>
              <a:buNone/>
              <a:defRPr sz="1388"/>
            </a:lvl3pPr>
            <a:lvl4pPr>
              <a:buNone/>
              <a:defRPr sz="1388"/>
            </a:lvl4pPr>
            <a:lvl5pPr>
              <a:buNone/>
              <a:defRPr sz="1388"/>
            </a:lvl5pPr>
            <a:lvl6pPr>
              <a:buNone/>
              <a:defRPr sz="1388"/>
            </a:lvl6pPr>
            <a:lvl7pPr>
              <a:buNone/>
              <a:defRPr sz="1388"/>
            </a:lvl7pPr>
            <a:lvl8pPr>
              <a:buNone/>
              <a:defRPr sz="1388"/>
            </a:lvl8pPr>
            <a:lvl9pPr>
              <a:buNone/>
              <a:defRPr sz="1388"/>
            </a:lvl9pPr>
          </a:lstStyle>
          <a:p xmlns:a="http://schemas.openxmlformats.org/drawingml/2006/main">
            <a:endParaRPr/>
          </a:p>
        </p:txBody>
      </p:sp>
      <p:sp>
        <p:nvSpPr>
          <p:cNvPr id="16" name="Diagram Arrow new 11">
            <a:extLst xmlns:a="http://schemas.openxmlformats.org/drawingml/2006/main">
              <a:ext uri="{FF2B5EF4-FFF2-40B4-BE49-F238E27FC236}">
                <a16:creationId xmlns:a16="http://schemas.microsoft.com/office/drawing/2014/main" id="{F3494ECB-D7D1-411A-A28D-5003B1DD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400675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/>
            </a:defPPr>
            <a:lvl1pPr>
              <a:buNone/>
              <a:defRPr sz="1388"/>
            </a:lvl1pPr>
            <a:lvl2pPr>
              <a:buNone/>
              <a:defRPr sz="1388"/>
            </a:lvl2pPr>
            <a:lvl3pPr>
              <a:buNone/>
              <a:defRPr sz="1388"/>
            </a:lvl3pPr>
            <a:lvl4pPr>
              <a:buNone/>
              <a:defRPr sz="1388"/>
            </a:lvl4pPr>
            <a:lvl5pPr>
              <a:buNone/>
              <a:defRPr sz="1388"/>
            </a:lvl5pPr>
            <a:lvl6pPr>
              <a:buNone/>
              <a:defRPr sz="1388"/>
            </a:lvl6pPr>
            <a:lvl7pPr>
              <a:buNone/>
              <a:defRPr sz="1388"/>
            </a:lvl7pPr>
            <a:lvl8pPr>
              <a:buNone/>
              <a:defRPr sz="1388"/>
            </a:lvl8pPr>
            <a:lvl9pPr>
              <a:buNone/>
              <a:defRPr sz="1388"/>
            </a:lvl9pPr>
          </a:lstStyle>
          <a:p xmlns:a="http://schemas.openxmlformats.org/drawingml/2006/main">
            <a:endParaRPr/>
          </a:p>
        </p:txBody>
      </p:sp>
      <p:sp>
        <p:nvSpPr>
          <p:cNvPr id="18" name="Captured validation example">
            <a:extLst xmlns:a="http://schemas.openxmlformats.org/drawingml/2006/main">
              <a:ext uri="{FF2B5EF4-FFF2-40B4-BE49-F238E27FC236}">
                <a16:creationId xmlns:a16="http://schemas.microsoft.com/office/drawing/2014/main" id="{53302DF9-0A21-4ED0-99B1-BD8D17F1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576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검출 예시: 경로 입구가 지면에서 50cm 이격</a:t>
            </a:r>
          </a:p>
        </p:txBody>
      </p:sp>
    </p:spTree>
    <p:extLst>
      <p:ext uri="{BB962C8B-B14F-4D97-AF65-F5344CB8AC3E}">
        <p14:creationId xmlns:p14="http://schemas.microsoft.com/office/powerpoint/2010/main" val="147793084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A19224B-2A67-492E-903C-12EDCE3B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6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C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E970FBA-49E5-4F9D-A419-C59471AF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rPr>
              <a:t>추가 구현 | FIRST PERSON RENDERING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60BBD97-EBDC-4ACA-A0A2-D7A67741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400"/>
              <a:t>벽 밀착 시 로컬 1인칭 무기 표시 보정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841FB0B-F145-45BA-8C06-A5A0FCBD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09700"/>
            <a:ext cx="5410200" cy="2209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2530"/>
          </a:solidFill>
          <a:ln xmlns:a="http://schemas.openxmlformats.org/drawingml/2006/main" w="12700">
            <a:solidFill>
              <a:srgbClr val="34405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66700" tIns="247650" rIns="228600" bIns="17145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자기 시점의 무기 표시 보정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벽에 가까이 섰을 때 자기 시점의 무기 표시 보정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로컬 플레이어</a:t>
            </a: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의 팔 / 무기 / 총구 효과에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1인칭 렌더링 설정과 계산한 스케일 적용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C327D6F-2490-4732-A309-114C2F80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5410200" cy="2476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2530"/>
          </a:solidFill>
          <a:ln xmlns:a="http://schemas.openxmlformats.org/drawingml/2006/main" w="12700">
            <a:solidFill>
              <a:srgbClr val="34405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66700" tIns="247650" rIns="228600" bIns="17145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크기 계산과 적용 범위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메시 경계 / 캐릭터 충돌 영역 / FOV로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1인칭 렌더링 스케일</a:t>
            </a: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계산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Near Clip과 1인칭 FOV를 적용하고 종료 시 복구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4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적용 한계: 외부 시점의 벽 충돌은 처리하지 않음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후속 검토</a:t>
            </a:r>
            <a:r>
              <a:rPr sz="15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: 외부 시점의 무기와 벽 겹침 표현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3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7DD3FC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e280272d1e05491c"/>
              </a:rPr>
              <a:t>1인칭 렌더링 코드 보기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CE83D03F-1D25-49D5-AC8E-EBEF689B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pPr>
            <a:r>
              <a:t>13</a:t>
            </a:r>
          </a:p>
        </p:txBody>
      </p:sp>
      <p:sp>
        <p:nvSpPr>
          <p:cNvPr id="12" name="Media 1">
            <a:extLst xmlns:a="http://schemas.openxmlformats.org/drawingml/2006/main">
              <a:ext uri="{FF2B5EF4-FFF2-40B4-BE49-F238E27FC236}">
                <a16:creationId xmlns:a16="http://schemas.microsoft.com/office/drawing/2014/main" id="{CAA66371-C869-4A97-8F3A-1808210B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5295900" cy="2095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11151D"/>
          </a:solidFill>
          <a:ln xmlns:a="http://schemas.openxmlformats.org/drawingml/2006/main" w="12383">
            <a:solidFill>
              <a:srgbClr val="4D78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7" name="FPR보정비활성화">
            <a:extLst xmlns:a="http://schemas.openxmlformats.org/drawingml/2006/main">
              <a:ext uri="{FF2B5EF4-FFF2-40B4-BE49-F238E27FC236}">
                <a16:creationId xmlns:a16="http://schemas.microsoft.com/office/drawing/2014/main" id="{25A74597-3A75-48EF-A67F-3984AE7A13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a30babdad4824"/>
          <a:srcRect xmlns:a="http://schemas.openxmlformats.org/drawingml/2006/main" l="33210" t="30444" r="590" b="2016"/>
          <a:stretch xmlns:a="http://schemas.openxmlformats.org/drawingml/2006/main"/>
        </p:blipFill>
        <p:spPr>
          <a:xfrm xmlns:a="http://schemas.openxmlformats.org/drawingml/2006/main">
            <a:off x="676275" y="1493429"/>
            <a:ext cx="5162550" cy="1928043"/>
          </a:xfrm>
          <a:prstGeom xmlns:a="http://schemas.openxmlformats.org/drawingml/2006/main" prst="rect">
            <a:avLst/>
          </a:prstGeom>
        </p:spPr>
      </p:pic>
      <p:sp>
        <p:nvSpPr>
          <p:cNvPr id="13" name="Caption 1">
            <a:extLst xmlns:a="http://schemas.openxmlformats.org/drawingml/2006/main">
              <a:ext uri="{FF2B5EF4-FFF2-40B4-BE49-F238E27FC236}">
                <a16:creationId xmlns:a16="http://schemas.microsoft.com/office/drawing/2014/main" id="{590281D9-6929-42B7-ADAC-9185C5B9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5295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기능 비활성화 상태의 1인칭 화면</a:t>
            </a:r>
          </a:p>
        </p:txBody>
      </p:sp>
      <p:sp>
        <p:nvSpPr>
          <p:cNvPr id="14" name="Media 2">
            <a:extLst xmlns:a="http://schemas.openxmlformats.org/drawingml/2006/main">
              <a:ext uri="{FF2B5EF4-FFF2-40B4-BE49-F238E27FC236}">
                <a16:creationId xmlns:a16="http://schemas.microsoft.com/office/drawing/2014/main" id="{4023876A-3816-4FFD-9C2E-F7A3D60D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5295900" cy="2095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11151D"/>
          </a:solidFill>
          <a:ln xmlns:a="http://schemas.openxmlformats.org/drawingml/2006/main" w="12383">
            <a:solidFill>
              <a:srgbClr val="4D78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FPR보정활성화">
            <a:extLst xmlns:a="http://schemas.openxmlformats.org/drawingml/2006/main">
              <a:ext uri="{FF2B5EF4-FFF2-40B4-BE49-F238E27FC236}">
                <a16:creationId xmlns:a16="http://schemas.microsoft.com/office/drawing/2014/main" id="{A7AC88B9-4A02-4866-9E9F-FE3ED68102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5ba3b5084145aa"/>
          <a:srcRect xmlns:a="http://schemas.openxmlformats.org/drawingml/2006/main" l="33408" t="31070" r="0" b="0"/>
          <a:stretch xmlns:a="http://schemas.openxmlformats.org/drawingml/2006/main"/>
        </p:blipFill>
        <p:spPr>
          <a:xfrm xmlns:a="http://schemas.openxmlformats.org/drawingml/2006/main">
            <a:off x="676275" y="4122329"/>
            <a:ext cx="5162550" cy="1928043"/>
          </a:xfrm>
          <a:prstGeom xmlns:a="http://schemas.openxmlformats.org/drawingml/2006/main" prst="rect">
            <a:avLst/>
          </a:prstGeom>
        </p:spPr>
      </p:pic>
      <p:sp>
        <p:nvSpPr>
          <p:cNvPr id="15" name="Caption 2">
            <a:extLst xmlns:a="http://schemas.openxmlformats.org/drawingml/2006/main">
              <a:ext uri="{FF2B5EF4-FFF2-40B4-BE49-F238E27FC236}">
                <a16:creationId xmlns:a16="http://schemas.microsoft.com/office/drawing/2014/main" id="{9DC9B4A6-F5F7-428C-AB54-AF6EAF0B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5295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기능 활성화 상태의 1인칭 화면</a:t>
            </a:r>
          </a:p>
        </p:txBody>
      </p:sp>
      <p:sp>
        <p:nvSpPr>
          <p:cNvPr id="16" name="Comparison conditions">
            <a:extLst xmlns:a="http://schemas.openxmlformats.org/drawingml/2006/main">
              <a:ext uri="{FF2B5EF4-FFF2-40B4-BE49-F238E27FC236}">
                <a16:creationId xmlns:a16="http://schemas.microsoft.com/office/drawing/2014/main" id="{0539FF05-CB73-4B9A-B932-A680FBBF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529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벽 밀착 상태에서 보정 비활성화 / 활성화 비교</a:t>
            </a:r>
          </a:p>
        </p:txBody>
      </p:sp>
    </p:spTree>
    <p:extLst>
      <p:ext uri="{BB962C8B-B14F-4D97-AF65-F5344CB8AC3E}">
        <p14:creationId xmlns:p14="http://schemas.microsoft.com/office/powerpoint/2010/main" val="6459617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8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024B18D2-9451-467C-86D3-8140750E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pPr>
            <a:r>
              <a:t>추가 구현 | BEAM RENDERING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A665E2D8-C858-4DEA-B56C-029C5D53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레일건 / 머신건 빔의 로컬 1인칭 표시 보정</a:t>
            </a:r>
          </a:p>
        </p:txBody>
      </p:sp>
      <p:sp>
        <p:nvSpPr>
          <p:cNvPr id="3" name="Page number">
            <a:extLst xmlns:a="http://schemas.openxmlformats.org/drawingml/2006/main">
              <a:ext uri="{FF2B5EF4-FFF2-40B4-BE49-F238E27FC236}">
                <a16:creationId xmlns:a16="http://schemas.microsoft.com/office/drawing/2014/main" id="{49C03FFD-5631-4D4D-826D-14C547C1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pPr>
            <a:r>
              <a:t>14</a:t>
            </a:r>
          </a:p>
        </p:txBody>
      </p:sp>
      <p:sp>
        <p:nvSpPr>
          <p:cNvPr id="4" name="Beam conditions heading">
            <a:extLst xmlns:a="http://schemas.openxmlformats.org/drawingml/2006/main">
              <a:ext uri="{FF2B5EF4-FFF2-40B4-BE49-F238E27FC236}">
                <a16:creationId xmlns:a16="http://schemas.microsoft.com/office/drawing/2014/main" id="{3CE238FB-30AE-47C1-9C8A-E7EF4603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29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보정용 효과를 선택하는 조건</a:t>
            </a:r>
          </a:p>
        </p:txBody>
      </p:sp>
      <p:sp>
        <p:nvSpPr>
          <p:cNvPr id="5" name="Beam local view">
            <a:extLst xmlns:a="http://schemas.openxmlformats.org/drawingml/2006/main">
              <a:ext uri="{FF2B5EF4-FFF2-40B4-BE49-F238E27FC236}">
                <a16:creationId xmlns:a16="http://schemas.microsoft.com/office/drawing/2014/main" id="{199C1871-B782-4171-AB43-53FA2038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5621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3335">
            <a:solidFill>
              <a:srgbClr val="4DA3FF"/>
            </a:solidFill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로컬 1인칭</a:t>
            </a:r>
          </a:p>
          <a:p xmlns:a="http://schemas.openxmlformats.org/drawingml/2006/main">
            <a: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플레이어 확인</a:t>
            </a:r>
          </a:p>
        </p:txBody>
      </p:sp>
      <p:sp>
        <p:nvSpPr>
          <p:cNvPr id="6" name="Beam occlusion">
            <a:extLst xmlns:a="http://schemas.openxmlformats.org/drawingml/2006/main">
              <a:ext uri="{FF2B5EF4-FFF2-40B4-BE49-F238E27FC236}">
                <a16:creationId xmlns:a16="http://schemas.microsoft.com/office/drawing/2014/main" id="{A887D932-5594-4CCE-9C28-9E1DEAFC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90750"/>
            <a:ext cx="15621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3335">
            <a:solidFill>
              <a:srgbClr val="4DA3FF"/>
            </a:solidFill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카메라와 총구</a:t>
            </a:r>
          </a:p>
          <a:p xmlns:a="http://schemas.openxmlformats.org/drawingml/2006/main">
            <a: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사이 가림 검사</a:t>
            </a:r>
          </a:p>
        </p:txBody>
      </p:sp>
      <p:sp>
        <p:nvSpPr>
          <p:cNvPr id="7" name="Beam asset variant">
            <a:extLst xmlns:a="http://schemas.openxmlformats.org/drawingml/2006/main">
              <a:ext uri="{FF2B5EF4-FFF2-40B4-BE49-F238E27FC236}">
                <a16:creationId xmlns:a16="http://schemas.microsoft.com/office/drawing/2014/main" id="{210B8225-D97F-4BD7-B3A5-C312AF96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90750"/>
            <a:ext cx="15621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3335">
            <a:solidFill>
              <a:srgbClr val="4DA3FF"/>
            </a:solidFill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준비된 보정용</a:t>
            </a:r>
          </a:p>
          <a:p xmlns:a="http://schemas.openxmlformats.org/drawingml/2006/main">
            <a: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효과 변형 선택</a:t>
            </a:r>
          </a:p>
        </p:txBody>
      </p:sp>
      <p:sp>
        <p:nvSpPr>
          <p:cNvPr id="8" name="Beam condition arrow 1">
            <a:extLst xmlns:a="http://schemas.openxmlformats.org/drawingml/2006/main">
              <a:ext uri="{FF2B5EF4-FFF2-40B4-BE49-F238E27FC236}">
                <a16:creationId xmlns:a16="http://schemas.microsoft.com/office/drawing/2014/main" id="{7415F1BF-FE3F-496D-B869-B0E2FDD8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495550"/>
            <a:ext cx="2286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</p:sp>
      <p:sp>
        <p:nvSpPr>
          <p:cNvPr id="9" name="Beam condition arrow 2">
            <a:extLst xmlns:a="http://schemas.openxmlformats.org/drawingml/2006/main">
              <a:ext uri="{FF2B5EF4-FFF2-40B4-BE49-F238E27FC236}">
                <a16:creationId xmlns:a16="http://schemas.microsoft.com/office/drawing/2014/main" id="{96586891-FD61-4B58-B33F-7F7F6817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495550"/>
            <a:ext cx="228600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</p:sp>
      <p:sp>
        <p:nvSpPr>
          <p:cNvPr id="10" name="Beam normal path">
            <a:extLst xmlns:a="http://schemas.openxmlformats.org/drawingml/2006/main">
              <a:ext uri="{FF2B5EF4-FFF2-40B4-BE49-F238E27FC236}">
                <a16:creationId xmlns:a16="http://schemas.microsoft.com/office/drawing/2014/main" id="{AC5253B6-D7C5-4269-8C09-C0025F71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529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원격 시점 / 가림 없음: 기존 빔 사용</a:t>
            </a:r>
          </a:p>
        </p:txBody>
      </p:sp>
      <p:sp>
        <p:nvSpPr>
          <p:cNvPr id="11" name="Beam display versus authority heading">
            <a:extLst xmlns:a="http://schemas.openxmlformats.org/drawingml/2006/main">
              <a:ext uri="{FF2B5EF4-FFF2-40B4-BE49-F238E27FC236}">
                <a16:creationId xmlns:a16="http://schemas.microsoft.com/office/drawing/2014/main" id="{FD4E7FD2-A552-4DAF-8579-7AB8C12F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529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판정 좌표와 표시 형상 분리</a:t>
            </a:r>
          </a:p>
        </p:txBody>
      </p:sp>
      <p:sp>
        <p:nvSpPr>
          <p:cNvPr id="12" name="Beam world endpoints">
            <a:extLst xmlns:a="http://schemas.openxmlformats.org/drawingml/2006/main">
              <a:ext uri="{FF2B5EF4-FFF2-40B4-BE49-F238E27FC236}">
                <a16:creationId xmlns:a16="http://schemas.microsoft.com/office/drawing/2014/main" id="{F96D9D9A-02B1-4BA4-A410-49541119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5295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3335">
            <a:solidFill>
              <a:srgbClr val="4DA3FF"/>
            </a:solidFill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물리 총구 / 실제 명중 끝점</a:t>
            </a:r>
          </a:p>
          <a:p xmlns:a="http://schemas.openxmlformats.org/drawingml/2006/main">
            <a: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원본 월드 좌표 유지</a:t>
            </a:r>
          </a:p>
        </p:txBody>
      </p:sp>
      <p:sp>
        <p:nvSpPr>
          <p:cNvPr id="13" name="Beam local shape">
            <a:extLst xmlns:a="http://schemas.openxmlformats.org/drawingml/2006/main">
              <a:ext uri="{FF2B5EF4-FFF2-40B4-BE49-F238E27FC236}">
                <a16:creationId xmlns:a16="http://schemas.microsoft.com/office/drawing/2014/main" id="{10337437-E067-4B1B-9CD6-C6DC1D89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52959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3335">
            <a:solidFill>
              <a:srgbClr val="4DA3FF"/>
            </a:solidFill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가까운 빔 형상에만 1인칭 변환 적용</a:t>
            </a:r>
          </a:p>
          <a:p xmlns:a="http://schemas.openxmlformats.org/drawingml/2006/main">
            <a: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명중 끝점으로 갈수록 월드 공간으로 연결</a:t>
            </a:r>
          </a:p>
        </p:txBody>
      </p:sp>
      <p:sp>
        <p:nvSpPr>
          <p:cNvPr id="14" name="Beam first person rendering">
            <a:extLst xmlns:a="http://schemas.openxmlformats.org/drawingml/2006/main">
              <a:ext uri="{FF2B5EF4-FFF2-40B4-BE49-F238E27FC236}">
                <a16:creationId xmlns:a16="http://schemas.microsoft.com/office/drawing/2014/main" id="{C14AC9D9-603D-4A05-9D8B-89E7160E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09700"/>
            <a:ext cx="5410200" cy="2209800"/>
          </a:xfrm>
          <a:prstGeom xmlns:a="http://schemas.openxmlformats.org/drawingml/2006/main" prst="roundRect">
            <a:avLst>
              <a:gd name="adj" fmla="val 16379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1430">
            <a:solidFill>
              <a:srgbClr val="344253"/>
            </a:solidFill>
          </a:ln>
        </p:spPr>
        <p:txBody>
          <a:bodyPr xmlns:a="http://schemas.openxmlformats.org/drawingml/2006/main" lIns="285750" tIns="285750" rIns="238125" bIns="190500"/>
          <a:lstStyle xmlns:a="http://schemas.openxmlformats.org/drawingml/2006/main">
            <a:defPPr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판정 좌표를 유지하는 표시 보정</a:t>
            </a:r>
          </a:p>
          <a:p xmlns:a="http://schemas.openxmlformats.org/drawingml/2006/main">
            <a: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준비된 Niagara / 머티리얼 변형으로 표시</a:t>
            </a:r>
          </a:p>
          <a:p xmlns:a="http://schemas.openxmlformats.org/drawingml/2006/main">
            <a: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총구 쪽 형상에 1인칭 변환을 한 번 적용</a:t>
            </a:r>
          </a:p>
          <a:p xmlns:a="http://schemas.openxmlformats.org/drawingml/2006/main">
            <a: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보정 전 총구 좌표를 넘겨 이중 변환 방지</a:t>
            </a:r>
          </a:p>
          <a:p xmlns:a="http://schemas.openxmlformats.org/drawingml/2006/main">
            <a: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피해 판정과 원격 시점은 변경하지 않음</a:t>
            </a:r>
          </a:p>
        </p:txBody>
      </p:sp>
      <p:sp>
        <p:nvSpPr>
          <p:cNvPr id="15" name="Beam short waves">
            <a:extLst xmlns:a="http://schemas.openxmlformats.org/drawingml/2006/main">
              <a:ext uri="{FF2B5EF4-FFF2-40B4-BE49-F238E27FC236}">
                <a16:creationId xmlns:a16="http://schemas.microsoft.com/office/drawing/2014/main" id="{47D98C9D-1F9C-4F88-9457-2759F89E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90950"/>
            <a:ext cx="5410200" cy="2476500"/>
          </a:xfrm>
          <a:prstGeom xmlns:a="http://schemas.openxmlformats.org/drawingml/2006/main" prst="roundRect">
            <a:avLst>
              <a:gd name="adj" fmla="val 14615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1430">
            <a:solidFill>
              <a:srgbClr val="344253"/>
            </a:solidFill>
          </a:ln>
        </p:spPr>
        <p:txBody>
          <a:bodyPr xmlns:a="http://schemas.openxmlformats.org/drawingml/2006/main" lIns="285750" tIns="285750" rIns="238125" bIns="190500"/>
          <a:lstStyle xmlns:a="http://schemas.openxmlformats.org/drawingml/2006/main">
            <a:defPPr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짧은 레일건 빔의 물결 크기 조절</a:t>
            </a:r>
          </a:p>
          <a:p xmlns:a="http://schemas.openxmlformats.org/drawingml/2006/main">
            <a: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실제 빔 길이 안에서 물결 구간을 계산</a:t>
            </a:r>
          </a:p>
          <a:p xmlns:a="http://schemas.openxmlformats.org/drawingml/2006/main">
            <a: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표시 길이에 맞춰 폭과 흔들림을 축소</a:t>
            </a:r>
          </a:p>
          <a:p xmlns:a="http://schemas.openxmlformats.org/drawingml/2006/main">
            <a: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머신건과 레일건은 전체 빔을 즉시 표시</a:t>
            </a:r>
          </a:p>
          <a:p xmlns:a="http://schemas.openxmlformats.org/drawingml/2006/main">
            <a: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무기별 표시 지속 시간은 따로 설정</a:t>
            </a:r>
          </a:p>
          <a:p xmlns:a="http://schemas.openxmlformats.org/drawingml/2006/main">
            <a: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7DD3FC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3511427e73f14af4"/>
              </a:rPr>
              <a:t>빔 효과</a:t>
            </a:r>
            <a:r>
              <a: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/ </a:t>
            </a:r>
            <a:r>
              <a:rPr sz="1388" b="0" u="sng">
                <a:solidFill>
                  <a:srgbClr val="7DD3FC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d96e6bc85239445c"/>
              </a:rPr>
              <a:t>물결 계산</a:t>
            </a:r>
          </a:p>
        </p:txBody>
      </p:sp>
    </p:spTree>
    <p:extLst>
      <p:ext uri="{BB962C8B-B14F-4D97-AF65-F5344CB8AC3E}">
        <p14:creationId xmlns:p14="http://schemas.microsoft.com/office/powerpoint/2010/main" val="13222528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8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34C42A6D-8F9A-4EE4-812B-8054F900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pPr>
            <a:r>
              <a:t>추가 구현 | BEAM RENDERING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6B9FAF8-C11D-459C-B29C-CA9FF1A0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벽 밀착 상태의 빔 표시 비교</a:t>
            </a:r>
          </a:p>
        </p:txBody>
      </p:sp>
      <p:sp>
        <p:nvSpPr>
          <p:cNvPr id="3" name="Page number">
            <a:extLst xmlns:a="http://schemas.openxmlformats.org/drawingml/2006/main">
              <a:ext uri="{FF2B5EF4-FFF2-40B4-BE49-F238E27FC236}">
                <a16:creationId xmlns:a16="http://schemas.microsoft.com/office/drawing/2014/main" id="{EBCEA59C-902C-4F2B-9F6E-B1E35014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pPr>
            <a:r>
              <a:t>15</a:t>
            </a:r>
          </a:p>
        </p:txBody>
      </p:sp>
      <p:sp>
        <p:nvSpPr>
          <p:cNvPr id="12" name="Beam comparison description">
            <a:extLst xmlns:a="http://schemas.openxmlformats.org/drawingml/2006/main">
              <a:ext uri="{FF2B5EF4-FFF2-40B4-BE49-F238E27FC236}">
                <a16:creationId xmlns:a16="http://schemas.microsoft.com/office/drawing/2014/main" id="{C2998F19-64CB-4902-8F4C-E6F4040F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벽에 밀착한 구도에서 비교한 빔의 총구 구간</a:t>
            </a:r>
          </a:p>
        </p:txBody>
      </p:sp>
      <p:sp>
        <p:nvSpPr>
          <p:cNvPr id="13" name="beam-off heading">
            <a:extLst xmlns:a="http://schemas.openxmlformats.org/drawingml/2006/main">
              <a:ext uri="{FF2B5EF4-FFF2-40B4-BE49-F238E27FC236}">
                <a16:creationId xmlns:a16="http://schemas.microsoft.com/office/drawing/2014/main" id="{9E02E4A9-3198-4D8E-966D-5C9B135A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29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보정 비활성화 / GIF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44A375-DA35-4A1F-9C7B-BFEADF384A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aa186a9fa7448b"/>
          <a:stretch xmlns:a="http://schemas.openxmlformats.org/drawingml/2006/main"/>
        </p:blipFill>
        <p:spPr>
          <a:xfrm xmlns:a="http://schemas.openxmlformats.org/drawingml/2006/main">
            <a:off x="609619" y="2286000"/>
            <a:ext cx="5295862" cy="2986278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40675-76A0-400E-9584-BBE8810856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65fe27eae4fd5"/>
          <a:stretch xmlns:a="http://schemas.openxmlformats.org/drawingml/2006/main"/>
        </p:blipFill>
        <p:spPr>
          <a:xfrm xmlns:a="http://schemas.openxmlformats.org/drawingml/2006/main">
            <a:off x="609600" y="5476875"/>
            <a:ext cx="1714500" cy="964406"/>
          </a:xfrm>
          <a:prstGeom xmlns:a="http://schemas.openxmlformats.org/drawingml/2006/main" prst="rect">
            <a:avLst/>
          </a:prstGeom>
        </p:spPr>
      </p:pic>
      <p:sp>
        <p:nvSpPr>
          <p:cNvPr id="16" name="beam-off still label">
            <a:extLst xmlns:a="http://schemas.openxmlformats.org/drawingml/2006/main">
              <a:ext uri="{FF2B5EF4-FFF2-40B4-BE49-F238E27FC236}">
                <a16:creationId xmlns:a16="http://schemas.microsoft.com/office/drawing/2014/main" id="{95615A20-2B6F-4832-B6F8-0DB74845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476875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발사 순간</a:t>
            </a:r>
          </a:p>
        </p:txBody>
      </p:sp>
      <p:sp>
        <p:nvSpPr>
          <p:cNvPr id="17" name="beam-off still caption">
            <a:extLst xmlns:a="http://schemas.openxmlformats.org/drawingml/2006/main">
              <a:ext uri="{FF2B5EF4-FFF2-40B4-BE49-F238E27FC236}">
                <a16:creationId xmlns:a16="http://schemas.microsoft.com/office/drawing/2014/main" id="{BE962B3A-B58C-4345-9CFF-A27DE2DB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829300"/>
            <a:ext cx="335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총구 부근에서 빔 연결이</a:t>
            </a:r>
          </a:p>
          <a:p xmlns:a="http://schemas.openxmlformats.org/drawingml/2006/main">
            <a:pPr>
              <a:buNone/>
              <a:defRPr sz="15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끊겨 보이는 장면</a:t>
            </a:r>
          </a:p>
        </p:txBody>
      </p:sp>
      <p:sp>
        <p:nvSpPr>
          <p:cNvPr id="18" name="beam-on heading">
            <a:extLst xmlns:a="http://schemas.openxmlformats.org/drawingml/2006/main">
              <a:ext uri="{FF2B5EF4-FFF2-40B4-BE49-F238E27FC236}">
                <a16:creationId xmlns:a16="http://schemas.microsoft.com/office/drawing/2014/main" id="{42CFAFE8-513C-4787-BDAF-D398654E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529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보정 활성화 / GIF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CF51CE-CE27-47E5-9E0A-714F8A5C91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9c3d0223924155"/>
          <a:stretch xmlns:a="http://schemas.openxmlformats.org/drawingml/2006/main"/>
        </p:blipFill>
        <p:spPr>
          <a:xfrm xmlns:a="http://schemas.openxmlformats.org/drawingml/2006/main">
            <a:off x="6286519" y="2286000"/>
            <a:ext cx="5295862" cy="2986278"/>
          </a:xfrm>
          <a:prstGeom xmlns:a="http://schemas.openxmlformats.org/drawingml/2006/main" prst="rect">
            <a:avLst/>
          </a:prstGeom>
        </p:spPr>
      </p:pic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033DD7-7BA1-46D3-A28D-E85AB3EEFA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2f319341134773"/>
          <a:stretch xmlns:a="http://schemas.openxmlformats.org/drawingml/2006/main"/>
        </p:blipFill>
        <p:spPr>
          <a:xfrm xmlns:a="http://schemas.openxmlformats.org/drawingml/2006/main">
            <a:off x="6286500" y="5476875"/>
            <a:ext cx="1714500" cy="964406"/>
          </a:xfrm>
          <a:prstGeom xmlns:a="http://schemas.openxmlformats.org/drawingml/2006/main" prst="rect">
            <a:avLst/>
          </a:prstGeom>
        </p:spPr>
      </p:pic>
      <p:sp>
        <p:nvSpPr>
          <p:cNvPr id="21" name="beam-on still label">
            <a:extLst xmlns:a="http://schemas.openxmlformats.org/drawingml/2006/main">
              <a:ext uri="{FF2B5EF4-FFF2-40B4-BE49-F238E27FC236}">
                <a16:creationId xmlns:a16="http://schemas.microsoft.com/office/drawing/2014/main" id="{C0548D55-7C8A-4A2A-BE01-90AF02E2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76875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발사 순간</a:t>
            </a:r>
          </a:p>
        </p:txBody>
      </p:sp>
      <p:sp>
        <p:nvSpPr>
          <p:cNvPr id="22" name="beam-on still caption">
            <a:extLst xmlns:a="http://schemas.openxmlformats.org/drawingml/2006/main">
              <a:ext uri="{FF2B5EF4-FFF2-40B4-BE49-F238E27FC236}">
                <a16:creationId xmlns:a16="http://schemas.microsoft.com/office/drawing/2014/main" id="{1159F041-6C0C-4187-8192-3A1CBF8A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829300"/>
            <a:ext cx="335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총구에서 벽까지 빔이</a:t>
            </a:r>
          </a:p>
          <a:p xmlns:a="http://schemas.openxmlformats.org/drawingml/2006/main">
            <a:pPr>
              <a:buNone/>
              <a:defRPr sz="15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이어지는 장면</a:t>
            </a:r>
          </a:p>
        </p:txBody>
      </p:sp>
    </p:spTree>
    <p:extLst>
      <p:ext uri="{BB962C8B-B14F-4D97-AF65-F5344CB8AC3E}">
        <p14:creationId xmlns:p14="http://schemas.microsoft.com/office/powerpoint/2010/main" val="43445600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4FC3DA-1911-4090-A77B-885FB485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6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C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4B2F189-93DD-447F-8DB0-92DE8079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rPr>
              <a:t>추가 구현 | SPAWN &amp; RESPAWN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4E9690F-B444-43B0-BC2F-00CDE06C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스폰과 리스폰 위치 선택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C1813994-D1DE-4F8A-93F1-F9BE9156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pPr>
            <a:r>
              <a:t>16</a:t>
            </a:r>
          </a:p>
        </p:txBody>
      </p:sp>
      <p:sp>
        <p:nvSpPr>
          <p:cNvPr id="10" name="Initial spawn heading">
            <a:extLst xmlns:a="http://schemas.openxmlformats.org/drawingml/2006/main">
              <a:ext uri="{FF2B5EF4-FFF2-40B4-BE49-F238E27FC236}">
                <a16:creationId xmlns:a16="http://schemas.microsoft.com/office/drawing/2014/main" id="{748060E4-CC5F-451D-9B47-624A6C3D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최초 스폰</a:t>
            </a:r>
          </a:p>
        </p:txBody>
      </p:sp>
      <p:sp>
        <p:nvSpPr>
          <p:cNvPr id="11" name="Initial spawn summary">
            <a:extLst xmlns:a="http://schemas.openxmlformats.org/drawingml/2006/main">
              <a:ext uri="{FF2B5EF4-FFF2-40B4-BE49-F238E27FC236}">
                <a16:creationId xmlns:a16="http://schemas.microsoft.com/office/drawing/2014/main" id="{ACC0A060-82B6-406E-A8B7-4588654E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28750"/>
            <a:ext cx="923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전용 지점 우선 배정 / 배정 횟수 기록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생성 또는 조종 연결 실패 시 배정 횟수 복구</a:t>
            </a:r>
          </a:p>
        </p:txBody>
      </p:sp>
      <p:sp>
        <p:nvSpPr>
          <p:cNvPr id="12" name="Respawn heading">
            <a:extLst xmlns:a="http://schemas.openxmlformats.org/drawingml/2006/main">
              <a:ext uri="{FF2B5EF4-FFF2-40B4-BE49-F238E27FC236}">
                <a16:creationId xmlns:a16="http://schemas.microsoft.com/office/drawing/2014/main" id="{0CE965C2-2E90-485D-AF11-94B3B922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리스폰: 먼 절반을 남기고 그중 한 곳을 무작위 선택</a:t>
            </a:r>
          </a:p>
        </p:txBody>
      </p:sp>
      <p:sp>
        <p:nvSpPr>
          <p:cNvPr id="13" name="Respawn prefilter">
            <a:extLst xmlns:a="http://schemas.openxmlformats.org/drawingml/2006/main">
              <a:ext uri="{FF2B5EF4-FFF2-40B4-BE49-F238E27FC236}">
                <a16:creationId xmlns:a16="http://schemas.microsoft.com/office/drawing/2014/main" id="{CE532993-BE33-49E9-95F4-41E4AB63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사용 가능한 타입의 후보를 추린 뒤, 사망 위치와의 거리를 계산</a:t>
            </a:r>
          </a:p>
        </p:txBody>
      </p:sp>
      <p:sp>
        <p:nvSpPr>
          <p:cNvPr id="14" name="Respawn ordered example">
            <a:extLst xmlns:a="http://schemas.openxmlformats.org/drawingml/2006/main">
              <a:ext uri="{FF2B5EF4-FFF2-40B4-BE49-F238E27FC236}">
                <a16:creationId xmlns:a16="http://schemas.microsoft.com/office/drawing/2014/main" id="{3719163C-C30F-473F-88EE-353BCA1B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거리순 정렬 예시: 사용 가능한 후보 6곳</a:t>
            </a:r>
          </a:p>
        </p:txBody>
      </p:sp>
      <p:sp>
        <p:nvSpPr>
          <p:cNvPr id="15" name="Respawn far end">
            <a:extLst xmlns:a="http://schemas.openxmlformats.org/drawingml/2006/main">
              <a:ext uri="{FF2B5EF4-FFF2-40B4-BE49-F238E27FC236}">
                <a16:creationId xmlns:a16="http://schemas.microsoft.com/office/drawing/2014/main" id="{1D6FAE1D-9D99-46D4-9D6E-3286B56F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638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42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42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42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42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42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42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42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42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42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42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pPr>
            <a:r>
              <a:t>먼 쪽</a:t>
            </a:r>
          </a:p>
        </p:txBody>
      </p:sp>
      <p:sp>
        <p:nvSpPr>
          <p:cNvPr id="16" name="Respawn near end">
            <a:extLst xmlns:a="http://schemas.openxmlformats.org/drawingml/2006/main">
              <a:ext uri="{FF2B5EF4-FFF2-40B4-BE49-F238E27FC236}">
                <a16:creationId xmlns:a16="http://schemas.microsoft.com/office/drawing/2014/main" id="{CE206056-892B-4E22-B881-7455A362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00450"/>
            <a:ext cx="1638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42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42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42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42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42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42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42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42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42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42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pPr>
            <a:r>
              <a:t>가까운 쪽</a:t>
            </a:r>
          </a:p>
        </p:txBody>
      </p:sp>
      <p:sp>
        <p:nvSpPr>
          <p:cNvPr id="17" name="Respawn candidate A">
            <a:extLst xmlns:a="http://schemas.openxmlformats.org/drawingml/2006/main">
              <a:ext uri="{FF2B5EF4-FFF2-40B4-BE49-F238E27FC236}">
                <a16:creationId xmlns:a16="http://schemas.microsoft.com/office/drawing/2014/main" id="{46FB2820-7898-4ED0-BB6C-CF6BDA3B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638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03650"/>
          </a:solidFill>
          <a:ln xmlns:a="http://schemas.openxmlformats.org/drawingml/2006/main" w="14288">
            <a:solidFill>
              <a:srgbClr val="4DA3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후보 A</a:t>
            </a:r>
          </a:p>
        </p:txBody>
      </p:sp>
      <p:sp>
        <p:nvSpPr>
          <p:cNvPr id="18" name="Respawn candidate B">
            <a:extLst xmlns:a="http://schemas.openxmlformats.org/drawingml/2006/main">
              <a:ext uri="{FF2B5EF4-FFF2-40B4-BE49-F238E27FC236}">
                <a16:creationId xmlns:a16="http://schemas.microsoft.com/office/drawing/2014/main" id="{11F04B5F-F7D6-4A31-AA3D-5C295BE6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62400"/>
            <a:ext cx="1638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03650"/>
          </a:solidFill>
          <a:ln xmlns:a="http://schemas.openxmlformats.org/drawingml/2006/main" w="28575">
            <a:solidFill>
              <a:srgbClr val="FFFF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후보 B</a:t>
            </a:r>
          </a:p>
        </p:txBody>
      </p:sp>
      <p:sp>
        <p:nvSpPr>
          <p:cNvPr id="19" name="Respawn candidate C">
            <a:extLst xmlns:a="http://schemas.openxmlformats.org/drawingml/2006/main">
              <a:ext uri="{FF2B5EF4-FFF2-40B4-BE49-F238E27FC236}">
                <a16:creationId xmlns:a16="http://schemas.microsoft.com/office/drawing/2014/main" id="{DFAC5BFC-9F56-46A5-8A59-36DA2F98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62400"/>
            <a:ext cx="1638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03650"/>
          </a:solidFill>
          <a:ln xmlns:a="http://schemas.openxmlformats.org/drawingml/2006/main" w="14288">
            <a:solidFill>
              <a:srgbClr val="4DA3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후보 C</a:t>
            </a:r>
          </a:p>
        </p:txBody>
      </p:sp>
      <p:sp>
        <p:nvSpPr>
          <p:cNvPr id="20" name="Respawn candidate D">
            <a:extLst xmlns:a="http://schemas.openxmlformats.org/drawingml/2006/main">
              <a:ext uri="{FF2B5EF4-FFF2-40B4-BE49-F238E27FC236}">
                <a16:creationId xmlns:a16="http://schemas.microsoft.com/office/drawing/2014/main" id="{578D5B9B-34EF-4220-BB5A-8795B4F9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62400"/>
            <a:ext cx="1638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0252D"/>
          </a:solidFill>
          <a:ln xmlns:a="http://schemas.openxmlformats.org/drawingml/2006/main" w="14288">
            <a:solidFill>
              <a:srgbClr val="65718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87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87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87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87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87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87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87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87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87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87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pPr>
            <a:r>
              <a:t>후보 D</a:t>
            </a:r>
          </a:p>
        </p:txBody>
      </p:sp>
      <p:sp>
        <p:nvSpPr>
          <p:cNvPr id="21" name="Respawn candidate E">
            <a:extLst xmlns:a="http://schemas.openxmlformats.org/drawingml/2006/main">
              <a:ext uri="{FF2B5EF4-FFF2-40B4-BE49-F238E27FC236}">
                <a16:creationId xmlns:a16="http://schemas.microsoft.com/office/drawing/2014/main" id="{F3D75257-9906-40EB-9C8A-34AB2BBB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62400"/>
            <a:ext cx="1638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0252D"/>
          </a:solidFill>
          <a:ln xmlns:a="http://schemas.openxmlformats.org/drawingml/2006/main" w="14288">
            <a:solidFill>
              <a:srgbClr val="65718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87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87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87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87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87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87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87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87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87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87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pPr>
            <a:r>
              <a:t>후보 E</a:t>
            </a:r>
          </a:p>
        </p:txBody>
      </p:sp>
      <p:sp>
        <p:nvSpPr>
          <p:cNvPr id="22" name="Respawn candidate F">
            <a:extLst xmlns:a="http://schemas.openxmlformats.org/drawingml/2006/main">
              <a:ext uri="{FF2B5EF4-FFF2-40B4-BE49-F238E27FC236}">
                <a16:creationId xmlns:a16="http://schemas.microsoft.com/office/drawing/2014/main" id="{A1A20D5C-7476-4227-88EE-3722F5A5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962400"/>
            <a:ext cx="1638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0252D"/>
          </a:solidFill>
          <a:ln xmlns:a="http://schemas.openxmlformats.org/drawingml/2006/main" w="14288">
            <a:solidFill>
              <a:srgbClr val="65718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87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87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87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87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87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87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87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87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87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875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pPr>
            <a:r>
              <a:t>후보 F</a:t>
            </a:r>
          </a:p>
        </p:txBody>
      </p:sp>
      <p:sp>
        <p:nvSpPr>
          <p:cNvPr id="23" name="Respawn selected example">
            <a:extLst xmlns:a="http://schemas.openxmlformats.org/drawingml/2006/main">
              <a:ext uri="{FF2B5EF4-FFF2-40B4-BE49-F238E27FC236}">
                <a16:creationId xmlns:a16="http://schemas.microsoft.com/office/drawing/2014/main" id="{66848359-1CC9-420E-AC7E-FC61F629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81550"/>
            <a:ext cx="1638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선택 예시</a:t>
            </a:r>
          </a:p>
        </p:txBody>
      </p:sp>
      <p:sp>
        <p:nvSpPr>
          <p:cNvPr id="24" name="Respawn retained group">
            <a:extLst xmlns:a="http://schemas.openxmlformats.org/drawingml/2006/main">
              <a:ext uri="{FF2B5EF4-FFF2-40B4-BE49-F238E27FC236}">
                <a16:creationId xmlns:a16="http://schemas.microsoft.com/office/drawing/2014/main" id="{CD633AC0-178F-4502-98E5-52F1CBE5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5372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4288">
            <a:solidFill>
              <a:srgbClr val="4DA3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먼 절반 유지: A / B / C</a:t>
            </a:r>
          </a:p>
        </p:txBody>
      </p:sp>
      <p:sp>
        <p:nvSpPr>
          <p:cNvPr id="25" name="Respawn excluded group">
            <a:extLst xmlns:a="http://schemas.openxmlformats.org/drawingml/2006/main">
              <a:ext uri="{FF2B5EF4-FFF2-40B4-BE49-F238E27FC236}">
                <a16:creationId xmlns:a16="http://schemas.microsoft.com/office/drawing/2014/main" id="{E2026358-182B-480F-BDD6-750F27F8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91125"/>
            <a:ext cx="53721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4288">
            <a:solidFill>
              <a:srgbClr val="657183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650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650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650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650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650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650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650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650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650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AAB3C0"/>
                </a:solidFill>
                <a:latin typeface="Noto Sans KR"/>
                <a:ea typeface="Noto Sans KR"/>
                <a:cs typeface="Noto Sans KR"/>
              </a:defRPr>
            </a:pPr>
            <a:r>
              <a:t>가까운 절반 제외: D / E / F</a:t>
            </a:r>
          </a:p>
        </p:txBody>
      </p:sp>
      <p:sp>
        <p:nvSpPr>
          <p:cNvPr id="26" name="Respawn exact count">
            <a:extLst xmlns:a="http://schemas.openxmlformats.org/drawingml/2006/main">
              <a:ext uri="{FF2B5EF4-FFF2-40B4-BE49-F238E27FC236}">
                <a16:creationId xmlns:a16="http://schemas.microsoft.com/office/drawing/2014/main" id="{1278DA6B-F98D-4B7B-A2D0-3E543DFC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먼 절반: 내림(N / 2), 최소 1곳. 같은 거리는 무작위로 순서 결정</a:t>
            </a:r>
          </a:p>
        </p:txBody>
      </p:sp>
      <p:sp>
        <p:nvSpPr>
          <p:cNvPr id="27" name="Respawn safety limit">
            <a:extLst xmlns:a="http://schemas.openxmlformats.org/drawingml/2006/main">
              <a:ext uri="{FF2B5EF4-FFF2-40B4-BE49-F238E27FC236}">
                <a16:creationId xmlns:a16="http://schemas.microsoft.com/office/drawing/2014/main" id="{F2E07DF1-F777-41C6-B346-E7B1C73F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거리 기준 선택이며 주변 적의 존재 여부는 검사하지 않음</a:t>
            </a:r>
          </a:p>
        </p:txBody>
      </p:sp>
      <p:sp>
        <p:nvSpPr>
          <p:cNvPr id="28" name="Respawn code link">
            <a:extLst xmlns:a="http://schemas.openxmlformats.org/drawingml/2006/main">
              <a:ext uri="{FF2B5EF4-FFF2-40B4-BE49-F238E27FC236}">
                <a16:creationId xmlns:a16="http://schemas.microsoft.com/office/drawing/2014/main" id="{8F8C0BCA-8806-47AF-A7AA-2A569865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09600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pPr>
            <a:r>
              <a:rPr u="sng">
                <a:solidFill>
                  <a:srgbClr val="7DD3FC"/>
                </a:solidFill>
                <a:hlinkClick xmlns:r="http://schemas.openxmlformats.org/officeDocument/2006/relationships" r:id="R188eca52a88549a2"/>
              </a:rPr>
              <a:t>스폰 / 리스폰 코드 보기</a:t>
            </a:r>
          </a:p>
        </p:txBody>
      </p:sp>
    </p:spTree>
    <p:extLst>
      <p:ext uri="{BB962C8B-B14F-4D97-AF65-F5344CB8AC3E}">
        <p14:creationId xmlns:p14="http://schemas.microsoft.com/office/powerpoint/2010/main" val="13506705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8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9" name="Client camera to playback">
            <a:extLst xmlns:a="http://schemas.openxmlformats.org/drawingml/2006/main">
              <a:ext uri="{FF2B5EF4-FFF2-40B4-BE49-F238E27FC236}">
                <a16:creationId xmlns:a16="http://schemas.microsoft.com/office/drawing/2014/main" id="{31E8B4A7-BDE5-45EC-96F7-A97E588A0D8B}"/>
              </a:ext>
            </a:extLst>
          </p:cNvPr>
          <p:cNvCxnSpPr>
            <a:stCxn xmlns:a="http://schemas.openxmlformats.org/drawingml/2006/main" id="27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8667750" y="499110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DA3FF"/>
            </a:solidFill>
            <a:prstDash val="solid"/>
            <a:tailEnd type="triangle" w="sm" len="sm"/>
          </a:ln>
        </p:spPr>
      </p:cxnSp>
      <p:cxnSp>
        <p:nvCxnSpPr>
          <p:cNvPr id="48" name="Client loading to camera">
            <a:extLst xmlns:a="http://schemas.openxmlformats.org/drawingml/2006/main">
              <a:ext uri="{FF2B5EF4-FFF2-40B4-BE49-F238E27FC236}">
                <a16:creationId xmlns:a16="http://schemas.microsoft.com/office/drawing/2014/main" id="{FED5B18D-5DA3-4543-850A-6E4BE8F96F5C}"/>
              </a:ext>
            </a:extLst>
          </p:cNvPr>
          <p:cNvCxnSpPr>
            <a:stCxn xmlns:a="http://schemas.openxmlformats.org/drawingml/2006/main" id="2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8667750" y="413385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DA3FF"/>
            </a:solidFill>
            <a:prstDash val="solid"/>
            <a:tailEnd type="triangle" w="sm" len="sm"/>
          </a:ln>
        </p:spPr>
      </p:cxnSp>
      <p:cxnSp>
        <p:nvCxnSpPr>
          <p:cNvPr id="47" name="Client delivery to loading">
            <a:extLst xmlns:a="http://schemas.openxmlformats.org/drawingml/2006/main">
              <a:ext uri="{FF2B5EF4-FFF2-40B4-BE49-F238E27FC236}">
                <a16:creationId xmlns:a16="http://schemas.microsoft.com/office/drawing/2014/main" id="{B9EFE763-433B-4095-8963-027BC7501BA9}"/>
              </a:ext>
            </a:extLst>
          </p:cNvPr>
          <p:cNvCxnSpPr>
            <a:stCxn xmlns:a="http://schemas.openxmlformats.org/drawingml/2006/main" id="42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8667750" y="335280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DA3FF"/>
            </a:solidFill>
            <a:prstDash val="solid"/>
            <a:tailEnd type="triangle" w="sm" len="sm"/>
          </a:ln>
        </p:spPr>
      </p:cxnSp>
      <p:cxnSp>
        <p:nvCxnSpPr>
          <p:cNvPr id="46" name="RPC message connector">
            <a:extLst xmlns:a="http://schemas.openxmlformats.org/drawingml/2006/main">
              <a:ext uri="{FF2B5EF4-FFF2-40B4-BE49-F238E27FC236}">
                <a16:creationId xmlns:a16="http://schemas.microsoft.com/office/drawing/2014/main" id="{A7A637A1-181C-4458-A4BA-B994853FC73F}"/>
              </a:ext>
            </a:extLst>
          </p:cNvPr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2714625" y="3238500"/>
            <a:ext cx="59055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DA3FF"/>
            </a:solidFill>
            <a:prstDash val="solid"/>
            <a:tailEnd type="triangle" w="sm" len="sm"/>
          </a:ln>
        </p:spPr>
      </p:cxnSp>
      <p:cxnSp>
        <p:nvCxnSpPr>
          <p:cNvPr id="45" name="Client header guide">
            <a:extLst xmlns:a="http://schemas.openxmlformats.org/drawingml/2006/main">
              <a:ext uri="{FF2B5EF4-FFF2-40B4-BE49-F238E27FC236}">
                <a16:creationId xmlns:a16="http://schemas.microsoft.com/office/drawing/2014/main" id="{2C815F01-CA68-4804-A1A5-B51B1EF5400B}"/>
              </a:ext>
            </a:extLst>
          </p:cNvPr>
          <p:cNvCxnSpPr>
            <a:stCxn xmlns:a="http://schemas.openxmlformats.org/drawingml/2006/main" id="21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>
            <a:off x="8667750" y="1943100"/>
            <a:ext cx="0" cy="11811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6788E"/>
            </a:solidFill>
            <a:prstDash val="dash"/>
          </a:ln>
        </p:spPr>
      </p:cxnSp>
      <p:cxnSp>
        <p:nvCxnSpPr>
          <p:cNvPr id="44" name="Server readiness guide">
            <a:extLst xmlns:a="http://schemas.openxmlformats.org/drawingml/2006/main">
              <a:ext uri="{FF2B5EF4-FFF2-40B4-BE49-F238E27FC236}">
                <a16:creationId xmlns:a16="http://schemas.microsoft.com/office/drawing/2014/main" id="{86542619-0DE4-4D11-A5B4-CB242C9B4AA6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2667000" y="297180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6788E"/>
            </a:solidFill>
            <a:prstDash val="dash"/>
          </a:ln>
        </p:spPr>
      </p:cxnSp>
      <p:cxnSp>
        <p:nvCxnSpPr>
          <p:cNvPr id="43" name="Server header guide">
            <a:extLst xmlns:a="http://schemas.openxmlformats.org/drawingml/2006/main">
              <a:ext uri="{FF2B5EF4-FFF2-40B4-BE49-F238E27FC236}">
                <a16:creationId xmlns:a16="http://schemas.microsoft.com/office/drawing/2014/main" id="{9CE6A450-D593-423F-A004-0E3F47D33B2A}"/>
              </a:ext>
            </a:extLst>
          </p:cNvPr>
          <p:cNvCxnSpPr>
            <a:stCxn xmlns:a="http://schemas.openxmlformats.org/drawingml/2006/main" id="20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2667000" y="19431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6788E"/>
            </a:solidFill>
            <a:prstDash val="dash"/>
          </a:ln>
        </p:spPr>
      </p:cxnSp>
      <p:sp>
        <p:nvSpPr>
          <p:cNvPr id="17" name="Section label">
            <a:extLst xmlns:a="http://schemas.openxmlformats.org/drawingml/2006/main">
              <a:ext uri="{FF2B5EF4-FFF2-40B4-BE49-F238E27FC236}">
                <a16:creationId xmlns:a16="http://schemas.microsoft.com/office/drawing/2014/main" id="{767E3343-6FBD-4E38-97C4-5A29517D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pPr>
            <a:r>
              <a:t>추가 구현 | SPAWN AUDIO READINESS</a:t>
            </a:r>
          </a:p>
        </p:txBody>
      </p:sp>
      <p:sp>
        <p:nvSpPr>
          <p:cNvPr id="2" name="Slide title">
            <a:extLst xmlns:a="http://schemas.openxmlformats.org/drawingml/2006/main">
              <a:ext uri="{FF2B5EF4-FFF2-40B4-BE49-F238E27FC236}">
                <a16:creationId xmlns:a16="http://schemas.microsoft.com/office/drawing/2014/main" id="{D1B0F222-2B9B-42FB-8AA9-CD9EEC91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접속 준비 후 최초 스폰 사운드 재생</a:t>
            </a:r>
          </a:p>
        </p:txBody>
      </p:sp>
      <p:sp>
        <p:nvSpPr>
          <p:cNvPr id="3" name="Page number">
            <a:extLst xmlns:a="http://schemas.openxmlformats.org/drawingml/2006/main">
              <a:ext uri="{FF2B5EF4-FFF2-40B4-BE49-F238E27FC236}">
                <a16:creationId xmlns:a16="http://schemas.microsoft.com/office/drawing/2014/main" id="{BBDE47EE-BB2B-4D65-AF27-80BA06F7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900" b="0">
                <a:solidFill>
                  <a:srgbClr val="8D9BAB"/>
                </a:solidFill>
                <a:latin typeface="Noto Sans KR"/>
                <a:ea typeface="Noto Sans KR"/>
                <a:cs typeface="Noto Sans KR"/>
              </a:defRPr>
            </a:pPr>
            <a:r>
              <a:t>17</a:t>
            </a:r>
          </a:p>
        </p:txBody>
      </p:sp>
      <p:sp>
        <p:nvSpPr>
          <p:cNvPr id="20" name="Sequence server">
            <a:extLst xmlns:a="http://schemas.openxmlformats.org/drawingml/2006/main">
              <a:ext uri="{FF2B5EF4-FFF2-40B4-BE49-F238E27FC236}">
                <a16:creationId xmlns:a16="http://schemas.microsoft.com/office/drawing/2014/main" id="{D0429173-65CE-4242-A997-1F0B834F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409700"/>
            <a:ext cx="24003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4288">
            <a:solidFill>
              <a:srgbClr val="4DA3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Server / 서버</a:t>
            </a:r>
          </a:p>
        </p:txBody>
      </p:sp>
      <p:sp>
        <p:nvSpPr>
          <p:cNvPr id="21" name="Sequence client">
            <a:extLst xmlns:a="http://schemas.openxmlformats.org/drawingml/2006/main">
              <a:ext uri="{FF2B5EF4-FFF2-40B4-BE49-F238E27FC236}">
                <a16:creationId xmlns:a16="http://schemas.microsoft.com/office/drawing/2014/main" id="{2C9A5201-AD1C-4F37-B6B8-F266BEDB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409700"/>
            <a:ext cx="24003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4288">
            <a:solidFill>
              <a:srgbClr val="4DA3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Client / 클라이언트</a:t>
            </a:r>
          </a:p>
        </p:txBody>
      </p:sp>
      <p:sp>
        <p:nvSpPr>
          <p:cNvPr id="22" name="Sequence server readiness">
            <a:extLst xmlns:a="http://schemas.openxmlformats.org/drawingml/2006/main">
              <a:ext uri="{FF2B5EF4-FFF2-40B4-BE49-F238E27FC236}">
                <a16:creationId xmlns:a16="http://schemas.microsoft.com/office/drawing/2014/main" id="{9DD9E095-FBE6-4A29-BDF1-64C44C36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90750"/>
            <a:ext cx="3143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4288">
            <a:solidFill>
              <a:srgbClr val="4DA3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연결 / ViewTarget 준비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클라이언트 월드 로드 확인</a:t>
            </a:r>
          </a:p>
        </p:txBody>
      </p:sp>
      <p:sp>
        <p:nvSpPr>
          <p:cNvPr id="23" name="Sequence server wait">
            <a:extLst xmlns:a="http://schemas.openxmlformats.org/drawingml/2006/main">
              <a:ext uri="{FF2B5EF4-FFF2-40B4-BE49-F238E27FC236}">
                <a16:creationId xmlns:a16="http://schemas.microsoft.com/office/drawing/2014/main" id="{99C26EAA-7686-46B9-8A74-ADC00A15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812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준비 전 전달 대기</a:t>
            </a:r>
          </a:p>
        </p:txBody>
      </p:sp>
      <p:sp>
        <p:nvSpPr>
          <p:cNvPr id="25" name="Sequence RPC label">
            <a:extLst xmlns:a="http://schemas.openxmlformats.org/drawingml/2006/main">
              <a:ext uri="{FF2B5EF4-FFF2-40B4-BE49-F238E27FC236}">
                <a16:creationId xmlns:a16="http://schemas.microsoft.com/office/drawing/2014/main" id="{1C347E75-EAAD-4A2D-90B0-50B7053D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pPr>
            <a:r>
              <a:t>RPC 전달(공유 / 소유자)</a:t>
            </a:r>
          </a:p>
        </p:txBody>
      </p:sp>
      <p:sp>
        <p:nvSpPr>
          <p:cNvPr id="26" name="Sequence client loading">
            <a:extLst xmlns:a="http://schemas.openxmlformats.org/drawingml/2006/main">
              <a:ext uri="{FF2B5EF4-FFF2-40B4-BE49-F238E27FC236}">
                <a16:creationId xmlns:a16="http://schemas.microsoft.com/office/drawing/2014/main" id="{F74E36F5-C264-4F02-9D8B-D445BA3C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43300"/>
            <a:ext cx="3143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4288">
            <a:solidFill>
              <a:srgbClr val="4DA3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6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6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6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6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6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6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6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6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6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로딩 종료 대기</a:t>
            </a:r>
          </a:p>
        </p:txBody>
      </p:sp>
      <p:sp>
        <p:nvSpPr>
          <p:cNvPr id="27" name="Sequence client camera">
            <a:extLst xmlns:a="http://schemas.openxmlformats.org/drawingml/2006/main">
              <a:ext uri="{FF2B5EF4-FFF2-40B4-BE49-F238E27FC236}">
                <a16:creationId xmlns:a16="http://schemas.microsoft.com/office/drawing/2014/main" id="{39E6E4EF-C8CD-4D36-83B1-A2A8580F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00550"/>
            <a:ext cx="3143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4288">
            <a:solidFill>
              <a:srgbClr val="4DA3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6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6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6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6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6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6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6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6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6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Pawn / 카메라 갱신 확인</a:t>
            </a:r>
          </a:p>
        </p:txBody>
      </p:sp>
      <p:sp>
        <p:nvSpPr>
          <p:cNvPr id="28" name="Sequence client playback">
            <a:extLst xmlns:a="http://schemas.openxmlformats.org/drawingml/2006/main">
              <a:ext uri="{FF2B5EF4-FFF2-40B4-BE49-F238E27FC236}">
                <a16:creationId xmlns:a16="http://schemas.microsoft.com/office/drawing/2014/main" id="{AA7E6BD7-210A-41A3-9ACA-406774E2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257800"/>
            <a:ext cx="3143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4288">
            <a:solidFill>
              <a:srgbClr val="4DA3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재생 대상별 1회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사운드 재생</a:t>
            </a:r>
          </a:p>
        </p:txBody>
      </p:sp>
      <p:sp>
        <p:nvSpPr>
          <p:cNvPr id="31" name="Sequence pending timer">
            <a:extLst xmlns:a="http://schemas.openxmlformats.org/drawingml/2006/main">
              <a:ext uri="{FF2B5EF4-FFF2-40B4-BE49-F238E27FC236}">
                <a16:creationId xmlns:a16="http://schemas.microsoft.com/office/drawing/2014/main" id="{5B103F28-29F2-4D96-BF1F-3618B078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05225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타이머 대기</a:t>
            </a:r>
          </a:p>
        </p:txBody>
      </p:sp>
      <p:sp>
        <p:nvSpPr>
          <p:cNvPr id="32" name="Sequence camera waiting">
            <a:extLst xmlns:a="http://schemas.openxmlformats.org/drawingml/2006/main">
              <a:ext uri="{FF2B5EF4-FFF2-40B4-BE49-F238E27FC236}">
                <a16:creationId xmlns:a16="http://schemas.microsoft.com/office/drawing/2014/main" id="{2FBDF93F-27D9-4507-8393-574FFD5C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62475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갱신 대기</a:t>
            </a:r>
          </a:p>
        </p:txBody>
      </p:sp>
      <p:sp>
        <p:nvSpPr>
          <p:cNvPr id="33" name="Sequence once guard">
            <a:extLst xmlns:a="http://schemas.openxmlformats.org/drawingml/2006/main">
              <a:ext uri="{FF2B5EF4-FFF2-40B4-BE49-F238E27FC236}">
                <a16:creationId xmlns:a16="http://schemas.microsoft.com/office/drawing/2014/main" id="{983A7FDC-B05C-4318-B124-37A91EF9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57825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388" b="1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388" b="1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388" b="1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388" b="1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388" b="1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388" b="1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388" b="1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388" b="1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388" b="1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388" b="1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88" b="1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pPr>
            <a:r>
              <a:t>중복 차단</a:t>
            </a:r>
          </a:p>
        </p:txBody>
      </p:sp>
      <p:sp>
        <p:nvSpPr>
          <p:cNvPr id="34" name="Sequence delayed lifetime heading">
            <a:extLst xmlns:a="http://schemas.openxmlformats.org/drawingml/2006/main">
              <a:ext uri="{FF2B5EF4-FFF2-40B4-BE49-F238E27FC236}">
                <a16:creationId xmlns:a16="http://schemas.microsoft.com/office/drawing/2014/main" id="{B0272720-3568-47F4-BD08-727AE9D1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433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지연 사운드 수명 관리</a:t>
            </a:r>
          </a:p>
        </p:txBody>
      </p:sp>
      <p:sp>
        <p:nvSpPr>
          <p:cNvPr id="35" name="Sequence delayed reference">
            <a:extLst xmlns:a="http://schemas.openxmlformats.org/drawingml/2006/main">
              <a:ext uri="{FF2B5EF4-FFF2-40B4-BE49-F238E27FC236}">
                <a16:creationId xmlns:a16="http://schemas.microsoft.com/office/drawing/2014/main" id="{2E736B2B-6F1E-40AF-913C-517AD138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33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지연 재생 동안 사운드 참조 유지</a:t>
            </a:r>
          </a:p>
        </p:txBody>
      </p:sp>
      <p:sp>
        <p:nvSpPr>
          <p:cNvPr id="36" name="Sequence EndPlay heading">
            <a:extLst xmlns:a="http://schemas.openxmlformats.org/drawingml/2006/main">
              <a:ext uri="{FF2B5EF4-FFF2-40B4-BE49-F238E27FC236}">
                <a16:creationId xmlns:a16="http://schemas.microsoft.com/office/drawing/2014/main" id="{164700E0-2B66-48E6-A181-C74E080C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9625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종료 시 정리(EndPlay)</a:t>
            </a:r>
          </a:p>
        </p:txBody>
      </p:sp>
      <p:sp>
        <p:nvSpPr>
          <p:cNvPr id="37" name="Sequence timer cleanup">
            <a:extLst xmlns:a="http://schemas.openxmlformats.org/drawingml/2006/main">
              <a:ext uri="{FF2B5EF4-FFF2-40B4-BE49-F238E27FC236}">
                <a16:creationId xmlns:a16="http://schemas.microsoft.com/office/drawing/2014/main" id="{D1AA186C-5F78-4FEC-A231-30109A6E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530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서버 / 로컬 대기 타이머와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지연 사운드 타이머를 해제</a:t>
            </a:r>
          </a:p>
        </p:txBody>
      </p:sp>
      <p:sp>
        <p:nvSpPr>
          <p:cNvPr id="38" name="Sequence source link">
            <a:extLst xmlns:a="http://schemas.openxmlformats.org/drawingml/2006/main">
              <a:ext uri="{FF2B5EF4-FFF2-40B4-BE49-F238E27FC236}">
                <a16:creationId xmlns:a16="http://schemas.microsoft.com/office/drawing/2014/main" id="{6C02C06D-9713-495B-A984-FE65AA33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pPr>
            <a:r>
              <a:rPr u="sng">
                <a:solidFill>
                  <a:srgbClr val="7DD3FC"/>
                </a:solidFill>
                <a:hlinkClick xmlns:r="http://schemas.openxmlformats.org/officeDocument/2006/relationships" r:id="R7774cdc9c0354583"/>
              </a:rPr>
              <a:t>스폰 사운드 코드 보기</a:t>
            </a:r>
          </a:p>
        </p:txBody>
      </p:sp>
      <p:sp>
        <p:nvSpPr>
          <p:cNvPr id="39" name="Sequence tests link">
            <a:extLst xmlns:a="http://schemas.openxmlformats.org/drawingml/2006/main">
              <a:ext uri="{FF2B5EF4-FFF2-40B4-BE49-F238E27FC236}">
                <a16:creationId xmlns:a16="http://schemas.microsoft.com/office/drawing/2014/main" id="{71E437C5-E5CB-4008-99A5-3E9E12B0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61436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pPr>
            <a:r>
              <a:rPr u="sng">
                <a:solidFill>
                  <a:srgbClr val="7DD3FC"/>
                </a:solidFill>
                <a:hlinkClick xmlns:r="http://schemas.openxmlformats.org/officeDocument/2006/relationships" r:id="R85c4bc8d705d4b6b"/>
              </a:rPr>
              <a:t>자동화 테스트</a:t>
            </a:r>
          </a:p>
        </p:txBody>
      </p:sp>
      <p:sp>
        <p:nvSpPr>
          <p:cNvPr id="40" name="Sequence time direction">
            <a:extLst xmlns:a="http://schemas.openxmlformats.org/drawingml/2006/main">
              <a:ext uri="{FF2B5EF4-FFF2-40B4-BE49-F238E27FC236}">
                <a16:creationId xmlns:a16="http://schemas.microsoft.com/office/drawing/2014/main" id="{A0B13C07-FAB3-4BE3-BADD-AA29D529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124575"/>
            <a:ext cx="4486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시간은 위에서 아래로 진행</a:t>
            </a:r>
          </a:p>
        </p:txBody>
      </p:sp>
      <p:sp>
        <p:nvSpPr>
          <p:cNvPr id="41" name="RPC server activation">
            <a:extLst xmlns:a="http://schemas.openxmlformats.org/drawingml/2006/main">
              <a:ext uri="{FF2B5EF4-FFF2-40B4-BE49-F238E27FC236}">
                <a16:creationId xmlns:a16="http://schemas.microsoft.com/office/drawing/2014/main" id="{98FB9F09-A77D-4FC5-8585-5B6B8DB9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124200"/>
            <a:ext cx="9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</p:sp>
      <p:sp>
        <p:nvSpPr>
          <p:cNvPr id="42" name="RPC client activation">
            <a:extLst xmlns:a="http://schemas.openxmlformats.org/drawingml/2006/main">
              <a:ext uri="{FF2B5EF4-FFF2-40B4-BE49-F238E27FC236}">
                <a16:creationId xmlns:a16="http://schemas.microsoft.com/office/drawing/2014/main" id="{090CBA85-AEE8-40D7-98CC-9C3713BF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24200"/>
            <a:ext cx="9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9599958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4FC3DA-1911-4090-A77B-885FB485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6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C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4B2F189-93DD-447F-8DB0-92DE8079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rPr>
              <a:t>추가 구현 | DEATH ITEM DROP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4E9690F-B444-43B0-BC2F-00CDE06C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사망 아이템 생성과 착지 위치 동기화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F162397D-A43C-44D8-ABF8-77D102DA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4762500" cy="2857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2530"/>
          </a:solidFill>
          <a:ln xmlns:a="http://schemas.openxmlformats.org/drawingml/2006/main" w="12700">
            <a:solidFill>
              <a:srgbClr val="34405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66700" tIns="247650" rIns="228600" bIns="17145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서버 기준 아이템 상태 유지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사망 시 무기와 유효한 버프를 드롭 후보로 수집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물리 이동용 액터와 아이템을 생성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서버가</a:t>
            </a: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접촉 지점과 높이 보정으로 착지 위치 결정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클라이언트에 </a:t>
            </a:r>
            <a:r>
              <a:rPr sz="1575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최종 위치</a:t>
            </a: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를 전달해 적용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4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버프는 기존 서버 종료 시각을 유지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4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7DD3FC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755790f8b6244d52"/>
              </a:rPr>
              <a:t>사망 아이템 동기화 코드 보기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C1813994-D1DE-4F8A-93F1-F9BE9156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pPr>
            <a:r>
              <a:t>18</a:t>
            </a:r>
          </a:p>
        </p:txBody>
      </p:sp>
      <p:sp>
        <p:nvSpPr>
          <p:cNvPr id="10" name="Media 1">
            <a:extLst xmlns:a="http://schemas.openxmlformats.org/drawingml/2006/main">
              <a:ext uri="{FF2B5EF4-FFF2-40B4-BE49-F238E27FC236}">
                <a16:creationId xmlns:a16="http://schemas.microsoft.com/office/drawing/2014/main" id="{273FDD8C-9FCE-4E17-92D4-8F9DA140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09700"/>
            <a:ext cx="5943600" cy="2095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11151D"/>
          </a:solidFill>
          <a:ln xmlns:a="http://schemas.openxmlformats.org/drawingml/2006/main" w="12383">
            <a:solidFill>
              <a:srgbClr val="4D78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0" name="플레이어A드랍.png">
            <a:extLst xmlns:a="http://schemas.openxmlformats.org/drawingml/2006/main">
              <a:ext uri="{FF2B5EF4-FFF2-40B4-BE49-F238E27FC236}">
                <a16:creationId xmlns:a16="http://schemas.microsoft.com/office/drawing/2014/main" id="{0C356218-F9D8-4184-8D0E-CC27FD1BE5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bbf9912ad4f73"/>
          <a:srcRect xmlns:a="http://schemas.openxmlformats.org/drawingml/2006/main" l="14041" t="31328" r="156" b="28216"/>
          <a:stretch xmlns:a="http://schemas.openxmlformats.org/drawingml/2006/main"/>
        </p:blipFill>
        <p:spPr>
          <a:xfrm xmlns:a="http://schemas.openxmlformats.org/drawingml/2006/main">
            <a:off x="5824415" y="1476375"/>
            <a:ext cx="5534269" cy="1962150"/>
          </a:xfrm>
          <a:prstGeom xmlns:a="http://schemas.openxmlformats.org/drawingml/2006/main" prst="rect">
            <a:avLst/>
          </a:prstGeom>
        </p:spPr>
      </p:pic>
      <p:sp>
        <p:nvSpPr>
          <p:cNvPr id="11" name="Caption 1">
            <a:extLst xmlns:a="http://schemas.openxmlformats.org/drawingml/2006/main">
              <a:ext uri="{FF2B5EF4-FFF2-40B4-BE49-F238E27FC236}">
                <a16:creationId xmlns:a16="http://schemas.microsoft.com/office/drawing/2014/main" id="{D1770DF4-C9BA-4E25-BE1D-18A3167E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71875"/>
            <a:ext cx="5943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플레이어 A의 시점에서 본 드롭 아이템</a:t>
            </a:r>
          </a:p>
        </p:txBody>
      </p:sp>
      <p:sp>
        <p:nvSpPr>
          <p:cNvPr id="12" name="Media 2">
            <a:extLst xmlns:a="http://schemas.openxmlformats.org/drawingml/2006/main">
              <a:ext uri="{FF2B5EF4-FFF2-40B4-BE49-F238E27FC236}">
                <a16:creationId xmlns:a16="http://schemas.microsoft.com/office/drawing/2014/main" id="{5A82E4B2-EE49-430F-832E-87BE9428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38600"/>
            <a:ext cx="5943600" cy="2095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11151D"/>
          </a:solidFill>
          <a:ln xmlns:a="http://schemas.openxmlformats.org/drawingml/2006/main" w="12383">
            <a:solidFill>
              <a:srgbClr val="4D78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플레이어B드랍.png">
            <a:extLst xmlns:a="http://schemas.openxmlformats.org/drawingml/2006/main">
              <a:ext uri="{FF2B5EF4-FFF2-40B4-BE49-F238E27FC236}">
                <a16:creationId xmlns:a16="http://schemas.microsoft.com/office/drawing/2014/main" id="{B581E45B-C159-4BC8-B717-845C93993F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0cdabffad24540"/>
          <a:srcRect xmlns:a="http://schemas.openxmlformats.org/drawingml/2006/main" l="13928" t="31590" r="0" b="27615"/>
          <a:stretch xmlns:a="http://schemas.openxmlformats.org/drawingml/2006/main"/>
        </p:blipFill>
        <p:spPr>
          <a:xfrm xmlns:a="http://schemas.openxmlformats.org/drawingml/2006/main">
            <a:off x="5824415" y="4105275"/>
            <a:ext cx="5534269" cy="1962150"/>
          </a:xfrm>
          <a:prstGeom xmlns:a="http://schemas.openxmlformats.org/drawingml/2006/main" prst="rect">
            <a:avLst/>
          </a:prstGeom>
        </p:spPr>
      </p:pic>
      <p:sp>
        <p:nvSpPr>
          <p:cNvPr id="13" name="Caption 2">
            <a:extLst xmlns:a="http://schemas.openxmlformats.org/drawingml/2006/main">
              <a:ext uri="{FF2B5EF4-FFF2-40B4-BE49-F238E27FC236}">
                <a16:creationId xmlns:a16="http://schemas.microsoft.com/office/drawing/2014/main" id="{44DD5319-BEA2-483E-B52C-BCCFC476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200775"/>
            <a:ext cx="5943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플레이어 B의 시점에서 본 드롭 아이템</a:t>
            </a:r>
          </a:p>
        </p:txBody>
      </p:sp>
      <p:sp>
        <p:nvSpPr>
          <p:cNvPr id="14" name="Diagram Flow 14 0">
            <a:extLst xmlns:a="http://schemas.openxmlformats.org/drawingml/2006/main">
              <a:ext uri="{FF2B5EF4-FFF2-40B4-BE49-F238E27FC236}">
                <a16:creationId xmlns:a16="http://schemas.microsoft.com/office/drawing/2014/main" id="{ACF46EFE-2001-4809-8156-CEA3BCD7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38430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아이템</a:t>
            </a:r>
          </a:p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물리 이동</a:t>
            </a:r>
          </a:p>
        </p:txBody>
      </p:sp>
      <p:sp>
        <p:nvSpPr>
          <p:cNvPr id="15" name="Diagram Flow 14 1">
            <a:extLst xmlns:a="http://schemas.openxmlformats.org/drawingml/2006/main">
              <a:ext uri="{FF2B5EF4-FFF2-40B4-BE49-F238E27FC236}">
                <a16:creationId xmlns:a16="http://schemas.microsoft.com/office/drawing/2014/main" id="{6C8002AE-62CE-47B0-B1A6-3F6DFF7E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8700" y="4800600"/>
            <a:ext cx="138430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서버가</a:t>
            </a:r>
          </a:p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착지 위치 확정</a:t>
            </a:r>
          </a:p>
        </p:txBody>
      </p:sp>
      <p:sp>
        <p:nvSpPr>
          <p:cNvPr id="16" name="Diagram Flow 14 2">
            <a:extLst xmlns:a="http://schemas.openxmlformats.org/drawingml/2006/main">
              <a:ext uri="{FF2B5EF4-FFF2-40B4-BE49-F238E27FC236}">
                <a16:creationId xmlns:a16="http://schemas.microsoft.com/office/drawing/2014/main" id="{EC0C282D-DFB9-4E20-9BE3-092116C8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800" y="4800600"/>
            <a:ext cx="138430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클라이언트</a:t>
            </a:r>
          </a:p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위치 동기화</a:t>
            </a:r>
          </a:p>
        </p:txBody>
      </p:sp>
      <p:sp>
        <p:nvSpPr>
          <p:cNvPr id="17" name="Diagram Arrow new 15">
            <a:extLst xmlns:a="http://schemas.openxmlformats.org/drawingml/2006/main">
              <a:ext uri="{FF2B5EF4-FFF2-40B4-BE49-F238E27FC236}">
                <a16:creationId xmlns:a16="http://schemas.microsoft.com/office/drawing/2014/main" id="{9E9323FC-5149-4329-9CAA-53E655DA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525" y="5124450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/>
            </a:defPPr>
            <a:lvl1pPr>
              <a:buNone/>
              <a:defRPr sz="1388"/>
            </a:lvl1pPr>
            <a:lvl2pPr>
              <a:buNone/>
              <a:defRPr sz="1388"/>
            </a:lvl2pPr>
            <a:lvl3pPr>
              <a:buNone/>
              <a:defRPr sz="1388"/>
            </a:lvl3pPr>
            <a:lvl4pPr>
              <a:buNone/>
              <a:defRPr sz="1388"/>
            </a:lvl4pPr>
            <a:lvl5pPr>
              <a:buNone/>
              <a:defRPr sz="1388"/>
            </a:lvl5pPr>
            <a:lvl6pPr>
              <a:buNone/>
              <a:defRPr sz="1388"/>
            </a:lvl6pPr>
            <a:lvl7pPr>
              <a:buNone/>
              <a:defRPr sz="1388"/>
            </a:lvl7pPr>
            <a:lvl8pPr>
              <a:buNone/>
              <a:defRPr sz="1388"/>
            </a:lvl8pPr>
            <a:lvl9pPr>
              <a:buNone/>
              <a:defRPr sz="1388"/>
            </a:lvl9pPr>
          </a:lstStyle>
          <a:p xmlns:a="http://schemas.openxmlformats.org/drawingml/2006/main">
            <a:endParaRPr/>
          </a:p>
        </p:txBody>
      </p:sp>
      <p:sp>
        <p:nvSpPr>
          <p:cNvPr id="18" name="Diagram Arrow new 16">
            <a:extLst xmlns:a="http://schemas.openxmlformats.org/drawingml/2006/main">
              <a:ext uri="{FF2B5EF4-FFF2-40B4-BE49-F238E27FC236}">
                <a16:creationId xmlns:a16="http://schemas.microsoft.com/office/drawing/2014/main" id="{46D14523-0A00-488E-B2D1-A2EE36B7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625" y="5124450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/>
            </a:defPPr>
            <a:lvl1pPr>
              <a:buNone/>
              <a:defRPr sz="1388"/>
            </a:lvl1pPr>
            <a:lvl2pPr>
              <a:buNone/>
              <a:defRPr sz="1388"/>
            </a:lvl2pPr>
            <a:lvl3pPr>
              <a:buNone/>
              <a:defRPr sz="1388"/>
            </a:lvl3pPr>
            <a:lvl4pPr>
              <a:buNone/>
              <a:defRPr sz="1388"/>
            </a:lvl4pPr>
            <a:lvl5pPr>
              <a:buNone/>
              <a:defRPr sz="1388"/>
            </a:lvl5pPr>
            <a:lvl6pPr>
              <a:buNone/>
              <a:defRPr sz="1388"/>
            </a:lvl6pPr>
            <a:lvl7pPr>
              <a:buNone/>
              <a:defRPr sz="1388"/>
            </a:lvl7pPr>
            <a:lvl8pPr>
              <a:buNone/>
              <a:defRPr sz="1388"/>
            </a:lvl8pPr>
            <a:lvl9pPr>
              <a:buNone/>
              <a:defRPr sz="1388"/>
            </a:lvl9pPr>
          </a:lstStyle>
          <a:p xmlns:a="http://schemas.openxmlformats.org/drawingml/2006/main">
            <a:endParaRPr/>
          </a:p>
        </p:txBody>
      </p:sp>
      <p:sp>
        <p:nvSpPr>
          <p:cNvPr id="19" name="Buff lifetime">
            <a:extLst xmlns:a="http://schemas.openxmlformats.org/drawingml/2006/main">
              <a:ext uri="{FF2B5EF4-FFF2-40B4-BE49-F238E27FC236}">
                <a16:creationId xmlns:a16="http://schemas.microsoft.com/office/drawing/2014/main" id="{DC276490-DBE4-4A03-9DDE-B1533FFF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35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35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35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35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35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35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35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35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35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BECADA"/>
                </a:solidFill>
                <a:latin typeface="Noto Sans KR"/>
                <a:ea typeface="Noto Sans KR"/>
                <a:cs typeface="Noto Sans KR"/>
              </a:rPr>
              <a:t>버프의 남은 시간을 새로 늘리지 않고 종료 시각을 전달</a:t>
            </a:r>
          </a:p>
        </p:txBody>
      </p:sp>
    </p:spTree>
    <p:extLst>
      <p:ext uri="{BB962C8B-B14F-4D97-AF65-F5344CB8AC3E}">
        <p14:creationId xmlns:p14="http://schemas.microsoft.com/office/powerpoint/2010/main" val="135067055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4FC3DA-1911-4090-A77B-885FB485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6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C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4B2F189-93DD-447F-8DB0-92DE8079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rPr>
              <a:t>추가 구현 | DEATH CAMERA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4E9690F-B444-43B0-BC2F-00CDE06C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사망 카메라 전환과 지형 충돌 보정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4DBF313-E5DC-4919-B52B-C9859FD0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4762500" cy="2857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2530"/>
          </a:solidFill>
          <a:ln xmlns:a="http://schemas.openxmlformats.org/drawingml/2006/main" w="12700">
            <a:solidFill>
              <a:srgbClr val="34405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66700" tIns="247650" rIns="228600" bIns="17145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사망한 플레이어의 시점 관리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사망한 플레이어에게만</a:t>
            </a: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카메라 전환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사망 위치에서 공격자 반대편을 바라보도록 배치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지형 충돌</a:t>
            </a: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시 벽면을 따라 카메라 위치 보정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사망 기준점을 넘어가지 않도록 이동 제한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4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새 캐릭터가 준비되면 플레이 시점으로 복귀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4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7DD3FC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00e4eec16713491f"/>
              </a:rPr>
              <a:t>사망 카메라 코드 보기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C1813994-D1DE-4F8A-93F1-F9BE9156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pPr>
            <a:r>
              <a:t>19</a:t>
            </a:r>
          </a:p>
        </p:txBody>
      </p:sp>
      <p:sp>
        <p:nvSpPr>
          <p:cNvPr id="10" name="Media 1">
            <a:extLst xmlns:a="http://schemas.openxmlformats.org/drawingml/2006/main">
              <a:ext uri="{FF2B5EF4-FFF2-40B4-BE49-F238E27FC236}">
                <a16:creationId xmlns:a16="http://schemas.microsoft.com/office/drawing/2014/main" id="{57C6A3CB-7837-4956-87AB-8C155AAC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09700"/>
            <a:ext cx="5962650" cy="2095500"/>
          </a:xfrm>
          <a:prstGeom xmlns:a="http://schemas.openxmlformats.org/drawingml/2006/main" prst="roundRect">
            <a:avLst>
              <a:gd name="adj" fmla="val 3182"/>
            </a:avLst>
          </a:prstGeom>
          <a:solidFill xmlns:a="http://schemas.openxmlformats.org/drawingml/2006/main">
            <a:srgbClr val="11151D"/>
          </a:solidFill>
          <a:ln xmlns:a="http://schemas.openxmlformats.org/drawingml/2006/main" w="12383">
            <a:solidFill>
              <a:srgbClr val="4D78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0" name="데스캠_편집본">
            <a:extLst xmlns:a="http://schemas.openxmlformats.org/drawingml/2006/main">
              <a:ext uri="{FF2B5EF4-FFF2-40B4-BE49-F238E27FC236}">
                <a16:creationId xmlns:a16="http://schemas.microsoft.com/office/drawing/2014/main" id="{AAD2661F-6371-4F5D-9094-CDC5C6755D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cf035e18e4b6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124575" y="4105275"/>
            <a:ext cx="4953000" cy="1962150"/>
          </a:xfrm>
          <a:prstGeom xmlns:a="http://schemas.openxmlformats.org/drawingml/2006/main" prst="rect">
            <a:avLst/>
          </a:prstGeom>
        </p:spPr>
      </p:pic>
      <p:sp>
        <p:nvSpPr>
          <p:cNvPr id="11" name="Caption 1">
            <a:extLst xmlns:a="http://schemas.openxmlformats.org/drawingml/2006/main">
              <a:ext uri="{FF2B5EF4-FFF2-40B4-BE49-F238E27FC236}">
                <a16:creationId xmlns:a16="http://schemas.microsoft.com/office/drawing/2014/main" id="{9CCE37E8-9483-4731-A456-9B8B6060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90925"/>
            <a:ext cx="5962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사망 시점에서 벽 뒤 공격자의 강조 표시</a:t>
            </a:r>
          </a:p>
        </p:txBody>
      </p:sp>
      <p:sp>
        <p:nvSpPr>
          <p:cNvPr id="12" name="Diagram Flow 16 0">
            <a:extLst xmlns:a="http://schemas.openxmlformats.org/drawingml/2006/main">
              <a:ext uri="{FF2B5EF4-FFF2-40B4-BE49-F238E27FC236}">
                <a16:creationId xmlns:a16="http://schemas.microsoft.com/office/drawing/2014/main" id="{931EE6CC-A7F4-46A2-BB30-1DA37F41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3843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플레이어</a:t>
            </a:r>
          </a:p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사망</a:t>
            </a:r>
          </a:p>
        </p:txBody>
      </p:sp>
      <p:sp>
        <p:nvSpPr>
          <p:cNvPr id="13" name="Diagram Flow 16 1">
            <a:extLst xmlns:a="http://schemas.openxmlformats.org/drawingml/2006/main">
              <a:ext uri="{FF2B5EF4-FFF2-40B4-BE49-F238E27FC236}">
                <a16:creationId xmlns:a16="http://schemas.microsoft.com/office/drawing/2014/main" id="{64A25BD0-A5A9-4015-8CDE-D5CD0892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8700" y="4686300"/>
            <a:ext cx="13843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소유자에게</a:t>
            </a:r>
          </a:p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시점 전환</a:t>
            </a:r>
          </a:p>
        </p:txBody>
      </p:sp>
      <p:sp>
        <p:nvSpPr>
          <p:cNvPr id="14" name="Diagram Flow 16 2">
            <a:extLst xmlns:a="http://schemas.openxmlformats.org/drawingml/2006/main">
              <a:ext uri="{FF2B5EF4-FFF2-40B4-BE49-F238E27FC236}">
                <a16:creationId xmlns:a16="http://schemas.microsoft.com/office/drawing/2014/main" id="{52789FAA-4978-4AA9-86B4-2F911837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800" y="4686300"/>
            <a:ext cx="13843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지형 충돌</a:t>
            </a:r>
          </a:p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보정</a:t>
            </a:r>
          </a:p>
        </p:txBody>
      </p:sp>
      <p:sp>
        <p:nvSpPr>
          <p:cNvPr id="15" name="Diagram Arrow new 17">
            <a:extLst xmlns:a="http://schemas.openxmlformats.org/drawingml/2006/main">
              <a:ext uri="{FF2B5EF4-FFF2-40B4-BE49-F238E27FC236}">
                <a16:creationId xmlns:a16="http://schemas.microsoft.com/office/drawing/2014/main" id="{23167175-287F-451B-84B4-E10EDBEC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525" y="4972050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/>
            </a:defPPr>
            <a:lvl1pPr>
              <a:buNone/>
              <a:defRPr sz="1388"/>
            </a:lvl1pPr>
            <a:lvl2pPr>
              <a:buNone/>
              <a:defRPr sz="1388"/>
            </a:lvl2pPr>
            <a:lvl3pPr>
              <a:buNone/>
              <a:defRPr sz="1388"/>
            </a:lvl3pPr>
            <a:lvl4pPr>
              <a:buNone/>
              <a:defRPr sz="1388"/>
            </a:lvl4pPr>
            <a:lvl5pPr>
              <a:buNone/>
              <a:defRPr sz="1388"/>
            </a:lvl5pPr>
            <a:lvl6pPr>
              <a:buNone/>
              <a:defRPr sz="1388"/>
            </a:lvl6pPr>
            <a:lvl7pPr>
              <a:buNone/>
              <a:defRPr sz="1388"/>
            </a:lvl7pPr>
            <a:lvl8pPr>
              <a:buNone/>
              <a:defRPr sz="1388"/>
            </a:lvl8pPr>
            <a:lvl9pPr>
              <a:buNone/>
              <a:defRPr sz="1388"/>
            </a:lvl9pPr>
          </a:lstStyle>
          <a:p xmlns:a="http://schemas.openxmlformats.org/drawingml/2006/main">
            <a:endParaRPr/>
          </a:p>
        </p:txBody>
      </p:sp>
      <p:sp>
        <p:nvSpPr>
          <p:cNvPr id="16" name="Diagram Arrow new 18">
            <a:extLst xmlns:a="http://schemas.openxmlformats.org/drawingml/2006/main">
              <a:ext uri="{FF2B5EF4-FFF2-40B4-BE49-F238E27FC236}">
                <a16:creationId xmlns:a16="http://schemas.microsoft.com/office/drawing/2014/main" id="{848CE779-C38C-4B18-9BB9-1006B8B6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625" y="4972050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/>
            </a:defPPr>
            <a:lvl1pPr>
              <a:buNone/>
              <a:defRPr sz="1388"/>
            </a:lvl1pPr>
            <a:lvl2pPr>
              <a:buNone/>
              <a:defRPr sz="1388"/>
            </a:lvl2pPr>
            <a:lvl3pPr>
              <a:buNone/>
              <a:defRPr sz="1388"/>
            </a:lvl3pPr>
            <a:lvl4pPr>
              <a:buNone/>
              <a:defRPr sz="1388"/>
            </a:lvl4pPr>
            <a:lvl5pPr>
              <a:buNone/>
              <a:defRPr sz="1388"/>
            </a:lvl5pPr>
            <a:lvl6pPr>
              <a:buNone/>
              <a:defRPr sz="1388"/>
            </a:lvl6pPr>
            <a:lvl7pPr>
              <a:buNone/>
              <a:defRPr sz="1388"/>
            </a:lvl7pPr>
            <a:lvl8pPr>
              <a:buNone/>
              <a:defRPr sz="1388"/>
            </a:lvl8pPr>
            <a:lvl9pPr>
              <a:buNone/>
              <a:defRPr sz="1388"/>
            </a:lvl9pPr>
          </a:lstStyle>
          <a:p xmlns:a="http://schemas.openxmlformats.org/drawingml/2006/main">
            <a:endParaRPr/>
          </a:p>
        </p:txBody>
      </p:sp>
      <p:sp>
        <p:nvSpPr>
          <p:cNvPr id="17" name="Diagram Flow 18 0">
            <a:extLst xmlns:a="http://schemas.openxmlformats.org/drawingml/2006/main">
              <a:ext uri="{FF2B5EF4-FFF2-40B4-BE49-F238E27FC236}">
                <a16:creationId xmlns:a16="http://schemas.microsoft.com/office/drawing/2014/main" id="{EDB0C902-1B86-40DC-A516-E1C88A84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2143125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새 캐릭터 준비</a:t>
            </a:r>
          </a:p>
        </p:txBody>
      </p:sp>
      <p:sp>
        <p:nvSpPr>
          <p:cNvPr id="18" name="Diagram Flow 18 1">
            <a:extLst xmlns:a="http://schemas.openxmlformats.org/drawingml/2006/main">
              <a:ext uri="{FF2B5EF4-FFF2-40B4-BE49-F238E27FC236}">
                <a16:creationId xmlns:a16="http://schemas.microsoft.com/office/drawing/2014/main" id="{9627E52A-34A2-4CBF-9C33-B3995962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753100"/>
            <a:ext cx="2143125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플레이 시점 복귀</a:t>
            </a:r>
          </a:p>
        </p:txBody>
      </p:sp>
      <p:sp>
        <p:nvSpPr>
          <p:cNvPr id="19" name="Diagram Arrow new 19">
            <a:extLst xmlns:a="http://schemas.openxmlformats.org/drawingml/2006/main">
              <a:ext uri="{FF2B5EF4-FFF2-40B4-BE49-F238E27FC236}">
                <a16:creationId xmlns:a16="http://schemas.microsoft.com/office/drawing/2014/main" id="{380951DE-D43A-4A94-9F25-9C21D2F5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953125"/>
            <a:ext cx="3810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/>
            </a:defPPr>
            <a:lvl1pPr>
              <a:buNone/>
              <a:defRPr sz="1388"/>
            </a:lvl1pPr>
            <a:lvl2pPr>
              <a:buNone/>
              <a:defRPr sz="1388"/>
            </a:lvl2pPr>
            <a:lvl3pPr>
              <a:buNone/>
              <a:defRPr sz="1388"/>
            </a:lvl3pPr>
            <a:lvl4pPr>
              <a:buNone/>
              <a:defRPr sz="1388"/>
            </a:lvl4pPr>
            <a:lvl5pPr>
              <a:buNone/>
              <a:defRPr sz="1388"/>
            </a:lvl5pPr>
            <a:lvl6pPr>
              <a:buNone/>
              <a:defRPr sz="1388"/>
            </a:lvl6pPr>
            <a:lvl7pPr>
              <a:buNone/>
              <a:defRPr sz="1388"/>
            </a:lvl7pPr>
            <a:lvl8pPr>
              <a:buNone/>
              <a:defRPr sz="1388"/>
            </a:lvl8pPr>
            <a:lvl9pPr>
              <a:buNone/>
              <a:defRPr sz="1388"/>
            </a:lvl9pPr>
          </a:lstStyle>
          <a:p xmlns:a="http://schemas.openxmlformats.org/drawingml/2006/main">
            <a:endParaRPr/>
          </a:p>
        </p:txBody>
      </p:sp>
      <p:sp>
        <p:nvSpPr>
          <p:cNvPr id="21" name="Death camera GIF frame">
            <a:extLst xmlns:a="http://schemas.openxmlformats.org/drawingml/2006/main">
              <a:ext uri="{FF2B5EF4-FFF2-40B4-BE49-F238E27FC236}">
                <a16:creationId xmlns:a16="http://schemas.microsoft.com/office/drawing/2014/main" id="{7B8EE5B1-E831-420D-A160-02C8B340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38600"/>
            <a:ext cx="5962650" cy="2095500"/>
          </a:xfrm>
          <a:prstGeom xmlns:a="http://schemas.openxmlformats.org/drawingml/2006/main" prst="roundRect">
            <a:avLst>
              <a:gd name="adj" fmla="val 363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4D7E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그림 21">
            <a:extLst xmlns:a="http://schemas.openxmlformats.org/drawingml/2006/main">
              <a:ext uri="{FF2B5EF4-FFF2-40B4-BE49-F238E27FC236}">
                <a16:creationId xmlns:a16="http://schemas.microsoft.com/office/drawing/2014/main" id="{9918063C-0261-447F-9861-C5308129A1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fb29cb6824e40"/>
          <a:srcRect xmlns:a="http://schemas.openxmlformats.org/drawingml/2006/main" l="12969" t="28472" r="41602" b="39583"/>
          <a:stretch xmlns:a="http://schemas.openxmlformats.org/drawingml/2006/main"/>
        </p:blipFill>
        <p:spPr>
          <a:xfrm xmlns:a="http://schemas.openxmlformats.org/drawingml/2006/main">
            <a:off x="6124575" y="1476375"/>
            <a:ext cx="4953000" cy="1962150"/>
          </a:xfrm>
          <a:prstGeom xmlns:a="http://schemas.openxmlformats.org/drawingml/2006/main" prst="rect">
            <a:avLst/>
          </a:prstGeom>
        </p:spPr>
      </p:pic>
      <p:sp>
        <p:nvSpPr>
          <p:cNvPr id="23" name="Death camera GIF caption">
            <a:extLst xmlns:a="http://schemas.openxmlformats.org/drawingml/2006/main">
              <a:ext uri="{FF2B5EF4-FFF2-40B4-BE49-F238E27FC236}">
                <a16:creationId xmlns:a16="http://schemas.microsoft.com/office/drawing/2014/main" id="{2A8FBF4E-BB98-4F3B-ADFC-F98763C8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200775"/>
            <a:ext cx="5962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사망 전후의 시점 전환 과정(GIF)</a:t>
            </a:r>
          </a:p>
        </p:txBody>
      </p:sp>
      <p:sp>
        <p:nvSpPr>
          <p:cNvPr id="24" name="Killer behind wall marker">
            <a:extLst xmlns:a="http://schemas.openxmlformats.org/drawingml/2006/main">
              <a:ext uri="{FF2B5EF4-FFF2-40B4-BE49-F238E27FC236}">
                <a16:creationId xmlns:a16="http://schemas.microsoft.com/office/drawing/2014/main" id="{751A2B22-536F-4E0C-BD21-7422C9DB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695" y="1866900"/>
            <a:ext cx="304800" cy="4095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4E0D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Killer behind wall label">
            <a:extLst xmlns:a="http://schemas.openxmlformats.org/drawingml/2006/main">
              <a:ext uri="{FF2B5EF4-FFF2-40B4-BE49-F238E27FC236}">
                <a16:creationId xmlns:a16="http://schemas.microsoft.com/office/drawing/2014/main" id="{19DE4BB3-E35B-4EC7-A4B7-BA9DD651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876425"/>
            <a:ext cx="1343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275" b="1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275" b="1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275" b="1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275" b="1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275" b="1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275" b="1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275" b="1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275" b="1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275" b="1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4E0D7"/>
                </a:solidFill>
                <a:latin typeface="Noto Sans KR"/>
                <a:ea typeface="Noto Sans KR"/>
                <a:cs typeface="Noto Sans KR"/>
              </a:rPr>
              <a:t>벽 뒤의 공격자</a:t>
            </a:r>
          </a:p>
        </p:txBody>
      </p:sp>
    </p:spTree>
    <p:extLst>
      <p:ext uri="{BB962C8B-B14F-4D97-AF65-F5344CB8AC3E}">
        <p14:creationId xmlns:p14="http://schemas.microsoft.com/office/powerpoint/2010/main" val="135067055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4FC3DA-1911-4090-A77B-885FB485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6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C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4B2F189-93DD-447F-8DB0-92DE8079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rPr>
              <a:t>추가 구현 | CHARACTER OUTLINE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4E9690F-B444-43B0-BC2F-00CDE06C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카메라별 캐릭터 외곽선 표시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4DBF313-E5DC-4919-B52B-C9859FD0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4762500" cy="2857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2530"/>
          </a:solidFill>
          <a:ln xmlns:a="http://schemas.openxmlformats.org/drawingml/2006/main" w="12700">
            <a:solidFill>
              <a:srgbClr val="34405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66700" tIns="247650" rIns="228600" bIns="17145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원본 메시와 표시용 메시 분리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원본과 별도로 </a:t>
            </a:r>
            <a:r>
              <a:rPr sz="1575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CustomDepth</a:t>
            </a: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용 메시를 생성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원본의 숨김 상태와 </a:t>
            </a:r>
            <a:r>
              <a:rPr sz="1575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카메라별</a:t>
            </a: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표시 목록을 반영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각 카메라의 대상에 맞춰 외곽선 표시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PlayerState</a:t>
            </a: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의 강조 대상 정보로 색상을 구분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4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원본 메시의 재질과 충돌 설정은 유지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4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7DD3FC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631460e9d0aa4392"/>
              </a:rPr>
              <a:t>카메라별 외곽선 코드 보기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C1813994-D1DE-4F8A-93F1-F9BE9156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pPr>
            <a:r>
              <a:t>20</a:t>
            </a:r>
          </a:p>
        </p:txBody>
      </p:sp>
      <p:sp>
        <p:nvSpPr>
          <p:cNvPr id="10" name="Media 1">
            <a:extLst xmlns:a="http://schemas.openxmlformats.org/drawingml/2006/main">
              <a:ext uri="{FF2B5EF4-FFF2-40B4-BE49-F238E27FC236}">
                <a16:creationId xmlns:a16="http://schemas.microsoft.com/office/drawing/2014/main" id="{A1F4248E-6A9B-4838-A499-5FB4AA43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09700"/>
            <a:ext cx="5943600" cy="2095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11151D"/>
          </a:solidFill>
          <a:ln xmlns:a="http://schemas.openxmlformats.org/drawingml/2006/main" w="12383">
            <a:solidFill>
              <a:srgbClr val="4D78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0" name="플레이어A외곽선">
            <a:extLst xmlns:a="http://schemas.openxmlformats.org/drawingml/2006/main">
              <a:ext uri="{FF2B5EF4-FFF2-40B4-BE49-F238E27FC236}">
                <a16:creationId xmlns:a16="http://schemas.microsoft.com/office/drawing/2014/main" id="{25F718D1-4283-440D-BB8E-566F2B4CFA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6e0b67148647d6"/>
          <a:srcRect xmlns:a="http://schemas.openxmlformats.org/drawingml/2006/main" l="0" t="33750" r="0" b="19375"/>
          <a:stretch xmlns:a="http://schemas.openxmlformats.org/drawingml/2006/main"/>
        </p:blipFill>
        <p:spPr>
          <a:xfrm xmlns:a="http://schemas.openxmlformats.org/drawingml/2006/main">
            <a:off x="5809657" y="1476375"/>
            <a:ext cx="5563785" cy="1962150"/>
          </a:xfrm>
          <a:prstGeom xmlns:a="http://schemas.openxmlformats.org/drawingml/2006/main" prst="rect">
            <a:avLst/>
          </a:prstGeom>
        </p:spPr>
      </p:pic>
      <p:sp>
        <p:nvSpPr>
          <p:cNvPr id="11" name="Caption 1">
            <a:extLst xmlns:a="http://schemas.openxmlformats.org/drawingml/2006/main">
              <a:ext uri="{FF2B5EF4-FFF2-40B4-BE49-F238E27FC236}">
                <a16:creationId xmlns:a16="http://schemas.microsoft.com/office/drawing/2014/main" id="{AF341507-C593-4DEE-9FCC-107FCF29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71875"/>
            <a:ext cx="5943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플레이어 A의 시점에서 본 외곽선</a:t>
            </a:r>
          </a:p>
        </p:txBody>
      </p:sp>
      <p:sp>
        <p:nvSpPr>
          <p:cNvPr id="12" name="Media 2">
            <a:extLst xmlns:a="http://schemas.openxmlformats.org/drawingml/2006/main">
              <a:ext uri="{FF2B5EF4-FFF2-40B4-BE49-F238E27FC236}">
                <a16:creationId xmlns:a16="http://schemas.microsoft.com/office/drawing/2014/main" id="{D1753CB5-0120-4217-9EE9-9FECA2F5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38600"/>
            <a:ext cx="5943600" cy="2095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11151D"/>
          </a:solidFill>
          <a:ln xmlns:a="http://schemas.openxmlformats.org/drawingml/2006/main" w="12383">
            <a:solidFill>
              <a:srgbClr val="4D78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플레이어B외곽선">
            <a:extLst xmlns:a="http://schemas.openxmlformats.org/drawingml/2006/main">
              <a:ext uri="{FF2B5EF4-FFF2-40B4-BE49-F238E27FC236}">
                <a16:creationId xmlns:a16="http://schemas.microsoft.com/office/drawing/2014/main" id="{27B206EF-0BDF-4F6A-9CD7-1401E47939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4b3106af9d43e3"/>
          <a:srcRect xmlns:a="http://schemas.openxmlformats.org/drawingml/2006/main" l="0" t="33402" r="0" b="20492"/>
          <a:stretch xmlns:a="http://schemas.openxmlformats.org/drawingml/2006/main"/>
        </p:blipFill>
        <p:spPr>
          <a:xfrm xmlns:a="http://schemas.openxmlformats.org/drawingml/2006/main">
            <a:off x="5818378" y="4105275"/>
            <a:ext cx="5546344" cy="1962150"/>
          </a:xfrm>
          <a:prstGeom xmlns:a="http://schemas.openxmlformats.org/drawingml/2006/main" prst="rect">
            <a:avLst/>
          </a:prstGeom>
        </p:spPr>
      </p:pic>
      <p:sp>
        <p:nvSpPr>
          <p:cNvPr id="13" name="Caption 2">
            <a:extLst xmlns:a="http://schemas.openxmlformats.org/drawingml/2006/main">
              <a:ext uri="{FF2B5EF4-FFF2-40B4-BE49-F238E27FC236}">
                <a16:creationId xmlns:a16="http://schemas.microsoft.com/office/drawing/2014/main" id="{D0667841-5699-473C-9ADB-559D4970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200775"/>
            <a:ext cx="5943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플레이어 B의 시점에서 본 외곽선</a:t>
            </a:r>
          </a:p>
        </p:txBody>
      </p:sp>
      <p:sp>
        <p:nvSpPr>
          <p:cNvPr id="14" name="Diagram Flow 19 0">
            <a:extLst xmlns:a="http://schemas.openxmlformats.org/drawingml/2006/main">
              <a:ext uri="{FF2B5EF4-FFF2-40B4-BE49-F238E27FC236}">
                <a16:creationId xmlns:a16="http://schemas.microsoft.com/office/drawing/2014/main" id="{6CA1C174-93C7-4639-B931-C066B6C2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38430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원본 메시</a:t>
            </a:r>
          </a:p>
        </p:txBody>
      </p:sp>
      <p:sp>
        <p:nvSpPr>
          <p:cNvPr id="15" name="Diagram Flow 19 1">
            <a:extLst xmlns:a="http://schemas.openxmlformats.org/drawingml/2006/main">
              <a:ext uri="{FF2B5EF4-FFF2-40B4-BE49-F238E27FC236}">
                <a16:creationId xmlns:a16="http://schemas.microsoft.com/office/drawing/2014/main" id="{9ADF1BA6-4A54-43DB-9908-CE22D99B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8700" y="4800600"/>
            <a:ext cx="138430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외곽선용</a:t>
            </a:r>
          </a:p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깊이 정보</a:t>
            </a:r>
          </a:p>
        </p:txBody>
      </p:sp>
      <p:sp>
        <p:nvSpPr>
          <p:cNvPr id="16" name="Diagram Flow 19 2">
            <a:extLst xmlns:a="http://schemas.openxmlformats.org/drawingml/2006/main">
              <a:ext uri="{FF2B5EF4-FFF2-40B4-BE49-F238E27FC236}">
                <a16:creationId xmlns:a16="http://schemas.microsoft.com/office/drawing/2014/main" id="{A6F73514-7814-4DD2-9829-43746D1E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800" y="4800600"/>
            <a:ext cx="138430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카메라별</a:t>
            </a:r>
          </a:p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가시성 적용</a:t>
            </a:r>
          </a:p>
        </p:txBody>
      </p:sp>
      <p:sp>
        <p:nvSpPr>
          <p:cNvPr id="17" name="Diagram Arrow new 20">
            <a:extLst xmlns:a="http://schemas.openxmlformats.org/drawingml/2006/main">
              <a:ext uri="{FF2B5EF4-FFF2-40B4-BE49-F238E27FC236}">
                <a16:creationId xmlns:a16="http://schemas.microsoft.com/office/drawing/2014/main" id="{A47DF91B-E23F-4A74-9DB6-93FB4466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525" y="5124450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/>
            </a:defPPr>
            <a:lvl1pPr>
              <a:buNone/>
              <a:defRPr sz="1388"/>
            </a:lvl1pPr>
            <a:lvl2pPr>
              <a:buNone/>
              <a:defRPr sz="1388"/>
            </a:lvl2pPr>
            <a:lvl3pPr>
              <a:buNone/>
              <a:defRPr sz="1388"/>
            </a:lvl3pPr>
            <a:lvl4pPr>
              <a:buNone/>
              <a:defRPr sz="1388"/>
            </a:lvl4pPr>
            <a:lvl5pPr>
              <a:buNone/>
              <a:defRPr sz="1388"/>
            </a:lvl5pPr>
            <a:lvl6pPr>
              <a:buNone/>
              <a:defRPr sz="1388"/>
            </a:lvl6pPr>
            <a:lvl7pPr>
              <a:buNone/>
              <a:defRPr sz="1388"/>
            </a:lvl7pPr>
            <a:lvl8pPr>
              <a:buNone/>
              <a:defRPr sz="1388"/>
            </a:lvl8pPr>
            <a:lvl9pPr>
              <a:buNone/>
              <a:defRPr sz="1388"/>
            </a:lvl9pPr>
          </a:lstStyle>
          <a:p xmlns:a="http://schemas.openxmlformats.org/drawingml/2006/main">
            <a:endParaRPr/>
          </a:p>
        </p:txBody>
      </p:sp>
      <p:sp>
        <p:nvSpPr>
          <p:cNvPr id="18" name="Diagram Arrow new 21">
            <a:extLst xmlns:a="http://schemas.openxmlformats.org/drawingml/2006/main">
              <a:ext uri="{FF2B5EF4-FFF2-40B4-BE49-F238E27FC236}">
                <a16:creationId xmlns:a16="http://schemas.microsoft.com/office/drawing/2014/main" id="{318F4054-1809-4156-93A2-80BD6310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625" y="5124450"/>
            <a:ext cx="20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/>
            </a:defPPr>
            <a:lvl1pPr>
              <a:buNone/>
              <a:defRPr sz="1388"/>
            </a:lvl1pPr>
            <a:lvl2pPr>
              <a:buNone/>
              <a:defRPr sz="1388"/>
            </a:lvl2pPr>
            <a:lvl3pPr>
              <a:buNone/>
              <a:defRPr sz="1388"/>
            </a:lvl3pPr>
            <a:lvl4pPr>
              <a:buNone/>
              <a:defRPr sz="1388"/>
            </a:lvl4pPr>
            <a:lvl5pPr>
              <a:buNone/>
              <a:defRPr sz="1388"/>
            </a:lvl5pPr>
            <a:lvl6pPr>
              <a:buNone/>
              <a:defRPr sz="1388"/>
            </a:lvl6pPr>
            <a:lvl7pPr>
              <a:buNone/>
              <a:defRPr sz="1388"/>
            </a:lvl7pPr>
            <a:lvl8pPr>
              <a:buNone/>
              <a:defRPr sz="1388"/>
            </a:lvl8pPr>
            <a:lvl9pPr>
              <a:buNone/>
              <a:defRPr sz="1388"/>
            </a:lvl9pPr>
          </a:lstStyle>
          <a:p xmlns:a="http://schemas.openxmlformats.org/drawingml/2006/main">
            <a:endParaRPr/>
          </a:p>
        </p:txBody>
      </p:sp>
      <p:sp>
        <p:nvSpPr>
          <p:cNvPr id="19" name="Original preserved">
            <a:extLst xmlns:a="http://schemas.openxmlformats.org/drawingml/2006/main">
              <a:ext uri="{FF2B5EF4-FFF2-40B4-BE49-F238E27FC236}">
                <a16:creationId xmlns:a16="http://schemas.microsoft.com/office/drawing/2014/main" id="{ABDBCA33-1BFA-4C6C-B67E-654F8FAB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35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35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35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35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35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35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35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35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35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BECADA"/>
                </a:solidFill>
                <a:latin typeface="Noto Sans KR"/>
                <a:ea typeface="Noto Sans KR"/>
                <a:cs typeface="Noto Sans KR"/>
              </a:rPr>
              <a:t>원본 메시의 재질과 충돌 설정을 유지</a:t>
            </a:r>
          </a:p>
        </p:txBody>
      </p:sp>
    </p:spTree>
    <p:extLst>
      <p:ext uri="{BB962C8B-B14F-4D97-AF65-F5344CB8AC3E}">
        <p14:creationId xmlns:p14="http://schemas.microsoft.com/office/powerpoint/2010/main" val="135067055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4FC3DA-1911-4090-A77B-885FB485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6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C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4B2F189-93DD-447F-8DB0-92DE8079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rPr>
              <a:t>추가 구현 | TARGET NICKNAME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4E9690F-B444-43B0-BC2F-00CDE06C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조준 대상 검색과 닉네임 표시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4DBF313-E5DC-4919-B52B-C9859FD0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4762500" cy="2857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2530"/>
          </a:solidFill>
          <a:ln xmlns:a="http://schemas.openxmlformats.org/drawingml/2006/main" w="12700">
            <a:solidFill>
              <a:srgbClr val="34405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66700" tIns="247650" rIns="228600" bIns="17145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조준선 우선 검색과 가림 여부 검사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조준선의 대상을 우선 검색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없으면 주변 범위를 </a:t>
            </a:r>
            <a:r>
              <a:rPr sz="1575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보조 검색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Line Trace로 </a:t>
            </a:r>
            <a:r>
              <a:rPr sz="1575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가려진 후보</a:t>
            </a: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를 표시 대상에서 제외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유효한 대상의 이름과 색상을 위젯에 반영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잘못된 조준 좌표와 방향 입력을 검사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52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7DD3FC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ce8ad6325500401f"/>
              </a:rPr>
              <a:t>닉네임 대상 검색 코드 보기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C1813994-D1DE-4F8A-93F1-F9BE9156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pPr>
            <a:r>
              <a:t>21</a:t>
            </a:r>
          </a:p>
        </p:txBody>
      </p:sp>
      <p:sp>
        <p:nvSpPr>
          <p:cNvPr id="14" name="Diagram Primary search">
            <a:extLst xmlns:a="http://schemas.openxmlformats.org/drawingml/2006/main">
              <a:ext uri="{FF2B5EF4-FFF2-40B4-BE49-F238E27FC236}">
                <a16:creationId xmlns:a16="http://schemas.microsoft.com/office/drawing/2014/main" id="{C62D2896-984D-4BFC-B494-C942BA00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20955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조준선의</a:t>
            </a:r>
          </a:p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대상 </a:t>
            </a: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우선 검색</a:t>
            </a:r>
          </a:p>
        </p:txBody>
      </p:sp>
      <p:sp>
        <p:nvSpPr>
          <p:cNvPr id="15" name="Diagram Fallback search">
            <a:extLst xmlns:a="http://schemas.openxmlformats.org/drawingml/2006/main">
              <a:ext uri="{FF2B5EF4-FFF2-40B4-BE49-F238E27FC236}">
                <a16:creationId xmlns:a16="http://schemas.microsoft.com/office/drawing/2014/main" id="{B23A92EF-99B5-40B8-BF13-4FC1F8F2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29150"/>
            <a:ext cx="20955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없으면 주변</a:t>
            </a:r>
          </a:p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범위를 </a:t>
            </a: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보조 검색</a:t>
            </a:r>
          </a:p>
        </p:txBody>
      </p:sp>
      <p:sp>
        <p:nvSpPr>
          <p:cNvPr id="16" name="Diagram Occlusion">
            <a:extLst xmlns:a="http://schemas.openxmlformats.org/drawingml/2006/main">
              <a:ext uri="{FF2B5EF4-FFF2-40B4-BE49-F238E27FC236}">
                <a16:creationId xmlns:a16="http://schemas.microsoft.com/office/drawing/2014/main" id="{1FF355F0-59BE-406B-8E7D-1CDB8E19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600700"/>
            <a:ext cx="20955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벽에 가려진</a:t>
            </a:r>
          </a:p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대상 제외</a:t>
            </a:r>
          </a:p>
        </p:txBody>
      </p:sp>
      <p:sp>
        <p:nvSpPr>
          <p:cNvPr id="17" name="Diagram Nickname">
            <a:extLst xmlns:a="http://schemas.openxmlformats.org/drawingml/2006/main">
              <a:ext uri="{FF2B5EF4-FFF2-40B4-BE49-F238E27FC236}">
                <a16:creationId xmlns:a16="http://schemas.microsoft.com/office/drawing/2014/main" id="{60A7597E-DDB6-40A4-A7E6-959E8F2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20955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유효한 대상의</a:t>
            </a:r>
          </a:p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닉네임 표시</a:t>
            </a:r>
          </a:p>
        </p:txBody>
      </p:sp>
      <p:sp>
        <p:nvSpPr>
          <p:cNvPr id="18" name="Diagram Arrow 20">
            <a:extLst xmlns:a="http://schemas.openxmlformats.org/drawingml/2006/main">
              <a:ext uri="{FF2B5EF4-FFF2-40B4-BE49-F238E27FC236}">
                <a16:creationId xmlns:a16="http://schemas.microsoft.com/office/drawing/2014/main" id="{607A1DE0-27F7-4169-9EE4-782CDFBF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867275"/>
            <a:ext cx="4762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/>
            </a:defPPr>
            <a:lvl1pPr>
              <a:buNone/>
              <a:defRPr sz="1388"/>
            </a:lvl1pPr>
            <a:lvl2pPr>
              <a:buNone/>
              <a:defRPr sz="1388"/>
            </a:lvl2pPr>
            <a:lvl3pPr>
              <a:buNone/>
              <a:defRPr sz="1388"/>
            </a:lvl3pPr>
            <a:lvl4pPr>
              <a:buNone/>
              <a:defRPr sz="1388"/>
            </a:lvl4pPr>
            <a:lvl5pPr>
              <a:buNone/>
              <a:defRPr sz="1388"/>
            </a:lvl5pPr>
            <a:lvl6pPr>
              <a:buNone/>
              <a:defRPr sz="1388"/>
            </a:lvl6pPr>
            <a:lvl7pPr>
              <a:buNone/>
              <a:defRPr sz="1388"/>
            </a:lvl7pPr>
            <a:lvl8pPr>
              <a:buNone/>
              <a:defRPr sz="1388"/>
            </a:lvl8pPr>
            <a:lvl9pPr>
              <a:buNone/>
              <a:defRPr sz="1388"/>
            </a:lvl9pPr>
          </a:lstStyle>
          <a:p xmlns:a="http://schemas.openxmlformats.org/drawingml/2006/main">
            <a:endParaRPr/>
          </a:p>
        </p:txBody>
      </p:sp>
      <p:sp>
        <p:nvSpPr>
          <p:cNvPr id="19" name="Diagram Arrow 21">
            <a:extLst xmlns:a="http://schemas.openxmlformats.org/drawingml/2006/main">
              <a:ext uri="{FF2B5EF4-FFF2-40B4-BE49-F238E27FC236}">
                <a16:creationId xmlns:a16="http://schemas.microsoft.com/office/drawing/2014/main" id="{9CC277FC-D1DF-4E91-B31E-817D3385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67325"/>
            <a:ext cx="11430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/>
            </a:defPPr>
            <a:lvl1pPr>
              <a:buNone/>
              <a:defRPr sz="1388"/>
            </a:lvl1pPr>
            <a:lvl2pPr>
              <a:buNone/>
              <a:defRPr sz="1388"/>
            </a:lvl2pPr>
            <a:lvl3pPr>
              <a:buNone/>
              <a:defRPr sz="1388"/>
            </a:lvl3pPr>
            <a:lvl4pPr>
              <a:buNone/>
              <a:defRPr sz="1388"/>
            </a:lvl4pPr>
            <a:lvl5pPr>
              <a:buNone/>
              <a:defRPr sz="1388"/>
            </a:lvl5pPr>
            <a:lvl6pPr>
              <a:buNone/>
              <a:defRPr sz="1388"/>
            </a:lvl6pPr>
            <a:lvl7pPr>
              <a:buNone/>
              <a:defRPr sz="1388"/>
            </a:lvl7pPr>
            <a:lvl8pPr>
              <a:buNone/>
              <a:defRPr sz="1388"/>
            </a:lvl8pPr>
            <a:lvl9pPr>
              <a:buNone/>
              <a:defRPr sz="1388"/>
            </a:lvl9pPr>
          </a:lstStyle>
          <a:p xmlns:a="http://schemas.openxmlformats.org/drawingml/2006/main">
            <a:endParaRPr/>
          </a:p>
        </p:txBody>
      </p:sp>
      <p:sp>
        <p:nvSpPr>
          <p:cNvPr id="20" name="Diagram Arrow 22">
            <a:extLst xmlns:a="http://schemas.openxmlformats.org/drawingml/2006/main">
              <a:ext uri="{FF2B5EF4-FFF2-40B4-BE49-F238E27FC236}">
                <a16:creationId xmlns:a16="http://schemas.microsoft.com/office/drawing/2014/main" id="{F5B03EFF-9074-457C-A98C-60D9C53E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838825"/>
            <a:ext cx="476250" cy="1143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/>
            </a:defPPr>
            <a:lvl1pPr>
              <a:buNone/>
              <a:defRPr sz="1388"/>
            </a:lvl1pPr>
            <a:lvl2pPr>
              <a:buNone/>
              <a:defRPr sz="1388"/>
            </a:lvl2pPr>
            <a:lvl3pPr>
              <a:buNone/>
              <a:defRPr sz="1388"/>
            </a:lvl3pPr>
            <a:lvl4pPr>
              <a:buNone/>
              <a:defRPr sz="1388"/>
            </a:lvl4pPr>
            <a:lvl5pPr>
              <a:buNone/>
              <a:defRPr sz="1388"/>
            </a:lvl5pPr>
            <a:lvl6pPr>
              <a:buNone/>
              <a:defRPr sz="1388"/>
            </a:lvl6pPr>
            <a:lvl7pPr>
              <a:buNone/>
              <a:defRPr sz="1388"/>
            </a:lvl7pPr>
            <a:lvl8pPr>
              <a:buNone/>
              <a:defRPr sz="1388"/>
            </a:lvl8pPr>
            <a:lvl9pPr>
              <a:buNone/>
              <a:defRPr sz="1388"/>
            </a:lvl9pPr>
          </a:lstStyle>
          <a:p xmlns:a="http://schemas.openxmlformats.org/drawingml/2006/main">
            <a:endParaRPr/>
          </a:p>
        </p:txBody>
      </p:sp>
      <p:sp>
        <p:nvSpPr>
          <p:cNvPr id="21" name="Media 1">
            <a:extLst xmlns:a="http://schemas.openxmlformats.org/drawingml/2006/main">
              <a:ext uri="{FF2B5EF4-FFF2-40B4-BE49-F238E27FC236}">
                <a16:creationId xmlns:a16="http://schemas.microsoft.com/office/drawing/2014/main" id="{F5D9CC34-B6E8-4DC5-9C99-00FC3AAD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09700"/>
            <a:ext cx="5943600" cy="2095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11151D"/>
          </a:solidFill>
          <a:ln xmlns:a="http://schemas.openxmlformats.org/drawingml/2006/main" w="12383">
            <a:solidFill>
              <a:srgbClr val="4D78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5" name="벽X닉네임">
            <a:extLst xmlns:a="http://schemas.openxmlformats.org/drawingml/2006/main">
              <a:ext uri="{FF2B5EF4-FFF2-40B4-BE49-F238E27FC236}">
                <a16:creationId xmlns:a16="http://schemas.microsoft.com/office/drawing/2014/main" id="{5E68F992-5D73-439B-A9BD-A9DD35630B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95f685653842ab"/>
          <a:srcRect xmlns:a="http://schemas.openxmlformats.org/drawingml/2006/main" l="0" t="31789" r="0" b="20842"/>
          <a:stretch xmlns:a="http://schemas.openxmlformats.org/drawingml/2006/main"/>
        </p:blipFill>
        <p:spPr>
          <a:xfrm xmlns:a="http://schemas.openxmlformats.org/drawingml/2006/main">
            <a:off x="5800937" y="1476375"/>
            <a:ext cx="5581227" cy="1962150"/>
          </a:xfrm>
          <a:prstGeom xmlns:a="http://schemas.openxmlformats.org/drawingml/2006/main" prst="rect">
            <a:avLst/>
          </a:prstGeom>
        </p:spPr>
      </p:pic>
      <p:sp>
        <p:nvSpPr>
          <p:cNvPr id="22" name="Caption 1">
            <a:extLst xmlns:a="http://schemas.openxmlformats.org/drawingml/2006/main">
              <a:ext uri="{FF2B5EF4-FFF2-40B4-BE49-F238E27FC236}">
                <a16:creationId xmlns:a16="http://schemas.microsoft.com/office/drawing/2014/main" id="{1A595369-F658-4AC6-85D3-60CB5E76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71875"/>
            <a:ext cx="5943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조준 대상이 보일 때의 닉네임 표시</a:t>
            </a:r>
          </a:p>
        </p:txBody>
      </p:sp>
      <p:sp>
        <p:nvSpPr>
          <p:cNvPr id="23" name="Media 2">
            <a:extLst xmlns:a="http://schemas.openxmlformats.org/drawingml/2006/main">
              <a:ext uri="{FF2B5EF4-FFF2-40B4-BE49-F238E27FC236}">
                <a16:creationId xmlns:a16="http://schemas.microsoft.com/office/drawing/2014/main" id="{4D341740-4E3B-4B19-8FCD-3A3CD2A1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38600"/>
            <a:ext cx="5943600" cy="2095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11151D"/>
          </a:solidFill>
          <a:ln xmlns:a="http://schemas.openxmlformats.org/drawingml/2006/main" w="12383">
            <a:solidFill>
              <a:srgbClr val="4D78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6" name="벽O닉네임">
            <a:extLst xmlns:a="http://schemas.openxmlformats.org/drawingml/2006/main">
              <a:ext uri="{FF2B5EF4-FFF2-40B4-BE49-F238E27FC236}">
                <a16:creationId xmlns:a16="http://schemas.microsoft.com/office/drawing/2014/main" id="{3BA7CD8A-4777-4A7E-ABB0-F7E4A498C2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be774648444db4"/>
          <a:srcRect xmlns:a="http://schemas.openxmlformats.org/drawingml/2006/main" l="0" t="31590" r="0" b="21339"/>
          <a:stretch xmlns:a="http://schemas.openxmlformats.org/drawingml/2006/main"/>
        </p:blipFill>
        <p:spPr>
          <a:xfrm xmlns:a="http://schemas.openxmlformats.org/drawingml/2006/main">
            <a:off x="5809657" y="4105275"/>
            <a:ext cx="5563785" cy="1962150"/>
          </a:xfrm>
          <a:prstGeom xmlns:a="http://schemas.openxmlformats.org/drawingml/2006/main" prst="rect">
            <a:avLst/>
          </a:prstGeom>
        </p:spPr>
      </p:pic>
      <p:sp>
        <p:nvSpPr>
          <p:cNvPr id="24" name="Caption 2">
            <a:extLst xmlns:a="http://schemas.openxmlformats.org/drawingml/2006/main">
              <a:ext uri="{FF2B5EF4-FFF2-40B4-BE49-F238E27FC236}">
                <a16:creationId xmlns:a16="http://schemas.microsoft.com/office/drawing/2014/main" id="{C7F0EF91-A8B5-4FAD-AFE3-09B14A2C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200775"/>
            <a:ext cx="5943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대상이 벽에 가려질 때의 표시 제외</a:t>
            </a:r>
          </a:p>
        </p:txBody>
      </p:sp>
    </p:spTree>
    <p:extLst>
      <p:ext uri="{BB962C8B-B14F-4D97-AF65-F5344CB8AC3E}">
        <p14:creationId xmlns:p14="http://schemas.microsoft.com/office/powerpoint/2010/main" val="135067055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4FC3DA-1911-4090-A77B-885FB485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6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C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4B2F189-93DD-447F-8DB0-92DE8079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rPr>
              <a:t>추가 구현 | CHARACTER APPEARANCE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4E9690F-B444-43B0-BC2F-00CDE06C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AI 캐릭터 외형 적용과 동기화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C1813994-D1DE-4F8A-93F1-F9BE9156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pPr>
            <a:r>
              <a:t>22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ACD2FB-2DC9-4B3F-BD20-3A72DD3B43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53d88cbfe64192"/>
          <a:srcRect xmlns:a="http://schemas.openxmlformats.org/drawingml/2006/main" l="0" t="37856" r="43721" b="24173"/>
          <a:stretch xmlns:a="http://schemas.openxmlformats.org/drawingml/2006/main"/>
        </p:blipFill>
        <p:spPr>
          <a:xfrm xmlns:a="http://schemas.openxmlformats.org/drawingml/2006/main">
            <a:off x="609600" y="3200400"/>
            <a:ext cx="4267200" cy="1315720"/>
          </a:xfrm>
          <a:prstGeom xmlns:a="http://schemas.openxmlformats.org/drawingml/2006/main" prst="rect">
            <a:avLst/>
          </a:prstGeom>
        </p:spPr>
      </p:pic>
      <p:sp>
        <p:nvSpPr>
          <p:cNvPr id="15" name="Appearance purpose">
            <a:extLst xmlns:a="http://schemas.openxmlformats.org/drawingml/2006/main">
              <a:ext uri="{FF2B5EF4-FFF2-40B4-BE49-F238E27FC236}">
                <a16:creationId xmlns:a16="http://schemas.microsoft.com/office/drawing/2014/main" id="{7D6E896A-5CD1-41EA-BE21-8DE5C9D6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AI의 외형을 DataTable로 관리하고 외형 ID를 복제해 동기화</a:t>
            </a:r>
          </a:p>
        </p:txBody>
      </p:sp>
      <p:sp>
        <p:nvSpPr>
          <p:cNvPr id="16" name="Appearance data heading">
            <a:extLst xmlns:a="http://schemas.openxmlformats.org/drawingml/2006/main">
              <a:ext uri="{FF2B5EF4-FFF2-40B4-BE49-F238E27FC236}">
                <a16:creationId xmlns:a16="http://schemas.microsoft.com/office/drawing/2014/main" id="{8E59FADD-4616-452F-B835-1C3DB390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외형 데이터 구성</a:t>
            </a:r>
          </a:p>
        </p:txBody>
      </p:sp>
      <p:sp>
        <p:nvSpPr>
          <p:cNvPr id="17" name="Appearance data summary">
            <a:extLst xmlns:a="http://schemas.openxmlformats.org/drawingml/2006/main">
              <a:ext uri="{FF2B5EF4-FFF2-40B4-BE49-F238E27FC236}">
                <a16:creationId xmlns:a16="http://schemas.microsoft.com/office/drawing/2014/main" id="{1A7CE323-7B64-4ECB-8132-1CD329F1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267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일반 메시 / 사망 메시 / 분리 파츠를</a:t>
            </a:r>
          </a:p>
          <a:p xmlns:a="http://schemas.openxmlformats.org/drawingml/2006/main">
            <a: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외형 ID별로 묶어 관리</a:t>
            </a:r>
          </a:p>
        </p:txBody>
      </p:sp>
      <p:sp>
        <p:nvSpPr>
          <p:cNvPr id="18" name="Appearance table caption">
            <a:extLst xmlns:a="http://schemas.openxmlformats.org/drawingml/2006/main">
              <a:ext uri="{FF2B5EF4-FFF2-40B4-BE49-F238E27FC236}">
                <a16:creationId xmlns:a16="http://schemas.microsoft.com/office/drawing/2014/main" id="{5DE2278D-BBA9-4BDE-85DA-24AA2C46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26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AI에 적용 중인 외형 데이터 설정</a:t>
            </a:r>
          </a:p>
        </p:txBody>
      </p:sp>
      <p:sp>
        <p:nvSpPr>
          <p:cNvPr id="19" name="Appearance death parts application">
            <a:extLst xmlns:a="http://schemas.openxmlformats.org/drawingml/2006/main">
              <a:ext uri="{FF2B5EF4-FFF2-40B4-BE49-F238E27FC236}">
                <a16:creationId xmlns:a16="http://schemas.microsoft.com/office/drawing/2014/main" id="{7D65CD50-4D9F-4C2E-8C52-A17967E6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사망 파츠는 컴포넌트 이름에 맞춰</a:t>
            </a:r>
          </a:p>
          <a:p xmlns:a="http://schemas.openxmlformats.org/drawingml/2006/main">
            <a:pPr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t>각 메시를 적용</a:t>
            </a:r>
          </a:p>
        </p:txBody>
      </p:sp>
      <p:sp>
        <p:nvSpPr>
          <p:cNvPr id="20" name="Appearance core code panel">
            <a:extLst xmlns:a="http://schemas.openxmlformats.org/drawingml/2006/main">
              <a:ext uri="{FF2B5EF4-FFF2-40B4-BE49-F238E27FC236}">
                <a16:creationId xmlns:a16="http://schemas.microsoft.com/office/drawing/2014/main" id="{6429DAFB-0E16-490A-860E-8388E2F2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43100"/>
            <a:ext cx="6324600" cy="3676650"/>
          </a:xfrm>
          <a:prstGeom xmlns:a="http://schemas.openxmlformats.org/drawingml/2006/main" prst="roundRect">
            <a:avLst>
              <a:gd name="adj" fmla="val 4145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9525">
            <a:solidFill>
              <a:srgbClr val="4D7EA8"/>
            </a:solidFill>
          </a:ln>
        </p:spPr>
      </p:sp>
      <p:sp>
        <p:nvSpPr>
          <p:cNvPr id="21" name="Appearance core code heading">
            <a:extLst xmlns:a="http://schemas.openxmlformats.org/drawingml/2006/main">
              <a:ext uri="{FF2B5EF4-FFF2-40B4-BE49-F238E27FC236}">
                <a16:creationId xmlns:a16="http://schemas.microsoft.com/office/drawing/2014/main" id="{BFEB3A24-E8B2-45C1-841B-F765F703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95500"/>
            <a:ext cx="586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핵심 함수: 데이터 조회와 메시 적용</a:t>
            </a:r>
          </a:p>
        </p:txBody>
      </p:sp>
      <p:sp>
        <p:nvSpPr>
          <p:cNvPr id="22" name="Appearance actual core function">
            <a:extLst xmlns:a="http://schemas.openxmlformats.org/drawingml/2006/main">
              <a:ext uri="{FF2B5EF4-FFF2-40B4-BE49-F238E27FC236}">
                <a16:creationId xmlns:a16="http://schemas.microsoft.com/office/drawing/2014/main" id="{C87A44D1-A58B-49EC-AC7D-8FCA8839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76500"/>
            <a:ext cx="58674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defPPr>
            <a:lvl1pPr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lvl1pPr>
            <a:lvl2pPr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lvl2pPr>
            <a:lvl3pPr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lvl3pPr>
            <a:lvl4pPr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lvl4pPr>
            <a:lvl5pPr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lvl5pPr>
            <a:lvl6pPr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lvl6pPr>
            <a:lvl7pPr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lvl7pPr>
            <a:lvl8pPr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lvl8pPr>
            <a:lvl9pPr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bool UCharacterAppearanceComponent::</a:t>
            </a:r>
          </a:p>
          <a:p xmlns:a="http://schemas.openxmlformats.org/drawingml/2006/main">
            <a:pPr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ApplyModelingIdInternal(const FString&amp; modelingId)</a:t>
            </a:r>
          </a:p>
          <a:p xmlns:a="http://schemas.openxmlformats.org/drawingml/2006/main">
            <a:pPr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{</a:t>
            </a:r>
          </a:p>
          <a:p xmlns:a="http://schemas.openxmlformats.org/drawingml/2006/main">
            <a:pPr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  FCharacterModelingRow modelingRow;</a:t>
            </a:r>
          </a:p>
          <a:p xmlns:a="http://schemas.openxmlformats.org/drawingml/2006/main">
            <a:pPr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  if (!</a:t>
            </a:r>
            <a:r>
              <a:rPr b="1">
                <a:solidFill>
                  <a:srgbClr val="64E0D7"/>
                </a:solidFill>
              </a:rPr>
              <a:t>FindModelingRow</a:t>
            </a:r>
            <a:r>
              <a:t>(modelingId, modelingRow))</a:t>
            </a:r>
          </a:p>
          <a:p xmlns:a="http://schemas.openxmlformats.org/drawingml/2006/main">
            <a:pPr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  {</a:t>
            </a:r>
          </a:p>
          <a:p xmlns:a="http://schemas.openxmlformats.org/drawingml/2006/main">
            <a:pPr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    return false;</a:t>
            </a:r>
          </a:p>
          <a:p xmlns:a="http://schemas.openxmlformats.org/drawingml/2006/main">
            <a:pPr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  }</a:t>
            </a:r>
          </a:p>
          <a:p xmlns:a="http://schemas.openxmlformats.org/drawingml/2006/main">
            <a:pPr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  </a:t>
            </a:r>
            <a:r>
              <a:rPr b="1">
                <a:solidFill>
                  <a:srgbClr val="64E0D7"/>
                </a:solidFill>
              </a:rPr>
              <a:t>ApplyLiveMesh</a:t>
            </a:r>
            <a:r>
              <a:t>(modelingRow);</a:t>
            </a:r>
          </a:p>
          <a:p xmlns:a="http://schemas.openxmlformats.org/drawingml/2006/main">
            <a:pPr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  </a:t>
            </a:r>
            <a:r>
              <a:rPr b="1">
                <a:solidFill>
                  <a:srgbClr val="64E0D7"/>
                </a:solidFill>
              </a:rPr>
              <a:t>ApplyDeathMesh</a:t>
            </a:r>
            <a:r>
              <a:t>(modelingRow);</a:t>
            </a:r>
          </a:p>
          <a:p xmlns:a="http://schemas.openxmlformats.org/drawingml/2006/main">
            <a:pPr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  return true;</a:t>
            </a:r>
          </a:p>
          <a:p xmlns:a="http://schemas.openxmlformats.org/drawingml/2006/main">
            <a:pPr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t>}</a:t>
            </a:r>
          </a:p>
        </p:txBody>
      </p:sp>
      <p:sp>
        <p:nvSpPr>
          <p:cNvPr id="23" name="Appearance code link">
            <a:extLst xmlns:a="http://schemas.openxmlformats.org/drawingml/2006/main">
              <a:ext uri="{FF2B5EF4-FFF2-40B4-BE49-F238E27FC236}">
                <a16:creationId xmlns:a16="http://schemas.microsoft.com/office/drawing/2014/main" id="{1270A7A8-742F-482B-8A9C-376AF49D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334000"/>
            <a:ext cx="586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88" b="0">
                <a:solidFill>
                  <a:srgbClr val="64E0D7"/>
                </a:solidFill>
                <a:latin typeface="Noto Sans KR"/>
                <a:ea typeface="Noto Sans KR"/>
                <a:cs typeface="Noto Sans KR"/>
              </a:defRPr>
            </a:pPr>
            <a:r>
              <a:rPr u="sng">
                <a:solidFill>
                  <a:srgbClr val="7DD3FC"/>
                </a:solidFill>
                <a:hlinkClick xmlns:r="http://schemas.openxmlformats.org/officeDocument/2006/relationships" r:id="R757f8a4e0e4c4563"/>
              </a:rPr>
              <a:t>외형 적용 / 동기화 전체 코드 보기</a:t>
            </a:r>
          </a:p>
        </p:txBody>
      </p:sp>
      <p:sp>
        <p:nvSpPr>
          <p:cNvPr id="24" name="Appearance server id">
            <a:extLst xmlns:a="http://schemas.openxmlformats.org/drawingml/2006/main">
              <a:ext uri="{FF2B5EF4-FFF2-40B4-BE49-F238E27FC236}">
                <a16:creationId xmlns:a16="http://schemas.microsoft.com/office/drawing/2014/main" id="{77D59FCC-B01F-4461-B7B1-268CF44E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33528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3335">
            <a:solidFill>
              <a:srgbClr val="4DA3FF"/>
            </a:solidFill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서버에서 AI 외형 ID 설정</a:t>
            </a:r>
          </a:p>
        </p:txBody>
      </p:sp>
      <p:sp>
        <p:nvSpPr>
          <p:cNvPr id="25" name="Appearance replicate id">
            <a:extLst xmlns:a="http://schemas.openxmlformats.org/drawingml/2006/main">
              <a:ext uri="{FF2B5EF4-FFF2-40B4-BE49-F238E27FC236}">
                <a16:creationId xmlns:a16="http://schemas.microsoft.com/office/drawing/2014/main" id="{6EF747C6-0676-476A-9222-7265963E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753100"/>
            <a:ext cx="33528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3335">
            <a:solidFill>
              <a:srgbClr val="4DA3FF"/>
            </a:solidFill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외형 ID 복제</a:t>
            </a:r>
          </a:p>
        </p:txBody>
      </p:sp>
      <p:sp>
        <p:nvSpPr>
          <p:cNvPr id="26" name="Appearance client apply">
            <a:extLst xmlns:a="http://schemas.openxmlformats.org/drawingml/2006/main">
              <a:ext uri="{FF2B5EF4-FFF2-40B4-BE49-F238E27FC236}">
                <a16:creationId xmlns:a16="http://schemas.microsoft.com/office/drawing/2014/main" id="{EFD41439-8A12-4796-A90E-87C1F060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753100"/>
            <a:ext cx="33528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3335">
            <a:solidFill>
              <a:srgbClr val="4DA3FF"/>
            </a:solidFill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>
            <a:defPPr algn="ctr"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425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t>클라이언트에서 같은 외형 적용</a:t>
            </a:r>
          </a:p>
        </p:txBody>
      </p:sp>
      <p:sp>
        <p:nvSpPr>
          <p:cNvPr id="27" name="Appearance flow arrow 428">
            <a:extLst xmlns:a="http://schemas.openxmlformats.org/drawingml/2006/main">
              <a:ext uri="{FF2B5EF4-FFF2-40B4-BE49-F238E27FC236}">
                <a16:creationId xmlns:a16="http://schemas.microsoft.com/office/drawing/2014/main" id="{0E3B1478-0A73-4F46-8D26-F9089257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953125"/>
            <a:ext cx="2286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</p:sp>
      <p:sp>
        <p:nvSpPr>
          <p:cNvPr id="28" name="Appearance flow arrow 828">
            <a:extLst xmlns:a="http://schemas.openxmlformats.org/drawingml/2006/main">
              <a:ext uri="{FF2B5EF4-FFF2-40B4-BE49-F238E27FC236}">
                <a16:creationId xmlns:a16="http://schemas.microsoft.com/office/drawing/2014/main" id="{6E90888E-3B80-4147-874C-A4306512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953125"/>
            <a:ext cx="2286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5067055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4FC3DA-1911-4090-A77B-885FB485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6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C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4B2F189-93DD-447F-8DB0-92DE8079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DA3FF"/>
                </a:solidFill>
                <a:latin typeface="Noto Sans KR"/>
                <a:ea typeface="Noto Sans KR"/>
                <a:cs typeface="Noto Sans KR"/>
              </a:rPr>
              <a:t>추가 구현 | AUDIO SYSTEM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4E9690F-B444-43B0-BC2F-00CDE06C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게임 상태에 따른 BGM 관리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4DBF313-E5DC-4919-B52B-C9859FD0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4762500" cy="2724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2530"/>
          </a:solidFill>
          <a:ln xmlns:a="http://schemas.openxmlformats.org/drawingml/2006/main" w="12700">
            <a:solidFill>
              <a:srgbClr val="34405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66700" tIns="247650" rIns="228600" bIns="17145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게임 상태별 곡 선택과 비동기 로드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메뉴 / 로비 / 플레이 / 결과 화면별 BGM 선택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비동기 로드와 Fade로 음악 전환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4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완료된 </a:t>
            </a:r>
            <a:r>
              <a:rPr sz="1575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요청 ID</a:t>
            </a: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가 현재 ID와 다르면 결과 무시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같은 곡과 반복 설정이면 </a:t>
            </a:r>
            <a:r>
              <a:rPr sz="1575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기존 재생 유지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맵 이동 시 종료와 재생 시점을 관리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C1813994-D1DE-4F8A-93F1-F9BE9156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pPr>
            <a:r>
              <a:t>23</a:t>
            </a:r>
          </a:p>
        </p:txBody>
      </p:sp>
      <p:sp>
        <p:nvSpPr>
          <p:cNvPr id="14" name="Diagram Load complete">
            <a:extLst xmlns:a="http://schemas.openxmlformats.org/drawingml/2006/main">
              <a:ext uri="{FF2B5EF4-FFF2-40B4-BE49-F238E27FC236}">
                <a16:creationId xmlns:a16="http://schemas.microsoft.com/office/drawing/2014/main" id="{6D8FB866-5D01-4A33-A89C-D5092CF8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1430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음악 로드</a:t>
            </a:r>
          </a:p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완료</a:t>
            </a:r>
          </a:p>
        </p:txBody>
      </p:sp>
      <p:sp>
        <p:nvSpPr>
          <p:cNvPr id="15" name="Diagram Request check">
            <a:extLst xmlns:a="http://schemas.openxmlformats.org/drawingml/2006/main">
              <a:ext uri="{FF2B5EF4-FFF2-40B4-BE49-F238E27FC236}">
                <a16:creationId xmlns:a16="http://schemas.microsoft.com/office/drawing/2014/main" id="{E9889F75-043C-47DA-869F-22E116D8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43400"/>
            <a:ext cx="1428750" cy="876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최신</a:t>
            </a:r>
          </a:p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요청?</a:t>
            </a:r>
          </a:p>
        </p:txBody>
      </p:sp>
      <p:sp>
        <p:nvSpPr>
          <p:cNvPr id="16" name="Diagram Play current">
            <a:extLst xmlns:a="http://schemas.openxmlformats.org/drawingml/2006/main">
              <a:ext uri="{FF2B5EF4-FFF2-40B4-BE49-F238E27FC236}">
                <a16:creationId xmlns:a16="http://schemas.microsoft.com/office/drawing/2014/main" id="{51905D8C-8B01-4C3F-A3F6-43FFA475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95800"/>
            <a:ext cx="14287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현재 곡</a:t>
            </a:r>
          </a:p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88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재생</a:t>
            </a:r>
          </a:p>
        </p:txBody>
      </p:sp>
      <p:sp>
        <p:nvSpPr>
          <p:cNvPr id="17" name="Diagram Ignore old">
            <a:extLst xmlns:a="http://schemas.openxmlformats.org/drawingml/2006/main">
              <a:ext uri="{FF2B5EF4-FFF2-40B4-BE49-F238E27FC236}">
                <a16:creationId xmlns:a16="http://schemas.microsoft.com/office/drawing/2014/main" id="{4D05BDA9-C382-4F91-9140-3599BE9B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676900"/>
            <a:ext cx="20955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2383">
            <a:solidFill>
              <a:srgbClr val="4DA3FF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3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이전 요청은 무시</a:t>
            </a:r>
          </a:p>
        </p:txBody>
      </p:sp>
      <p:sp>
        <p:nvSpPr>
          <p:cNvPr id="18" name="Diagram Arrow 25">
            <a:extLst xmlns:a="http://schemas.openxmlformats.org/drawingml/2006/main">
              <a:ext uri="{FF2B5EF4-FFF2-40B4-BE49-F238E27FC236}">
                <a16:creationId xmlns:a16="http://schemas.microsoft.com/office/drawing/2014/main" id="{8F32D5DE-EE38-4395-8F00-08940780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724400"/>
            <a:ext cx="2667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/>
            </a:defPPr>
            <a:lvl1pPr>
              <a:buNone/>
              <a:defRPr sz="1388"/>
            </a:lvl1pPr>
            <a:lvl2pPr>
              <a:buNone/>
              <a:defRPr sz="1388"/>
            </a:lvl2pPr>
            <a:lvl3pPr>
              <a:buNone/>
              <a:defRPr sz="1388"/>
            </a:lvl3pPr>
            <a:lvl4pPr>
              <a:buNone/>
              <a:defRPr sz="1388"/>
            </a:lvl4pPr>
            <a:lvl5pPr>
              <a:buNone/>
              <a:defRPr sz="1388"/>
            </a:lvl5pPr>
            <a:lvl6pPr>
              <a:buNone/>
              <a:defRPr sz="1388"/>
            </a:lvl6pPr>
            <a:lvl7pPr>
              <a:buNone/>
              <a:defRPr sz="1388"/>
            </a:lvl7pPr>
            <a:lvl8pPr>
              <a:buNone/>
              <a:defRPr sz="1388"/>
            </a:lvl8pPr>
            <a:lvl9pPr>
              <a:buNone/>
              <a:defRPr sz="1388"/>
            </a:lvl9pPr>
          </a:lstStyle>
          <a:p xmlns:a="http://schemas.openxmlformats.org/drawingml/2006/main">
            <a:endParaRPr/>
          </a:p>
        </p:txBody>
      </p:sp>
      <p:sp>
        <p:nvSpPr>
          <p:cNvPr id="19" name="Diagram Arrow 26">
            <a:extLst xmlns:a="http://schemas.openxmlformats.org/drawingml/2006/main">
              <a:ext uri="{FF2B5EF4-FFF2-40B4-BE49-F238E27FC236}">
                <a16:creationId xmlns:a16="http://schemas.microsoft.com/office/drawing/2014/main" id="{F527390D-1BB8-4DD1-9513-A926BBDA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724400"/>
            <a:ext cx="3048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/>
            </a:defPPr>
            <a:lvl1pPr>
              <a:buNone/>
              <a:defRPr sz="1388"/>
            </a:lvl1pPr>
            <a:lvl2pPr>
              <a:buNone/>
              <a:defRPr sz="1388"/>
            </a:lvl2pPr>
            <a:lvl3pPr>
              <a:buNone/>
              <a:defRPr sz="1388"/>
            </a:lvl3pPr>
            <a:lvl4pPr>
              <a:buNone/>
              <a:defRPr sz="1388"/>
            </a:lvl4pPr>
            <a:lvl5pPr>
              <a:buNone/>
              <a:defRPr sz="1388"/>
            </a:lvl5pPr>
            <a:lvl6pPr>
              <a:buNone/>
              <a:defRPr sz="1388"/>
            </a:lvl6pPr>
            <a:lvl7pPr>
              <a:buNone/>
              <a:defRPr sz="1388"/>
            </a:lvl7pPr>
            <a:lvl8pPr>
              <a:buNone/>
              <a:defRPr sz="1388"/>
            </a:lvl8pPr>
            <a:lvl9pPr>
              <a:buNone/>
              <a:defRPr sz="1388"/>
            </a:lvl9pPr>
          </a:lstStyle>
          <a:p xmlns:a="http://schemas.openxmlformats.org/drawingml/2006/main">
            <a:endParaRPr/>
          </a:p>
        </p:txBody>
      </p:sp>
      <p:sp>
        <p:nvSpPr>
          <p:cNvPr id="20" name="Diagram Arrow 27">
            <a:extLst xmlns:a="http://schemas.openxmlformats.org/drawingml/2006/main">
              <a:ext uri="{FF2B5EF4-FFF2-40B4-BE49-F238E27FC236}">
                <a16:creationId xmlns:a16="http://schemas.microsoft.com/office/drawing/2014/main" id="{687F23D0-62A0-44C4-897D-0BFB33F4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267325"/>
            <a:ext cx="19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/>
            </a:defPPr>
            <a:lvl1pPr>
              <a:buNone/>
              <a:defRPr sz="1388"/>
            </a:lvl1pPr>
            <a:lvl2pPr>
              <a:buNone/>
              <a:defRPr sz="1388"/>
            </a:lvl2pPr>
            <a:lvl3pPr>
              <a:buNone/>
              <a:defRPr sz="1388"/>
            </a:lvl3pPr>
            <a:lvl4pPr>
              <a:buNone/>
              <a:defRPr sz="1388"/>
            </a:lvl4pPr>
            <a:lvl5pPr>
              <a:buNone/>
              <a:defRPr sz="1388"/>
            </a:lvl5pPr>
            <a:lvl6pPr>
              <a:buNone/>
              <a:defRPr sz="1388"/>
            </a:lvl6pPr>
            <a:lvl7pPr>
              <a:buNone/>
              <a:defRPr sz="1388"/>
            </a:lvl7pPr>
            <a:lvl8pPr>
              <a:buNone/>
              <a:defRPr sz="1388"/>
            </a:lvl8pPr>
            <a:lvl9pPr>
              <a:buNone/>
              <a:defRPr sz="1388"/>
            </a:lvl9pPr>
          </a:lstStyle>
          <a:p xmlns:a="http://schemas.openxmlformats.org/drawingml/2006/main">
            <a:endParaRPr/>
          </a:p>
        </p:txBody>
      </p:sp>
      <p:sp>
        <p:nvSpPr>
          <p:cNvPr id="21" name="Diagram Arrow 28">
            <a:extLst xmlns:a="http://schemas.openxmlformats.org/drawingml/2006/main">
              <a:ext uri="{FF2B5EF4-FFF2-40B4-BE49-F238E27FC236}">
                <a16:creationId xmlns:a16="http://schemas.microsoft.com/office/drawing/2014/main" id="{82DCCCDC-0AAC-4EE0-A7AF-CE20A795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438775"/>
            <a:ext cx="25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/>
            </a:defPPr>
            <a:lvl1pPr>
              <a:buNone/>
              <a:defRPr sz="1388"/>
            </a:lvl1pPr>
            <a:lvl2pPr>
              <a:buNone/>
              <a:defRPr sz="1388"/>
            </a:lvl2pPr>
            <a:lvl3pPr>
              <a:buNone/>
              <a:defRPr sz="1388"/>
            </a:lvl3pPr>
            <a:lvl4pPr>
              <a:buNone/>
              <a:defRPr sz="1388"/>
            </a:lvl4pPr>
            <a:lvl5pPr>
              <a:buNone/>
              <a:defRPr sz="1388"/>
            </a:lvl5pPr>
            <a:lvl6pPr>
              <a:buNone/>
              <a:defRPr sz="1388"/>
            </a:lvl6pPr>
            <a:lvl7pPr>
              <a:buNone/>
              <a:defRPr sz="1388"/>
            </a:lvl7pPr>
            <a:lvl8pPr>
              <a:buNone/>
              <a:defRPr sz="1388"/>
            </a:lvl8pPr>
            <a:lvl9pPr>
              <a:buNone/>
              <a:defRPr sz="1388"/>
            </a:lvl9pPr>
          </a:lstStyle>
          <a:p xmlns:a="http://schemas.openxmlformats.org/drawingml/2006/main">
            <a:endParaRPr/>
          </a:p>
        </p:txBody>
      </p:sp>
      <p:sp>
        <p:nvSpPr>
          <p:cNvPr id="22" name="Diagram Arrow 29">
            <a:extLst xmlns:a="http://schemas.openxmlformats.org/drawingml/2006/main">
              <a:ext uri="{FF2B5EF4-FFF2-40B4-BE49-F238E27FC236}">
                <a16:creationId xmlns:a16="http://schemas.microsoft.com/office/drawing/2014/main" id="{2B208186-9B76-475D-B518-E9206B5A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438775"/>
            <a:ext cx="1143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/>
            </a:defPPr>
            <a:lvl1pPr>
              <a:buNone/>
              <a:defRPr sz="1388"/>
            </a:lvl1pPr>
            <a:lvl2pPr>
              <a:buNone/>
              <a:defRPr sz="1388"/>
            </a:lvl2pPr>
            <a:lvl3pPr>
              <a:buNone/>
              <a:defRPr sz="1388"/>
            </a:lvl3pPr>
            <a:lvl4pPr>
              <a:buNone/>
              <a:defRPr sz="1388"/>
            </a:lvl4pPr>
            <a:lvl5pPr>
              <a:buNone/>
              <a:defRPr sz="1388"/>
            </a:lvl5pPr>
            <a:lvl6pPr>
              <a:buNone/>
              <a:defRPr sz="1388"/>
            </a:lvl6pPr>
            <a:lvl7pPr>
              <a:buNone/>
              <a:defRPr sz="1388"/>
            </a:lvl7pPr>
            <a:lvl8pPr>
              <a:buNone/>
              <a:defRPr sz="1388"/>
            </a:lvl8pPr>
            <a:lvl9pPr>
              <a:buNone/>
              <a:defRPr sz="1388"/>
            </a:lvl9pPr>
          </a:lstStyle>
          <a:p xmlns:a="http://schemas.openxmlformats.org/drawingml/2006/main">
            <a:endParaRPr/>
          </a:p>
        </p:txBody>
      </p:sp>
      <p:sp>
        <p:nvSpPr>
          <p:cNvPr id="23" name="Current request label">
            <a:extLst xmlns:a="http://schemas.openxmlformats.org/drawingml/2006/main">
              <a:ext uri="{FF2B5EF4-FFF2-40B4-BE49-F238E27FC236}">
                <a16:creationId xmlns:a16="http://schemas.microsoft.com/office/drawing/2014/main" id="{11C10485-C02F-4F69-B602-08F32CD0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672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defPPr>
            <a:lvl1pPr algn="ctr">
              <a:buNone/>
              <a:defRPr sz="1200" b="0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1pPr>
            <a:lvl2pPr algn="ctr">
              <a:buNone/>
              <a:defRPr sz="1200" b="0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2pPr>
            <a:lvl3pPr algn="ctr">
              <a:buNone/>
              <a:defRPr sz="1200" b="0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3pPr>
            <a:lvl4pPr algn="ctr">
              <a:buNone/>
              <a:defRPr sz="1200" b="0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4pPr>
            <a:lvl5pPr algn="ctr">
              <a:buNone/>
              <a:defRPr sz="1200" b="0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5pPr>
            <a:lvl6pPr algn="ctr">
              <a:buNone/>
              <a:defRPr sz="1200" b="0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6pPr>
            <a:lvl7pPr algn="ctr">
              <a:buNone/>
              <a:defRPr sz="1200" b="0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7pPr>
            <a:lvl8pPr algn="ctr">
              <a:buNone/>
              <a:defRPr sz="1200" b="0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8pPr>
            <a:lvl9pPr algn="ctr">
              <a:buNone/>
              <a:defRPr sz="1200" b="0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ctr">
              <a:buNone/>
              <a:defRPr sz="1200" b="0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DA3FF"/>
                </a:solidFill>
                <a:latin typeface="Noto Sans KR"/>
                <a:ea typeface="Noto Sans KR"/>
                <a:cs typeface="Noto Sans KR"/>
              </a:rPr>
              <a:t>예</a:t>
            </a:r>
          </a:p>
        </p:txBody>
      </p:sp>
      <p:sp>
        <p:nvSpPr>
          <p:cNvPr id="24" name="Old request label">
            <a:extLst xmlns:a="http://schemas.openxmlformats.org/drawingml/2006/main">
              <a:ext uri="{FF2B5EF4-FFF2-40B4-BE49-F238E27FC236}">
                <a16:creationId xmlns:a16="http://schemas.microsoft.com/office/drawing/2014/main" id="{EB7C4888-6174-48BC-AF09-1EAEE4BC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054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20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20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20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20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20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20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20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20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20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BECADA"/>
                </a:solidFill>
                <a:latin typeface="Noto Sans KR"/>
                <a:ea typeface="Noto Sans KR"/>
                <a:cs typeface="Noto Sans KR"/>
              </a:rPr>
              <a:t>아니오</a:t>
            </a:r>
          </a:p>
        </p:txBody>
      </p:sp>
      <p:sp>
        <p:nvSpPr>
          <p:cNvPr id="25" name="Media 1">
            <a:extLst xmlns:a="http://schemas.openxmlformats.org/drawingml/2006/main">
              <a:ext uri="{FF2B5EF4-FFF2-40B4-BE49-F238E27FC236}">
                <a16:creationId xmlns:a16="http://schemas.microsoft.com/office/drawing/2014/main" id="{22E7ECB1-0701-4E19-B830-B2A8C8E9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09700"/>
            <a:ext cx="5943600" cy="4191000"/>
          </a:xfrm>
          <a:prstGeom xmlns:a="http://schemas.openxmlformats.org/drawingml/2006/main" prst="roundRect">
            <a:avLst>
              <a:gd name="adj" fmla="val 3182"/>
            </a:avLst>
          </a:prstGeom>
          <a:solidFill xmlns:a="http://schemas.openxmlformats.org/drawingml/2006/main">
            <a:srgbClr val="11151D"/>
          </a:solidFill>
          <a:ln xmlns:a="http://schemas.openxmlformats.org/drawingml/2006/main" w="12383">
            <a:solidFill>
              <a:srgbClr val="4D78A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7" name="BGM설정">
            <a:extLst xmlns:a="http://schemas.openxmlformats.org/drawingml/2006/main">
              <a:ext uri="{FF2B5EF4-FFF2-40B4-BE49-F238E27FC236}">
                <a16:creationId xmlns:a16="http://schemas.microsoft.com/office/drawing/2014/main" id="{84524104-EDC8-4AAC-8D50-CDB56372F6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ca508102ac4190"/>
          <a:srcRect xmlns:a="http://schemas.openxmlformats.org/drawingml/2006/main" l="353" t="3374" r="353" b="613"/>
          <a:stretch xmlns:a="http://schemas.openxmlformats.org/drawingml/2006/main"/>
        </p:blipFill>
        <p:spPr>
          <a:xfrm xmlns:a="http://schemas.openxmlformats.org/drawingml/2006/main">
            <a:off x="5686425" y="1888659"/>
            <a:ext cx="5810250" cy="3233081"/>
          </a:xfrm>
          <a:prstGeom xmlns:a="http://schemas.openxmlformats.org/drawingml/2006/main" prst="rect">
            <a:avLst/>
          </a:prstGeom>
        </p:spPr>
      </p:pic>
      <p:sp>
        <p:nvSpPr>
          <p:cNvPr id="26" name="Caption 1">
            <a:extLst xmlns:a="http://schemas.openxmlformats.org/drawingml/2006/main">
              <a:ext uri="{FF2B5EF4-FFF2-40B4-BE49-F238E27FC236}">
                <a16:creationId xmlns:a16="http://schemas.microsoft.com/office/drawing/2014/main" id="{405309C6-9454-4317-A950-4614ABDB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667375"/>
            <a:ext cx="5943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BECADA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게임 상태별 BGM 설정과 연결된 곡</a:t>
            </a:r>
          </a:p>
        </p:txBody>
      </p:sp>
      <p:sp>
        <p:nvSpPr>
          <p:cNvPr id="28" name="BGM subsystem code link">
            <a:extLst xmlns:a="http://schemas.openxmlformats.org/drawingml/2006/main">
              <a:ext uri="{FF2B5EF4-FFF2-40B4-BE49-F238E27FC236}">
                <a16:creationId xmlns:a16="http://schemas.microsoft.com/office/drawing/2014/main" id="{A2C94169-A35F-4EDB-B2BC-8B4A8092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08647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88" b="0">
                <a:solidFill>
                  <a:srgbClr val="7DD3F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88" b="0">
                <a:solidFill>
                  <a:srgbClr val="7DD3F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88" b="0">
                <a:solidFill>
                  <a:srgbClr val="7DD3F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88" b="0">
                <a:solidFill>
                  <a:srgbClr val="7DD3F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88" b="0">
                <a:solidFill>
                  <a:srgbClr val="7DD3F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88" b="0">
                <a:solidFill>
                  <a:srgbClr val="7DD3F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88" b="0">
                <a:solidFill>
                  <a:srgbClr val="7DD3F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88" b="0">
                <a:solidFill>
                  <a:srgbClr val="7DD3F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88" b="0">
                <a:solidFill>
                  <a:srgbClr val="7DD3F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88" b="0">
                <a:solidFill>
                  <a:srgbClr val="7DD3F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88" b="0">
                <a:solidFill>
                  <a:srgbClr val="7DD3FC"/>
                </a:solidFill>
                <a:latin typeface="Noto Sans KR"/>
                <a:ea typeface="Noto Sans KR"/>
                <a:cs typeface="Noto Sans KR"/>
              </a:defRPr>
            </a:pPr>
            <a:r>
              <a:rPr u="sng">
                <a:solidFill>
                  <a:srgbClr val="7DD3FC"/>
                </a:solidFill>
                <a:hlinkClick xmlns:r="http://schemas.openxmlformats.org/officeDocument/2006/relationships" r:id="R1e7a2b129a194aa0"/>
              </a:rPr>
              <a:t>BGM 상태 코드 보기</a:t>
            </a:r>
          </a:p>
        </p:txBody>
      </p:sp>
      <p:sp>
        <p:nvSpPr>
          <p:cNvPr id="29" name="BGM playback code link">
            <a:extLst xmlns:a="http://schemas.openxmlformats.org/drawingml/2006/main">
              <a:ext uri="{FF2B5EF4-FFF2-40B4-BE49-F238E27FC236}">
                <a16:creationId xmlns:a16="http://schemas.microsoft.com/office/drawing/2014/main" id="{34B897AE-FDDA-4284-BB03-54E81A86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08647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88" b="0">
                <a:solidFill>
                  <a:srgbClr val="7DD3FC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388" b="0">
                <a:solidFill>
                  <a:srgbClr val="7DD3FC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388" b="0">
                <a:solidFill>
                  <a:srgbClr val="7DD3FC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388" b="0">
                <a:solidFill>
                  <a:srgbClr val="7DD3FC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388" b="0">
                <a:solidFill>
                  <a:srgbClr val="7DD3FC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388" b="0">
                <a:solidFill>
                  <a:srgbClr val="7DD3FC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388" b="0">
                <a:solidFill>
                  <a:srgbClr val="7DD3FC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388" b="0">
                <a:solidFill>
                  <a:srgbClr val="7DD3FC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388" b="0">
                <a:solidFill>
                  <a:srgbClr val="7DD3FC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388" b="0">
                <a:solidFill>
                  <a:srgbClr val="7DD3FC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388" b="0">
                <a:solidFill>
                  <a:srgbClr val="7DD3FC"/>
                </a:solidFill>
                <a:latin typeface="Noto Sans KR"/>
                <a:ea typeface="Noto Sans KR"/>
                <a:cs typeface="Noto Sans KR"/>
              </a:defRPr>
            </a:pPr>
            <a:r>
              <a:rPr u="sng">
                <a:solidFill>
                  <a:srgbClr val="7DD3FC"/>
                </a:solidFill>
                <a:hlinkClick xmlns:r="http://schemas.openxmlformats.org/officeDocument/2006/relationships" r:id="R47e366d1487b4ef2"/>
              </a:rPr>
              <a:t>재생 관리 코드 보기</a:t>
            </a:r>
          </a:p>
        </p:txBody>
      </p:sp>
    </p:spTree>
    <p:extLst>
      <p:ext uri="{BB962C8B-B14F-4D97-AF65-F5344CB8AC3E}">
        <p14:creationId xmlns:p14="http://schemas.microsoft.com/office/powerpoint/2010/main" val="1350670552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CFE3EBD-EB20-42ED-899B-12C8D5FD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6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C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B6BFC95-D67C-44E0-AA3E-6EAD6D69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20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20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20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20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20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20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20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20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20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4DA3FF"/>
                </a:solidFill>
                <a:latin typeface="Noto Sans KR"/>
                <a:ea typeface="Noto Sans KR"/>
                <a:cs typeface="Noto Sans KR"/>
              </a:rPr>
              <a:t>SOURCE &amp; CONTACT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6AD111B-268C-430D-A685-91983B60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24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400"/>
              <a:t>소스 코드와 연락처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05CB708-AA48-4937-9536-DC9A88EF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5276850" cy="1962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2530"/>
          </a:solidFill>
          <a:ln xmlns:a="http://schemas.openxmlformats.org/drawingml/2006/main">
            <a:solidFill>
              <a:srgbClr val="34405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342900" tIns="247650" rIns="228600" bIns="152400" anchor="t">
            <a:noAutofit/>
          </a:bodyPr>
          <a:lstStyle xmlns:a="http://schemas.openxmlformats.org/drawingml/2006/main">
            <a:defPPr algn="l"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개인 구현 코드 저장소</a:t>
            </a:r>
          </a:p>
          <a:p xmlns:a="http://schemas.openxmlformats.org/drawingml/2006/main">
            <a:pPr algn="l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C++ / WPF 도구 / 선별한 무기 Blueprint 수록</a:t>
            </a:r>
          </a:p>
          <a:p xmlns:a="http://schemas.openxmlformats.org/drawingml/2006/main">
            <a:pPr algn="l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4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3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7DD3FC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6fbb11c2c4374742"/>
              </a:rPr>
              <a:t>GitHub 코드</a:t>
            </a:r>
            <a:r>
              <a:rPr sz="1388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/ </a:t>
            </a:r>
            <a:r>
              <a:rPr sz="1388" b="0" u="sng">
                <a:solidFill>
                  <a:srgbClr val="7DD3FC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e4a03960f6e744cb"/>
              </a:rPr>
              <a:t>Notion 기술 문서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342A5DF-C971-4D33-8B4C-352E4CC5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09700"/>
            <a:ext cx="5467350" cy="1962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2530"/>
          </a:solidFill>
          <a:ln xmlns:a="http://schemas.openxmlformats.org/drawingml/2006/main">
            <a:solidFill>
              <a:srgbClr val="34405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66700" tIns="228600" rIns="228600" bIns="17145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박장한 / 게임플레이 프로그래머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개발 기간  2025.12 ~ 현재 진행 중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45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7DD3FC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5aeda854712e4519"/>
              </a:rPr>
              <a:t>wkdgks88009@gmail.com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u="sng">
                <a:solidFill>
                  <a:srgbClr val="7DD3FC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6a51fd669b674e68"/>
              </a:rPr>
              <a:t>GitHub  msg1150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A5788AF7-F7B8-4B83-8415-82DB4CC6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609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2530"/>
          </a:solidFill>
          <a:ln xmlns:a="http://schemas.openxmlformats.org/drawingml/2006/main">
            <a:solidFill>
              <a:srgbClr val="34405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209550" tIns="95250" rIns="209550" bIns="7620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코드 열람 안내: 실행과 테스트에는 원본 프로젝트와 Unreal Engine 5.6.1 환경이 필요합니다.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전체 에셋과 의존성, </a:t>
            </a:r>
            <a:r>
              <a:rPr sz="1275" b="1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테스트 실행 결과는 포함하지 않습니다.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09B83C62-55FE-4293-A920-E7FC853C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defPPr>
            <a:lvl1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1pPr>
            <a:lvl2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2pPr>
            <a:lvl3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3pPr>
            <a:lvl4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4pPr>
            <a:lvl5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5pPr>
            <a:lvl6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6pPr>
            <a:lvl7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7pPr>
            <a:lvl8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8pPr>
            <a:lvl9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r">
              <a:buNone/>
              <a:defRPr sz="975" b="0">
                <a:solidFill>
                  <a:srgbClr val="8796AA"/>
                </a:solidFill>
                <a:latin typeface="Noto Sans KR"/>
                <a:ea typeface="Noto Sans KR"/>
                <a:cs typeface="Noto Sans KR"/>
              </a:defRPr>
            </a:pPr>
            <a:r>
              <a:t>24</a:t>
            </a:r>
          </a:p>
        </p:txBody>
      </p:sp>
      <p:sp>
        <p:nvSpPr>
          <p:cNvPr id="9" name="Automation Test scenarios">
            <a:extLst xmlns:a="http://schemas.openxmlformats.org/drawingml/2006/main">
              <a:ext uri="{FF2B5EF4-FFF2-40B4-BE49-F238E27FC236}">
                <a16:creationId xmlns:a16="http://schemas.microsoft.com/office/drawing/2014/main" id="{3DD5A1C5-2438-404F-A1A3-9095EBC2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109728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1F2530"/>
          </a:solidFill>
          <a:ln xmlns:a="http://schemas.openxmlformats.org/drawingml/2006/main" w="13335">
            <a:solidFill>
              <a:srgbClr val="4DA3FF"/>
            </a:solidFill>
          </a:ln>
        </p:spPr>
        <p:txBody>
          <a:bodyPr xmlns:a="http://schemas.openxmlformats.org/drawingml/2006/main" wrap="square" lIns="285750" tIns="209550" rIns="228600" bIns="152400" anchor="t">
            <a:noAutofit/>
          </a:bodyPr>
          <a:lstStyle xmlns:a="http://schemas.openxmlformats.org/drawingml/2006/main">
            <a:defPPr algn="l"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defPPr>
            <a:lvl1pPr algn="l"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1pPr>
            <a:lvl2pPr algn="l"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2pPr>
            <a:lvl3pPr algn="l"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3pPr>
            <a:lvl4pPr algn="l"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4pPr>
            <a:lvl5pPr algn="l"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5pPr>
            <a:lvl6pPr algn="l"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6pPr>
            <a:lvl7pPr algn="l"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7pPr>
            <a:lvl8pPr algn="l"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8pPr>
            <a:lvl9pPr algn="l"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 algn="l"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Unreal Automation Test: 경계 조건 반복 검사</a:t>
            </a:r>
          </a:p>
          <a:p xmlns:a="http://schemas.openxmlformats.org/drawingml/2006/main">
            <a:pPr algn="l"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600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</a:t>
            </a:r>
          </a:p>
          <a:p xmlns:a="http://schemas.openxmlformats.org/drawingml/2006/main">
            <a:pPr algn="l"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자동화 목적: 코드 변경 후 같은 조건을 반복 검사하는 테스트 시나리오 작성</a:t>
            </a:r>
          </a:p>
          <a:p xmlns:a="http://schemas.openxmlformats.org/drawingml/2006/main">
            <a:pPr algn="l"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투사체: </a:t>
            </a:r>
            <a:r>
              <a:rPr sz="1425" b="0" u="sng">
                <a:solidFill>
                  <a:srgbClr val="7DD3FC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699d365c16e649ac"/>
              </a:rPr>
              <a:t>충돌 순서 / 벽 가림</a:t>
            </a:r>
            <a:r>
              <a:rPr sz="142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 / </a:t>
            </a:r>
            <a:r>
              <a:rPr sz="1425" b="0" u="sng">
                <a:solidFill>
                  <a:srgbClr val="7DD3FC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918251b7f0bb4a8b"/>
              </a:rPr>
              <a:t>합류 지점</a:t>
            </a:r>
            <a:r>
              <a:rPr sz="142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의 프레임 내 시간 분할</a:t>
            </a:r>
          </a:p>
          <a:p xmlns:a="http://schemas.openxmlformats.org/drawingml/2006/main">
            <a:pPr algn="l"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u="sng">
                <a:solidFill>
                  <a:srgbClr val="7DD3FC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5eb5e6749fac43b3"/>
              </a:rPr>
              <a:t>1인칭 렌더링</a:t>
            </a:r>
            <a:r>
              <a:rPr sz="142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: 충돌 영역 내 스케일과 FOV / Near Clip 입력 검사</a:t>
            </a:r>
          </a:p>
          <a:p xmlns:a="http://schemas.openxmlformats.org/drawingml/2006/main">
            <a:pPr algn="l"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u="sng">
                <a:solidFill>
                  <a:srgbClr val="7DD3FC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869baae2e5354eac"/>
              </a:rPr>
              <a:t>공간 포탈</a:t>
            </a:r>
            <a:r>
              <a:rPr sz="142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: 좌표 / 속도 변환, 투영, 통과 조건과 도착 충돌</a:t>
            </a:r>
          </a:p>
          <a:p xmlns:a="http://schemas.openxmlformats.org/drawingml/2006/main">
            <a:pPr algn="l">
              <a:buNone/>
              <a:defRPr sz="1575">
                <a:solidFill>
                  <a:srgbClr val="D1DBE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u="sng">
                <a:solidFill>
                  <a:srgbClr val="7DD3FC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69eba6c89db44975"/>
              </a:rPr>
              <a:t>최초 스폰 사운드</a:t>
            </a:r>
            <a:r>
              <a:rPr sz="1425" b="0">
                <a:solidFill>
                  <a:srgbClr val="D1DBE8"/>
                </a:solidFill>
                <a:latin typeface="Noto Sans KR"/>
                <a:ea typeface="Noto Sans KR"/>
                <a:cs typeface="Noto Sans KR"/>
              </a:rPr>
              <a:t>: 연결 / 로딩 / 카메라 준비, 중복 재생과 지연 사운드 수명</a:t>
            </a:r>
          </a:p>
        </p:txBody>
      </p:sp>
    </p:spTree>
    <p:extLst>
      <p:ext uri="{BB962C8B-B14F-4D97-AF65-F5344CB8AC3E}">
        <p14:creationId xmlns:p14="http://schemas.microsoft.com/office/powerpoint/2010/main" val="1613311315"/>
      </p:ext>
    </p:extLst>
  </p:cSld>
</p:sld>
</file>

<file path=ppt/theme/theme1.xml><?xml version="1.0" encoding="utf-8"?>
<a:theme xmlns:a="http://schemas.openxmlformats.org/drawingml/2006/main" name="Office Theme">
  <a:themeElements>
    <a:clrScheme name="BattleAre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DD3FC"/>
      </a:hlink>
      <a:folHlink>
        <a:srgbClr val="7DD3F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attleAre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Walnut Exporter</Application>
  <PresentationFormat>Converted Presentation</PresentationFormat>
  <Slides>0</Slides>
  <Notes>0</Notes>
  <HiddenSlides>0</HiddenSlides>
  <SharedDoc>false</SharedDoc>
  <DocSecurity>0</DocSecurity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2026-10-21T12:00:35.3080000Z</dcterms:created>
  <dcterms:modified xsi:type="dcterms:W3CDTF">2026-10-21T12:00:35.3080000Z</dcterms:modified>
</coreProperties>
</file>