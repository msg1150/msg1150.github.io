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gif" ContentType="image/gif"/>
  <Default Extension="svg" ContentType="image/svg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773a52809ce41a3" /><Relationship Type="http://schemas.openxmlformats.org/officeDocument/2006/relationships/extended-properties" Target="/docProps/app.xml" Id="R47f5fcdf45b242cf" /><Relationship Type="http://schemas.openxmlformats.org/officeDocument/2006/relationships/officeDocument" Target="/ppt/presentation.xml" Id="Rbcb79b3dc225438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feb2e5e1de544f4"/>
  </p:sldMasterIdLst>
  <p:notesMasterIdLst>
    <p:notesMasterId xmlns:r="http://schemas.openxmlformats.org/officeDocument/2006/relationships" r:id="R7c6dec7181694dbd"/>
  </p:notesMasterIdLst>
  <p:sldIdLst>
    <p:sldId xmlns:r="http://schemas.openxmlformats.org/officeDocument/2006/relationships" id="256" r:id="R9dfa79dd27a24b19"/>
    <p:sldId xmlns:r="http://schemas.openxmlformats.org/officeDocument/2006/relationships" id="257" r:id="R03b37d0f08fd4297"/>
    <p:sldId xmlns:r="http://schemas.openxmlformats.org/officeDocument/2006/relationships" id="258" r:id="R63c116d926f14c06"/>
    <p:sldId xmlns:r="http://schemas.openxmlformats.org/officeDocument/2006/relationships" id="259" r:id="Rba9343aa19d24aa0"/>
    <p:sldId xmlns:r="http://schemas.openxmlformats.org/officeDocument/2006/relationships" id="260" r:id="Rf1f6c4fe9e804268"/>
    <p:sldId xmlns:r="http://schemas.openxmlformats.org/officeDocument/2006/relationships" id="261" r:id="R606819f02236406d"/>
    <p:sldId xmlns:r="http://schemas.openxmlformats.org/officeDocument/2006/relationships" id="262" r:id="Rafbd97de1fc54ff6"/>
    <p:sldId xmlns:r="http://schemas.openxmlformats.org/officeDocument/2006/relationships" id="263" r:id="R9ac006f673184267"/>
    <p:sldId xmlns:r="http://schemas.openxmlformats.org/officeDocument/2006/relationships" id="264" r:id="Rfa430937eb604b2c"/>
    <p:sldId xmlns:r="http://schemas.openxmlformats.org/officeDocument/2006/relationships" id="265" r:id="Rda9de7ec68bb4370"/>
    <p:sldId xmlns:r="http://schemas.openxmlformats.org/officeDocument/2006/relationships" id="266" r:id="R9a674364f30e4ed0"/>
    <p:sldId xmlns:r="http://schemas.openxmlformats.org/officeDocument/2006/relationships" id="267" r:id="R9881949d57fc440f"/>
    <p:sldId xmlns:r="http://schemas.openxmlformats.org/officeDocument/2006/relationships" id="268" r:id="Refa67d010ddd420d"/>
    <p:sldId xmlns:r="http://schemas.openxmlformats.org/officeDocument/2006/relationships" id="269" r:id="R89fbbfa1a229466f"/>
    <p:sldId xmlns:r="http://schemas.openxmlformats.org/officeDocument/2006/relationships" id="270" r:id="Red9cebad8f8240ab"/>
    <p:sldId xmlns:r="http://schemas.openxmlformats.org/officeDocument/2006/relationships" id="271" r:id="Rcc4268b4d9b2479a"/>
    <p:sldId xmlns:r="http://schemas.openxmlformats.org/officeDocument/2006/relationships" id="272" r:id="R2bf0873850a04ac0"/>
    <p:sldId xmlns:r="http://schemas.openxmlformats.org/officeDocument/2006/relationships" id="273" r:id="R3efa270676474a07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6ab9fd36a824776" /><Relationship Type="http://schemas.openxmlformats.org/officeDocument/2006/relationships/slideMaster" Target="/ppt/slideMasters/slideMaster1.xml" Id="R3feb2e5e1de544f4" /><Relationship Type="http://schemas.openxmlformats.org/officeDocument/2006/relationships/notesMaster" Target="/ppt/notesMasters/notesMaster1.xml" Id="R7c6dec7181694dbd" /><Relationship Type="http://schemas.openxmlformats.org/officeDocument/2006/relationships/presProps" Target="/ppt/presProps.xml" Id="R239e693936154c72" /><Relationship Type="http://schemas.openxmlformats.org/officeDocument/2006/relationships/viewProps" Target="/ppt/viewProps.xml" Id="R7d8038088cfc426d" /><Relationship Type="http://schemas.openxmlformats.org/officeDocument/2006/relationships/tableStyles" Target="/ppt/tableStyles.xml" Id="Raabc6405a82c47ab" /><Relationship Type="http://schemas.openxmlformats.org/officeDocument/2006/relationships/slide" Target="/ppt/slides/slide1.xml" Id="R9dfa79dd27a24b19" /><Relationship Type="http://schemas.openxmlformats.org/officeDocument/2006/relationships/slide" Target="/ppt/slides/slide2.xml" Id="R03b37d0f08fd4297" /><Relationship Type="http://schemas.openxmlformats.org/officeDocument/2006/relationships/slide" Target="/ppt/slides/slide3.xml" Id="R63c116d926f14c06" /><Relationship Type="http://schemas.openxmlformats.org/officeDocument/2006/relationships/slide" Target="/ppt/slides/slide4.xml" Id="Rba9343aa19d24aa0" /><Relationship Type="http://schemas.openxmlformats.org/officeDocument/2006/relationships/slide" Target="/ppt/slides/slide5.xml" Id="Rf1f6c4fe9e804268" /><Relationship Type="http://schemas.openxmlformats.org/officeDocument/2006/relationships/slide" Target="/ppt/slides/slide6.xml" Id="R606819f02236406d" /><Relationship Type="http://schemas.openxmlformats.org/officeDocument/2006/relationships/slide" Target="/ppt/slides/slide7.xml" Id="Rafbd97de1fc54ff6" /><Relationship Type="http://schemas.openxmlformats.org/officeDocument/2006/relationships/slide" Target="/ppt/slides/slide8.xml" Id="R9ac006f673184267" /><Relationship Type="http://schemas.openxmlformats.org/officeDocument/2006/relationships/slide" Target="/ppt/slides/slide9.xml" Id="Rfa430937eb604b2c" /><Relationship Type="http://schemas.openxmlformats.org/officeDocument/2006/relationships/slide" Target="/ppt/slides/slide10.xml" Id="Rda9de7ec68bb4370" /><Relationship Type="http://schemas.openxmlformats.org/officeDocument/2006/relationships/slide" Target="/ppt/slides/slide11.xml" Id="R9a674364f30e4ed0" /><Relationship Type="http://schemas.openxmlformats.org/officeDocument/2006/relationships/slide" Target="/ppt/slides/slide12.xml" Id="R9881949d57fc440f" /><Relationship Type="http://schemas.openxmlformats.org/officeDocument/2006/relationships/slide" Target="/ppt/slides/slide13.xml" Id="Refa67d010ddd420d" /><Relationship Type="http://schemas.openxmlformats.org/officeDocument/2006/relationships/slide" Target="/ppt/slides/slide14.xml" Id="R89fbbfa1a229466f" /><Relationship Type="http://schemas.openxmlformats.org/officeDocument/2006/relationships/slide" Target="/ppt/slides/slide15.xml" Id="Red9cebad8f8240ab" /><Relationship Type="http://schemas.openxmlformats.org/officeDocument/2006/relationships/slide" Target="/ppt/slides/slide16.xml" Id="Rcc4268b4d9b2479a" /><Relationship Type="http://schemas.openxmlformats.org/officeDocument/2006/relationships/slide" Target="/ppt/slides/slide17.xml" Id="R2bf0873850a04ac0" /><Relationship Type="http://schemas.openxmlformats.org/officeDocument/2006/relationships/slide" Target="/ppt/slides/slide18.xml" Id="R3efa270676474a0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c043309f26d47d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dfb306b447d4300" /><Relationship Type="http://schemas.openxmlformats.org/officeDocument/2006/relationships/notesMaster" Target="/ppt/notesMasters/notesMaster1.xml" Id="R6d6e348d3fe74ef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bebe94a579442c0" /><Relationship Type="http://schemas.openxmlformats.org/officeDocument/2006/relationships/notesMaster" Target="/ppt/notesMasters/notesMaster1.xml" Id="Re6cb3ba86766493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11c431035d24d19" /><Relationship Type="http://schemas.openxmlformats.org/officeDocument/2006/relationships/notesMaster" Target="/ppt/notesMasters/notesMaster1.xml" Id="R296153bfbb62469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fbec503529a4402" /><Relationship Type="http://schemas.openxmlformats.org/officeDocument/2006/relationships/notesMaster" Target="/ppt/notesMasters/notesMaster1.xml" Id="R50ae9ed0054143e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04ba38507df4914" /><Relationship Type="http://schemas.openxmlformats.org/officeDocument/2006/relationships/notesMaster" Target="/ppt/notesMasters/notesMaster1.xml" Id="R3dd3e34407434c6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29d0f0691374de3" /><Relationship Type="http://schemas.openxmlformats.org/officeDocument/2006/relationships/notesMaster" Target="/ppt/notesMasters/notesMaster1.xml" Id="R91979e6a16c3495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6305bc7afa14371" /><Relationship Type="http://schemas.openxmlformats.org/officeDocument/2006/relationships/notesMaster" Target="/ppt/notesMasters/notesMaster1.xml" Id="Rd0dae7949fc04f8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a328cea33b24c30" /><Relationship Type="http://schemas.openxmlformats.org/officeDocument/2006/relationships/notesMaster" Target="/ppt/notesMasters/notesMaster1.xml" Id="Rc3a632be189e486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ef6bf6c3ae040e1" /><Relationship Type="http://schemas.openxmlformats.org/officeDocument/2006/relationships/notesMaster" Target="/ppt/notesMasters/notesMaster1.xml" Id="R508224973ef74bf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c7eafc089c74f77" /><Relationship Type="http://schemas.openxmlformats.org/officeDocument/2006/relationships/notesMaster" Target="/ppt/notesMasters/notesMaster1.xml" Id="Re02833d383214e9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efef8c5fe7d4605" /><Relationship Type="http://schemas.openxmlformats.org/officeDocument/2006/relationships/notesMaster" Target="/ppt/notesMasters/notesMaster1.xml" Id="Rf4f141ab0ca7467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35face51f21474f" /><Relationship Type="http://schemas.openxmlformats.org/officeDocument/2006/relationships/notesMaster" Target="/ppt/notesMasters/notesMaster1.xml" Id="Raae3e62bb1074ec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494ba6a526d4b7f" /><Relationship Type="http://schemas.openxmlformats.org/officeDocument/2006/relationships/notesMaster" Target="/ppt/notesMasters/notesMaster1.xml" Id="Rd1100968b017495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192a9a65eaf48ea" /><Relationship Type="http://schemas.openxmlformats.org/officeDocument/2006/relationships/notesMaster" Target="/ppt/notesMasters/notesMaster1.xml" Id="Rbfb324767c9f4ae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0425dc688c64627" /><Relationship Type="http://schemas.openxmlformats.org/officeDocument/2006/relationships/notesMaster" Target="/ppt/notesMasters/notesMaster1.xml" Id="R2264984c36aa4db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62862da74ed4ed9" /><Relationship Type="http://schemas.openxmlformats.org/officeDocument/2006/relationships/notesMaster" Target="/ppt/notesMasters/notesMaster1.xml" Id="R2fc766e57d064f6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e990bc8e4774aee" /><Relationship Type="http://schemas.openxmlformats.org/officeDocument/2006/relationships/notesMaster" Target="/ppt/notesMasters/notesMaster1.xml" Id="R35da73e7724240d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5931d1288a3466b" /><Relationship Type="http://schemas.openxmlformats.org/officeDocument/2006/relationships/notesMaster" Target="/ppt/notesMasters/notesMaster1.xml" Id="R4400bec4b23b4be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프로젝트: BattleArena. 개인 구현 발췌본 https://github.com/msg1150/UnrealTeamProjectPortfolio</a:t>
            </a:r>
          </a:p>
          <a:p xmlns:a="http://schemas.openxmlformats.org/drawingml/2006/main">
            <a:r>
              <a:t>소스 기준 커밋: d0415f7a35e5674e69ba3a3ec27d63dd70c0253e</a:t>
            </a:r>
          </a:p>
          <a:p xmlns:a="http://schemas.openxmlformats.org/drawingml/2006/main">
            <a:r>
              <a:t>https://github.com/msg1150/UnrealTeamProjectPortfolio/blob/d0415f7a35e5674e69ba3a3ec27d63dd70c0253e/README.md</a:t>
            </a:r>
          </a:p>
          <a:p xmlns:a="http://schemas.openxmlformats.org/drawingml/2006/main">
            <a:r>
              <a:t>이름, 이메일, 기간은 지원자 제공. 팀 인원은 공개하지 않음.</a:t>
            </a:r>
          </a:p>
          <a:p xmlns:a="http://schemas.openxmlformats.org/drawingml/2006/main">
            <a:r>
              <a:t>기술 로고 출처: Unreal Engine 설치 리소스 Engine/Content/Slate/Starship/Common/unreal-circle-thin.svg (Epic Games 원본 심볼), https://www.unrealengine.com/en-US/branding</a:t>
            </a:r>
          </a:p>
          <a:p xmlns:a="http://schemas.openxmlformats.org/drawingml/2006/main">
            <a:r>
              <a:t>C++ 로고: https://github.com/isocpp/logos/blob/master/cpp_logo.png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프로젝트: BattleArena. 개인 구현 발췌본 https://github.com/msg1150/UnrealTeamProjectPortfolio</a:t>
            </a:r>
          </a:p>
          <a:p xmlns:a="http://schemas.openxmlformats.org/drawingml/2006/main">
            <a:r>
              <a:t>소스 기준 커밋: d0415f7a35e5674e69ba3a3ec27d63dd70c0253e</a:t>
            </a:r>
          </a:p>
          <a:p xmlns:a="http://schemas.openxmlformats.org/drawingml/2006/main">
            <a:r>
              <a:t>https://github.com/msg1150/UnrealTeamProjectPortfolio/blob/d0415f7a35e5674e69ba3a3ec27d63dd70c0253e/README.md</a:t>
            </a:r>
          </a:p>
          <a:p xmlns:a="http://schemas.openxmlformats.org/drawingml/2006/main">
            <a:r>
              <a:t>사용자 확인(2026-10-20): AI 전체 제작 담당으로 표현하지 않음. AI 관련 구현은 특수 이동을 포함한 경로 탐색 범위로 한정.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구현 근거: https://github.com/msg1150/UnrealTeamProjectPortfolio/blob/d0415f7a35e5674e69ba3a3ec27d63dd70c0253e/Weapon/ProjectileConvergenceComponent.cpp</a:t>
            </a:r>
          </a:p>
          <a:p xmlns:a="http://schemas.openxmlformats.org/drawingml/2006/main">
            <a:r>
              <a:t>구현 근거: https://github.com/msg1150/UnrealTeamProjectPortfolio/blob/d0415f7a35e5674e69ba3a3ec27d63dd70c0253e/Weapon/WeaponProjectileAimLibrary.cpp</a:t>
            </a:r>
          </a:p>
          <a:p xmlns:a="http://schemas.openxmlformats.org/drawingml/2006/main">
            <a:r>
              <a:t>구현 근거: https://github.com/msg1150/UnrealTeamProjectPortfolio/blob/d0415f7a35e5674e69ba3a3ec27d63dd70c0253e/Weapon/AnimNode_WeaponAimAlignment.cpp</a:t>
            </a:r>
          </a:p>
          <a:p xmlns:a="http://schemas.openxmlformats.org/drawingml/2006/main">
            <a:r>
              <a:t>구현 근거: https://github.com/msg1150/UnrealTeamProjectPortfolio/blob/d0415f7a35e5674e69ba3a3ec27d63dd70c0253e/Weapon/ProjectileConvergenceTests.cpp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구현 근거: https://github.com/msg1150/UnrealTeamProjectPortfolio/blob/d0415f7a35e5674e69ba3a3ec27d63dd70c0253e/Weapon/ProjectileWorldCollisionComponent.cpp</a:t>
            </a:r>
          </a:p>
          <a:p xmlns:a="http://schemas.openxmlformats.org/drawingml/2006/main">
            <a:r>
              <a:t>구현 근거: https://github.com/msg1150/UnrealTeamProjectPortfolio/blob/d0415f7a35e5674e69ba3a3ec27d63dd70c0253e/Weapon/ProjectileWorldCollisionComponent.h</a:t>
            </a:r>
          </a:p>
          <a:p xmlns:a="http://schemas.openxmlformats.org/drawingml/2006/main">
            <a:r>
              <a:t>구현 근거: https://github.com/msg1150/UnrealTeamProjectPortfolio/blob/d0415f7a35e5674e69ba3a3ec27d63dd70c0253e/Weapon/ProjectileSplitCollisionTests.cpp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프로젝트: BattleArena. 개인 구현 발췌본 https://github.com/msg1150/UnrealTeamProjectPortfolio</a:t>
            </a:r>
          </a:p>
          <a:p xmlns:a="http://schemas.openxmlformats.org/drawingml/2006/main">
            <a:r>
              <a:t>소스 기준 커밋: d0415f7a35e5674e69ba3a3ec27d63dd70c0253e</a:t>
            </a:r>
          </a:p>
          <a:p xmlns:a="http://schemas.openxmlformats.org/drawingml/2006/main">
            <a:r>
              <a:t>https://github.com/msg1150/UnrealTeamProjectPortfolio/blob/d0415f7a35e5674e69ba3a3ec27d63dd70c0253e/PathLink/PathLinkRouteFinder.cpp</a:t>
            </a:r>
          </a:p>
          <a:p xmlns:a="http://schemas.openxmlformats.org/drawingml/2006/main">
            <a:r>
              <a:t>https://github.com/msg1150/UnrealTeamProjectPortfolio/blob/d0415f7a35e5674e69ba3a3ec27d63dd70c0253e/PathLink/PathLinkSubsystem.cpp</a:t>
            </a:r>
          </a:p>
          <a:p xmlns:a="http://schemas.openxmlformats.org/drawingml/2006/main">
            <a:r>
              <a:t>촬영 근거: 사용자 제공 AI 경로 디버그 이미지(2026-10-20). 색상 의미: 흰색은 현재 이동, 빨강은 특수 이동 연결(PathLink), 파랑은 이후 이동.</a:t>
            </a:r>
          </a:p>
          <a:p xmlns:a="http://schemas.openxmlformats.org/drawingml/2006/main">
            <a:r>
              <a:t>촬영 근거: 사용자 제공 경로 디버그 확대 이미지 codex-clipboard-f8632455-d1fb-4ce6-b147-5b9bbd3ae7d9.png(2026-10-20). 사용자 지정 범위를 그대로 사용.</a:t>
            </a:r>
          </a:p>
          <a:p xmlns:a="http://schemas.openxmlformats.org/drawingml/2006/main">
            <a:r>
              <a:t>AI 위치는 사용자 제공 확대 이미지 codex-clipboard-f4cc3127-4c3e-488e-a5cd-eb3956ea2f52.png(2026-10-20)를 기준으로 표시. 흰색 원과 AI 글자는 편집 가능한 PowerPoint 도형.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프로젝트: BattleArena. 개인 구현 발췌본 https://github.com/msg1150/UnrealTeamProjectPortfolio</a:t>
            </a:r>
          </a:p>
          <a:p xmlns:a="http://schemas.openxmlformats.org/drawingml/2006/main">
            <a:r>
              <a:t>소스 기준 커밋: d0415f7a35e5674e69ba3a3ec27d63dd70c0253e</a:t>
            </a:r>
          </a:p>
          <a:p xmlns:a="http://schemas.openxmlformats.org/drawingml/2006/main">
            <a:r>
              <a:t>https://github.com/msg1150/UnrealTeamProjectPortfolio/blob/d0415f7a35e5674e69ba3a3ec27d63dd70c0253e/Teleport/OneWayTeleportActor.cpp</a:t>
            </a:r>
          </a:p>
          <a:p xmlns:a="http://schemas.openxmlformats.org/drawingml/2006/main">
            <a:r>
              <a:t>https://github.com/msg1150/UnrealTeamProjectPortfolio/blob/d0415f7a35e5674e69ba3a3ec27d63dd70c0253e/Teleport/PortalViewSubsystem.cpp</a:t>
            </a:r>
          </a:p>
          <a:p xmlns:a="http://schemas.openxmlformats.org/drawingml/2006/main">
            <a:r>
              <a:t>https://github.com/msg1150/UnrealTeamProjectPortfolio/blob/d0415f7a35e5674e69ba3a3ec27d63dd70c0253e/Teleport/TeleportDataAsset.h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프로젝트: BattleArena. 개인 구현 발췌본 https://github.com/msg1150/UnrealTeamProjectPortfolio</a:t>
            </a:r>
          </a:p>
          <a:p xmlns:a="http://schemas.openxmlformats.org/drawingml/2006/main">
            <a:r>
              <a:t>소스 기준 커밋: d0415f7a35e5674e69ba3a3ec27d63dd70c0253e</a:t>
            </a:r>
          </a:p>
          <a:p xmlns:a="http://schemas.openxmlformats.org/drawingml/2006/main">
            <a:r>
              <a:t>https://github.com/msg1150/UnrealTeamProjectPortfolio/blob/d0415f7a35e5674e69ba3a3ec27d63dd70c0253e/JsonAssetSync/JsonAssetSyncSchemaExporter.cpp</a:t>
            </a:r>
          </a:p>
          <a:p xmlns:a="http://schemas.openxmlformats.org/drawingml/2006/main">
            <a:r>
              <a:t>https://github.com/msg1150/UnrealTeamProjectPortfolio/blob/d0415f7a35e5674e69ba3a3ec27d63dd70c0253e/JsonAssetSync/JsonApplyService.cpp</a:t>
            </a:r>
          </a:p>
          <a:p xmlns:a="http://schemas.openxmlformats.org/drawingml/2006/main">
            <a:r>
              <a:t>https://github.com/msg1150/UnrealTeamProjectPortfolio/blob/d0415f7a35e5674e69ba3a3ec27d63dd70c0253e/DataEditor/MainWindow.xaml.cs</a:t>
            </a:r>
          </a:p>
          <a:p xmlns:a="http://schemas.openxmlformats.org/drawingml/2006/main">
            <a:r>
              <a:t>https://github.com/msg1150/UnrealTeamProjectPortfolio/blob/d0415f7a35e5674e69ba3a3ec27d63dd70c0253e/DataEditor/Core/Models.cs</a:t>
            </a:r>
          </a:p>
          <a:p xmlns:a="http://schemas.openxmlformats.org/drawingml/2006/main">
            <a:r>
              <a:t>https://github.com/msg1150/UnrealTeamProjectPortfolio/blob/d0415f7a35e5674e69ba3a3ec27d63dd70c0253e/README.md</a:t>
            </a:r>
          </a:p>
          <a:p xmlns:a="http://schemas.openxmlformats.org/drawingml/2006/main">
            <a:r>
              <a:t>.NET 로고 출처: https://github.com/dotnet/brand/blob/main/logo/dotnet-logo.png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프로젝트: BattleArena. 개인 구현 발췌본 https://github.com/msg1150/UnrealTeamProjectPortfolio</a:t>
            </a:r>
          </a:p>
          <a:p xmlns:a="http://schemas.openxmlformats.org/drawingml/2006/main">
            <a:r>
              <a:t>소스 기준 커밋: d0415f7a35e5674e69ba3a3ec27d63dd70c0253e</a:t>
            </a:r>
          </a:p>
          <a:p xmlns:a="http://schemas.openxmlformats.org/drawingml/2006/main">
            <a:r>
              <a:t>https://github.com/msg1150/UnrealTeamProjectPortfolio/blob/d0415f7a35e5674e69ba3a3ec27d63dd70c0253e/JsonAssetSync/JsonAssetSyncSchemaExporter.cpp</a:t>
            </a:r>
          </a:p>
          <a:p xmlns:a="http://schemas.openxmlformats.org/drawingml/2006/main">
            <a:r>
              <a:t>https://github.com/msg1150/UnrealTeamProjectPortfolio/blob/d0415f7a35e5674e69ba3a3ec27d63dd70c0253e/JsonAssetSync/JsonApplyService.cpp</a:t>
            </a:r>
          </a:p>
          <a:p xmlns:a="http://schemas.openxmlformats.org/drawingml/2006/main">
            <a:r>
              <a:t>https://github.com/msg1150/UnrealTeamProjectPortfolio/blob/d0415f7a35e5674e69ba3a3ec27d63dd70c0253e/DataEditor/MainWindow.xaml.cs</a:t>
            </a:r>
          </a:p>
          <a:p xmlns:a="http://schemas.openxmlformats.org/drawingml/2006/main">
            <a:r>
              <a:t>https://github.com/msg1150/UnrealTeamProjectPortfolio/blob/d0415f7a35e5674e69ba3a3ec27d63dd70c0253e/DataEditor/Core/Models.cs</a:t>
            </a:r>
          </a:p>
          <a:p xmlns:a="http://schemas.openxmlformats.org/drawingml/2006/main">
            <a:r>
              <a:t>https://github.com/msg1150/UnrealTeamProjectPortfolio/blob/d0415f7a35e5674e69ba3a3ec27d63dd70c0253e/README.md</a:t>
            </a:r>
          </a:p>
          <a:p xmlns:a="http://schemas.openxmlformats.org/drawingml/2006/main">
            <a:r>
              <a:t>.NET 로고 출처: https://github.com/dotnet/brand/blob/main/logo/dotnet-logo.png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프로젝트: BattleArena. 개인 구현 발췌본 https://github.com/msg1150/UnrealTeamProjectPortfolio</a:t>
            </a:r>
          </a:p>
          <a:p xmlns:a="http://schemas.openxmlformats.org/drawingml/2006/main">
            <a:r>
              <a:t>소스 기준 커밋: d0415f7a35e5674e69ba3a3ec27d63dd70c0253e</a:t>
            </a:r>
          </a:p>
          <a:p xmlns:a="http://schemas.openxmlformats.org/drawingml/2006/main">
            <a:r>
              <a:t>https://github.com/msg1150/UnrealTeamProjectPortfolio/blob/d0415f7a35e5674e69ba3a3ec27d63dd70c0253e/GameplayValidator/PortalValidationProvider.cpp</a:t>
            </a:r>
          </a:p>
          <a:p xmlns:a="http://schemas.openxmlformats.org/drawingml/2006/main">
            <a:r>
              <a:t>https://github.com/msg1150/UnrealTeamProjectPortfolio/blob/d0415f7a35e5674e69ba3a3ec27d63dd70c0253e/GameplayValidator/JumpPadValidationProvider.cpp</a:t>
            </a:r>
          </a:p>
          <a:p xmlns:a="http://schemas.openxmlformats.org/drawingml/2006/main">
            <a:r>
              <a:t>https://github.com/msg1150/UnrealTeamProjectPortfolio/blob/d0415f7a35e5674e69ba3a3ec27d63dd70c0253e/GameplayValidator/SGameplayValidatorPanel.cpp</a:t>
            </a:r>
          </a:p>
          <a:p xmlns:a="http://schemas.openxmlformats.org/drawingml/2006/main">
            <a:r>
              <a:t>https://github.com/msg1150/UnrealTeamProjectPortfolio/blob/d0415f7a35e5674e69ba3a3ec27d63dd70c0253e/GameplayValidator/GameplayValidationProviderRegistry.cpp</a:t>
            </a:r>
          </a:p>
          <a:p xmlns:a="http://schemas.openxmlformats.org/drawingml/2006/main">
            <a:r>
              <a:t>구현 근거: https://github.com/msg1150/UnrealTeamProjectPortfolio/blob/d0415f7a35e5674e69ba3a3ec27d63dd70c0253e/GameplayValidator/SGameplayValidationIssueRow.cpp</a:t>
            </a:r>
          </a:p>
          <a:p xmlns:a="http://schemas.openxmlformats.org/drawingml/2006/main">
            <a:r>
              <a:t>구현 근거: https://github.com/msg1150/UnrealTeamProjectPortfolio/blob/d0415f7a35e5674e69ba3a3ec27d63dd70c0253e/GameplayValidator/GameplayValidationEditorUtils.cpp</a:t>
            </a:r>
          </a:p>
          <a:p xmlns:a="http://schemas.openxmlformats.org/drawingml/2006/main">
            <a:r>
              <a:t>구현 근거: https://github.com/msg1150/UnrealTeamProjectPortfolio/blob/d0415f7a35e5674e69ba3a3ec27d63dd70c0253e/GameplayValidator/PathLinkValidationProvider.cpp</a:t>
            </a:r>
          </a:p>
          <a:p xmlns:a="http://schemas.openxmlformats.org/drawingml/2006/main">
            <a:r>
              <a:t>구현 근거: https://github.com/msg1150/UnrealTeamProjectPortfolio/blob/d0415f7a35e5674e69ba3a3ec27d63dd70c0253e/PathLink/PathLink.cpp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구현 근거: https://github.com/msg1150/UnrealTeamProjectPortfolio/blob/d0415f7a35e5674e69ba3a3ec27d63dd70c0253e/Weapon/ProjectileFirstPersonRenderingComponent.cpp</a:t>
            </a:r>
          </a:p>
          <a:p xmlns:a="http://schemas.openxmlformats.org/drawingml/2006/main">
            <a:r>
              <a:t>구현 근거: https://github.com/msg1150/UnrealTeamProjectPortfolio/blob/d0415f7a35e5674e69ba3a3ec27d63dd70c0253e/Weapon/FirstPersonRenderingMath.h</a:t>
            </a:r>
          </a:p>
          <a:p xmlns:a="http://schemas.openxmlformats.org/drawingml/2006/main">
            <a:r>
              <a:t>구현 목적과 외부 시점의 적용 범위: 지원자 설명에 근거. 로컬 1인칭의 벽 밀착 시 무기 표시를 보정하는 기능.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구현 근거: https://github.com/msg1150/UnrealTeamProjectPortfolio/blob/main/SpawnSelectionSystem/SpawnSelectionComponent.h</a:t>
            </a:r>
          </a:p>
          <a:p xmlns:a="http://schemas.openxmlformats.org/drawingml/2006/main">
            <a:r>
              <a:t>구현 근거: https://github.com/msg1150/UnrealTeamProjectPortfolio/blob/main/SpawnSelectionSystem/SpawnSelectionComponent.cpp</a:t>
            </a:r>
          </a:p>
          <a:p xmlns:a="http://schemas.openxmlformats.org/drawingml/2006/main">
            <a:r>
              <a:t>구현 근거: https://github.com/msg1150/UnrealTeamProjectPortfolio/blob/d0415f7a35e5674e69ba3a3ec27d63dd70c0253e/SpawnSelectionSystem/SpawnSelectionComponent.cpp#L597-L614</a:t>
            </a:r>
          </a:p>
          <a:p xmlns:a="http://schemas.openxmlformats.org/drawingml/2006/main">
            <a:r>
              <a:t>코드 발췌는 가독성을 위해 줄바꿈과 공백만 조정. 타입별 후보 필터와 빈 후보 검사는 발췌 이전에 수행.</a:t>
            </a:r>
          </a:p>
          <a:p xmlns:a="http://schemas.openxmlformats.org/drawingml/2006/main">
            <a:r>
              <a:t>구현 근거: https://github.com/msg1150/UnrealTeamProjectPortfolio/blob/d0415f7a35e5674e69ba3a3ec27d63dd70c0253e/SpawnSelectionSystem/SpawnSelectionComponent.cpp#L628-L660</a:t>
            </a:r>
          </a:p>
          <a:p xmlns:a="http://schemas.openxmlformats.org/drawingml/2006/main">
            <a:r>
              <a:t>구현 근거: https://github.com/msg1150/UnrealTeamProjectPortfolio/blob/d0415f7a35e5674e69ba3a3ec27d63dd70c0253e/SpawnSelectionSystem/SpawnSelectionComponent.h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구현 근거: https://github.com/msg1150/UnrealTeamProjectPortfolio/blob/main/DeathDrop/DeathDropSubsystem.cpp</a:t>
            </a:r>
          </a:p>
          <a:p xmlns:a="http://schemas.openxmlformats.org/drawingml/2006/main">
            <a:r>
              <a:t>구현 근거: https://github.com/msg1150/UnrealTeamProjectPortfolio/blob/main/DeathDrop/DeathDropCarrier.cpp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구현 근거: https://github.com/msg1150/UnrealTeamProjectPortfolio/blob/main/DeathCam/DeathCamActor.cpp</a:t>
            </a:r>
          </a:p>
          <a:p xmlns:a="http://schemas.openxmlformats.org/drawingml/2006/main">
            <a:r>
              <a:t>구현 근거: https://github.com/msg1150/UnrealTeamProjectPortfolio/blob/main/DeathCam/DeathCamComponent.cpp</a:t>
            </a:r>
          </a:p>
          <a:p xmlns:a="http://schemas.openxmlformats.org/drawingml/2006/main">
            <a:r>
              <a:t>촬영 근거: 사용자 제공 데스캠영상.mp4의 약 14.2초 시점. 벽 뒤의 공격자가 붉은 실루엣으로 표시되는 정지 화면.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구현 근거: https://github.com/msg1150/UnrealTeamProjectPortfolio/blob/main/CharacterDisplay/ShooterOutlineComponent.cpp</a:t>
            </a:r>
          </a:p>
          <a:p xmlns:a="http://schemas.openxmlformats.org/drawingml/2006/main">
            <a:r>
              <a:t>구현 근거: https://github.com/msg1150/UnrealTeamProjectPortfolio/blob/main/CharacterDisplay/ShooterRevengeComponent.cpp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구현 근거: https://github.com/msg1150/UnrealTeamProjectPortfolio/blob/main/CharacterDisplay/ShooterNicknameComponent.cpp</a:t>
            </a:r>
          </a:p>
          <a:p xmlns:a="http://schemas.openxmlformats.org/drawingml/2006/main">
            <a:r>
              <a:t>구현 근거: https://github.com/msg1150/UnrealTeamProjectPortfolio/blob/main/CharacterDisplay/ShooterNicknameSphereTests.cpp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구현 근거: https://github.com/msg1150/UnrealTeamProjectPortfolio/blob/d0415f7a35e5674e69ba3a3ec27d63dd70c0253e/CharacterAppearance/CharacterAppearanceComponent.h</a:t>
            </a:r>
          </a:p>
          <a:p xmlns:a="http://schemas.openxmlformats.org/drawingml/2006/main">
            <a:r>
              <a:t>구현 근거: https://github.com/msg1150/UnrealTeamProjectPortfolio/blob/d0415f7a35e5674e69ba3a3ec27d63dd70c0253e/CharacterAppearance/CharacterAppearanceComponent.cpp</a:t>
            </a:r>
          </a:p>
          <a:p xmlns:a="http://schemas.openxmlformats.org/drawingml/2006/main">
            <a:r>
              <a:t>구현 근거: https://github.com/msg1150/UnrealTeamProjectPortfolio/blob/d0415f7a35e5674e69ba3a3ec27d63dd70c0253e/CharacterAppearance/CharacterAppearanceComponent.h</a:t>
            </a:r>
          </a:p>
          <a:p xmlns:a="http://schemas.openxmlformats.org/drawingml/2006/main">
            <a:r>
              <a:t>구현 근거: https://github.com/msg1150/UnrealTeamProjectPortfolio/blob/d0415f7a35e5674e69ba3a3ec27d63dd70c0253e/CharacterAppearance/CharacterAppearanceComponent.cpp</a:t>
            </a:r>
          </a:p>
          <a:p xmlns:a="http://schemas.openxmlformats.org/drawingml/2006/main">
            <a:r>
              <a:t>사용자 확인(2026-10-20): 외형 DataTable은 현재 AI에 적용 중. 플레이어의 직접 외형 선택 화면과 미리보기는 아직 구현하지 않음.</a:t>
            </a:r>
          </a:p>
          <a:p xmlns:a="http://schemas.openxmlformats.org/drawingml/2006/main">
            <a:r>
              <a:t>촬영 근거: 사용자 제공 캐릭터 외형 데이터 테이블.png. Doomsday 행의 메시와 사망 파츠 설정 영역을 표시.</a:t>
            </a:r>
          </a:p>
          <a:p xmlns:a="http://schemas.openxmlformats.org/drawingml/2006/main">
            <a:r>
              <a:t>핵심 함수는 실제 ApplyModelingIdInternal 본문. 가독성을 위해 함수 선언의 줄바꿈, 들여쓰기 및 빈 줄만 조정.</a:t>
            </a:r>
          </a:p>
          <a:p xmlns:a="http://schemas.openxmlformats.org/drawingml/2006/main">
            <a:r>
              <a:t>코드 근거: https://github.com/msg1150/UnrealTeamProjectPortfolio/blob/d0415f7a35e5674e69ba3a3ec27d63dd70c0253e/CharacterAppearance/CharacterAppearanceComponent.cpp#L167-L183</a:t>
            </a:r>
          </a:p>
          <a:p xmlns:a="http://schemas.openxmlformats.org/drawingml/2006/main">
            <a:r>
              <a:t>사망 파츠별 메시 적용은 ApplyDeathMesh에서 componentName과 실제 메시 컴포넌트 이름을 비교해 처리. 현재 사용 범위는 AI 외형 적용.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구현 근거: https://github.com/msg1150/UnrealTeamProjectPortfolio/blob/d0415f7a35e5674e69ba3a3ec27d63dd70c0253e/Audio/BGMSubsystem.cpp</a:t>
            </a:r>
          </a:p>
          <a:p xmlns:a="http://schemas.openxmlformats.org/drawingml/2006/main">
            <a:r>
              <a:t>구현 근거: https://github.com/msg1150/UnrealTeamProjectPortfolio/blob/d0415f7a35e5674e69ba3a3ec27d63dd70c0253e/Audio/BGMPlayback.cpp</a:t>
            </a:r>
          </a:p>
          <a:p xmlns:a="http://schemas.openxmlformats.org/drawingml/2006/main">
            <a:r>
              <a:t>구현 근거: https://github.com/msg1150/UnrealTeamProjectPortfolio/blob/d0415f7a35e5674e69ba3a3ec27d63dd70c0253e/Audio/BGMSettingsDataAsset.h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구현 근거: https://github.com/msg1150/UnrealTeamProjectPortfolio/blob/d0415f7a35e5674e69ba3a3ec27d63dd70c0253e/Weapon/ProjectileSplitCollisionTests.cpp</a:t>
            </a:r>
          </a:p>
          <a:p xmlns:a="http://schemas.openxmlformats.org/drawingml/2006/main">
            <a:r>
              <a:t>구현 근거: https://github.com/msg1150/UnrealTeamProjectPortfolio/blob/d0415f7a35e5674e69ba3a3ec27d63dd70c0253e/Weapon/ProjectileConvergenceTests.cpp</a:t>
            </a:r>
          </a:p>
          <a:p xmlns:a="http://schemas.openxmlformats.org/drawingml/2006/main">
            <a:r>
              <a:t>구현 근거: https://github.com/msg1150/UnrealTeamProjectPortfolio/blob/d0415f7a35e5674e69ba3a3ec27d63dd70c0253e/Weapon/FirstPersonRenderingTests.cpp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ee9f8cd4e848c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abb8ac7a92466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35e68a68764d9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0bda3f9b74484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e89d6338fb402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4ec3089af848e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f5b10e75ad433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44f199606143b0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847b44a6b448d7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571a20b0c247e2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50230aff3945b8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85D3DF4-0E79-4BC8-89E0-13DDCDE188C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94670F2C-C024-4D15-ADBF-9EF0FBA5C80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86008FB-5A2D-4A03-B310-536719E4EB3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2026-10-17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85DC815-675E-4FE6-A19D-67EDAFCA81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C111EC7-61B3-4C7B-A411-2808B7613D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26741CA-6094-454A-98A2-ABE4E24897D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FF73198-411B-44DA-8FD4-77D6865A2C7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5CFEEAC-191D-43E8-8EDF-392920D7433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2026-10-17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B818EFD-44F5-4166-A6BA-AE8E2304399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309491D-E6FE-4291-B4F6-61FE51453E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9AC9E44-E415-45FC-A27A-2E3166E2FF2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DA3B6E9-BF62-46FA-A5E9-EEE837BF98C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570189B-02EF-4FD3-8362-76ED17DA5AF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2026-10-17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CFC23AB-7323-437E-B541-5B5270319F1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6D6A209-0E52-416B-A483-3AA0B92A76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8DF84B2-CAD1-4A4C-B3FD-8357931B46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281F75B-C314-432B-B6FE-2FBE2045E27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350162C-0535-4759-B318-77FBABC8239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4840E52-F7C1-4821-83D2-28AA89DE6F0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2026-10-17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BB841A1-4E43-41DB-AA8E-743666DC7DA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2C10F5B-185D-4727-AC68-90FA8CFC1BC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18A7EFB-66EB-434C-890A-DE4F2D1124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1B31ED1-21A6-4790-861B-746478C9DFE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932A3C36-F3E5-4062-A53D-8CD1C0DB96F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BDC9F9A-E6CF-44C1-B7A1-3FEECF447B7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84B4BC1-30DD-45A9-960E-2C3A3F9D92D1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F3BD94F2-4993-456F-A79E-771682145AB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2026-10-17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B88EA78C-0239-461C-810D-09B5FFEB46F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9E66D8B-D011-4A87-A5ED-2659CE9AD04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EF4DB87-478B-44F9-8197-51D2CDE574F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5E2D1C1D-777E-453F-810E-6D691A5216F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2026-10-17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C9C1F193-0B57-419C-A517-7DC05DD2AC6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C9D2407-3020-4835-89AD-5162E756ABF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3085499A-D551-42FF-B4FE-198E02367AE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2026-10-17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8C78D7CF-CBA9-40D6-9DE7-38EA891FC91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4EF75762-8BBC-4881-9945-85FE263059E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280EC97-D56D-4508-B094-89A0717AC1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EC3F130-AE1D-42F2-AE36-E4048868B27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0EF4B39-D996-473D-8514-54FCEDE91A9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3C74338-1AD8-4AE5-BDCA-F96E869122B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2026-10-17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549480E-17B8-41F5-86CF-EB4C3596CB4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E58EF22-639F-47F9-A94A-373CD4B4A8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72D0CF9-FCD6-443E-BDBF-77F235CB5E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2C6D015-E383-49C4-8C30-6722A1368852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9F834CB-014C-4296-8FA4-F5B26B31B0B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982E4D9-1AAC-473D-BEB6-594654742A2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2026-10-17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359D9B0-008D-4976-B3A2-8ACC902AB6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C89EF1E-8763-4C23-95B7-9015F88D3AA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1BA0C8A-0EC9-44B6-8B7D-86DC0C8A35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08B4F5B-614E-4049-B91C-3D10A2B9785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85DA442-D272-4F62-AEED-1E659136593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2026-10-17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2029A18-1C60-4C9C-9DA8-4385DDA1599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8EA201B-C67E-4410-8984-FACE8480A80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55632463-3544-49A1-A949-FCBD0F95D3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CD5D8EF-A3CC-4E21-AB0F-FD54635BC14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9433D82-1E1A-4CCB-A5D7-421020F829F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2026-10-17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6A4C63E-23AE-4AD4-929F-DDE954FB0C7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D5BFD3D-CD8E-4A95-850B-5C7CFC71126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330fce7646641bf" /><Relationship Type="http://schemas.openxmlformats.org/officeDocument/2006/relationships/slideLayout" Target="/ppt/slideLayouts/slideLayout1.xml" Id="R5d8b632d7e014249" /><Relationship Type="http://schemas.openxmlformats.org/officeDocument/2006/relationships/slideLayout" Target="/ppt/slideLayouts/slideLayout2.xml" Id="R49fdea23167b4e39" /><Relationship Type="http://schemas.openxmlformats.org/officeDocument/2006/relationships/slideLayout" Target="/ppt/slideLayouts/slideLayout3.xml" Id="R5b0d78a3df934e98" /><Relationship Type="http://schemas.openxmlformats.org/officeDocument/2006/relationships/slideLayout" Target="/ppt/slideLayouts/slideLayout4.xml" Id="Rba57f46073894b0f" /><Relationship Type="http://schemas.openxmlformats.org/officeDocument/2006/relationships/slideLayout" Target="/ppt/slideLayouts/slideLayout5.xml" Id="Re95c8866204b46b1" /><Relationship Type="http://schemas.openxmlformats.org/officeDocument/2006/relationships/slideLayout" Target="/ppt/slideLayouts/slideLayout6.xml" Id="Rdea927ae30ec49d4" /><Relationship Type="http://schemas.openxmlformats.org/officeDocument/2006/relationships/slideLayout" Target="/ppt/slideLayouts/slideLayout7.xml" Id="R5265d173435a4bb2" /><Relationship Type="http://schemas.openxmlformats.org/officeDocument/2006/relationships/slideLayout" Target="/ppt/slideLayouts/slideLayout8.xml" Id="R95dd7c2c24b2440f" /><Relationship Type="http://schemas.openxmlformats.org/officeDocument/2006/relationships/slideLayout" Target="/ppt/slideLayouts/slideLayout9.xml" Id="Rf802020cf16b478f" /><Relationship Type="http://schemas.openxmlformats.org/officeDocument/2006/relationships/slideLayout" Target="/ppt/slideLayouts/slideLayout10.xml" Id="R34e5c0ad95354b07" /><Relationship Type="http://schemas.openxmlformats.org/officeDocument/2006/relationships/slideLayout" Target="/ppt/slideLayouts/slideLayout11.xml" Id="R157ed3de64cc470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4C50920F-6327-4BB3-97C5-D3822AB0D0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0EBBBCD-344E-4F40-8EA2-53B151837EF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D3024AA-0778-49DD-9BFA-C162A154EFB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2026-10-17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2EC623B-00AF-4B51-BE7C-F3B92C8E70C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53109E3-4EA6-4E25-BA50-31A980A563E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d8b632d7e014249"/>
    <p:sldLayoutId xmlns:r="http://schemas.openxmlformats.org/officeDocument/2006/relationships" id="2147483650" r:id="R49fdea23167b4e39"/>
    <p:sldLayoutId xmlns:r="http://schemas.openxmlformats.org/officeDocument/2006/relationships" id="2147483651" r:id="R5b0d78a3df934e98"/>
    <p:sldLayoutId xmlns:r="http://schemas.openxmlformats.org/officeDocument/2006/relationships" id="2147483652" r:id="Rba57f46073894b0f"/>
    <p:sldLayoutId xmlns:r="http://schemas.openxmlformats.org/officeDocument/2006/relationships" id="2147483653" r:id="Re95c8866204b46b1"/>
    <p:sldLayoutId xmlns:r="http://schemas.openxmlformats.org/officeDocument/2006/relationships" id="2147483654" r:id="Rdea927ae30ec49d4"/>
    <p:sldLayoutId xmlns:r="http://schemas.openxmlformats.org/officeDocument/2006/relationships" id="2147483655" r:id="R5265d173435a4bb2"/>
    <p:sldLayoutId xmlns:r="http://schemas.openxmlformats.org/officeDocument/2006/relationships" id="2147483656" r:id="R95dd7c2c24b2440f"/>
    <p:sldLayoutId xmlns:r="http://schemas.openxmlformats.org/officeDocument/2006/relationships" id="2147483657" r:id="Rf802020cf16b478f"/>
    <p:sldLayoutId xmlns:r="http://schemas.openxmlformats.org/officeDocument/2006/relationships" id="2147483658" r:id="R34e5c0ad95354b07"/>
    <p:sldLayoutId xmlns:r="http://schemas.openxmlformats.org/officeDocument/2006/relationships" id="2147483659" r:id="R157ed3de64cc470b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acd75827a024e79" /><Relationship Type="http://schemas.openxmlformats.org/officeDocument/2006/relationships/image" Target="/ppt/media/image.png" Id="R8d2dce28336543d3" /><Relationship Type="http://schemas.openxmlformats.org/officeDocument/2006/relationships/image" Target="/ppt/media/image.gif" Id="Rb464b33fbe0b4602" /><Relationship Type="http://schemas.openxmlformats.org/officeDocument/2006/relationships/image" Target="/ppt/media/image.svg" Id="Reeafdf996ee9445e" /><Relationship Type="http://schemas.openxmlformats.org/officeDocument/2006/relationships/image" Target="/ppt/media/image2.png" Id="R7c80b29924194f64" /><Relationship Type="http://schemas.openxmlformats.org/officeDocument/2006/relationships/notesSlide" Target="/ppt/notesSlides/notesSlide1.xml" Id="R9c4e86136f7a42f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85950f0e69c4ee9" /><Relationship Type="http://schemas.openxmlformats.org/officeDocument/2006/relationships/notesSlide" Target="/ppt/notesSlides/notesSlide2.xml" Id="Ra2fe49cc85e6464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bbd973b9fd64da2" /><Relationship Type="http://schemas.openxmlformats.org/officeDocument/2006/relationships/hyperlink" Target="https://github.com/msg1150/UnrealTeamProjectPortfolio/blob/d0415f7a35e5674e69ba3a3ec27d63dd70c0253e/Weapon/ProjectileConvergenceComponent.cpp" TargetMode="External" Id="R1a3327f0cba24bbb" /><Relationship Type="http://schemas.openxmlformats.org/officeDocument/2006/relationships/image" Target="/ppt/media/image.gif" Id="Rd0d5060398c447b6" /><Relationship Type="http://schemas.openxmlformats.org/officeDocument/2006/relationships/notesSlide" Target="/ppt/notesSlides/notesSlide3.xml" Id="R7599cf737a48412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e299985066f470d" /><Relationship Type="http://schemas.openxmlformats.org/officeDocument/2006/relationships/hyperlink" Target="https://github.com/msg1150/UnrealTeamProjectPortfolio/blob/d0415f7a35e5674e69ba3a3ec27d63dd70c0253e/Weapon/ProjectileWorldCollisionComponent.cpp" TargetMode="External" Id="Rd296f2d524414404" /><Relationship Type="http://schemas.openxmlformats.org/officeDocument/2006/relationships/image" Target="/ppt/media/image3.png" Id="Re4eacefc5a53437f" /><Relationship Type="http://schemas.openxmlformats.org/officeDocument/2006/relationships/notesSlide" Target="/ppt/notesSlides/notesSlide4.xml" Id="R79f870ffda474e1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c2df1a182a64d1d" /><Relationship Type="http://schemas.openxmlformats.org/officeDocument/2006/relationships/hyperlink" Target="https://github.com/msg1150/UnrealTeamProjectPortfolio/blob/d0415f7a35e5674e69ba3a3ec27d63dd70c0253e/PathLink/PathLinkRouteFinder.cpp" TargetMode="External" Id="Rc4c32a8e6b9d4a2e" /><Relationship Type="http://schemas.openxmlformats.org/officeDocument/2006/relationships/image" Target="/ppt/media/image4.png" Id="R3f3228be5da74274" /><Relationship Type="http://schemas.openxmlformats.org/officeDocument/2006/relationships/notesSlide" Target="/ppt/notesSlides/notesSlide5.xml" Id="Rc7ade5f6263a420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ff42e8fd9aa465d" /><Relationship Type="http://schemas.openxmlformats.org/officeDocument/2006/relationships/hyperlink" Target="https://github.com/msg1150/UnrealTeamProjectPortfolio/blob/d0415f7a35e5674e69ba3a3ec27d63dd70c0253e/Teleport/PortalViewSubsystem.cpp" TargetMode="External" Id="Rda7dc275519440ec" /><Relationship Type="http://schemas.openxmlformats.org/officeDocument/2006/relationships/image" Target="/ppt/media/image5.png" Id="R4cc09bbec9e44814" /><Relationship Type="http://schemas.openxmlformats.org/officeDocument/2006/relationships/notesSlide" Target="/ppt/notesSlides/notesSlide6.xml" Id="Ref1b36e9e7234b6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7fc7cf35e224743" /><Relationship Type="http://schemas.openxmlformats.org/officeDocument/2006/relationships/hyperlink" Target="https://github.com/msg1150/UnrealTeamProjectPortfolio/tree/main/JsonAssetSync" TargetMode="External" Id="R612a252d1b31498d" /><Relationship Type="http://schemas.openxmlformats.org/officeDocument/2006/relationships/hyperlink" Target="https://github.com/msg1150/UnrealTeamProjectPortfolio/tree/main/DataEditor" TargetMode="External" Id="R8e0ff432dd924cb0" /><Relationship Type="http://schemas.openxmlformats.org/officeDocument/2006/relationships/image" Target="/ppt/media/image6.png" Id="R8d0f466e946f4543" /><Relationship Type="http://schemas.openxmlformats.org/officeDocument/2006/relationships/notesSlide" Target="/ppt/notesSlides/notesSlide7.xml" Id="R4b16a39bb38f475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7656e96192b4d8b" /><Relationship Type="http://schemas.openxmlformats.org/officeDocument/2006/relationships/image" Target="/ppt/media/image7.png" Id="R590315291c844e83" /><Relationship Type="http://schemas.openxmlformats.org/officeDocument/2006/relationships/image" Target="/ppt/media/image8.png" Id="R103249f1d2d3445d" /><Relationship Type="http://schemas.openxmlformats.org/officeDocument/2006/relationships/notesSlide" Target="/ppt/notesSlides/notesSlide8.xml" Id="Rda0014739bbd4ca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bc2275155ca462c" /><Relationship Type="http://schemas.openxmlformats.org/officeDocument/2006/relationships/hyperlink" Target="https://github.com/msg1150/UnrealTeamProjectPortfolio/tree/main/GameplayValidator" TargetMode="External" Id="R759e98dceffc491f" /><Relationship Type="http://schemas.openxmlformats.org/officeDocument/2006/relationships/image" Target="/ppt/media/image9.png" Id="Re38ff75dfdc64600" /><Relationship Type="http://schemas.openxmlformats.org/officeDocument/2006/relationships/notesSlide" Target="/ppt/notesSlides/notesSlide9.xml" Id="R4d0ab8b31e24455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99b3f2ce2574784" /><Relationship Type="http://schemas.openxmlformats.org/officeDocument/2006/relationships/hyperlink" Target="https://github.com/msg1150/UnrealTeamProjectPortfolio/blob/d0415f7a35e5674e69ba3a3ec27d63dd70c0253e/Weapon/ProjectileFirstPersonRenderingComponent.cpp" TargetMode="External" Id="R9dfe4c62ad1f4319" /><Relationship Type="http://schemas.openxmlformats.org/officeDocument/2006/relationships/image" Target="/ppt/media/image10.png" Id="R88f5516824d74914" /><Relationship Type="http://schemas.openxmlformats.org/officeDocument/2006/relationships/image" Target="/ppt/media/image11.png" Id="R7f52017c60564f5e" /><Relationship Type="http://schemas.openxmlformats.org/officeDocument/2006/relationships/notesSlide" Target="/ppt/notesSlides/notesSlide10.xml" Id="R4746717d8ca4449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97b268c0dc54d9b" /><Relationship Type="http://schemas.openxmlformats.org/officeDocument/2006/relationships/hyperlink" Target="https://github.com/msg1150/UnrealTeamProjectPortfolio/blob/d0415f7a35e5674e69ba3a3ec27d63dd70c0253e/SpawnSelectionSystem/SpawnSelectionComponent.cpp#L597-L614" TargetMode="External" Id="R68cd546c10a64eab" /><Relationship Type="http://schemas.openxmlformats.org/officeDocument/2006/relationships/notesSlide" Target="/ppt/notesSlides/notesSlide11.xml" Id="R5543a6d329da43f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42eb9cec25e472a" /><Relationship Type="http://schemas.openxmlformats.org/officeDocument/2006/relationships/hyperlink" Target="https://github.com/msg1150/UnrealTeamProjectPortfolio/blob/d0415f7a35e5674e69ba3a3ec27d63dd70c0253e/DeathDrop/DeathDropCarrier.cpp" TargetMode="External" Id="Rc6ef6b0578ea4e60" /><Relationship Type="http://schemas.openxmlformats.org/officeDocument/2006/relationships/image" Target="/ppt/media/image12.png" Id="Rbdba25f9648e4ba9" /><Relationship Type="http://schemas.openxmlformats.org/officeDocument/2006/relationships/image" Target="/ppt/media/image13.png" Id="R511f2b9e21c445b8" /><Relationship Type="http://schemas.openxmlformats.org/officeDocument/2006/relationships/notesSlide" Target="/ppt/notesSlides/notesSlide12.xml" Id="Re45778ea061b40c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94229b4816b41e5" /><Relationship Type="http://schemas.openxmlformats.org/officeDocument/2006/relationships/hyperlink" Target="https://github.com/msg1150/UnrealTeamProjectPortfolio/blob/d0415f7a35e5674e69ba3a3ec27d63dd70c0253e/DeathCam/DeathCamActor.cpp" TargetMode="External" Id="Ra4aacc854474479a" /><Relationship Type="http://schemas.openxmlformats.org/officeDocument/2006/relationships/image" Target="/ppt/media/image2.gif" Id="Ra4be1a33bd7b4405" /><Relationship Type="http://schemas.openxmlformats.org/officeDocument/2006/relationships/image" Target="/ppt/media/image.jpeg" Id="R88f3535d360c42e8" /><Relationship Type="http://schemas.openxmlformats.org/officeDocument/2006/relationships/notesSlide" Target="/ppt/notesSlides/notesSlide13.xml" Id="R2968a013d8bb402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9560094df0940ef" /><Relationship Type="http://schemas.openxmlformats.org/officeDocument/2006/relationships/hyperlink" Target="https://github.com/msg1150/UnrealTeamProjectPortfolio/blob/d0415f7a35e5674e69ba3a3ec27d63dd70c0253e/CharacterDisplay/ShooterOutlineComponent.cpp" TargetMode="External" Id="R82eeab41aa7f44fd" /><Relationship Type="http://schemas.openxmlformats.org/officeDocument/2006/relationships/image" Target="/ppt/media/image14.png" Id="Rf12f35679430455a" /><Relationship Type="http://schemas.openxmlformats.org/officeDocument/2006/relationships/image" Target="/ppt/media/image15.png" Id="R2b99be54d62d45e8" /><Relationship Type="http://schemas.openxmlformats.org/officeDocument/2006/relationships/notesSlide" Target="/ppt/notesSlides/notesSlide14.xml" Id="R6536a63c00fd45e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e2f90e9e9ea43c8" /><Relationship Type="http://schemas.openxmlformats.org/officeDocument/2006/relationships/hyperlink" Target="https://github.com/msg1150/UnrealTeamProjectPortfolio/blob/d0415f7a35e5674e69ba3a3ec27d63dd70c0253e/CharacterDisplay/ShooterNicknameComponent.cpp" TargetMode="External" Id="Rbf7a8c9e83c14e47" /><Relationship Type="http://schemas.openxmlformats.org/officeDocument/2006/relationships/image" Target="/ppt/media/image16.png" Id="Rcd990b526fd2459d" /><Relationship Type="http://schemas.openxmlformats.org/officeDocument/2006/relationships/image" Target="/ppt/media/image17.png" Id="Rde7f4cb33ac741c3" /><Relationship Type="http://schemas.openxmlformats.org/officeDocument/2006/relationships/notesSlide" Target="/ppt/notesSlides/notesSlide15.xml" Id="Rd3c7f93943b4429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945290c106b4218" /><Relationship Type="http://schemas.openxmlformats.org/officeDocument/2006/relationships/image" Target="/ppt/media/image18.png" Id="R9f188920fcd44f27" /><Relationship Type="http://schemas.openxmlformats.org/officeDocument/2006/relationships/hyperlink" Target="https://github.com/msg1150/UnrealTeamProjectPortfolio/blob/d0415f7a35e5674e69ba3a3ec27d63dd70c0253e/CharacterAppearance/CharacterAppearanceComponent.cpp#L167-L183" TargetMode="External" Id="R1a3d717387d846cc" /><Relationship Type="http://schemas.openxmlformats.org/officeDocument/2006/relationships/notesSlide" Target="/ppt/notesSlides/notesSlide16.xml" Id="Rcd6c30fd1b6446f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69f423cb75241c8" /><Relationship Type="http://schemas.openxmlformats.org/officeDocument/2006/relationships/image" Target="/ppt/media/image19.png" Id="R9ff57639e2c2485f" /><Relationship Type="http://schemas.openxmlformats.org/officeDocument/2006/relationships/notesSlide" Target="/ppt/notesSlides/notesSlide17.xml" Id="R9191d27f1c7441a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3923f2beedc4f6e" /><Relationship Type="http://schemas.openxmlformats.org/officeDocument/2006/relationships/hyperlink" Target="https://github.com/msg1150/UnrealTeamProjectPortfolio" TargetMode="External" Id="Rabe1b803cbb344be" /><Relationship Type="http://schemas.openxmlformats.org/officeDocument/2006/relationships/hyperlink" Target="mailto:wkdgks88009@gmail.com" TargetMode="External" Id="R1fa3f1658b2a4eac" /><Relationship Type="http://schemas.openxmlformats.org/officeDocument/2006/relationships/hyperlink" Target="https://github.com/msg1150" TargetMode="External" Id="Rc1a65659917f4e6e" /><Relationship Type="http://schemas.openxmlformats.org/officeDocument/2006/relationships/notesSlide" Target="/ppt/notesSlides/notesSlide18.xml" Id="Rbbf7ace35e9b49e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FA402B1-DD23-4DC6-BC26-F7B1E8E3B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969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C2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4095DD6-0C14-4556-A650-F75833A18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100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pPr>
            <a:r>
              <a:t>GAMEPLAY PROGRAMMER PORTFOLIO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E12EB8C-D88F-4B1E-9B22-1213FF651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spcAft>
                <a:spcPts val="10"/>
              </a:spcAft>
              <a:buNone/>
              <a:defRPr sz="3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BattleArena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B923404-B9A7-4725-A7E2-32DD56A32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4762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spcAft>
                <a:spcPts val="10"/>
              </a:spcAft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박장한</a:t>
            </a:r>
          </a:p>
          <a:p xmlns:a="http://schemas.openxmlformats.org/drawingml/2006/main">
            <a:pPr algn="l">
              <a:spcAft>
                <a:spcPts val="12"/>
              </a:spcAft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3D 멀티플레이 슈팅 게임</a:t>
            </a:r>
          </a:p>
          <a:p xmlns:a="http://schemas.openxmlformats.org/drawingml/2006/main">
            <a:pPr algn="l">
              <a:spcAft>
                <a:spcPts val="12"/>
              </a:spcAft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2025.12 ~ 현재 개발 진행 중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533CCA3C-516D-4EA8-9E37-92BB70CA7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4762500" cy="1981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2530"/>
          </a:solidFill>
          <a:ln xmlns:a="http://schemas.openxmlformats.org/drawingml/2006/main" w="12700">
            <a:solidFill>
              <a:srgbClr val="34405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47650" tIns="247650" rIns="247650" bIns="24765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spcAft>
                <a:spcPts val="18"/>
              </a:spcAft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주요 구현</a:t>
            </a:r>
          </a:p>
          <a:p xmlns:a="http://schemas.openxmlformats.org/drawingml/2006/main">
            <a:pPr algn="l">
              <a:spcAft>
                <a:spcPts val="12"/>
              </a:spcAft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5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spcAft>
                <a:spcPts val="14"/>
              </a:spcAft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무기 조준, 투사체, 충돌 판정</a:t>
            </a:r>
          </a:p>
          <a:p xmlns:a="http://schemas.openxmlformats.org/drawingml/2006/main">
            <a:pPr algn="l">
              <a:spcAft>
                <a:spcPts val="12"/>
              </a:spcAft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4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spcAft>
                <a:spcPts val="14"/>
              </a:spcAft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외부 데이터 편집 및 레벨 검증 도구</a:t>
            </a:r>
          </a:p>
          <a:p xmlns:a="http://schemas.openxmlformats.org/drawingml/2006/main">
            <a:pPr algn="l">
              <a:spcAft>
                <a:spcPts val="12"/>
              </a:spcAft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4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spcAft>
                <a:spcPts val="14"/>
              </a:spcAft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AI 특수 이동 경로 탐색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D9DFEBF4-E631-47C8-8D08-B32D0DBC9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409700"/>
            <a:ext cx="5943600" cy="4857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51D"/>
          </a:solidFill>
          <a:ln xmlns:a="http://schemas.openxmlformats.org/drawingml/2006/main" w="13335">
            <a:solidFill>
              <a:srgbClr val="3C5F9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28600" tIns="182880" rIns="228600" bIns="182880" anchor="ctr"/>
          <a:lstStyle xmlns:a="http://schemas.openxmlformats.org/drawingml/2006/main"/>
          <a:p xmlns:a="http://schemas.openxmlformats.org/drawingml/2006/main">
            <a:pPr algn="ctr">
              <a:spcAft>
                <a:spcPts val="600"/>
              </a:spcAft>
              <a:buNone/>
              <a:defRPr sz="1300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pPr>
            <a:endParaRPr/>
          </a:p>
        </p:txBody>
      </p:sp>
      <p:pic>
        <p:nvPicPr>
          <p:cNvPr id="13" name="게임대표이미지">
            <a:extLst xmlns:a="http://schemas.openxmlformats.org/drawingml/2006/main">
              <a:ext uri="{FF2B5EF4-FFF2-40B4-BE49-F238E27FC236}">
                <a16:creationId xmlns:a16="http://schemas.microsoft.com/office/drawing/2014/main" id="{35F44B77-A533-4A6F-A05E-56B74DB436C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2dce28336543d3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686425" y="2200851"/>
            <a:ext cx="5810250" cy="3275449"/>
          </a:xfrm>
          <a:prstGeom xmlns:a="http://schemas.openxmlformats.org/drawingml/2006/main" prst="rect">
            <a:avLst/>
          </a:prstGeom>
        </p:spPr>
      </p:pic>
      <p:sp>
        <p:nvSpPr>
          <p:cNvPr id="8" name="직사각형 7">
            <a:extLst xmlns:a="http://schemas.openxmlformats.org/drawingml/2006/main">
              <a:ext uri="{FF2B5EF4-FFF2-40B4-BE49-F238E27FC236}">
                <a16:creationId xmlns:a16="http://schemas.microsoft.com/office/drawing/2014/main" id="{61ABA5E6-ECA4-448E-BCCF-57FA919CC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6334125"/>
            <a:ext cx="5562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050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D1DBE8"/>
                </a:solidFill>
              </a:rPr>
              <a:t>프로젝트 대표 이미지</a:t>
            </a:r>
          </a:p>
        </p:txBody>
      </p:sp>
      <p:sp>
        <p:nvSpPr>
          <p:cNvPr id="9" name="직사각형 8">
            <a:extLst xmlns:a="http://schemas.openxmlformats.org/drawingml/2006/main">
              <a:ext uri="{FF2B5EF4-FFF2-40B4-BE49-F238E27FC236}">
                <a16:creationId xmlns:a16="http://schemas.microsoft.com/office/drawing/2014/main" id="{EC0C23D2-E58C-47CA-986B-5174CF0FA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pPr>
            <a:r>
              <a:t>01</a:t>
            </a:r>
          </a:p>
        </p:txBody>
      </p:sp>
      <p:pic>
        <p:nvPicPr>
          <p:cNvPr id="10" name="그래픽 9">
            <a:extLst xmlns:a="http://schemas.openxmlformats.org/drawingml/2006/main">
              <a:ext uri="{FF2B5EF4-FFF2-40B4-BE49-F238E27FC236}">
                <a16:creationId xmlns:a16="http://schemas.microsoft.com/office/drawing/2014/main" id="{F3494C73-FD96-4028-930E-F29E3F4C701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64b33fbe0b4602">
            <a:extLst>
              <a:ext uri="{96DAC541-7B7A-43D3-8B79-37D633B846F1}">
                <asvg:svgBlip xmlns:asvg="http://schemas.microsoft.com/office/drawing/2016/SVG/main" r:embed="Reeafdf996ee9445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23900" y="2152650"/>
            <a:ext cx="590550" cy="590550"/>
          </a:xfrm>
          <a:prstGeom xmlns:a="http://schemas.openxmlformats.org/drawingml/2006/main" prst="rect">
            <a:avLst/>
          </a:prstGeom>
        </p:spPr>
      </p:pic>
      <p:pic>
        <p:nvPicPr>
          <p:cNvPr id="11" name="그림 10">
            <a:extLst xmlns:a="http://schemas.openxmlformats.org/drawingml/2006/main">
              <a:ext uri="{FF2B5EF4-FFF2-40B4-BE49-F238E27FC236}">
                <a16:creationId xmlns:a16="http://schemas.microsoft.com/office/drawing/2014/main" id="{3253800E-5C6F-4996-AEF3-79EF4BA693B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80b29924194f64"/>
          <a:stretch xmlns:a="http://schemas.openxmlformats.org/drawingml/2006/main"/>
        </p:blipFill>
        <p:spPr>
          <a:xfrm xmlns:a="http://schemas.openxmlformats.org/drawingml/2006/main">
            <a:off x="3371850" y="2153459"/>
            <a:ext cx="523875" cy="588931"/>
          </a:xfrm>
          <a:prstGeom xmlns:a="http://schemas.openxmlformats.org/drawingml/2006/main" prst="rect">
            <a:avLst/>
          </a:prstGeom>
        </p:spPr>
      </p:pic>
      <p:sp>
        <p:nvSpPr>
          <p:cNvPr id="12" name="직사각형 11">
            <a:extLst xmlns:a="http://schemas.openxmlformats.org/drawingml/2006/main">
              <a:ext uri="{FF2B5EF4-FFF2-40B4-BE49-F238E27FC236}">
                <a16:creationId xmlns:a16="http://schemas.microsoft.com/office/drawing/2014/main" id="{FF679DCE-C7EB-496B-B218-63EDE2487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257425"/>
            <a:ext cx="1714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rPr>
              <a:t>Unreal Engine 5.6.1</a:t>
            </a:r>
          </a:p>
        </p:txBody>
      </p:sp>
    </p:spTree>
    <p:extLst>
      <p:ext uri="{BB962C8B-B14F-4D97-AF65-F5344CB8AC3E}">
        <p14:creationId xmlns:p14="http://schemas.microsoft.com/office/powerpoint/2010/main" val="202033217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B3DC714-D698-48E3-AE11-C991A703D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969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C2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36920B6-11A0-4091-9295-D742F39B9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0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0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0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0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0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0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0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0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0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20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rPr>
              <a:t>01  PROJECT OVERVIEW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4FD3263-2DB0-40CB-85AD-3DB988FFC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5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/>
              <a:t>프로젝트 개요와 담당 범위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DA8F889F-D8DC-43D8-9ABA-278B1BB6A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4762500" cy="4857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2530"/>
          </a:solidFill>
          <a:ln xmlns:a="http://schemas.openxmlformats.org/drawingml/2006/main" w="12700">
            <a:solidFill>
              <a:srgbClr val="34405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23850" tIns="304800" rIns="266700" bIns="22860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BattleArena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Unreal Engine 5.6.1 기반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3D 멀티플레이 슈팅 팀 프로젝트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개발 기간  2025.12 ~ 현재 진행 중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담당: 게임플레이 / 제작 도구 프로그래밍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AI 관련 구현: 특수 이동 경로 탐색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개발 환경: C++ / Blueprint / .NET 8 WPF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컴포넌트와 서브시스템에 핵심 처리를 분리하고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Blueprint의 발사와 피격 연출에 연결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E6701208-7008-4F40-AF10-24116AC3F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409700"/>
            <a:ext cx="5943600" cy="4857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2530"/>
          </a:solidFill>
          <a:ln xmlns:a="http://schemas.openxmlformats.org/drawingml/2006/main">
            <a:solidFill>
              <a:srgbClr val="34405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23850" tIns="304800" rIns="266700" bIns="22860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핵심 구현 5개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01 전투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조준 자세 보정, 투사체 이동과 충돌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3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02 AI 특수 이동 경로 탐색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일반 이동과 포탈 / 점프패드 경로 통합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3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03 포탈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서버 이동 처리와 로컬 화면 렌더링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3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04 데이터 도구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Reflection / WPF / JSON 데이터 흐름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3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05 레벨 검증 도구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배치 오류 검사와 대상 오브젝트 탐색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추가 구현: 1인칭 보정, 스폰 / 리스폰, 사망 처리,</a:t>
            </a:r>
            <a:br>
              <a:rPr sz="142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</a:br>
            <a:r>
              <a:rPr sz="142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캐릭터 표시와 AI 외형 데이터, BGM</a:t>
            </a:r>
          </a:p>
        </p:txBody>
      </p:sp>
      <p:sp>
        <p:nvSpPr>
          <p:cNvPr id="7" name="직사각형 6">
            <a:extLst xmlns:a="http://schemas.openxmlformats.org/drawingml/2006/main">
              <a:ext uri="{FF2B5EF4-FFF2-40B4-BE49-F238E27FC236}">
                <a16:creationId xmlns:a16="http://schemas.microsoft.com/office/drawing/2014/main" id="{83A27D07-EA0F-4F9A-B832-B6389E03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pPr>
            <a: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98749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C05124A-6C4E-45BA-9DDA-5DAD53B00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969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C2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C5EA127-A6C4-46A4-8EE7-4AA9A9412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rPr>
              <a:t>핵심 구현 1/5 | WEAPON SYSTEM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1D9D2A1-77CF-4CB0-84D6-1AE9BBF04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5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/>
              <a:t>조준선 기준 투사체 이동과 무기 자세 보정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09D4A57F-5DFE-431B-A171-1A30A0E65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09700"/>
            <a:ext cx="5410200" cy="2209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2530"/>
          </a:solidFill>
          <a:ln xmlns:a="http://schemas.openxmlformats.org/drawingml/2006/main" w="12700">
            <a:solidFill>
              <a:srgbClr val="34405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247650" rIns="228600" bIns="17145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과제: 조준선과 총구의 위치 차이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카메라 방향과 총구 위치로 </a:t>
            </a:r>
            <a:r>
              <a:rPr sz="1575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합류 지점</a:t>
            </a: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계산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총구 출발 경로를 조준선 방향으로 연결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AnimGraph</a:t>
            </a: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에서 조준에 맞춰 무기 자세 보정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4607D0ED-DA3B-405D-A539-80EEFEA91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790950"/>
            <a:ext cx="5410200" cy="2476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E1219"/>
          </a:solidFill>
          <a:ln xmlns:a="http://schemas.openxmlformats.org/drawingml/2006/main" w="12700">
            <a:solidFill>
              <a:srgbClr val="2A36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247650" rIns="228600" bIns="17145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핵심 로직: 한 프레임 안의 방향 전환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합류까지 걸리는 </a:t>
            </a:r>
            <a:r>
              <a:rPr sz="1575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시간과 남은 시간을 분리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전환 전후를 나눠 </a:t>
            </a:r>
            <a:r>
              <a:rPr sz="1575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같은 프레임</a:t>
            </a: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에서 이동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충돌로 멈추거나 사라지면 추가 이동 중단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4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적용: 합류 전후의 이동 시간과 속도를 유지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3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1a3327f0cba24bbb"/>
              </a:rPr>
              <a:t>투사체 이동 코드</a:t>
            </a:r>
          </a:p>
        </p:txBody>
      </p:sp>
      <p:sp>
        <p:nvSpPr>
          <p:cNvPr id="9" name="직사각형 8">
            <a:extLst xmlns:a="http://schemas.openxmlformats.org/drawingml/2006/main">
              <a:ext uri="{FF2B5EF4-FFF2-40B4-BE49-F238E27FC236}">
                <a16:creationId xmlns:a16="http://schemas.microsoft.com/office/drawing/2014/main" id="{DA80F53A-B47F-4446-80F3-5FC40E83C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pPr>
            <a:r>
              <a:t>03</a:t>
            </a:r>
          </a:p>
        </p:txBody>
      </p:sp>
      <p:sp>
        <p:nvSpPr>
          <p:cNvPr id="10" name="Media 1">
            <a:extLst xmlns:a="http://schemas.openxmlformats.org/drawingml/2006/main">
              <a:ext uri="{FF2B5EF4-FFF2-40B4-BE49-F238E27FC236}">
                <a16:creationId xmlns:a16="http://schemas.microsoft.com/office/drawing/2014/main" id="{3C7497E8-8A56-45EA-B492-352124526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5295900" cy="2981325"/>
          </a:xfrm>
          <a:prstGeom xmlns:a="http://schemas.openxmlformats.org/drawingml/2006/main" prst="roundRect">
            <a:avLst>
              <a:gd name="adj" fmla="val 4473"/>
            </a:avLst>
          </a:prstGeom>
          <a:solidFill xmlns:a="http://schemas.openxmlformats.org/drawingml/2006/main">
            <a:srgbClr val="11151D"/>
          </a:solidFill>
          <a:ln xmlns:a="http://schemas.openxmlformats.org/drawingml/2006/main" w="12383">
            <a:solidFill>
              <a:srgbClr val="4D78A8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7" name="사격_편집본">
            <a:extLst xmlns:a="http://schemas.openxmlformats.org/drawingml/2006/main">
              <a:ext uri="{FF2B5EF4-FFF2-40B4-BE49-F238E27FC236}">
                <a16:creationId xmlns:a16="http://schemas.microsoft.com/office/drawing/2014/main" id="{C0716D9C-BBAF-4BEF-87D9-26457704A60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d5060398c447b6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76275" y="1980186"/>
            <a:ext cx="5162550" cy="1840353"/>
          </a:xfrm>
          <a:prstGeom xmlns:a="http://schemas.openxmlformats.org/drawingml/2006/main" prst="rect">
            <a:avLst/>
          </a:prstGeom>
        </p:spPr>
      </p:pic>
      <p:sp>
        <p:nvSpPr>
          <p:cNvPr id="11" name="Caption 1">
            <a:extLst xmlns:a="http://schemas.openxmlformats.org/drawingml/2006/main">
              <a:ext uri="{FF2B5EF4-FFF2-40B4-BE49-F238E27FC236}">
                <a16:creationId xmlns:a16="http://schemas.microsoft.com/office/drawing/2014/main" id="{66E76BAD-3765-417F-ACE9-F1E176D31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7700"/>
            <a:ext cx="5295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조준 후 발사 장면(GIF) / 이동 로직은 아래 흐름도로 설명</a:t>
            </a:r>
          </a:p>
        </p:txBody>
      </p:sp>
      <p:sp>
        <p:nvSpPr>
          <p:cNvPr id="12" name="Diagram Flow 0 0">
            <a:extLst xmlns:a="http://schemas.openxmlformats.org/drawingml/2006/main">
              <a:ext uri="{FF2B5EF4-FFF2-40B4-BE49-F238E27FC236}">
                <a16:creationId xmlns:a16="http://schemas.microsoft.com/office/drawing/2014/main" id="{040EF690-0B4B-4519-A8D3-24059B693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562100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2383">
            <a:solidFill>
              <a:srgbClr val="4DA3FF"/>
            </a:solidFill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총구에서</a:t>
            </a:r>
          </a:p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발사</a:t>
            </a:r>
          </a:p>
        </p:txBody>
      </p:sp>
      <p:sp>
        <p:nvSpPr>
          <p:cNvPr id="13" name="Diagram Flow 0 1">
            <a:extLst xmlns:a="http://schemas.openxmlformats.org/drawingml/2006/main">
              <a:ext uri="{FF2B5EF4-FFF2-40B4-BE49-F238E27FC236}">
                <a16:creationId xmlns:a16="http://schemas.microsoft.com/office/drawing/2014/main" id="{FB3F9D8B-E67F-466D-9AD8-80990BA33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105400"/>
            <a:ext cx="1562100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2383">
            <a:solidFill>
              <a:srgbClr val="4DA3FF"/>
            </a:solidFill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조준선에</a:t>
            </a:r>
          </a:p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합류</a:t>
            </a:r>
          </a:p>
        </p:txBody>
      </p:sp>
      <p:sp>
        <p:nvSpPr>
          <p:cNvPr id="14" name="Diagram Flow 0 2">
            <a:extLst xmlns:a="http://schemas.openxmlformats.org/drawingml/2006/main">
              <a:ext uri="{FF2B5EF4-FFF2-40B4-BE49-F238E27FC236}">
                <a16:creationId xmlns:a16="http://schemas.microsoft.com/office/drawing/2014/main" id="{3E0AF70F-E81D-442C-A80E-FCF6DE4A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105400"/>
            <a:ext cx="1562100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2383">
            <a:solidFill>
              <a:srgbClr val="4DA3FF"/>
            </a:solidFill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조준 방향으로</a:t>
            </a:r>
          </a:p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전방 비행</a:t>
            </a:r>
          </a:p>
        </p:txBody>
      </p:sp>
      <p:sp>
        <p:nvSpPr>
          <p:cNvPr id="15" name="Diagram Arrow new 1">
            <a:extLst xmlns:a="http://schemas.openxmlformats.org/drawingml/2006/main">
              <a:ext uri="{FF2B5EF4-FFF2-40B4-BE49-F238E27FC236}">
                <a16:creationId xmlns:a16="http://schemas.microsoft.com/office/drawing/2014/main" id="{2C030150-70CF-43A3-A264-2148F0E14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5400675"/>
            <a:ext cx="2095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 xmlns:a="http://schemas.openxmlformats.org/drawingml/2006/main">
            <a:endParaRPr/>
          </a:p>
        </p:txBody>
      </p:sp>
      <p:sp>
        <p:nvSpPr>
          <p:cNvPr id="16" name="Diagram Arrow new 2">
            <a:extLst xmlns:a="http://schemas.openxmlformats.org/drawingml/2006/main">
              <a:ext uri="{FF2B5EF4-FFF2-40B4-BE49-F238E27FC236}">
                <a16:creationId xmlns:a16="http://schemas.microsoft.com/office/drawing/2014/main" id="{E1EC4624-DD84-4398-B10A-3A321C93B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5400675"/>
            <a:ext cx="2095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 xmlns:a="http://schemas.openxmlformats.org/drawingml/2006/main">
            <a:endParaRPr/>
          </a:p>
        </p:txBody>
      </p:sp>
    </p:spTree>
    <p:extLst>
      <p:ext uri="{BB962C8B-B14F-4D97-AF65-F5344CB8AC3E}">
        <p14:creationId xmlns:p14="http://schemas.microsoft.com/office/powerpoint/2010/main" val="193290062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4F1CCB8-0D4E-48DF-B885-CEC403B15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969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C2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63534EC-62DC-4DF0-B2F4-2318F2754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rPr>
              <a:t>핵심 구현 1/5 | PROJECTILE COLLISION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1D68FA9-BED7-449C-BD45-7EE3FA646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5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/>
              <a:t>플레이어 명중과 환경 충돌 판정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6BCE1872-4C74-4F57-81B0-F39E7A4ED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09700"/>
            <a:ext cx="5410200" cy="2209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2530"/>
          </a:solidFill>
          <a:ln xmlns:a="http://schemas.openxmlformats.org/drawingml/2006/main" w="12700">
            <a:solidFill>
              <a:srgbClr val="34405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247650" rIns="228600" bIns="17145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명중과 환경의 검사 반경 분리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명중용 Sphere와 환경 충돌용 Sphere에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서로 다른 반경</a:t>
            </a: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을 적용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4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실제로 이동한 시작점과 끝점 사이를 각각 검사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503C4857-B884-497E-8A08-5CFF79A86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790950"/>
            <a:ext cx="5410200" cy="2476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E1219"/>
          </a:solidFill>
          <a:ln xmlns:a="http://schemas.openxmlformats.org/drawingml/2006/main" w="12700">
            <a:solidFill>
              <a:srgbClr val="2A36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247650" rIns="228600" bIns="17145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충돌 순서와 가림 여부 검사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충돌 시점을 비교해 먼저 만나는 대상을 선택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Line Trace</a:t>
            </a: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로 벽에 가려진 명중 후보 제외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플레이어 명중은 </a:t>
            </a:r>
            <a:r>
              <a:rPr sz="1575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서버 권한</a:t>
            </a: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에서 검사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확정된 충돌 결과를 이벤트로 전달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4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d296f2d524414404"/>
              </a:rPr>
              <a:t>충돌 판정 코드</a:t>
            </a:r>
          </a:p>
        </p:txBody>
      </p:sp>
      <p:sp>
        <p:nvSpPr>
          <p:cNvPr id="9" name="직사각형 8">
            <a:extLst xmlns:a="http://schemas.openxmlformats.org/drawingml/2006/main">
              <a:ext uri="{FF2B5EF4-FFF2-40B4-BE49-F238E27FC236}">
                <a16:creationId xmlns:a16="http://schemas.microsoft.com/office/drawing/2014/main" id="{5A89E6FB-E02E-43A8-9202-225A929F8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pPr>
            <a:r>
              <a:t>04</a:t>
            </a:r>
          </a:p>
        </p:txBody>
      </p:sp>
      <p:sp>
        <p:nvSpPr>
          <p:cNvPr id="10" name="Media 1">
            <a:extLst xmlns:a="http://schemas.openxmlformats.org/drawingml/2006/main">
              <a:ext uri="{FF2B5EF4-FFF2-40B4-BE49-F238E27FC236}">
                <a16:creationId xmlns:a16="http://schemas.microsoft.com/office/drawing/2014/main" id="{328972BE-E633-4F8A-B42E-C5DB64147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5295900" cy="2981325"/>
          </a:xfrm>
          <a:prstGeom xmlns:a="http://schemas.openxmlformats.org/drawingml/2006/main" prst="roundRect">
            <a:avLst>
              <a:gd name="adj" fmla="val 4473"/>
            </a:avLst>
          </a:prstGeom>
          <a:solidFill xmlns:a="http://schemas.openxmlformats.org/drawingml/2006/main">
            <a:srgbClr val="11151D"/>
          </a:solidFill>
          <a:ln xmlns:a="http://schemas.openxmlformats.org/drawingml/2006/main" w="12383">
            <a:solidFill>
              <a:srgbClr val="4D78A8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7" name="플레이어판정콜리전과환경판정콜리전">
            <a:extLst xmlns:a="http://schemas.openxmlformats.org/drawingml/2006/main">
              <a:ext uri="{FF2B5EF4-FFF2-40B4-BE49-F238E27FC236}">
                <a16:creationId xmlns:a16="http://schemas.microsoft.com/office/drawing/2014/main" id="{5835A8FD-996B-4064-8BD4-7FAD3C37FA6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eacefc5a53437f"/>
          <a:srcRect xmlns:a="http://schemas.openxmlformats.org/drawingml/2006/main" l="19305" t="16820" r="13127" b="8257"/>
          <a:stretch xmlns:a="http://schemas.openxmlformats.org/drawingml/2006/main"/>
        </p:blipFill>
        <p:spPr>
          <a:xfrm xmlns:a="http://schemas.openxmlformats.org/drawingml/2006/main">
            <a:off x="1223282" y="1476375"/>
            <a:ext cx="4068536" cy="2847975"/>
          </a:xfrm>
          <a:prstGeom xmlns:a="http://schemas.openxmlformats.org/drawingml/2006/main" prst="rect">
            <a:avLst/>
          </a:prstGeom>
        </p:spPr>
      </p:pic>
      <p:sp>
        <p:nvSpPr>
          <p:cNvPr id="11" name="Caption 1">
            <a:extLst xmlns:a="http://schemas.openxmlformats.org/drawingml/2006/main">
              <a:ext uri="{FF2B5EF4-FFF2-40B4-BE49-F238E27FC236}">
                <a16:creationId xmlns:a16="http://schemas.microsoft.com/office/drawing/2014/main" id="{D516C6EF-D382-44DB-8038-A1850DA14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7700"/>
            <a:ext cx="5295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플레이어 명중 범위와 환경 충돌 범위</a:t>
            </a:r>
          </a:p>
        </p:txBody>
      </p:sp>
      <p:sp>
        <p:nvSpPr>
          <p:cNvPr id="12" name="Diagram Collision query">
            <a:extLst xmlns:a="http://schemas.openxmlformats.org/drawingml/2006/main">
              <a:ext uri="{FF2B5EF4-FFF2-40B4-BE49-F238E27FC236}">
                <a16:creationId xmlns:a16="http://schemas.microsoft.com/office/drawing/2014/main" id="{D745DB9B-6CA3-4F96-84B6-EF7455A61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562100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2383">
            <a:solidFill>
              <a:srgbClr val="4DA3FF"/>
            </a:solidFill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플레이어와</a:t>
            </a:r>
          </a:p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환경 검사</a:t>
            </a:r>
          </a:p>
        </p:txBody>
      </p:sp>
      <p:sp>
        <p:nvSpPr>
          <p:cNvPr id="13" name="Diagram First contact">
            <a:extLst xmlns:a="http://schemas.openxmlformats.org/drawingml/2006/main">
              <a:ext uri="{FF2B5EF4-FFF2-40B4-BE49-F238E27FC236}">
                <a16:creationId xmlns:a16="http://schemas.microsoft.com/office/drawing/2014/main" id="{CC1FB6C6-95DE-4793-8F51-A9D20D1E5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105400"/>
            <a:ext cx="1562100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2383">
            <a:solidFill>
              <a:srgbClr val="4DA3FF"/>
            </a:solidFill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먼저 검출된</a:t>
            </a:r>
          </a:p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충돌 선택</a:t>
            </a:r>
          </a:p>
        </p:txBody>
      </p:sp>
      <p:sp>
        <p:nvSpPr>
          <p:cNvPr id="14" name="Diagram Occlusion filter">
            <a:extLst xmlns:a="http://schemas.openxmlformats.org/drawingml/2006/main">
              <a:ext uri="{FF2B5EF4-FFF2-40B4-BE49-F238E27FC236}">
                <a16:creationId xmlns:a16="http://schemas.microsoft.com/office/drawing/2014/main" id="{835018CC-4575-4976-839D-001DB67FD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105400"/>
            <a:ext cx="1562100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2383">
            <a:solidFill>
              <a:srgbClr val="4DA3FF"/>
            </a:solidFill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가려진 후보</a:t>
            </a:r>
          </a:p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제외</a:t>
            </a:r>
          </a:p>
        </p:txBody>
      </p:sp>
      <p:sp>
        <p:nvSpPr>
          <p:cNvPr id="15" name="Diagram Arrow collision 233">
            <a:extLst xmlns:a="http://schemas.openxmlformats.org/drawingml/2006/main">
              <a:ext uri="{FF2B5EF4-FFF2-40B4-BE49-F238E27FC236}">
                <a16:creationId xmlns:a16="http://schemas.microsoft.com/office/drawing/2014/main" id="{93C8A320-F21B-4AEA-8AD9-FCF1F623F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5400675"/>
            <a:ext cx="2095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 xmlns:a="http://schemas.openxmlformats.org/drawingml/2006/main">
            <a:endParaRPr/>
          </a:p>
        </p:txBody>
      </p:sp>
      <p:sp>
        <p:nvSpPr>
          <p:cNvPr id="16" name="Diagram Arrow collision 429">
            <a:extLst xmlns:a="http://schemas.openxmlformats.org/drawingml/2006/main">
              <a:ext uri="{FF2B5EF4-FFF2-40B4-BE49-F238E27FC236}">
                <a16:creationId xmlns:a16="http://schemas.microsoft.com/office/drawing/2014/main" id="{89129096-0A89-48CC-AB76-48D7A1169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5400675"/>
            <a:ext cx="2095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 xmlns:a="http://schemas.openxmlformats.org/drawingml/2006/main">
            <a:endParaRPr/>
          </a:p>
        </p:txBody>
      </p:sp>
    </p:spTree>
    <p:extLst>
      <p:ext uri="{BB962C8B-B14F-4D97-AF65-F5344CB8AC3E}">
        <p14:creationId xmlns:p14="http://schemas.microsoft.com/office/powerpoint/2010/main" val="172321489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135A1AB-169E-46CC-BEC9-B4EEC8FF9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969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C2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16FB9DE-E886-4128-ABBC-E9822FA1A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rPr>
              <a:t>핵심 구현 2/5 | AI NAVIGATION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8CD56B4-BD54-4BF1-916C-9A8CABCB5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5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/>
              <a:t>AI가 포탈과 점프패드를 이용하는 경로 탐색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02833813-B309-47F7-955B-3CE56BF0F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09700"/>
            <a:ext cx="5410200" cy="2209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2530"/>
          </a:solidFill>
          <a:ln xmlns:a="http://schemas.openxmlformats.org/drawingml/2006/main" w="12700">
            <a:solidFill>
              <a:srgbClr val="34405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247650" rIns="228600" bIns="17145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일반 이동과 특수 이동 그래프 통합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과제: </a:t>
            </a:r>
            <a:r>
              <a:rPr sz="1575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NavMesh</a:t>
            </a: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만으로 연결되지 않는 이동 구간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포탈 / 점프패드 / 점프 / 낙하 연결 추가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걷는 거리와 특수 이동 비용을 </a:t>
            </a:r>
            <a:r>
              <a:rPr sz="1575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Dijkstra</a:t>
            </a: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로 비교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4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적용: 두 이동 방식을 포함한 경로 선택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7FF2D75A-6EFE-4C24-96B8-60F4AB876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790950"/>
            <a:ext cx="5410200" cy="2476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E1219"/>
          </a:solidFill>
          <a:ln xmlns:a="http://schemas.openxmlformats.org/drawingml/2006/main" w="12700">
            <a:solidFill>
              <a:srgbClr val="2A36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247650" rIns="228600" bIns="17145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정적 그래프 재사용과 상세 경로 생성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특수 이동 지점 사이의 거리와 연결 정보를 </a:t>
            </a:r>
            <a:r>
              <a:rPr sz="1575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캐시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출발점 / 도착점 후보는 추정 거리로 비교 후 검증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선택한 일반 이동 구간만</a:t>
            </a: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상세 경로 생성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4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적용: 반복 요청에서 정적 구간의 거리 쿼리 재사용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3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c4c32a8e6b9d4a2e"/>
              </a:rPr>
              <a:t>경로 탐색 코드</a:t>
            </a:r>
          </a:p>
        </p:txBody>
      </p:sp>
      <p:sp>
        <p:nvSpPr>
          <p:cNvPr id="9" name="직사각형 8">
            <a:extLst xmlns:a="http://schemas.openxmlformats.org/drawingml/2006/main">
              <a:ext uri="{FF2B5EF4-FFF2-40B4-BE49-F238E27FC236}">
                <a16:creationId xmlns:a16="http://schemas.microsoft.com/office/drawing/2014/main" id="{02BFDAB9-6005-43C5-8E6E-813514552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pPr>
            <a:r>
              <a:t>05</a:t>
            </a:r>
          </a:p>
        </p:txBody>
      </p:sp>
      <p:sp>
        <p:nvSpPr>
          <p:cNvPr id="10" name="Media 1">
            <a:extLst xmlns:a="http://schemas.openxmlformats.org/drawingml/2006/main">
              <a:ext uri="{FF2B5EF4-FFF2-40B4-BE49-F238E27FC236}">
                <a16:creationId xmlns:a16="http://schemas.microsoft.com/office/drawing/2014/main" id="{60C04477-35DD-4999-A1F7-922039AF0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5295900" cy="3409950"/>
          </a:xfrm>
          <a:prstGeom xmlns:a="http://schemas.openxmlformats.org/drawingml/2006/main" prst="roundRect">
            <a:avLst>
              <a:gd name="adj" fmla="val 4473"/>
            </a:avLst>
          </a:prstGeom>
          <a:solidFill xmlns:a="http://schemas.openxmlformats.org/drawingml/2006/main">
            <a:srgbClr val="11151D"/>
          </a:solidFill>
          <a:ln xmlns:a="http://schemas.openxmlformats.org/drawingml/2006/main" w="12383">
            <a:solidFill>
              <a:srgbClr val="4D78A8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Caption 1">
            <a:extLst xmlns:a="http://schemas.openxmlformats.org/drawingml/2006/main">
              <a:ext uri="{FF2B5EF4-FFF2-40B4-BE49-F238E27FC236}">
                <a16:creationId xmlns:a16="http://schemas.microsoft.com/office/drawing/2014/main" id="{EE56EB38-DFF1-4FE2-93E5-434B21708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529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흰색: 현재 이동 경로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4FE44E-9148-432E-915C-9B528FF48EB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3228be5da74274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76275" y="1476375"/>
            <a:ext cx="5162550" cy="3271098"/>
          </a:xfrm>
          <a:prstGeom xmlns:a="http://schemas.openxmlformats.org/drawingml/2006/main" prst="rect">
            <a:avLst/>
          </a:prstGeom>
        </p:spPr>
      </p:pic>
      <p:sp>
        <p:nvSpPr>
          <p:cNvPr id="13" name="Route red legend">
            <a:extLst xmlns:a="http://schemas.openxmlformats.org/drawingml/2006/main">
              <a:ext uri="{FF2B5EF4-FFF2-40B4-BE49-F238E27FC236}">
                <a16:creationId xmlns:a16="http://schemas.microsoft.com/office/drawing/2014/main" id="{5A36E9C6-0558-4568-8BC9-3C40DF986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529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FF8585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FF8585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FF8585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FF8585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FF8585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FF8585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FF8585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FF8585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FF8585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FF858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FF8585"/>
                </a:solidFill>
                <a:latin typeface="Noto Sans KR"/>
                <a:ea typeface="Noto Sans KR"/>
                <a:cs typeface="Noto Sans KR"/>
              </a:defRPr>
            </a:pPr>
            <a:r>
              <a:t>빨강: 특수 이동 연결(PathLink)</a:t>
            </a:r>
          </a:p>
        </p:txBody>
      </p:sp>
      <p:sp>
        <p:nvSpPr>
          <p:cNvPr id="14" name="Route blue legend">
            <a:extLst xmlns:a="http://schemas.openxmlformats.org/drawingml/2006/main">
              <a:ext uri="{FF2B5EF4-FFF2-40B4-BE49-F238E27FC236}">
                <a16:creationId xmlns:a16="http://schemas.microsoft.com/office/drawing/2014/main" id="{ED209909-EF8B-4616-B49C-0FD617069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529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75B9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75B9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75B9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75B9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75B9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75B9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75B9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75B9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75B9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75B9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75B9FF"/>
                </a:solidFill>
                <a:latin typeface="Noto Sans KR"/>
                <a:ea typeface="Noto Sans KR"/>
                <a:cs typeface="Noto Sans KR"/>
              </a:defRPr>
            </a:pPr>
            <a:r>
              <a:t>파랑: 이후 이동 경로</a:t>
            </a:r>
          </a:p>
        </p:txBody>
      </p:sp>
      <p:sp>
        <p:nvSpPr>
          <p:cNvPr id="15" name="AI position circle">
            <a:extLst xmlns:a="http://schemas.openxmlformats.org/drawingml/2006/main">
              <a:ext uri="{FF2B5EF4-FFF2-40B4-BE49-F238E27FC236}">
                <a16:creationId xmlns:a16="http://schemas.microsoft.com/office/drawing/2014/main" id="{C26701CF-AC54-430A-9F53-3C44B52F2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43200"/>
            <a:ext cx="438150" cy="4381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FFFF"/>
            </a:solidFill>
          </a:ln>
        </p:spPr>
      </p:sp>
      <p:sp>
        <p:nvSpPr>
          <p:cNvPr id="16" name="AI position label">
            <a:extLst xmlns:a="http://schemas.openxmlformats.org/drawingml/2006/main">
              <a:ext uri="{FF2B5EF4-FFF2-40B4-BE49-F238E27FC236}">
                <a16:creationId xmlns:a16="http://schemas.microsoft.com/office/drawing/2014/main" id="{CE346EA3-7820-4934-B55C-65EB2F852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8384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AI</a:t>
            </a:r>
          </a:p>
        </p:txBody>
      </p:sp>
    </p:spTree>
    <p:extLst>
      <p:ext uri="{BB962C8B-B14F-4D97-AF65-F5344CB8AC3E}">
        <p14:creationId xmlns:p14="http://schemas.microsoft.com/office/powerpoint/2010/main" val="39741645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177CC06-D038-4BDA-8BA6-28D7E10EC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969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C2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59EC950-0B7B-4957-B45E-6FA954FCA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rPr>
              <a:t>핵심 구현 3/5 | PORTAL SYSTEM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6E412D2-FE15-458C-9F18-6645A032A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5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/>
              <a:t>포탈 이동 처리와 포탈 너머의 출구 화면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7772A9F2-D519-4812-BEB6-12B1835AE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09700"/>
            <a:ext cx="5410200" cy="1333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2530"/>
          </a:solidFill>
          <a:ln xmlns:a="http://schemas.openxmlformats.org/drawingml/2006/main" w="12700">
            <a:solidFill>
              <a:srgbClr val="34405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209550" rIns="228600" bIns="13335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서버 권한 이동과 재진입 제한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서버에서 플레이어의 위치와 방향을 변경하고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설정된 시간 동안 이동 직후의 재진입을 제한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B17DB93F-4665-4248-B08B-6627753DB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914650"/>
            <a:ext cx="5410200" cy="1333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2530"/>
          </a:solidFill>
          <a:ln xmlns:a="http://schemas.openxmlformats.org/drawingml/2006/main" w="12700">
            <a:solidFill>
              <a:srgbClr val="34405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209550" rIns="228600" bIns="13335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플레이어별 출구 화면 표시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로컬 카메라를 출구 시점으로 변환하고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SceneCapture</a:t>
            </a: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결과를 포탈 표면에 표시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5A4DD4C-DB06-4B4C-8911-CD9013F5E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419600"/>
            <a:ext cx="5410200" cy="18478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2530"/>
          </a:solidFill>
          <a:ln xmlns:a="http://schemas.openxmlformats.org/drawingml/2006/main" w="12700">
            <a:solidFill>
              <a:srgbClr val="34405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209550" rIns="228600" bIns="13335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최적화 제어(코드 기본값)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화면 점유율에 맞춰 렌더 타깃 해상도 선택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정지 상태 갱신 빈도: 기본 </a:t>
            </a:r>
            <a:r>
              <a:rPr sz="1575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5회/초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프레임당 촬영 상한: 기본 </a:t>
            </a:r>
            <a:r>
              <a:rPr sz="1575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2회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4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da7dc275519440ec"/>
              </a:rPr>
              <a:t>포탈 렌더링 코드</a:t>
            </a:r>
          </a:p>
        </p:txBody>
      </p:sp>
      <p:sp>
        <p:nvSpPr>
          <p:cNvPr id="10" name="직사각형 9">
            <a:extLst xmlns:a="http://schemas.openxmlformats.org/drawingml/2006/main">
              <a:ext uri="{FF2B5EF4-FFF2-40B4-BE49-F238E27FC236}">
                <a16:creationId xmlns:a16="http://schemas.microsoft.com/office/drawing/2014/main" id="{DE661DB9-E92D-4F17-A0E0-5FF44F627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pPr>
            <a:r>
              <a:t>06</a:t>
            </a:r>
          </a:p>
        </p:txBody>
      </p:sp>
      <p:sp>
        <p:nvSpPr>
          <p:cNvPr id="11" name="Media 1">
            <a:extLst xmlns:a="http://schemas.openxmlformats.org/drawingml/2006/main">
              <a:ext uri="{FF2B5EF4-FFF2-40B4-BE49-F238E27FC236}">
                <a16:creationId xmlns:a16="http://schemas.microsoft.com/office/drawing/2014/main" id="{1D5A7FFF-03D9-40E0-92AC-A22BB9296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4510" y="1409700"/>
            <a:ext cx="3446079" cy="2476500"/>
          </a:xfrm>
          <a:prstGeom xmlns:a="http://schemas.openxmlformats.org/drawingml/2006/main" prst="roundRect">
            <a:avLst>
              <a:gd name="adj" fmla="val 6364"/>
            </a:avLst>
          </a:prstGeom>
          <a:solidFill xmlns:a="http://schemas.openxmlformats.org/drawingml/2006/main">
            <a:srgbClr val="11151D"/>
          </a:solidFill>
          <a:ln xmlns:a="http://schemas.openxmlformats.org/drawingml/2006/main" w="12383">
            <a:solidFill>
              <a:srgbClr val="4D78A8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8" name="포탈">
            <a:extLst xmlns:a="http://schemas.openxmlformats.org/drawingml/2006/main">
              <a:ext uri="{FF2B5EF4-FFF2-40B4-BE49-F238E27FC236}">
                <a16:creationId xmlns:a16="http://schemas.microsoft.com/office/drawing/2014/main" id="{72C1A94D-CA78-4A1D-B0A3-A82E73E0941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c09bbec9e44814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601185" y="1476375"/>
            <a:ext cx="3312729" cy="2343150"/>
          </a:xfrm>
          <a:prstGeom xmlns:a="http://schemas.openxmlformats.org/drawingml/2006/main" prst="rect">
            <a:avLst/>
          </a:prstGeom>
        </p:spPr>
      </p:pic>
      <p:sp>
        <p:nvSpPr>
          <p:cNvPr id="12" name="Caption 1">
            <a:extLst xmlns:a="http://schemas.openxmlformats.org/drawingml/2006/main">
              <a:ext uri="{FF2B5EF4-FFF2-40B4-BE49-F238E27FC236}">
                <a16:creationId xmlns:a16="http://schemas.microsoft.com/office/drawing/2014/main" id="{F3C0F24D-3DA5-488B-B881-B61DF3823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4510" y="3962400"/>
            <a:ext cx="3446079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0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포탈 표면에 표시되는 출구 쪽 게임 화면</a:t>
            </a:r>
          </a:p>
        </p:txBody>
      </p:sp>
      <p:sp>
        <p:nvSpPr>
          <p:cNvPr id="13" name="Diagram heading">
            <a:extLst xmlns:a="http://schemas.openxmlformats.org/drawingml/2006/main">
              <a:ext uri="{FF2B5EF4-FFF2-40B4-BE49-F238E27FC236}">
                <a16:creationId xmlns:a16="http://schemas.microsoft.com/office/drawing/2014/main" id="{7ADF660A-8CD9-4FAE-8A65-8CDDDB11F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529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캐릭터의 위치와 방향 설정</a:t>
            </a:r>
          </a:p>
        </p:txBody>
      </p:sp>
      <p:sp>
        <p:nvSpPr>
          <p:cNvPr id="14" name="Diagram Portal entrance">
            <a:extLst xmlns:a="http://schemas.openxmlformats.org/drawingml/2006/main">
              <a:ext uri="{FF2B5EF4-FFF2-40B4-BE49-F238E27FC236}">
                <a16:creationId xmlns:a16="http://schemas.microsoft.com/office/drawing/2014/main" id="{51513318-F285-4C26-80C7-D912C5756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2095500" cy="78105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2383">
            <a:solidFill>
              <a:srgbClr val="4DA3FF"/>
            </a:solidFill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입구 진입</a:t>
            </a:r>
          </a:p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캐릭터의 겹침 감지</a:t>
            </a:r>
          </a:p>
        </p:txBody>
      </p:sp>
      <p:sp>
        <p:nvSpPr>
          <p:cNvPr id="15" name="Diagram Portal exit">
            <a:extLst xmlns:a="http://schemas.openxmlformats.org/drawingml/2006/main">
              <a:ext uri="{FF2B5EF4-FFF2-40B4-BE49-F238E27FC236}">
                <a16:creationId xmlns:a16="http://schemas.microsoft.com/office/drawing/2014/main" id="{19348812-A439-49BF-B495-B66A1B74B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857750"/>
            <a:ext cx="2438400" cy="78105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2383">
            <a:solidFill>
              <a:srgbClr val="4DA3FF"/>
            </a:solidFill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출구 지점</a:t>
            </a:r>
          </a:p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설정된 위치와 방향 적용</a:t>
            </a:r>
          </a:p>
        </p:txBody>
      </p:sp>
      <p:sp>
        <p:nvSpPr>
          <p:cNvPr id="16" name="Diagram Portal move arrow">
            <a:extLst xmlns:a="http://schemas.openxmlformats.org/drawingml/2006/main">
              <a:ext uri="{FF2B5EF4-FFF2-40B4-BE49-F238E27FC236}">
                <a16:creationId xmlns:a16="http://schemas.microsoft.com/office/drawing/2014/main" id="{FA5B77F8-5EF9-4DE7-88E2-EFD15BDEA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162550"/>
            <a:ext cx="6477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 xmlns:a="http://schemas.openxmlformats.org/drawingml/2006/main">
            <a:endParaRPr/>
          </a:p>
        </p:txBody>
      </p:sp>
      <p:sp>
        <p:nvSpPr>
          <p:cNvPr id="17" name="Diagram exit configuration">
            <a:extLst xmlns:a="http://schemas.openxmlformats.org/drawingml/2006/main">
              <a:ext uri="{FF2B5EF4-FFF2-40B4-BE49-F238E27FC236}">
                <a16:creationId xmlns:a16="http://schemas.microsoft.com/office/drawing/2014/main" id="{BD3ADA87-1195-484F-9BE9-40495CA1D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529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레벨에 지정한 출구의 위치와 방향을 사용</a:t>
            </a:r>
          </a:p>
        </p:txBody>
      </p:sp>
    </p:spTree>
    <p:extLst>
      <p:ext uri="{BB962C8B-B14F-4D97-AF65-F5344CB8AC3E}">
        <p14:creationId xmlns:p14="http://schemas.microsoft.com/office/powerpoint/2010/main" val="44511763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2FE9225-3933-4D11-B3BA-AA17026BE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969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C2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B1D107F-0C80-402B-81CB-9F2C47A77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rPr>
              <a:t>핵심 구현 4/5 | DATA PIPELINE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978B422-3E47-4ED2-AD66-3D48469F7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5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/>
              <a:t>외부 데이터 편집과 Unreal 에셋 동기화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11837D99-C00B-4896-BAA6-4376757E3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5295900" cy="23050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2530"/>
          </a:solidFill>
          <a:ln xmlns:a="http://schemas.openxmlformats.org/drawingml/2006/main" w="12700">
            <a:solidFill>
              <a:srgbClr val="34405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247650" rIns="228600" bIns="17145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과제: Unreal Editor 밖에서 수치 편집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.NET 8 WPF</a:t>
            </a: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가 </a:t>
            </a:r>
            <a:r>
              <a:rPr sz="1575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Manifest</a:t>
            </a: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로 편집 화면 구성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Reflection</a:t>
            </a: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에서 타입 / Enum / 입력 범위를 추출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4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적용: JSON 편집과 저장 전 검증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4A968FF8-38A3-45C6-B244-22F797ABC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62400"/>
            <a:ext cx="5410200" cy="23050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E1219"/>
          </a:solidFill>
          <a:ln xmlns:a="http://schemas.openxmlformats.org/drawingml/2006/main" w="12700">
            <a:solidFill>
              <a:srgbClr val="2A36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247650" rIns="228600" bIns="17145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값 적용과 파일 저장의 시점 분리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Runtime에서는 </a:t>
            </a:r>
            <a:r>
              <a:rPr sz="1575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메모리 값만</a:t>
            </a: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변경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Editor에서는 값 적용과 에셋 파일 저장을 분리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에셋 저장 시 연결된 JSON도 갱신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4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612a252d1b31498d"/>
              </a:rPr>
              <a:t>JSON 동기화</a:t>
            </a:r>
            <a:r>
              <a: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/ </a:t>
            </a:r>
            <a:r>
              <a: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8e0ff432dd924cb0"/>
              </a:rPr>
              <a:t>WPF 편집기</a:t>
            </a:r>
          </a:p>
        </p:txBody>
      </p:sp>
      <p:sp>
        <p:nvSpPr>
          <p:cNvPr id="9" name="직사각형 8">
            <a:extLst xmlns:a="http://schemas.openxmlformats.org/drawingml/2006/main">
              <a:ext uri="{FF2B5EF4-FFF2-40B4-BE49-F238E27FC236}">
                <a16:creationId xmlns:a16="http://schemas.microsoft.com/office/drawing/2014/main" id="{2E04C7BD-F680-467C-BCA2-117D84D63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pPr>
            <a:r>
              <a:t>07</a:t>
            </a:r>
          </a:p>
        </p:txBody>
      </p:sp>
      <p:pic>
        <p:nvPicPr>
          <p:cNvPr id="10" name="그림 9">
            <a:extLst xmlns:a="http://schemas.openxmlformats.org/drawingml/2006/main">
              <a:ext uri="{FF2B5EF4-FFF2-40B4-BE49-F238E27FC236}">
                <a16:creationId xmlns:a16="http://schemas.microsoft.com/office/drawing/2014/main" id="{E246B475-6F84-4D37-BFB3-7CBDD2D4867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0f466e946f4543"/>
          <a:stretch xmlns:a="http://schemas.openxmlformats.org/drawingml/2006/main"/>
        </p:blipFill>
        <p:spPr>
          <a:xfrm xmlns:a="http://schemas.openxmlformats.org/drawingml/2006/main">
            <a:off x="10972800" y="457200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11" name="Diagram Reflection">
            <a:extLst xmlns:a="http://schemas.openxmlformats.org/drawingml/2006/main">
              <a:ext uri="{FF2B5EF4-FFF2-40B4-BE49-F238E27FC236}">
                <a16:creationId xmlns:a16="http://schemas.microsoft.com/office/drawing/2014/main" id="{7AEC8919-2ED3-404E-9F53-225169232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2286000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2383">
            <a:solidFill>
              <a:srgbClr val="4DA3FF"/>
            </a:solidFill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Unreal 속성 정보</a:t>
            </a:r>
          </a:p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Reflection</a:t>
            </a:r>
          </a:p>
        </p:txBody>
      </p:sp>
      <p:sp>
        <p:nvSpPr>
          <p:cNvPr id="12" name="Diagram Manifest">
            <a:extLst xmlns:a="http://schemas.openxmlformats.org/drawingml/2006/main">
              <a:ext uri="{FF2B5EF4-FFF2-40B4-BE49-F238E27FC236}">
                <a16:creationId xmlns:a16="http://schemas.microsoft.com/office/drawing/2014/main" id="{A1F83280-4C79-4CB9-A02B-16DB6C3AC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1409700"/>
            <a:ext cx="2286000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2383">
            <a:solidFill>
              <a:srgbClr val="4DA3FF"/>
            </a:solidFill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데이터 명세</a:t>
            </a:r>
          </a:p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타입과 입력 범위</a:t>
            </a:r>
          </a:p>
        </p:txBody>
      </p:sp>
      <p:sp>
        <p:nvSpPr>
          <p:cNvPr id="13" name="Diagram WPF">
            <a:extLst xmlns:a="http://schemas.openxmlformats.org/drawingml/2006/main">
              <a:ext uri="{FF2B5EF4-FFF2-40B4-BE49-F238E27FC236}">
                <a16:creationId xmlns:a16="http://schemas.microsoft.com/office/drawing/2014/main" id="{13CF6703-EDD1-43D9-A5F6-20D524E97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09700"/>
            <a:ext cx="2286000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2383">
            <a:solidFill>
              <a:srgbClr val="4DA3FF"/>
            </a:solidFill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WPF 편집기</a:t>
            </a:r>
          </a:p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값 편집과 검증</a:t>
            </a:r>
          </a:p>
        </p:txBody>
      </p:sp>
      <p:sp>
        <p:nvSpPr>
          <p:cNvPr id="14" name="Diagram JSON">
            <a:extLst xmlns:a="http://schemas.openxmlformats.org/drawingml/2006/main">
              <a:ext uri="{FF2B5EF4-FFF2-40B4-BE49-F238E27FC236}">
                <a16:creationId xmlns:a16="http://schemas.microsoft.com/office/drawing/2014/main" id="{5FBD5618-8A56-4856-81AE-0C91C98F8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1409700"/>
            <a:ext cx="2286000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2383">
            <a:solidFill>
              <a:srgbClr val="4DA3FF"/>
            </a:solidFill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JSON</a:t>
            </a:r>
          </a:p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변경 값 저장</a:t>
            </a:r>
          </a:p>
        </p:txBody>
      </p:sp>
      <p:sp>
        <p:nvSpPr>
          <p:cNvPr id="15" name="Diagram Arrow 3">
            <a:extLst xmlns:a="http://schemas.openxmlformats.org/drawingml/2006/main">
              <a:ext uri="{FF2B5EF4-FFF2-40B4-BE49-F238E27FC236}">
                <a16:creationId xmlns:a16="http://schemas.microsoft.com/office/drawing/2014/main" id="{285D9622-2B4D-4398-8FC3-1E52DC8AF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1704975"/>
            <a:ext cx="504825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 xmlns:a="http://schemas.openxmlformats.org/drawingml/2006/main">
            <a:endParaRPr/>
          </a:p>
        </p:txBody>
      </p:sp>
      <p:sp>
        <p:nvSpPr>
          <p:cNvPr id="16" name="Diagram Arrow 4">
            <a:extLst xmlns:a="http://schemas.openxmlformats.org/drawingml/2006/main">
              <a:ext uri="{FF2B5EF4-FFF2-40B4-BE49-F238E27FC236}">
                <a16:creationId xmlns:a16="http://schemas.microsoft.com/office/drawing/2014/main" id="{5DA1BDDE-4683-422A-83B6-EDD53E71A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704975"/>
            <a:ext cx="504825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 xmlns:a="http://schemas.openxmlformats.org/drawingml/2006/main">
            <a:endParaRPr/>
          </a:p>
        </p:txBody>
      </p:sp>
      <p:sp>
        <p:nvSpPr>
          <p:cNvPr id="17" name="Diagram Arrow 5">
            <a:extLst xmlns:a="http://schemas.openxmlformats.org/drawingml/2006/main">
              <a:ext uri="{FF2B5EF4-FFF2-40B4-BE49-F238E27FC236}">
                <a16:creationId xmlns:a16="http://schemas.microsoft.com/office/drawing/2014/main" id="{2432D6F1-3680-4D1B-9D1B-385BC3AE4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704975"/>
            <a:ext cx="504825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 xmlns:a="http://schemas.openxmlformats.org/drawingml/2006/main">
            <a:endParaRPr/>
          </a:p>
        </p:txBody>
      </p:sp>
      <p:sp>
        <p:nvSpPr>
          <p:cNvPr id="18" name="Diagram Runtime">
            <a:extLst xmlns:a="http://schemas.openxmlformats.org/drawingml/2006/main">
              <a:ext uri="{FF2B5EF4-FFF2-40B4-BE49-F238E27FC236}">
                <a16:creationId xmlns:a16="http://schemas.microsoft.com/office/drawing/2014/main" id="{289451E6-07F8-4499-9A1C-13B80BFBE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86050"/>
            <a:ext cx="2095500" cy="647700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2383">
            <a:solidFill>
              <a:srgbClr val="4DA3FF"/>
            </a:solidFill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Runtime</a:t>
            </a:r>
          </a:p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메모리 값 적용</a:t>
            </a:r>
          </a:p>
        </p:txBody>
      </p:sp>
      <p:sp>
        <p:nvSpPr>
          <p:cNvPr id="19" name="Diagram Editor">
            <a:extLst xmlns:a="http://schemas.openxmlformats.org/drawingml/2006/main">
              <a:ext uri="{FF2B5EF4-FFF2-40B4-BE49-F238E27FC236}">
                <a16:creationId xmlns:a16="http://schemas.microsoft.com/office/drawing/2014/main" id="{BD04EC52-05F1-47D3-AD05-D1C9688E8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2686050"/>
            <a:ext cx="2095500" cy="647700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2383">
            <a:solidFill>
              <a:srgbClr val="4DA3FF"/>
            </a:solidFill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Editor</a:t>
            </a:r>
          </a:p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에셋 파일 저장</a:t>
            </a:r>
          </a:p>
        </p:txBody>
      </p:sp>
      <p:sp>
        <p:nvSpPr>
          <p:cNvPr id="20" name="Diagram Arrow 6">
            <a:extLst xmlns:a="http://schemas.openxmlformats.org/drawingml/2006/main">
              <a:ext uri="{FF2B5EF4-FFF2-40B4-BE49-F238E27FC236}">
                <a16:creationId xmlns:a16="http://schemas.microsoft.com/office/drawing/2014/main" id="{CC1A0120-D6CE-49D1-A30B-443F05573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162175"/>
            <a:ext cx="190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 xmlns:a="http://schemas.openxmlformats.org/drawingml/2006/main">
            <a:endParaRPr/>
          </a:p>
        </p:txBody>
      </p:sp>
      <p:sp>
        <p:nvSpPr>
          <p:cNvPr id="21" name="Diagram Arrow 7">
            <a:extLst xmlns:a="http://schemas.openxmlformats.org/drawingml/2006/main">
              <a:ext uri="{FF2B5EF4-FFF2-40B4-BE49-F238E27FC236}">
                <a16:creationId xmlns:a16="http://schemas.microsoft.com/office/drawing/2014/main" id="{E9208477-CA3F-40C7-B701-D123A2EF6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390775"/>
            <a:ext cx="24479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/>
            </a:defPPr>
            <a:lvl1pPr>
              <a:buNone/>
              <a:defRPr sz="1500"/>
            </a:lvl1pPr>
            <a:lvl2pPr>
              <a:buNone/>
              <a:defRPr sz="1500"/>
            </a:lvl2pPr>
            <a:lvl3pPr>
              <a:buNone/>
              <a:defRPr sz="1500"/>
            </a:lvl3pPr>
            <a:lvl4pPr>
              <a:buNone/>
              <a:defRPr sz="1500"/>
            </a:lvl4pPr>
            <a:lvl5pPr>
              <a:buNone/>
              <a:defRPr sz="1500"/>
            </a:lvl5pPr>
            <a:lvl6pPr>
              <a:buNone/>
              <a:defRPr sz="1500"/>
            </a:lvl6pPr>
            <a:lvl7pPr>
              <a:buNone/>
              <a:defRPr sz="1500"/>
            </a:lvl7pPr>
            <a:lvl8pPr>
              <a:buNone/>
              <a:defRPr sz="1500"/>
            </a:lvl8pPr>
            <a:lvl9pPr>
              <a:buNone/>
              <a:defRPr sz="1500"/>
            </a:lvl9pPr>
          </a:lstStyle>
          <a:p xmlns:a="http://schemas.openxmlformats.org/drawingml/2006/main">
            <a:endParaRPr/>
          </a:p>
        </p:txBody>
      </p:sp>
      <p:sp>
        <p:nvSpPr>
          <p:cNvPr id="22" name="Diagram Arrow 8">
            <a:extLst xmlns:a="http://schemas.openxmlformats.org/drawingml/2006/main">
              <a:ext uri="{FF2B5EF4-FFF2-40B4-BE49-F238E27FC236}">
                <a16:creationId xmlns:a16="http://schemas.microsoft.com/office/drawing/2014/main" id="{377B14DA-BDCA-4109-A485-82C664FB7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390775"/>
            <a:ext cx="114300" cy="2476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 xmlns:a="http://schemas.openxmlformats.org/drawingml/2006/main">
            <a:endParaRPr/>
          </a:p>
        </p:txBody>
      </p:sp>
      <p:sp>
        <p:nvSpPr>
          <p:cNvPr id="23" name="Diagram Arrow 9">
            <a:extLst xmlns:a="http://schemas.openxmlformats.org/drawingml/2006/main">
              <a:ext uri="{FF2B5EF4-FFF2-40B4-BE49-F238E27FC236}">
                <a16:creationId xmlns:a16="http://schemas.microsoft.com/office/drawing/2014/main" id="{40ED7C92-853E-48A4-A426-1BDEDB476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162175"/>
            <a:ext cx="190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 xmlns:a="http://schemas.openxmlformats.org/drawingml/2006/main">
            <a:endParaRPr/>
          </a:p>
        </p:txBody>
      </p:sp>
      <p:sp>
        <p:nvSpPr>
          <p:cNvPr id="24" name="Diagram Arrow 10">
            <a:extLst xmlns:a="http://schemas.openxmlformats.org/drawingml/2006/main">
              <a:ext uri="{FF2B5EF4-FFF2-40B4-BE49-F238E27FC236}">
                <a16:creationId xmlns:a16="http://schemas.microsoft.com/office/drawing/2014/main" id="{2E80E0D0-E3C5-4C3F-880E-AA5BF0DD0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390775"/>
            <a:ext cx="114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 xmlns:a="http://schemas.openxmlformats.org/drawingml/2006/main">
            <a:endParaRPr/>
          </a:p>
        </p:txBody>
      </p:sp>
      <p:sp>
        <p:nvSpPr>
          <p:cNvPr id="25" name="Diagram Arrow 11">
            <a:extLst xmlns:a="http://schemas.openxmlformats.org/drawingml/2006/main">
              <a:ext uri="{FF2B5EF4-FFF2-40B4-BE49-F238E27FC236}">
                <a16:creationId xmlns:a16="http://schemas.microsoft.com/office/drawing/2014/main" id="{F44204A3-B08B-4661-A684-5956D164F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2390775"/>
            <a:ext cx="114300" cy="2476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 xmlns:a="http://schemas.openxmlformats.org/drawingml/2006/main">
            <a:endParaRPr/>
          </a:p>
        </p:txBody>
      </p:sp>
      <p:sp>
        <p:nvSpPr>
          <p:cNvPr id="26" name="Editor JSON sync">
            <a:extLst xmlns:a="http://schemas.openxmlformats.org/drawingml/2006/main">
              <a:ext uri="{FF2B5EF4-FFF2-40B4-BE49-F238E27FC236}">
                <a16:creationId xmlns:a16="http://schemas.microsoft.com/office/drawing/2014/main" id="{CE34F96D-A354-4F8B-9662-AD654440A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1095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Editor에서 에셋을 저장하면 연결된 JSON에도 현재 값을 기록</a:t>
            </a:r>
          </a:p>
        </p:txBody>
      </p:sp>
    </p:spTree>
    <p:extLst>
      <p:ext uri="{BB962C8B-B14F-4D97-AF65-F5344CB8AC3E}">
        <p14:creationId xmlns:p14="http://schemas.microsoft.com/office/powerpoint/2010/main" val="162830723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2FE9225-3933-4D11-B3BA-AA17026BE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969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C2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B1D107F-0C80-402B-81CB-9F2C47A77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rPr>
              <a:t>핵심 구현 4/5 | DATA EDITOR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978B422-3E47-4ED2-AD66-3D48469F7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5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외부 데이터 편집 화면과 입력 검증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11837D99-C00B-4896-BAA6-4376757E3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4762500" cy="2857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2530"/>
          </a:solidFill>
          <a:ln xmlns:a="http://schemas.openxmlformats.org/drawingml/2006/main" w="12700">
            <a:solidFill>
              <a:srgbClr val="34405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247650" rIns="228600" bIns="17145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과제: 잘못된 값의 저장 방지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타입 / Enum / 중첩 구조에 맞춰 화면 구성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52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저장 전에 </a:t>
            </a:r>
            <a:r>
              <a:rPr sz="1575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타입과 허용 범위</a:t>
            </a: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를 검증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52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검증 실패 시 오류를 표시하고 저장 중단</a:t>
            </a:r>
          </a:p>
        </p:txBody>
      </p:sp>
      <p:sp>
        <p:nvSpPr>
          <p:cNvPr id="9" name="직사각형 8">
            <a:extLst xmlns:a="http://schemas.openxmlformats.org/drawingml/2006/main">
              <a:ext uri="{FF2B5EF4-FFF2-40B4-BE49-F238E27FC236}">
                <a16:creationId xmlns:a16="http://schemas.microsoft.com/office/drawing/2014/main" id="{2E04C7BD-F680-467C-BCA2-117D84D63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pPr>
            <a:r>
              <a:t>08</a:t>
            </a:r>
          </a:p>
        </p:txBody>
      </p:sp>
      <p:sp>
        <p:nvSpPr>
          <p:cNvPr id="12" name="Diagram Input">
            <a:extLst xmlns:a="http://schemas.openxmlformats.org/drawingml/2006/main">
              <a:ext uri="{FF2B5EF4-FFF2-40B4-BE49-F238E27FC236}">
                <a16:creationId xmlns:a16="http://schemas.microsoft.com/office/drawing/2014/main" id="{93E08550-3A57-4C0F-B9A4-17ACCD945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0100"/>
            <a:ext cx="11430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2383">
            <a:solidFill>
              <a:srgbClr val="4DA3FF"/>
            </a:solidFill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입력값</a:t>
            </a:r>
          </a:p>
        </p:txBody>
      </p:sp>
      <p:sp>
        <p:nvSpPr>
          <p:cNvPr id="13" name="Diagram Validation">
            <a:extLst xmlns:a="http://schemas.openxmlformats.org/drawingml/2006/main">
              <a:ext uri="{FF2B5EF4-FFF2-40B4-BE49-F238E27FC236}">
                <a16:creationId xmlns:a16="http://schemas.microsoft.com/office/drawing/2014/main" id="{8C03FF86-AB85-42CF-85FF-809DD5468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457700"/>
            <a:ext cx="1428750" cy="8191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F2530"/>
          </a:solidFill>
          <a:ln xmlns:a="http://schemas.openxmlformats.org/drawingml/2006/main" w="12383">
            <a:solidFill>
              <a:srgbClr val="4DA3FF"/>
            </a:solidFill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명세와</a:t>
            </a:r>
          </a:p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일치?</a:t>
            </a:r>
          </a:p>
        </p:txBody>
      </p:sp>
      <p:sp>
        <p:nvSpPr>
          <p:cNvPr id="14" name="Diagram Save">
            <a:extLst xmlns:a="http://schemas.openxmlformats.org/drawingml/2006/main">
              <a:ext uri="{FF2B5EF4-FFF2-40B4-BE49-F238E27FC236}">
                <a16:creationId xmlns:a16="http://schemas.microsoft.com/office/drawing/2014/main" id="{5085ECB0-C61D-44F8-BD2A-7AEC3CBB3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610100"/>
            <a:ext cx="142875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2383">
            <a:solidFill>
              <a:srgbClr val="4DA3FF"/>
            </a:solidFill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저장</a:t>
            </a:r>
          </a:p>
        </p:txBody>
      </p:sp>
      <p:sp>
        <p:nvSpPr>
          <p:cNvPr id="15" name="Diagram Reject">
            <a:extLst xmlns:a="http://schemas.openxmlformats.org/drawingml/2006/main">
              <a:ext uri="{FF2B5EF4-FFF2-40B4-BE49-F238E27FC236}">
                <a16:creationId xmlns:a16="http://schemas.microsoft.com/office/drawing/2014/main" id="{D1A6C59C-4C10-4D44-BDE2-CA441C021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734050"/>
            <a:ext cx="24765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2383">
            <a:solidFill>
              <a:srgbClr val="4DA3FF"/>
            </a:solidFill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오류 표시와 </a:t>
            </a: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저장 중단</a:t>
            </a:r>
          </a:p>
        </p:txBody>
      </p:sp>
      <p:sp>
        <p:nvSpPr>
          <p:cNvPr id="16" name="Diagram Arrow new 5">
            <a:extLst xmlns:a="http://schemas.openxmlformats.org/drawingml/2006/main">
              <a:ext uri="{FF2B5EF4-FFF2-40B4-BE49-F238E27FC236}">
                <a16:creationId xmlns:a16="http://schemas.microsoft.com/office/drawing/2014/main" id="{07AE1C18-1A06-4C0C-BDCD-13DBE3720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810125"/>
            <a:ext cx="2667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 xmlns:a="http://schemas.openxmlformats.org/drawingml/2006/main">
            <a:endParaRPr/>
          </a:p>
        </p:txBody>
      </p:sp>
      <p:sp>
        <p:nvSpPr>
          <p:cNvPr id="17" name="Diagram Arrow new 6">
            <a:extLst xmlns:a="http://schemas.openxmlformats.org/drawingml/2006/main">
              <a:ext uri="{FF2B5EF4-FFF2-40B4-BE49-F238E27FC236}">
                <a16:creationId xmlns:a16="http://schemas.microsoft.com/office/drawing/2014/main" id="{E6D17D58-5F3A-4B04-98BD-E833D6E80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4810125"/>
            <a:ext cx="3048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 xmlns:a="http://schemas.openxmlformats.org/drawingml/2006/main">
            <a:endParaRPr/>
          </a:p>
        </p:txBody>
      </p:sp>
      <p:sp>
        <p:nvSpPr>
          <p:cNvPr id="18" name="Diagram Arrow new 7">
            <a:extLst xmlns:a="http://schemas.openxmlformats.org/drawingml/2006/main">
              <a:ext uri="{FF2B5EF4-FFF2-40B4-BE49-F238E27FC236}">
                <a16:creationId xmlns:a16="http://schemas.microsoft.com/office/drawing/2014/main" id="{390B3C09-E09C-458C-B12C-DA186ACE6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324475"/>
            <a:ext cx="1905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 xmlns:a="http://schemas.openxmlformats.org/drawingml/2006/main">
            <a:endParaRPr/>
          </a:p>
        </p:txBody>
      </p:sp>
      <p:sp>
        <p:nvSpPr>
          <p:cNvPr id="19" name="Diagram Arrow new 8">
            <a:extLst xmlns:a="http://schemas.openxmlformats.org/drawingml/2006/main">
              <a:ext uri="{FF2B5EF4-FFF2-40B4-BE49-F238E27FC236}">
                <a16:creationId xmlns:a16="http://schemas.microsoft.com/office/drawing/2014/main" id="{027CBA5D-5F38-4230-9E09-134CC9D7B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495925"/>
            <a:ext cx="4476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 xmlns:a="http://schemas.openxmlformats.org/drawingml/2006/main">
            <a:endParaRPr/>
          </a:p>
        </p:txBody>
      </p:sp>
      <p:sp>
        <p:nvSpPr>
          <p:cNvPr id="20" name="Diagram Arrow new 9">
            <a:extLst xmlns:a="http://schemas.openxmlformats.org/drawingml/2006/main">
              <a:ext uri="{FF2B5EF4-FFF2-40B4-BE49-F238E27FC236}">
                <a16:creationId xmlns:a16="http://schemas.microsoft.com/office/drawing/2014/main" id="{CA5B313C-C211-4ED6-8DFC-2B18479C8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495925"/>
            <a:ext cx="114300" cy="1905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 xmlns:a="http://schemas.openxmlformats.org/drawingml/2006/main">
            <a:endParaRPr/>
          </a:p>
        </p:txBody>
      </p:sp>
      <p:sp>
        <p:nvSpPr>
          <p:cNvPr id="21" name="Valid label">
            <a:extLst xmlns:a="http://schemas.openxmlformats.org/drawingml/2006/main">
              <a:ext uri="{FF2B5EF4-FFF2-40B4-BE49-F238E27FC236}">
                <a16:creationId xmlns:a16="http://schemas.microsoft.com/office/drawing/2014/main" id="{AB14B73A-0AEE-406B-ACB2-F1E505DDB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3434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20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20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20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20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20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20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20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20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20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20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20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pPr>
            <a:r>
              <a:rPr sz="1200">
                <a:solidFill>
                  <a:srgbClr val="4DA3FF"/>
                </a:solidFill>
                <a:latin typeface="Noto Sans KR"/>
                <a:ea typeface="Noto Sans KR"/>
                <a:cs typeface="Noto Sans KR"/>
              </a:rPr>
              <a:t>일치</a:t>
            </a:r>
          </a:p>
        </p:txBody>
      </p:sp>
      <p:sp>
        <p:nvSpPr>
          <p:cNvPr id="22" name="Invalid label">
            <a:extLst xmlns:a="http://schemas.openxmlformats.org/drawingml/2006/main">
              <a:ext uri="{FF2B5EF4-FFF2-40B4-BE49-F238E27FC236}">
                <a16:creationId xmlns:a16="http://schemas.microsoft.com/office/drawing/2014/main" id="{7B745A5D-9253-4B57-A205-7E82447A3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3721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0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0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0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0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0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0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0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0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0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0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20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불일치</a:t>
            </a:r>
          </a:p>
        </p:txBody>
      </p:sp>
      <p:sp>
        <p:nvSpPr>
          <p:cNvPr id="23" name="Media 1">
            <a:extLst xmlns:a="http://schemas.openxmlformats.org/drawingml/2006/main">
              <a:ext uri="{FF2B5EF4-FFF2-40B4-BE49-F238E27FC236}">
                <a16:creationId xmlns:a16="http://schemas.microsoft.com/office/drawing/2014/main" id="{0B98AB18-DF44-4825-9E41-A426C5335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409700"/>
            <a:ext cx="5943600" cy="2343150"/>
          </a:xfrm>
          <a:prstGeom xmlns:a="http://schemas.openxmlformats.org/drawingml/2006/main" prst="roundRect">
            <a:avLst>
              <a:gd name="adj" fmla="val 5691"/>
            </a:avLst>
          </a:prstGeom>
          <a:solidFill xmlns:a="http://schemas.openxmlformats.org/drawingml/2006/main">
            <a:srgbClr val="11151D"/>
          </a:solidFill>
          <a:ln xmlns:a="http://schemas.openxmlformats.org/drawingml/2006/main" w="12383">
            <a:solidFill>
              <a:srgbClr val="4D78A8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27" name="편집화면">
            <a:extLst xmlns:a="http://schemas.openxmlformats.org/drawingml/2006/main">
              <a:ext uri="{FF2B5EF4-FFF2-40B4-BE49-F238E27FC236}">
                <a16:creationId xmlns:a16="http://schemas.microsoft.com/office/drawing/2014/main" id="{68368EAF-7887-4589-85DF-A2DAB7EFA34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0315291c844e83"/>
          <a:srcRect xmlns:a="http://schemas.openxmlformats.org/drawingml/2006/main" l="0" t="5576" r="234" b="35564"/>
          <a:stretch xmlns:a="http://schemas.openxmlformats.org/drawingml/2006/main"/>
        </p:blipFill>
        <p:spPr>
          <a:xfrm xmlns:a="http://schemas.openxmlformats.org/drawingml/2006/main">
            <a:off x="5686425" y="1503201"/>
            <a:ext cx="5810250" cy="2156147"/>
          </a:xfrm>
          <a:prstGeom xmlns:a="http://schemas.openxmlformats.org/drawingml/2006/main" prst="rect">
            <a:avLst/>
          </a:prstGeom>
        </p:spPr>
      </p:pic>
      <p:sp>
        <p:nvSpPr>
          <p:cNvPr id="24" name="Caption 1">
            <a:extLst xmlns:a="http://schemas.openxmlformats.org/drawingml/2006/main">
              <a:ext uri="{FF2B5EF4-FFF2-40B4-BE49-F238E27FC236}">
                <a16:creationId xmlns:a16="http://schemas.microsoft.com/office/drawing/2014/main" id="{4154BFA0-FDA5-4671-ABBA-AA8BBFF7A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819525"/>
            <a:ext cx="59436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편집 화면: 데이터 행과 필드값</a:t>
            </a:r>
          </a:p>
        </p:txBody>
      </p:sp>
      <p:sp>
        <p:nvSpPr>
          <p:cNvPr id="25" name="Media 2">
            <a:extLst xmlns:a="http://schemas.openxmlformats.org/drawingml/2006/main">
              <a:ext uri="{FF2B5EF4-FFF2-40B4-BE49-F238E27FC236}">
                <a16:creationId xmlns:a16="http://schemas.microsoft.com/office/drawing/2014/main" id="{FBEEE6CE-3354-4038-91B8-66B33CBC7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438650"/>
            <a:ext cx="5943600" cy="1695450"/>
          </a:xfrm>
          <a:prstGeom xmlns:a="http://schemas.openxmlformats.org/drawingml/2006/main" prst="roundRect">
            <a:avLst>
              <a:gd name="adj" fmla="val 7865"/>
            </a:avLst>
          </a:prstGeom>
          <a:solidFill xmlns:a="http://schemas.openxmlformats.org/drawingml/2006/main">
            <a:srgbClr val="11151D"/>
          </a:solidFill>
          <a:ln xmlns:a="http://schemas.openxmlformats.org/drawingml/2006/main" w="12383">
            <a:solidFill>
              <a:srgbClr val="4D78A8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28" name="검증메시지">
            <a:extLst xmlns:a="http://schemas.openxmlformats.org/drawingml/2006/main">
              <a:ext uri="{FF2B5EF4-FFF2-40B4-BE49-F238E27FC236}">
                <a16:creationId xmlns:a16="http://schemas.microsoft.com/office/drawing/2014/main" id="{FD627E23-3B26-45AE-BB5E-75BDFE1B81F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3249f1d2d3445d"/>
          <a:srcRect xmlns:a="http://schemas.openxmlformats.org/drawingml/2006/main" l="35464" t="46964" r="39127" b="33829"/>
          <a:stretch xmlns:a="http://schemas.openxmlformats.org/drawingml/2006/main"/>
        </p:blipFill>
        <p:spPr>
          <a:xfrm xmlns:a="http://schemas.openxmlformats.org/drawingml/2006/main">
            <a:off x="6948825" y="4505325"/>
            <a:ext cx="3285449" cy="1562100"/>
          </a:xfrm>
          <a:prstGeom xmlns:a="http://schemas.openxmlformats.org/drawingml/2006/main" prst="rect">
            <a:avLst/>
          </a:prstGeom>
        </p:spPr>
      </p:pic>
      <p:sp>
        <p:nvSpPr>
          <p:cNvPr id="26" name="Caption 2">
            <a:extLst xmlns:a="http://schemas.openxmlformats.org/drawingml/2006/main">
              <a:ext uri="{FF2B5EF4-FFF2-40B4-BE49-F238E27FC236}">
                <a16:creationId xmlns:a16="http://schemas.microsoft.com/office/drawing/2014/main" id="{70686ACD-9226-46D5-99F6-55BA7D5A2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6200775"/>
            <a:ext cx="59436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검증 메시지: 숫자 필드의 잘못된 입력으로 </a:t>
            </a:r>
            <a:r>
              <a:rPr sz="1350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저장 중단</a:t>
            </a:r>
          </a:p>
        </p:txBody>
      </p:sp>
    </p:spTree>
    <p:extLst>
      <p:ext uri="{BB962C8B-B14F-4D97-AF65-F5344CB8AC3E}">
        <p14:creationId xmlns:p14="http://schemas.microsoft.com/office/powerpoint/2010/main" val="162830723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34FA35D-33D4-489E-B8BD-614F0F6EE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969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C2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59097C8-4778-4847-AB61-A0F358726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rPr>
              <a:t>핵심 구현 5/5 | EDITOR TOOL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73A681A-FBE4-4BFB-BD6B-0DEE173D2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5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/>
              <a:t>레벨 배치 오류 검증 도구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C0D9ECFE-95F3-4378-B122-715E750BD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09700"/>
            <a:ext cx="5410200" cy="2209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2530"/>
          </a:solidFill>
          <a:ln xmlns:a="http://schemas.openxmlformats.org/drawingml/2006/main" w="12700">
            <a:solidFill>
              <a:srgbClr val="34405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247650" rIns="228600" bIns="17145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과제: 플레이 전 레벨 배치 오류 확인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포탈 / 점프패드 / 이동 경로 연결을 모듈별 검사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검사 모듈</a:t>
            </a: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등록으로 새 검사 대상을 확장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Reflection과 네이티브 연동으로 설정값 검사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B2C783D1-11C4-4C94-89A4-F2E3A515A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790950"/>
            <a:ext cx="5410200" cy="2476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E1219"/>
          </a:solidFill>
          <a:ln xmlns:a="http://schemas.openxmlformats.org/drawingml/2006/main" w="12700">
            <a:solidFill>
              <a:srgbClr val="2A36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247650" rIns="228600" bIns="17145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검사 결과에서 수정할 대상 찾기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출구와 목적지 누락, 잘못된 연결 / 값 검사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이동 경로 입구의 </a:t>
            </a:r>
            <a:r>
              <a:rPr sz="1575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지면 이격</a:t>
            </a: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도 오류로 보고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Slate의 </a:t>
            </a:r>
            <a:r>
              <a:rPr sz="1575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Focus 버튼</a:t>
            </a: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으로 대상 선택과 시점 이동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4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적용: 오류 목록에서 수정할 대상을 바로 확인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3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759e98dceffc491f"/>
              </a:rPr>
              <a:t>레벨 검증 도구 코드</a:t>
            </a:r>
          </a:p>
        </p:txBody>
      </p:sp>
      <p:sp>
        <p:nvSpPr>
          <p:cNvPr id="9" name="직사각형 8">
            <a:extLst xmlns:a="http://schemas.openxmlformats.org/drawingml/2006/main">
              <a:ext uri="{FF2B5EF4-FFF2-40B4-BE49-F238E27FC236}">
                <a16:creationId xmlns:a16="http://schemas.microsoft.com/office/drawing/2014/main" id="{AFE6AE44-CBD5-4FA8-9745-ECB68FB2E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pPr>
            <a:r>
              <a:t>09</a:t>
            </a:r>
          </a:p>
        </p:txBody>
      </p:sp>
      <p:sp>
        <p:nvSpPr>
          <p:cNvPr id="10" name="Media 1">
            <a:extLst xmlns:a="http://schemas.openxmlformats.org/drawingml/2006/main">
              <a:ext uri="{FF2B5EF4-FFF2-40B4-BE49-F238E27FC236}">
                <a16:creationId xmlns:a16="http://schemas.microsoft.com/office/drawing/2014/main" id="{BF2C1A9D-0BC7-4FD5-B5CC-B3CA3E6F5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5295900" cy="2981325"/>
          </a:xfrm>
          <a:prstGeom xmlns:a="http://schemas.openxmlformats.org/drawingml/2006/main" prst="roundRect">
            <a:avLst>
              <a:gd name="adj" fmla="val 4473"/>
            </a:avLst>
          </a:prstGeom>
          <a:solidFill xmlns:a="http://schemas.openxmlformats.org/drawingml/2006/main">
            <a:srgbClr val="11151D"/>
          </a:solidFill>
          <a:ln xmlns:a="http://schemas.openxmlformats.org/drawingml/2006/main" w="12383">
            <a:solidFill>
              <a:srgbClr val="4D78A8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7" name="레벨검증">
            <a:extLst xmlns:a="http://schemas.openxmlformats.org/drawingml/2006/main">
              <a:ext uri="{FF2B5EF4-FFF2-40B4-BE49-F238E27FC236}">
                <a16:creationId xmlns:a16="http://schemas.microsoft.com/office/drawing/2014/main" id="{BAF873B0-C733-4AE8-A523-52EA6C649BC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8ff75dfdc64600"/>
          <a:srcRect xmlns:a="http://schemas.openxmlformats.org/drawingml/2006/main" l="13226" t="6883" r="661" b="5736"/>
          <a:stretch xmlns:a="http://schemas.openxmlformats.org/drawingml/2006/main"/>
        </p:blipFill>
        <p:spPr>
          <a:xfrm xmlns:a="http://schemas.openxmlformats.org/drawingml/2006/main">
            <a:off x="676275" y="1562100"/>
            <a:ext cx="5162550" cy="2013014"/>
          </a:xfrm>
          <a:prstGeom xmlns:a="http://schemas.openxmlformats.org/drawingml/2006/main" prst="rect">
            <a:avLst/>
          </a:prstGeom>
        </p:spPr>
      </p:pic>
      <p:sp>
        <p:nvSpPr>
          <p:cNvPr id="11" name="Caption 1">
            <a:extLst xmlns:a="http://schemas.openxmlformats.org/drawingml/2006/main">
              <a:ext uri="{FF2B5EF4-FFF2-40B4-BE49-F238E27FC236}">
                <a16:creationId xmlns:a16="http://schemas.microsoft.com/office/drawing/2014/main" id="{1CB753A6-9ECB-4D5A-B411-BB2C87270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7700"/>
            <a:ext cx="5295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오류 목록과 레벨의 대상 오브젝트</a:t>
            </a:r>
          </a:p>
        </p:txBody>
      </p:sp>
      <p:sp>
        <p:nvSpPr>
          <p:cNvPr id="12" name="Diagram Flow 9 0">
            <a:extLst xmlns:a="http://schemas.openxmlformats.org/drawingml/2006/main">
              <a:ext uri="{FF2B5EF4-FFF2-40B4-BE49-F238E27FC236}">
                <a16:creationId xmlns:a16="http://schemas.microsoft.com/office/drawing/2014/main" id="{C499DAD8-B348-47D1-BC9D-C52FE65F5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562100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2383">
            <a:solidFill>
              <a:srgbClr val="4DA3FF"/>
            </a:solidFill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배치 오류</a:t>
            </a:r>
          </a:p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목록 확인</a:t>
            </a:r>
          </a:p>
        </p:txBody>
      </p:sp>
      <p:sp>
        <p:nvSpPr>
          <p:cNvPr id="13" name="Diagram Flow 9 1">
            <a:extLst xmlns:a="http://schemas.openxmlformats.org/drawingml/2006/main">
              <a:ext uri="{FF2B5EF4-FFF2-40B4-BE49-F238E27FC236}">
                <a16:creationId xmlns:a16="http://schemas.microsoft.com/office/drawing/2014/main" id="{D9A28CA7-D351-4C0B-9B86-DE95324DF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105400"/>
            <a:ext cx="1562100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2383">
            <a:solidFill>
              <a:srgbClr val="4DA3FF"/>
            </a:solidFill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대상 오브젝트</a:t>
            </a:r>
          </a:p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선택</a:t>
            </a:r>
          </a:p>
        </p:txBody>
      </p:sp>
      <p:sp>
        <p:nvSpPr>
          <p:cNvPr id="14" name="Diagram Flow 9 2">
            <a:extLst xmlns:a="http://schemas.openxmlformats.org/drawingml/2006/main">
              <a:ext uri="{FF2B5EF4-FFF2-40B4-BE49-F238E27FC236}">
                <a16:creationId xmlns:a16="http://schemas.microsoft.com/office/drawing/2014/main" id="{47771E99-7A26-46EA-93F0-8456F7FBB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105400"/>
            <a:ext cx="1562100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2383">
            <a:solidFill>
              <a:srgbClr val="4DA3FF"/>
            </a:solidFill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레벨에서</a:t>
            </a:r>
          </a:p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위치 확인</a:t>
            </a:r>
          </a:p>
        </p:txBody>
      </p:sp>
      <p:sp>
        <p:nvSpPr>
          <p:cNvPr id="15" name="Diagram Arrow new 10">
            <a:extLst xmlns:a="http://schemas.openxmlformats.org/drawingml/2006/main">
              <a:ext uri="{FF2B5EF4-FFF2-40B4-BE49-F238E27FC236}">
                <a16:creationId xmlns:a16="http://schemas.microsoft.com/office/drawing/2014/main" id="{D1493B30-812B-44A6-A7C4-FB6F42393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5400675"/>
            <a:ext cx="2095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 xmlns:a="http://schemas.openxmlformats.org/drawingml/2006/main">
            <a:endParaRPr/>
          </a:p>
        </p:txBody>
      </p:sp>
      <p:sp>
        <p:nvSpPr>
          <p:cNvPr id="16" name="Diagram Arrow new 11">
            <a:extLst xmlns:a="http://schemas.openxmlformats.org/drawingml/2006/main">
              <a:ext uri="{FF2B5EF4-FFF2-40B4-BE49-F238E27FC236}">
                <a16:creationId xmlns:a16="http://schemas.microsoft.com/office/drawing/2014/main" id="{F3494ECB-D7D1-411A-A28D-5003B1DDE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5400675"/>
            <a:ext cx="2095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 xmlns:a="http://schemas.openxmlformats.org/drawingml/2006/main">
            <a:endParaRPr/>
          </a:p>
        </p:txBody>
      </p:sp>
      <p:sp>
        <p:nvSpPr>
          <p:cNvPr id="18" name="Captured validation example">
            <a:extLst xmlns:a="http://schemas.openxmlformats.org/drawingml/2006/main">
              <a:ext uri="{FF2B5EF4-FFF2-40B4-BE49-F238E27FC236}">
                <a16:creationId xmlns:a16="http://schemas.microsoft.com/office/drawing/2014/main" id="{53302DF9-0A21-4ED0-99B1-BD8D17F1F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57625"/>
            <a:ext cx="493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검출 예시: 경로 입구가 지면에서 50cm 이격</a:t>
            </a:r>
          </a:p>
        </p:txBody>
      </p:sp>
    </p:spTree>
    <p:extLst>
      <p:ext uri="{BB962C8B-B14F-4D97-AF65-F5344CB8AC3E}">
        <p14:creationId xmlns:p14="http://schemas.microsoft.com/office/powerpoint/2010/main" val="147793084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A19224B-2A67-492E-903C-12EDCE3B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969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C2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E970FBA-49E5-4F9D-A419-C59471AF1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rPr>
              <a:t>추가 구현 | FIRST PERSON RENDERING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60BBD97-EBDC-4ACA-A0A2-D7A67741C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5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/>
              <a:t>벽 밀착 시 로컬 1인칭 무기 표시 보정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B841FB0B-F145-45BA-8C06-A5A0FCBD8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09700"/>
            <a:ext cx="5410200" cy="2209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2530"/>
          </a:solidFill>
          <a:ln xmlns:a="http://schemas.openxmlformats.org/drawingml/2006/main" w="12700">
            <a:solidFill>
              <a:srgbClr val="34405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247650" rIns="228600" bIns="17145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자기 시점의 무기 표시 보정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벽에 가까이 섰을 때 자기 시점의 무기 표시 보정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로컬 플레이어</a:t>
            </a: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의 팔 / 무기 / 총구 효과에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1인칭 렌더링 설정과 계산한 스케일 적용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2C327D6F-2490-4732-A309-114C2F80E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790950"/>
            <a:ext cx="5410200" cy="2476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2530"/>
          </a:solidFill>
          <a:ln xmlns:a="http://schemas.openxmlformats.org/drawingml/2006/main" w="12700">
            <a:solidFill>
              <a:srgbClr val="34405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247650" rIns="228600" bIns="17145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크기 계산과 적용 범위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메시 경계 / 캐릭터 충돌 영역 / FOV로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1인칭 렌더링 스케일</a:t>
            </a: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계산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Near Clip과 1인칭 FOV를 적용하고 종료 시 복구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4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적용 한계: 외부 시점의 벽 충돌은 처리하지 않음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후속 검토</a:t>
            </a:r>
            <a:r>
              <a:rPr sz="15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: 외부 시점의 무기와 벽 겹침 표현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3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9dfe4c62ad1f4319"/>
              </a:rPr>
              <a:t>1인칭 렌더링 코드</a:t>
            </a:r>
          </a:p>
        </p:txBody>
      </p:sp>
      <p:sp>
        <p:nvSpPr>
          <p:cNvPr id="11" name="직사각형 10">
            <a:extLst xmlns:a="http://schemas.openxmlformats.org/drawingml/2006/main">
              <a:ext uri="{FF2B5EF4-FFF2-40B4-BE49-F238E27FC236}">
                <a16:creationId xmlns:a16="http://schemas.microsoft.com/office/drawing/2014/main" id="{CE83D03F-1D25-49D5-AC8E-EBEF689B0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pPr>
            <a:r>
              <a:t>10</a:t>
            </a:r>
          </a:p>
        </p:txBody>
      </p:sp>
      <p:sp>
        <p:nvSpPr>
          <p:cNvPr id="12" name="Media 1">
            <a:extLst xmlns:a="http://schemas.openxmlformats.org/drawingml/2006/main">
              <a:ext uri="{FF2B5EF4-FFF2-40B4-BE49-F238E27FC236}">
                <a16:creationId xmlns:a16="http://schemas.microsoft.com/office/drawing/2014/main" id="{CAA66371-C869-4A97-8F3A-1808210B4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5295900" cy="2095500"/>
          </a:xfrm>
          <a:prstGeom xmlns:a="http://schemas.openxmlformats.org/drawingml/2006/main" prst="roundRect">
            <a:avLst>
              <a:gd name="adj" fmla="val 6364"/>
            </a:avLst>
          </a:prstGeom>
          <a:solidFill xmlns:a="http://schemas.openxmlformats.org/drawingml/2006/main">
            <a:srgbClr val="11151D"/>
          </a:solidFill>
          <a:ln xmlns:a="http://schemas.openxmlformats.org/drawingml/2006/main" w="12383">
            <a:solidFill>
              <a:srgbClr val="4D78A8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7" name="FPR보정비활성화">
            <a:extLst xmlns:a="http://schemas.openxmlformats.org/drawingml/2006/main">
              <a:ext uri="{FF2B5EF4-FFF2-40B4-BE49-F238E27FC236}">
                <a16:creationId xmlns:a16="http://schemas.microsoft.com/office/drawing/2014/main" id="{B3EA47BE-1F36-4376-A71F-A8B27C00204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f5516824d74914"/>
          <a:srcRect xmlns:a="http://schemas.openxmlformats.org/drawingml/2006/main" l="33210" t="30444" r="590" b="2016"/>
          <a:stretch xmlns:a="http://schemas.openxmlformats.org/drawingml/2006/main"/>
        </p:blipFill>
        <p:spPr>
          <a:xfrm xmlns:a="http://schemas.openxmlformats.org/drawingml/2006/main">
            <a:off x="676275" y="1493429"/>
            <a:ext cx="5162550" cy="1928043"/>
          </a:xfrm>
          <a:prstGeom xmlns:a="http://schemas.openxmlformats.org/drawingml/2006/main" prst="rect">
            <a:avLst/>
          </a:prstGeom>
        </p:spPr>
      </p:pic>
      <p:sp>
        <p:nvSpPr>
          <p:cNvPr id="13" name="Caption 1">
            <a:extLst xmlns:a="http://schemas.openxmlformats.org/drawingml/2006/main">
              <a:ext uri="{FF2B5EF4-FFF2-40B4-BE49-F238E27FC236}">
                <a16:creationId xmlns:a16="http://schemas.microsoft.com/office/drawing/2014/main" id="{590281D9-6929-42B7-ADAC-9185C5B96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71875"/>
            <a:ext cx="5295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기능 비활성화 상태의 1인칭 화면</a:t>
            </a:r>
          </a:p>
        </p:txBody>
      </p:sp>
      <p:sp>
        <p:nvSpPr>
          <p:cNvPr id="14" name="Media 2">
            <a:extLst xmlns:a="http://schemas.openxmlformats.org/drawingml/2006/main">
              <a:ext uri="{FF2B5EF4-FFF2-40B4-BE49-F238E27FC236}">
                <a16:creationId xmlns:a16="http://schemas.microsoft.com/office/drawing/2014/main" id="{4023876A-3816-4FFD-9C2E-F7A3D60D6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5295900" cy="2095500"/>
          </a:xfrm>
          <a:prstGeom xmlns:a="http://schemas.openxmlformats.org/drawingml/2006/main" prst="roundRect">
            <a:avLst>
              <a:gd name="adj" fmla="val 6364"/>
            </a:avLst>
          </a:prstGeom>
          <a:solidFill xmlns:a="http://schemas.openxmlformats.org/drawingml/2006/main">
            <a:srgbClr val="11151D"/>
          </a:solidFill>
          <a:ln xmlns:a="http://schemas.openxmlformats.org/drawingml/2006/main" w="12383">
            <a:solidFill>
              <a:srgbClr val="4D78A8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8" name="FPR보정활성화">
            <a:extLst xmlns:a="http://schemas.openxmlformats.org/drawingml/2006/main">
              <a:ext uri="{FF2B5EF4-FFF2-40B4-BE49-F238E27FC236}">
                <a16:creationId xmlns:a16="http://schemas.microsoft.com/office/drawing/2014/main" id="{BC367E87-DD5B-43C6-8D59-608F8D112F0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52017c60564f5e"/>
          <a:srcRect xmlns:a="http://schemas.openxmlformats.org/drawingml/2006/main" l="33408" t="31070" r="0" b="0"/>
          <a:stretch xmlns:a="http://schemas.openxmlformats.org/drawingml/2006/main"/>
        </p:blipFill>
        <p:spPr>
          <a:xfrm xmlns:a="http://schemas.openxmlformats.org/drawingml/2006/main">
            <a:off x="676275" y="4122329"/>
            <a:ext cx="5162550" cy="1928043"/>
          </a:xfrm>
          <a:prstGeom xmlns:a="http://schemas.openxmlformats.org/drawingml/2006/main" prst="rect">
            <a:avLst/>
          </a:prstGeom>
        </p:spPr>
      </p:pic>
      <p:sp>
        <p:nvSpPr>
          <p:cNvPr id="15" name="Caption 2">
            <a:extLst xmlns:a="http://schemas.openxmlformats.org/drawingml/2006/main">
              <a:ext uri="{FF2B5EF4-FFF2-40B4-BE49-F238E27FC236}">
                <a16:creationId xmlns:a16="http://schemas.microsoft.com/office/drawing/2014/main" id="{9DC9B4A6-F5F7-428C-AB54-AF6EAF0B0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00775"/>
            <a:ext cx="5295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기능 활성화 상태의 1인칭 화면</a:t>
            </a:r>
          </a:p>
        </p:txBody>
      </p:sp>
      <p:sp>
        <p:nvSpPr>
          <p:cNvPr id="16" name="Comparison conditions">
            <a:extLst xmlns:a="http://schemas.openxmlformats.org/drawingml/2006/main">
              <a:ext uri="{FF2B5EF4-FFF2-40B4-BE49-F238E27FC236}">
                <a16:creationId xmlns:a16="http://schemas.microsoft.com/office/drawing/2014/main" id="{0539FF05-CB73-4B9A-B932-A680FBBF7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529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벽 밀착 상태에서 보정 비활성화 / 활성화 비교</a:t>
            </a:r>
          </a:p>
        </p:txBody>
      </p:sp>
    </p:spTree>
    <p:extLst>
      <p:ext uri="{BB962C8B-B14F-4D97-AF65-F5344CB8AC3E}">
        <p14:creationId xmlns:p14="http://schemas.microsoft.com/office/powerpoint/2010/main" val="64596179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94FC3DA-1911-4090-A77B-885FB4857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969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C2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4B2F189-93DD-447F-8DB0-92DE80791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rPr>
              <a:t>추가 구현 | SPAWN &amp; RESPAWN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4E9690F-B444-43B0-BC2F-00CDE06C0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5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스폰과 리스폰 위치 선택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F162397D-A43C-44D8-ABF8-77D102DA2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4762500" cy="2095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2530"/>
          </a:solidFill>
          <a:ln xmlns:a="http://schemas.openxmlformats.org/drawingml/2006/main" w="12700">
            <a:solidFill>
              <a:srgbClr val="34405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247650" rIns="228600" bIns="17145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최초 스폰: 배정과 실패 복구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Player / AI 전용 지점을 우선 배정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선택 즉시 배정 횟수를 기록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서버에서 캐릭터 생성과 조종 연결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생성 / 조종 연결 실패 시 배정 횟수 복구</a:t>
            </a:r>
          </a:p>
        </p:txBody>
      </p:sp>
      <p:sp>
        <p:nvSpPr>
          <p:cNvPr id="9" name="직사각형 8">
            <a:extLst xmlns:a="http://schemas.openxmlformats.org/drawingml/2006/main">
              <a:ext uri="{FF2B5EF4-FFF2-40B4-BE49-F238E27FC236}">
                <a16:creationId xmlns:a16="http://schemas.microsoft.com/office/drawing/2014/main" id="{C1813994-D1DE-4F8A-93F1-F9BE91569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pPr>
            <a:r>
              <a:t>11</a:t>
            </a:r>
          </a:p>
        </p:txBody>
      </p:sp>
      <p:sp>
        <p:nvSpPr>
          <p:cNvPr id="10" name="Respawn flow heading">
            <a:extLst xmlns:a="http://schemas.openxmlformats.org/drawingml/2006/main">
              <a:ext uri="{FF2B5EF4-FFF2-40B4-BE49-F238E27FC236}">
                <a16:creationId xmlns:a16="http://schemas.microsoft.com/office/drawing/2014/main" id="{461D32AB-DE31-4047-9075-59E56C3BB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리스폰: 거리 기준으로 후보 선택</a:t>
            </a:r>
          </a:p>
        </p:txBody>
      </p:sp>
      <p:sp>
        <p:nvSpPr>
          <p:cNvPr id="11" name="Respawn compatible points">
            <a:extLst xmlns:a="http://schemas.openxmlformats.org/drawingml/2006/main">
              <a:ext uri="{FF2B5EF4-FFF2-40B4-BE49-F238E27FC236}">
                <a16:creationId xmlns:a16="http://schemas.microsoft.com/office/drawing/2014/main" id="{BCBCE797-5285-45A4-9BC8-840D6B402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371600" cy="628650"/>
          </a:xfrm>
          <a:prstGeom xmlns:a="http://schemas.openxmlformats.org/drawingml/2006/main" prst="roundRect">
            <a:avLst>
              <a:gd name="adj" fmla="val 15152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3335">
            <a:solidFill>
              <a:srgbClr val="4DA3FF"/>
            </a:solidFill>
          </a:ln>
        </p:spPr>
        <p:txBody>
          <a:bodyPr xmlns:a="http://schemas.openxmlformats.org/drawingml/2006/main" lIns="38100" tIns="38100" rIns="38100" bIns="38100" anchor="ctr">
            <a:noAutofit/>
          </a:bodyPr>
          <a:lstStyle xmlns:a="http://schemas.openxmlformats.org/drawingml/2006/main">
            <a:def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사용 가능한</a:t>
            </a:r>
          </a:p>
          <a:p xmlns:a="http://schemas.openxmlformats.org/drawingml/2006/main">
            <a: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타입별 후보</a:t>
            </a:r>
          </a:p>
        </p:txBody>
      </p:sp>
      <p:sp>
        <p:nvSpPr>
          <p:cNvPr id="12" name="Respawn distance calculation">
            <a:extLst xmlns:a="http://schemas.openxmlformats.org/drawingml/2006/main">
              <a:ext uri="{FF2B5EF4-FFF2-40B4-BE49-F238E27FC236}">
                <a16:creationId xmlns:a16="http://schemas.microsoft.com/office/drawing/2014/main" id="{885A104D-5343-42B3-8A67-52A449C9C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191000"/>
            <a:ext cx="1371600" cy="628650"/>
          </a:xfrm>
          <a:prstGeom xmlns:a="http://schemas.openxmlformats.org/drawingml/2006/main" prst="roundRect">
            <a:avLst>
              <a:gd name="adj" fmla="val 15152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3335">
            <a:solidFill>
              <a:srgbClr val="4DA3FF"/>
            </a:solidFill>
          </a:ln>
        </p:spPr>
        <p:txBody>
          <a:bodyPr xmlns:a="http://schemas.openxmlformats.org/drawingml/2006/main" lIns="38100" tIns="38100" rIns="38100" bIns="38100" anchor="ctr">
            <a:noAutofit/>
          </a:bodyPr>
          <a:lstStyle xmlns:a="http://schemas.openxmlformats.org/drawingml/2006/main">
            <a:def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사망 위치와</a:t>
            </a:r>
          </a:p>
          <a:p xmlns:a="http://schemas.openxmlformats.org/drawingml/2006/main">
            <a: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거리 계산</a:t>
            </a:r>
          </a:p>
        </p:txBody>
      </p:sp>
      <p:sp>
        <p:nvSpPr>
          <p:cNvPr id="13" name="Respawn descending sort">
            <a:extLst xmlns:a="http://schemas.openxmlformats.org/drawingml/2006/main">
              <a:ext uri="{FF2B5EF4-FFF2-40B4-BE49-F238E27FC236}">
                <a16:creationId xmlns:a16="http://schemas.microsoft.com/office/drawing/2014/main" id="{7DBCE16D-255B-41C9-8AC5-A9FFF3D80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191000"/>
            <a:ext cx="1371600" cy="628650"/>
          </a:xfrm>
          <a:prstGeom xmlns:a="http://schemas.openxmlformats.org/drawingml/2006/main" prst="roundRect">
            <a:avLst>
              <a:gd name="adj" fmla="val 15152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3335">
            <a:solidFill>
              <a:srgbClr val="4DA3FF"/>
            </a:solidFill>
          </a:ln>
        </p:spPr>
        <p:txBody>
          <a:bodyPr xmlns:a="http://schemas.openxmlformats.org/drawingml/2006/main" lIns="38100" tIns="38100" rIns="38100" bIns="38100" anchor="ctr">
            <a:noAutofit/>
          </a:bodyPr>
          <a:lstStyle xmlns:a="http://schemas.openxmlformats.org/drawingml/2006/main">
            <a:def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먼 순서로</a:t>
            </a:r>
          </a:p>
          <a:p xmlns:a="http://schemas.openxmlformats.org/drawingml/2006/main">
            <a: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정렬</a:t>
            </a:r>
          </a:p>
        </p:txBody>
      </p:sp>
      <p:sp>
        <p:nvSpPr>
          <p:cNvPr id="14" name="Respawn farther half">
            <a:extLst xmlns:a="http://schemas.openxmlformats.org/drawingml/2006/main">
              <a:ext uri="{FF2B5EF4-FFF2-40B4-BE49-F238E27FC236}">
                <a16:creationId xmlns:a16="http://schemas.microsoft.com/office/drawing/2014/main" id="{3F9D0F76-5876-42CD-8716-DCDBC4CB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257800"/>
            <a:ext cx="1371600" cy="628650"/>
          </a:xfrm>
          <a:prstGeom xmlns:a="http://schemas.openxmlformats.org/drawingml/2006/main" prst="roundRect">
            <a:avLst>
              <a:gd name="adj" fmla="val 15152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3335">
            <a:solidFill>
              <a:srgbClr val="4DA3FF"/>
            </a:solidFill>
          </a:ln>
        </p:spPr>
        <p:txBody>
          <a:bodyPr xmlns:a="http://schemas.openxmlformats.org/drawingml/2006/main" lIns="38100" tIns="38100" rIns="38100" bIns="38100" anchor="ctr">
            <a:noAutofit/>
          </a:bodyPr>
          <a:lstStyle xmlns:a="http://schemas.openxmlformats.org/drawingml/2006/main">
            <a:def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먼 절반을</a:t>
            </a:r>
          </a:p>
          <a:p xmlns:a="http://schemas.openxmlformats.org/drawingml/2006/main">
            <a: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후보로 유지</a:t>
            </a:r>
          </a:p>
        </p:txBody>
      </p:sp>
      <p:sp>
        <p:nvSpPr>
          <p:cNvPr id="15" name="Respawn random selection">
            <a:extLst xmlns:a="http://schemas.openxmlformats.org/drawingml/2006/main">
              <a:ext uri="{FF2B5EF4-FFF2-40B4-BE49-F238E27FC236}">
                <a16:creationId xmlns:a16="http://schemas.microsoft.com/office/drawing/2014/main" id="{7A0D1FB3-F4F5-4B5F-9EC4-E053373F3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5257800"/>
            <a:ext cx="1371600" cy="628650"/>
          </a:xfrm>
          <a:prstGeom xmlns:a="http://schemas.openxmlformats.org/drawingml/2006/main" prst="roundRect">
            <a:avLst>
              <a:gd name="adj" fmla="val 15152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3335">
            <a:solidFill>
              <a:srgbClr val="4DA3FF"/>
            </a:solidFill>
          </a:ln>
        </p:spPr>
        <p:txBody>
          <a:bodyPr xmlns:a="http://schemas.openxmlformats.org/drawingml/2006/main" lIns="38100" tIns="38100" rIns="38100" bIns="38100" anchor="ctr">
            <a:noAutofit/>
          </a:bodyPr>
          <a:lstStyle xmlns:a="http://schemas.openxmlformats.org/drawingml/2006/main">
            <a:def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후보 중</a:t>
            </a:r>
          </a:p>
          <a:p xmlns:a="http://schemas.openxmlformats.org/drawingml/2006/main">
            <a: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무작위 선택</a:t>
            </a:r>
          </a:p>
        </p:txBody>
      </p:sp>
      <p:sp>
        <p:nvSpPr>
          <p:cNvPr id="16" name="Respawn spawn possess">
            <a:extLst xmlns:a="http://schemas.openxmlformats.org/drawingml/2006/main">
              <a:ext uri="{FF2B5EF4-FFF2-40B4-BE49-F238E27FC236}">
                <a16:creationId xmlns:a16="http://schemas.microsoft.com/office/drawing/2014/main" id="{78D3BB54-28E8-42FC-B51B-99586AE2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371600" cy="628650"/>
          </a:xfrm>
          <a:prstGeom xmlns:a="http://schemas.openxmlformats.org/drawingml/2006/main" prst="roundRect">
            <a:avLst>
              <a:gd name="adj" fmla="val 15152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3335">
            <a:solidFill>
              <a:srgbClr val="4DA3FF"/>
            </a:solidFill>
          </a:ln>
        </p:spPr>
        <p:txBody>
          <a:bodyPr xmlns:a="http://schemas.openxmlformats.org/drawingml/2006/main" lIns="38100" tIns="38100" rIns="38100" bIns="38100" anchor="ctr">
            <a:noAutofit/>
          </a:bodyPr>
          <a:lstStyle xmlns:a="http://schemas.openxmlformats.org/drawingml/2006/main">
            <a:def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캐릭터 생성</a:t>
            </a:r>
          </a:p>
          <a:p xmlns:a="http://schemas.openxmlformats.org/drawingml/2006/main">
            <a: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조종 연결</a:t>
            </a:r>
          </a:p>
        </p:txBody>
      </p:sp>
      <p:sp>
        <p:nvSpPr>
          <p:cNvPr id="17" name="Respawn arrow 1">
            <a:extLst xmlns:a="http://schemas.openxmlformats.org/drawingml/2006/main">
              <a:ext uri="{FF2B5EF4-FFF2-40B4-BE49-F238E27FC236}">
                <a16:creationId xmlns:a16="http://schemas.microsoft.com/office/drawing/2014/main" id="{A54ED0FC-8D9B-48C9-B5E3-CAFE2232A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4448175"/>
            <a:ext cx="2286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noFill/>
          </a:ln>
        </p:spPr>
      </p:sp>
      <p:sp>
        <p:nvSpPr>
          <p:cNvPr id="18" name="Respawn arrow 2">
            <a:extLst xmlns:a="http://schemas.openxmlformats.org/drawingml/2006/main">
              <a:ext uri="{FF2B5EF4-FFF2-40B4-BE49-F238E27FC236}">
                <a16:creationId xmlns:a16="http://schemas.microsoft.com/office/drawing/2014/main" id="{00E21111-ECF3-4C12-B17C-AEAB89209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448175"/>
            <a:ext cx="2286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noFill/>
          </a:ln>
        </p:spPr>
      </p:sp>
      <p:sp>
        <p:nvSpPr>
          <p:cNvPr id="19" name="Respawn arrow 3">
            <a:extLst xmlns:a="http://schemas.openxmlformats.org/drawingml/2006/main">
              <a:ext uri="{FF2B5EF4-FFF2-40B4-BE49-F238E27FC236}">
                <a16:creationId xmlns:a16="http://schemas.microsoft.com/office/drawing/2014/main" id="{8E608FEE-88DB-49BF-9E4A-73473A453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905375"/>
            <a:ext cx="114300" cy="2476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noFill/>
          </a:ln>
        </p:spPr>
      </p:sp>
      <p:sp>
        <p:nvSpPr>
          <p:cNvPr id="20" name="Respawn arrow 4">
            <a:extLst xmlns:a="http://schemas.openxmlformats.org/drawingml/2006/main">
              <a:ext uri="{FF2B5EF4-FFF2-40B4-BE49-F238E27FC236}">
                <a16:creationId xmlns:a16="http://schemas.microsoft.com/office/drawing/2014/main" id="{E4A62E1F-0B59-490B-B1F7-C6E222557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5514975"/>
            <a:ext cx="228600" cy="11430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noFill/>
          </a:ln>
        </p:spPr>
      </p:sp>
      <p:sp>
        <p:nvSpPr>
          <p:cNvPr id="21" name="Respawn arrow 5">
            <a:extLst xmlns:a="http://schemas.openxmlformats.org/drawingml/2006/main">
              <a:ext uri="{FF2B5EF4-FFF2-40B4-BE49-F238E27FC236}">
                <a16:creationId xmlns:a16="http://schemas.microsoft.com/office/drawing/2014/main" id="{120EC088-2FEF-45F8-95AC-277DA4A99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5514975"/>
            <a:ext cx="228600" cy="11430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noFill/>
          </a:ln>
        </p:spPr>
      </p:sp>
      <p:sp>
        <p:nvSpPr>
          <p:cNvPr id="22" name="Respawn scope note">
            <a:extLst xmlns:a="http://schemas.openxmlformats.org/drawingml/2006/main">
              <a:ext uri="{FF2B5EF4-FFF2-40B4-BE49-F238E27FC236}">
                <a16:creationId xmlns:a16="http://schemas.microsoft.com/office/drawing/2014/main" id="{9F0D792D-FE68-4151-8AD7-B9B5DA43C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4762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t>거리 기준 선택이며 주변 적의 존재 여부는 검사하지 않음</a:t>
            </a:r>
          </a:p>
        </p:txBody>
      </p:sp>
      <p:sp>
        <p:nvSpPr>
          <p:cNvPr id="23" name="Respawn code background">
            <a:extLst xmlns:a="http://schemas.openxmlformats.org/drawingml/2006/main">
              <a:ext uri="{FF2B5EF4-FFF2-40B4-BE49-F238E27FC236}">
                <a16:creationId xmlns:a16="http://schemas.microsoft.com/office/drawing/2014/main" id="{D0C57DBB-5AAC-4CE0-915E-99F558BF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409700"/>
            <a:ext cx="5962650" cy="4857750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10151D"/>
          </a:solidFill>
          <a:ln xmlns:a="http://schemas.openxmlformats.org/drawingml/2006/main" w="9525">
            <a:solidFill>
              <a:srgbClr val="4D7EA8"/>
            </a:solidFill>
          </a:ln>
        </p:spPr>
      </p:sp>
      <p:sp>
        <p:nvSpPr>
          <p:cNvPr id="24" name="Respawn code heading">
            <a:extLst xmlns:a="http://schemas.openxmlformats.org/drawingml/2006/main">
              <a:ext uri="{FF2B5EF4-FFF2-40B4-BE49-F238E27FC236}">
                <a16:creationId xmlns:a16="http://schemas.microsoft.com/office/drawing/2014/main" id="{5CB268A3-3C9B-4699-9C11-F2C6915DE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163830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리스폰 후보 정렬과 선택(C++ 발췌)</a:t>
            </a:r>
          </a:p>
        </p:txBody>
      </p:sp>
      <p:sp>
        <p:nvSpPr>
          <p:cNvPr id="25" name="Respawn code context">
            <a:extLst xmlns:a="http://schemas.openxmlformats.org/drawingml/2006/main">
              <a:ext uri="{FF2B5EF4-FFF2-40B4-BE49-F238E27FC236}">
                <a16:creationId xmlns:a16="http://schemas.microsoft.com/office/drawing/2014/main" id="{EB8BD9F1-B47C-42DF-A618-D828AD36D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038350"/>
            <a:ext cx="5429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42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42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42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42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42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42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42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42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42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t>타입별 후보를 고른 뒤 실행하는 선택 부분</a:t>
            </a:r>
          </a:p>
        </p:txBody>
      </p:sp>
      <p:sp>
        <p:nvSpPr>
          <p:cNvPr id="26" name="Respawn actual C++ excerpt">
            <a:extLst xmlns:a="http://schemas.openxmlformats.org/drawingml/2006/main">
              <a:ext uri="{FF2B5EF4-FFF2-40B4-BE49-F238E27FC236}">
                <a16:creationId xmlns:a16="http://schemas.microsoft.com/office/drawing/2014/main" id="{0861CD7F-0149-4B0E-8103-C68A0D8DC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419350"/>
            <a:ext cx="5429250" cy="293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388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388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388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388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388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388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388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388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388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CandidateEntries-&gt;Sort(</a:t>
            </a:r>
          </a:p>
          <a:p xmlns:a="http://schemas.openxmlformats.org/drawingml/2006/main">
            <a:pPr algn="l">
              <a:buNone/>
              <a:defRPr sz="1388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[](const FRespawnDistanceEntry&amp; A,</a:t>
            </a:r>
          </a:p>
          <a:p xmlns:a="http://schemas.openxmlformats.org/drawingml/2006/main">
            <a:pPr algn="l">
              <a:buNone/>
              <a:defRPr sz="1388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const FRespawnDistanceEntry&amp; B) {</a:t>
            </a:r>
          </a:p>
          <a:p xmlns:a="http://schemas.openxmlformats.org/drawingml/2006/main">
            <a:pPr algn="l">
              <a:buNone/>
              <a:defRPr sz="1388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(A.DistanceSquared == B.DistanceSquared) {</a:t>
            </a:r>
          </a:p>
          <a:p xmlns:a="http://schemas.openxmlformats.org/drawingml/2006/main">
            <a:pPr algn="l">
              <a:buNone/>
              <a:defRPr sz="1388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return A.RandomTieBreaker &gt; B.RandomTieBreaker;</a:t>
            </a:r>
          </a:p>
          <a:p xmlns:a="http://schemas.openxmlformats.org/drawingml/2006/main">
            <a:pPr algn="l">
              <a:buNone/>
              <a:defRPr sz="1388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}</a:t>
            </a:r>
          </a:p>
          <a:p xmlns:a="http://schemas.openxmlformats.org/drawingml/2006/main">
            <a:pPr algn="l">
              <a:buNone/>
              <a:defRPr sz="1388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return A.DistanceSquared &gt; B.DistanceSquared;</a:t>
            </a:r>
          </a:p>
          <a:p xmlns:a="http://schemas.openxmlformats.org/drawingml/2006/main">
            <a:pPr algn="l">
              <a:buNone/>
              <a:defRPr sz="1388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});</a:t>
            </a:r>
          </a:p>
          <a:p xmlns:a="http://schemas.openxmlformats.org/drawingml/2006/main">
            <a:pPr algn="l">
              <a:buNone/>
              <a:defRPr sz="1388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/>
            </a:r>
          </a:p>
          <a:p xmlns:a="http://schemas.openxmlformats.org/drawingml/2006/main">
            <a:pPr algn="l">
              <a:buNone/>
              <a:defRPr sz="1388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const int32 </a:t>
            </a:r>
            <a:r>
              <a:rPr b="1"/>
              <a:t>CandidateCount</a:t>
            </a:r>
            <a:r>
              <a:t> =</a:t>
            </a:r>
          </a:p>
          <a:p xmlns:a="http://schemas.openxmlformats.org/drawingml/2006/main">
            <a:pPr algn="l">
              <a:buNone/>
              <a:defRPr sz="1388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FMath::Max(1, CandidateEntries-&gt;Num() / 2);</a:t>
            </a:r>
          </a:p>
          <a:p xmlns:a="http://schemas.openxmlformats.org/drawingml/2006/main">
            <a:pPr algn="l">
              <a:buNone/>
              <a:defRPr sz="1388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const int32 SelectedSpawnIndex =</a:t>
            </a:r>
          </a:p>
          <a:p xmlns:a="http://schemas.openxmlformats.org/drawingml/2006/main">
            <a:pPr algn="l">
              <a:buNone/>
              <a:defRPr sz="1388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(*CandidateEntries)[</a:t>
            </a:r>
            <a:r>
              <a:rPr b="1"/>
              <a:t>FMath::RandRange</a:t>
            </a:r>
            <a:r>
              <a:t>(</a:t>
            </a:r>
          </a:p>
          <a:p xmlns:a="http://schemas.openxmlformats.org/drawingml/2006/main">
            <a:pPr algn="l">
              <a:buNone/>
              <a:defRPr sz="1388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0, CandidateCount - 1)].SpawnPointIndex;</a:t>
            </a:r>
          </a:p>
        </p:txBody>
      </p:sp>
      <p:sp>
        <p:nvSpPr>
          <p:cNvPr id="27" name="Respawn candidate count explanation">
            <a:extLst xmlns:a="http://schemas.openxmlformats.org/drawingml/2006/main">
              <a:ext uri="{FF2B5EF4-FFF2-40B4-BE49-F238E27FC236}">
                <a16:creationId xmlns:a16="http://schemas.microsoft.com/office/drawing/2014/main" id="{B67F7871-0B2B-4FC6-BDC0-43890B19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5476875"/>
            <a:ext cx="5429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후보 수: 내림(N/2), 최소 1곳</a:t>
            </a:r>
          </a:p>
        </p:txBody>
      </p:sp>
      <p:sp>
        <p:nvSpPr>
          <p:cNvPr id="28" name="Respawn tie break explanation">
            <a:extLst xmlns:a="http://schemas.openxmlformats.org/drawingml/2006/main">
              <a:ext uri="{FF2B5EF4-FFF2-40B4-BE49-F238E27FC236}">
                <a16:creationId xmlns:a16="http://schemas.microsoft.com/office/drawing/2014/main" id="{AA6963CD-CBEE-414E-B8E1-4248DA617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5724525"/>
            <a:ext cx="5429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t>같은 거리의 후보는 무작위 우선값으로 순서를 결정</a:t>
            </a:r>
          </a:p>
        </p:txBody>
      </p:sp>
      <p:sp>
        <p:nvSpPr>
          <p:cNvPr id="29" name="Respawn code link">
            <a:extLst xmlns:a="http://schemas.openxmlformats.org/drawingml/2006/main">
              <a:ext uri="{FF2B5EF4-FFF2-40B4-BE49-F238E27FC236}">
                <a16:creationId xmlns:a16="http://schemas.microsoft.com/office/drawing/2014/main" id="{6B6BDC15-33CA-4DC8-ACD1-DEB5BA4CD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6000750"/>
            <a:ext cx="5429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pPr>
            <a:r>
              <a:rPr>
                <a:hlinkClick xmlns:r="http://schemas.openxmlformats.org/officeDocument/2006/relationships" r:id="R68cd546c10a64eab"/>
              </a:rPr>
              <a:t>스폰 / 리스폰 구현 코드</a:t>
            </a:r>
          </a:p>
        </p:txBody>
      </p:sp>
    </p:spTree>
    <p:extLst>
      <p:ext uri="{BB962C8B-B14F-4D97-AF65-F5344CB8AC3E}">
        <p14:creationId xmlns:p14="http://schemas.microsoft.com/office/powerpoint/2010/main" val="135067055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94FC3DA-1911-4090-A77B-885FB4857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969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C2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4B2F189-93DD-447F-8DB0-92DE80791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rPr>
              <a:t>추가 구현 | DEATH ITEM DROP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4E9690F-B444-43B0-BC2F-00CDE06C0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5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사망 아이템 생성과 착지 위치 동기화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F162397D-A43C-44D8-ABF8-77D102DA2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4762500" cy="2857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2530"/>
          </a:solidFill>
          <a:ln xmlns:a="http://schemas.openxmlformats.org/drawingml/2006/main" w="12700">
            <a:solidFill>
              <a:srgbClr val="34405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247650" rIns="228600" bIns="17145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서버 기준 아이템 상태 유지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사망 시 무기와 유효한 버프를 드롭 후보로 수집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물리 이동용 액터와 아이템을 생성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서버가</a:t>
            </a: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접촉 지점과 높이 보정으로 착지 위치 결정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클라이언트에 </a:t>
            </a:r>
            <a:r>
              <a:rPr sz="1575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최종 위치</a:t>
            </a: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를 전달해 적용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4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버프는 기존 서버 종료 시각을 유지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4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c6ef6b0578ea4e60"/>
              </a:rPr>
              <a:t>사망 아이템 동기화 코드</a:t>
            </a:r>
          </a:p>
        </p:txBody>
      </p:sp>
      <p:sp>
        <p:nvSpPr>
          <p:cNvPr id="9" name="직사각형 8">
            <a:extLst xmlns:a="http://schemas.openxmlformats.org/drawingml/2006/main">
              <a:ext uri="{FF2B5EF4-FFF2-40B4-BE49-F238E27FC236}">
                <a16:creationId xmlns:a16="http://schemas.microsoft.com/office/drawing/2014/main" id="{C1813994-D1DE-4F8A-93F1-F9BE91569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pPr>
            <a:r>
              <a:t>12</a:t>
            </a:r>
          </a:p>
        </p:txBody>
      </p:sp>
      <p:sp>
        <p:nvSpPr>
          <p:cNvPr id="10" name="Media 1">
            <a:extLst xmlns:a="http://schemas.openxmlformats.org/drawingml/2006/main">
              <a:ext uri="{FF2B5EF4-FFF2-40B4-BE49-F238E27FC236}">
                <a16:creationId xmlns:a16="http://schemas.microsoft.com/office/drawing/2014/main" id="{273FDD8C-9FCE-4E17-92D4-8F9DA140B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409700"/>
            <a:ext cx="5943600" cy="2095500"/>
          </a:xfrm>
          <a:prstGeom xmlns:a="http://schemas.openxmlformats.org/drawingml/2006/main" prst="roundRect">
            <a:avLst>
              <a:gd name="adj" fmla="val 6364"/>
            </a:avLst>
          </a:prstGeom>
          <a:solidFill xmlns:a="http://schemas.openxmlformats.org/drawingml/2006/main">
            <a:srgbClr val="11151D"/>
          </a:solidFill>
          <a:ln xmlns:a="http://schemas.openxmlformats.org/drawingml/2006/main" w="12383">
            <a:solidFill>
              <a:srgbClr val="4D78A8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20" name="플레이어A드랍.png">
            <a:extLst xmlns:a="http://schemas.openxmlformats.org/drawingml/2006/main">
              <a:ext uri="{FF2B5EF4-FFF2-40B4-BE49-F238E27FC236}">
                <a16:creationId xmlns:a16="http://schemas.microsoft.com/office/drawing/2014/main" id="{E61D069E-04FE-4411-AFC6-D4A7198078D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ba25f9648e4ba9"/>
          <a:srcRect xmlns:a="http://schemas.openxmlformats.org/drawingml/2006/main" l="14041" t="31328" r="156" b="28216"/>
          <a:stretch xmlns:a="http://schemas.openxmlformats.org/drawingml/2006/main"/>
        </p:blipFill>
        <p:spPr>
          <a:xfrm xmlns:a="http://schemas.openxmlformats.org/drawingml/2006/main">
            <a:off x="5824415" y="1476375"/>
            <a:ext cx="5534269" cy="1962150"/>
          </a:xfrm>
          <a:prstGeom xmlns:a="http://schemas.openxmlformats.org/drawingml/2006/main" prst="rect">
            <a:avLst/>
          </a:prstGeom>
        </p:spPr>
      </p:pic>
      <p:sp>
        <p:nvSpPr>
          <p:cNvPr id="11" name="Caption 1">
            <a:extLst xmlns:a="http://schemas.openxmlformats.org/drawingml/2006/main">
              <a:ext uri="{FF2B5EF4-FFF2-40B4-BE49-F238E27FC236}">
                <a16:creationId xmlns:a16="http://schemas.microsoft.com/office/drawing/2014/main" id="{D1770DF4-C9BA-4E25-BE1D-18A3167E6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571875"/>
            <a:ext cx="59436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플레이어 A의 시점에서 본 드롭 아이템</a:t>
            </a:r>
          </a:p>
        </p:txBody>
      </p:sp>
      <p:sp>
        <p:nvSpPr>
          <p:cNvPr id="12" name="Media 2">
            <a:extLst xmlns:a="http://schemas.openxmlformats.org/drawingml/2006/main">
              <a:ext uri="{FF2B5EF4-FFF2-40B4-BE49-F238E27FC236}">
                <a16:creationId xmlns:a16="http://schemas.microsoft.com/office/drawing/2014/main" id="{5A82E4B2-EE49-430F-832E-87BE94287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038600"/>
            <a:ext cx="5943600" cy="2095500"/>
          </a:xfrm>
          <a:prstGeom xmlns:a="http://schemas.openxmlformats.org/drawingml/2006/main" prst="roundRect">
            <a:avLst>
              <a:gd name="adj" fmla="val 6364"/>
            </a:avLst>
          </a:prstGeom>
          <a:solidFill xmlns:a="http://schemas.openxmlformats.org/drawingml/2006/main">
            <a:srgbClr val="11151D"/>
          </a:solidFill>
          <a:ln xmlns:a="http://schemas.openxmlformats.org/drawingml/2006/main" w="12383">
            <a:solidFill>
              <a:srgbClr val="4D78A8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21" name="플레이어B드랍.png">
            <a:extLst xmlns:a="http://schemas.openxmlformats.org/drawingml/2006/main">
              <a:ext uri="{FF2B5EF4-FFF2-40B4-BE49-F238E27FC236}">
                <a16:creationId xmlns:a16="http://schemas.microsoft.com/office/drawing/2014/main" id="{4A341022-68B3-4D8B-B610-0CE4BC882B0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1f2b9e21c445b8"/>
          <a:srcRect xmlns:a="http://schemas.openxmlformats.org/drawingml/2006/main" l="13928" t="31590" r="0" b="27615"/>
          <a:stretch xmlns:a="http://schemas.openxmlformats.org/drawingml/2006/main"/>
        </p:blipFill>
        <p:spPr>
          <a:xfrm xmlns:a="http://schemas.openxmlformats.org/drawingml/2006/main">
            <a:off x="5824415" y="4105275"/>
            <a:ext cx="5534269" cy="1962150"/>
          </a:xfrm>
          <a:prstGeom xmlns:a="http://schemas.openxmlformats.org/drawingml/2006/main" prst="rect">
            <a:avLst/>
          </a:prstGeom>
        </p:spPr>
      </p:pic>
      <p:sp>
        <p:nvSpPr>
          <p:cNvPr id="13" name="Caption 2">
            <a:extLst xmlns:a="http://schemas.openxmlformats.org/drawingml/2006/main">
              <a:ext uri="{FF2B5EF4-FFF2-40B4-BE49-F238E27FC236}">
                <a16:creationId xmlns:a16="http://schemas.microsoft.com/office/drawing/2014/main" id="{44DD5319-BEA2-483E-B52C-BCCFC476B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6200775"/>
            <a:ext cx="59436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플레이어 B의 시점에서 본 드롭 아이템</a:t>
            </a:r>
          </a:p>
        </p:txBody>
      </p:sp>
      <p:sp>
        <p:nvSpPr>
          <p:cNvPr id="14" name="Diagram Flow 14 0">
            <a:extLst xmlns:a="http://schemas.openxmlformats.org/drawingml/2006/main">
              <a:ext uri="{FF2B5EF4-FFF2-40B4-BE49-F238E27FC236}">
                <a16:creationId xmlns:a16="http://schemas.microsoft.com/office/drawing/2014/main" id="{ACF46EFE-2001-4809-8156-CEA3BCD72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1384300" cy="7620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2383">
            <a:solidFill>
              <a:srgbClr val="4DA3FF"/>
            </a:solidFill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아이템</a:t>
            </a:r>
          </a:p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물리 이동</a:t>
            </a:r>
          </a:p>
        </p:txBody>
      </p:sp>
      <p:sp>
        <p:nvSpPr>
          <p:cNvPr id="15" name="Diagram Flow 14 1">
            <a:extLst xmlns:a="http://schemas.openxmlformats.org/drawingml/2006/main">
              <a:ext uri="{FF2B5EF4-FFF2-40B4-BE49-F238E27FC236}">
                <a16:creationId xmlns:a16="http://schemas.microsoft.com/office/drawing/2014/main" id="{6C8002AE-62CE-47B0-B1A6-3F6DFF7EB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8700" y="4800600"/>
            <a:ext cx="1384300" cy="7620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2383">
            <a:solidFill>
              <a:srgbClr val="4DA3FF"/>
            </a:solidFill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서버가</a:t>
            </a:r>
          </a:p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착지 위치 확정</a:t>
            </a:r>
          </a:p>
        </p:txBody>
      </p:sp>
      <p:sp>
        <p:nvSpPr>
          <p:cNvPr id="16" name="Diagram Flow 14 2">
            <a:extLst xmlns:a="http://schemas.openxmlformats.org/drawingml/2006/main">
              <a:ext uri="{FF2B5EF4-FFF2-40B4-BE49-F238E27FC236}">
                <a16:creationId xmlns:a16="http://schemas.microsoft.com/office/drawing/2014/main" id="{EC0C282D-DFB9-4E20-9BE3-092116C8A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7800" y="4800600"/>
            <a:ext cx="1384300" cy="7620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2383">
            <a:solidFill>
              <a:srgbClr val="4DA3FF"/>
            </a:solidFill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클라이언트</a:t>
            </a:r>
          </a:p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위치 동기화</a:t>
            </a:r>
          </a:p>
        </p:txBody>
      </p:sp>
      <p:sp>
        <p:nvSpPr>
          <p:cNvPr id="17" name="Diagram Arrow new 15">
            <a:extLst xmlns:a="http://schemas.openxmlformats.org/drawingml/2006/main">
              <a:ext uri="{FF2B5EF4-FFF2-40B4-BE49-F238E27FC236}">
                <a16:creationId xmlns:a16="http://schemas.microsoft.com/office/drawing/2014/main" id="{9E9323FC-5149-4329-9CAA-53E655DA9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1525" y="5124450"/>
            <a:ext cx="2095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 xmlns:a="http://schemas.openxmlformats.org/drawingml/2006/main">
            <a:endParaRPr/>
          </a:p>
        </p:txBody>
      </p:sp>
      <p:sp>
        <p:nvSpPr>
          <p:cNvPr id="18" name="Diagram Arrow new 16">
            <a:extLst xmlns:a="http://schemas.openxmlformats.org/drawingml/2006/main">
              <a:ext uri="{FF2B5EF4-FFF2-40B4-BE49-F238E27FC236}">
                <a16:creationId xmlns:a16="http://schemas.microsoft.com/office/drawing/2014/main" id="{46D14523-0A00-488E-B2D1-A2EE36B72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625" y="5124450"/>
            <a:ext cx="2095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 xmlns:a="http://schemas.openxmlformats.org/drawingml/2006/main">
            <a:endParaRPr/>
          </a:p>
        </p:txBody>
      </p:sp>
      <p:sp>
        <p:nvSpPr>
          <p:cNvPr id="19" name="Buff lifetime">
            <a:extLst xmlns:a="http://schemas.openxmlformats.org/drawingml/2006/main">
              <a:ext uri="{FF2B5EF4-FFF2-40B4-BE49-F238E27FC236}">
                <a16:creationId xmlns:a16="http://schemas.microsoft.com/office/drawing/2014/main" id="{DC276490-DBE4-4A03-9DDE-B1533FFF9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35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35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35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35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35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35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35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35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35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35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35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버프의 남은 시간을 새로 늘리지 않고 종료 시각을 전달</a:t>
            </a:r>
          </a:p>
        </p:txBody>
      </p:sp>
    </p:spTree>
    <p:extLst>
      <p:ext uri="{BB962C8B-B14F-4D97-AF65-F5344CB8AC3E}">
        <p14:creationId xmlns:p14="http://schemas.microsoft.com/office/powerpoint/2010/main" val="135067055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94FC3DA-1911-4090-A77B-885FB4857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969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C2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4B2F189-93DD-447F-8DB0-92DE80791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rPr>
              <a:t>추가 구현 | DEATH CAMERA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4E9690F-B444-43B0-BC2F-00CDE06C0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5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사망 카메라 전환과 지형 충돌 보정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94DBF313-E5DC-4919-B52B-C9859FD00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4762500" cy="2857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2530"/>
          </a:solidFill>
          <a:ln xmlns:a="http://schemas.openxmlformats.org/drawingml/2006/main" w="12700">
            <a:solidFill>
              <a:srgbClr val="34405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247650" rIns="228600" bIns="17145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사망한 플레이어의 시점 관리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사망한 플레이어에게만</a:t>
            </a: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카메라 전환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사망 위치에서 공격자 반대편을 바라보도록 배치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지형 충돌</a:t>
            </a: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시 벽면을 따라 카메라 위치 보정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사망 기준점을 넘어가지 않도록 이동 제한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4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새 캐릭터가 준비되면 플레이 시점으로 복귀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4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a4aacc854474479a"/>
              </a:rPr>
              <a:t>사망 카메라 코드</a:t>
            </a:r>
          </a:p>
        </p:txBody>
      </p:sp>
      <p:sp>
        <p:nvSpPr>
          <p:cNvPr id="9" name="직사각형 8">
            <a:extLst xmlns:a="http://schemas.openxmlformats.org/drawingml/2006/main">
              <a:ext uri="{FF2B5EF4-FFF2-40B4-BE49-F238E27FC236}">
                <a16:creationId xmlns:a16="http://schemas.microsoft.com/office/drawing/2014/main" id="{C1813994-D1DE-4F8A-93F1-F9BE91569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pPr>
            <a:r>
              <a:t>13</a:t>
            </a:r>
          </a:p>
        </p:txBody>
      </p:sp>
      <p:sp>
        <p:nvSpPr>
          <p:cNvPr id="10" name="Media 1">
            <a:extLst xmlns:a="http://schemas.openxmlformats.org/drawingml/2006/main">
              <a:ext uri="{FF2B5EF4-FFF2-40B4-BE49-F238E27FC236}">
                <a16:creationId xmlns:a16="http://schemas.microsoft.com/office/drawing/2014/main" id="{57C6A3CB-7837-4956-87AB-8C155AAC4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409700"/>
            <a:ext cx="5962650" cy="2095500"/>
          </a:xfrm>
          <a:prstGeom xmlns:a="http://schemas.openxmlformats.org/drawingml/2006/main" prst="roundRect">
            <a:avLst>
              <a:gd name="adj" fmla="val 3182"/>
            </a:avLst>
          </a:prstGeom>
          <a:solidFill xmlns:a="http://schemas.openxmlformats.org/drawingml/2006/main">
            <a:srgbClr val="11151D"/>
          </a:solidFill>
          <a:ln xmlns:a="http://schemas.openxmlformats.org/drawingml/2006/main" w="12383">
            <a:solidFill>
              <a:srgbClr val="4D78A8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20" name="데스캠_편집본">
            <a:extLst xmlns:a="http://schemas.openxmlformats.org/drawingml/2006/main">
              <a:ext uri="{FF2B5EF4-FFF2-40B4-BE49-F238E27FC236}">
                <a16:creationId xmlns:a16="http://schemas.microsoft.com/office/drawing/2014/main" id="{D1B85C6D-C2DF-412E-98BD-2F59334C98F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be1a33bd7b4405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124575" y="4105275"/>
            <a:ext cx="4953000" cy="1962150"/>
          </a:xfrm>
          <a:prstGeom xmlns:a="http://schemas.openxmlformats.org/drawingml/2006/main" prst="rect">
            <a:avLst/>
          </a:prstGeom>
        </p:spPr>
      </p:pic>
      <p:sp>
        <p:nvSpPr>
          <p:cNvPr id="11" name="Caption 1">
            <a:extLst xmlns:a="http://schemas.openxmlformats.org/drawingml/2006/main">
              <a:ext uri="{FF2B5EF4-FFF2-40B4-BE49-F238E27FC236}">
                <a16:creationId xmlns:a16="http://schemas.microsoft.com/office/drawing/2014/main" id="{9CCE37E8-9483-4731-A456-9B8B60609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590925"/>
            <a:ext cx="59626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사망 시점에서 벽 뒤 공격자의 강조 표시</a:t>
            </a:r>
          </a:p>
        </p:txBody>
      </p:sp>
      <p:sp>
        <p:nvSpPr>
          <p:cNvPr id="12" name="Diagram Flow 16 0">
            <a:extLst xmlns:a="http://schemas.openxmlformats.org/drawingml/2006/main">
              <a:ext uri="{FF2B5EF4-FFF2-40B4-BE49-F238E27FC236}">
                <a16:creationId xmlns:a16="http://schemas.microsoft.com/office/drawing/2014/main" id="{931EE6CC-A7F4-46A2-BB30-1DA37F416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384300" cy="6858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2383">
            <a:solidFill>
              <a:srgbClr val="4DA3FF"/>
            </a:solidFill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플레이어</a:t>
            </a:r>
          </a:p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사망</a:t>
            </a:r>
          </a:p>
        </p:txBody>
      </p:sp>
      <p:sp>
        <p:nvSpPr>
          <p:cNvPr id="13" name="Diagram Flow 16 1">
            <a:extLst xmlns:a="http://schemas.openxmlformats.org/drawingml/2006/main">
              <a:ext uri="{FF2B5EF4-FFF2-40B4-BE49-F238E27FC236}">
                <a16:creationId xmlns:a16="http://schemas.microsoft.com/office/drawing/2014/main" id="{64A25BD0-A5A9-4015-8CDE-D5CD08929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8700" y="4686300"/>
            <a:ext cx="1384300" cy="6858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2383">
            <a:solidFill>
              <a:srgbClr val="4DA3FF"/>
            </a:solidFill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소유자에게</a:t>
            </a:r>
          </a:p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시점 전환</a:t>
            </a:r>
          </a:p>
        </p:txBody>
      </p:sp>
      <p:sp>
        <p:nvSpPr>
          <p:cNvPr id="14" name="Diagram Flow 16 2">
            <a:extLst xmlns:a="http://schemas.openxmlformats.org/drawingml/2006/main">
              <a:ext uri="{FF2B5EF4-FFF2-40B4-BE49-F238E27FC236}">
                <a16:creationId xmlns:a16="http://schemas.microsoft.com/office/drawing/2014/main" id="{52789FAA-4978-4AA9-86B4-2F9118377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7800" y="4686300"/>
            <a:ext cx="1384300" cy="6858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2383">
            <a:solidFill>
              <a:srgbClr val="4DA3FF"/>
            </a:solidFill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지형 충돌</a:t>
            </a:r>
          </a:p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보정</a:t>
            </a:r>
          </a:p>
        </p:txBody>
      </p:sp>
      <p:sp>
        <p:nvSpPr>
          <p:cNvPr id="15" name="Diagram Arrow new 17">
            <a:extLst xmlns:a="http://schemas.openxmlformats.org/drawingml/2006/main">
              <a:ext uri="{FF2B5EF4-FFF2-40B4-BE49-F238E27FC236}">
                <a16:creationId xmlns:a16="http://schemas.microsoft.com/office/drawing/2014/main" id="{23167175-287F-451B-84B4-E10EDBECB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1525" y="4972050"/>
            <a:ext cx="2095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 xmlns:a="http://schemas.openxmlformats.org/drawingml/2006/main">
            <a:endParaRPr/>
          </a:p>
        </p:txBody>
      </p:sp>
      <p:sp>
        <p:nvSpPr>
          <p:cNvPr id="16" name="Diagram Arrow new 18">
            <a:extLst xmlns:a="http://schemas.openxmlformats.org/drawingml/2006/main">
              <a:ext uri="{FF2B5EF4-FFF2-40B4-BE49-F238E27FC236}">
                <a16:creationId xmlns:a16="http://schemas.microsoft.com/office/drawing/2014/main" id="{848CE779-C38C-4B18-9BB9-1006B8B6A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625" y="4972050"/>
            <a:ext cx="2095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 xmlns:a="http://schemas.openxmlformats.org/drawingml/2006/main">
            <a:endParaRPr/>
          </a:p>
        </p:txBody>
      </p:sp>
      <p:sp>
        <p:nvSpPr>
          <p:cNvPr id="17" name="Diagram Flow 18 0">
            <a:extLst xmlns:a="http://schemas.openxmlformats.org/drawingml/2006/main">
              <a:ext uri="{FF2B5EF4-FFF2-40B4-BE49-F238E27FC236}">
                <a16:creationId xmlns:a16="http://schemas.microsoft.com/office/drawing/2014/main" id="{EDB0C902-1B86-40DC-A516-E1C88A840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2143125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2383">
            <a:solidFill>
              <a:srgbClr val="4DA3FF"/>
            </a:solidFill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새 캐릭터 준비</a:t>
            </a:r>
          </a:p>
        </p:txBody>
      </p:sp>
      <p:sp>
        <p:nvSpPr>
          <p:cNvPr id="18" name="Diagram Flow 18 1">
            <a:extLst xmlns:a="http://schemas.openxmlformats.org/drawingml/2006/main">
              <a:ext uri="{FF2B5EF4-FFF2-40B4-BE49-F238E27FC236}">
                <a16:creationId xmlns:a16="http://schemas.microsoft.com/office/drawing/2014/main" id="{9627E52A-34A2-4CBF-9C33-B3995962C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5753100"/>
            <a:ext cx="2143125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2383">
            <a:solidFill>
              <a:srgbClr val="4DA3FF"/>
            </a:solidFill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플레이 시점 복귀</a:t>
            </a:r>
          </a:p>
        </p:txBody>
      </p:sp>
      <p:sp>
        <p:nvSpPr>
          <p:cNvPr id="19" name="Diagram Arrow new 19">
            <a:extLst xmlns:a="http://schemas.openxmlformats.org/drawingml/2006/main">
              <a:ext uri="{FF2B5EF4-FFF2-40B4-BE49-F238E27FC236}">
                <a16:creationId xmlns:a16="http://schemas.microsoft.com/office/drawing/2014/main" id="{380951DE-D43A-4A94-9F25-9C21D2F54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953125"/>
            <a:ext cx="3810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 xmlns:a="http://schemas.openxmlformats.org/drawingml/2006/main">
            <a:endParaRPr/>
          </a:p>
        </p:txBody>
      </p:sp>
      <p:sp>
        <p:nvSpPr>
          <p:cNvPr id="21" name="Death camera GIF frame">
            <a:extLst xmlns:a="http://schemas.openxmlformats.org/drawingml/2006/main">
              <a:ext uri="{FF2B5EF4-FFF2-40B4-BE49-F238E27FC236}">
                <a16:creationId xmlns:a16="http://schemas.microsoft.com/office/drawing/2014/main" id="{7B8EE5B1-E831-420D-A160-02C8B340D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038600"/>
            <a:ext cx="5962650" cy="2095500"/>
          </a:xfrm>
          <a:prstGeom xmlns:a="http://schemas.openxmlformats.org/drawingml/2006/main" prst="roundRect">
            <a:avLst>
              <a:gd name="adj" fmla="val 363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4D7EA8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22" name="그림 21">
            <a:extLst xmlns:a="http://schemas.openxmlformats.org/drawingml/2006/main">
              <a:ext uri="{FF2B5EF4-FFF2-40B4-BE49-F238E27FC236}">
                <a16:creationId xmlns:a16="http://schemas.microsoft.com/office/drawing/2014/main" id="{083854D1-F7E2-489B-A7D7-F5452D4897B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f3535d360c42e8"/>
          <a:srcRect xmlns:a="http://schemas.openxmlformats.org/drawingml/2006/main" l="12969" t="28472" r="41602" b="39583"/>
          <a:stretch xmlns:a="http://schemas.openxmlformats.org/drawingml/2006/main"/>
        </p:blipFill>
        <p:spPr>
          <a:xfrm xmlns:a="http://schemas.openxmlformats.org/drawingml/2006/main">
            <a:off x="6124575" y="1476375"/>
            <a:ext cx="4953000" cy="1962150"/>
          </a:xfrm>
          <a:prstGeom xmlns:a="http://schemas.openxmlformats.org/drawingml/2006/main" prst="rect">
            <a:avLst/>
          </a:prstGeom>
        </p:spPr>
      </p:pic>
      <p:sp>
        <p:nvSpPr>
          <p:cNvPr id="23" name="Death camera GIF caption">
            <a:extLst xmlns:a="http://schemas.openxmlformats.org/drawingml/2006/main">
              <a:ext uri="{FF2B5EF4-FFF2-40B4-BE49-F238E27FC236}">
                <a16:creationId xmlns:a16="http://schemas.microsoft.com/office/drawing/2014/main" id="{2A8FBF4E-BB98-4F3B-ADFC-F98763C8A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6200775"/>
            <a:ext cx="59626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사망 전후의 시점 전환 과정(GIF)</a:t>
            </a:r>
          </a:p>
        </p:txBody>
      </p:sp>
      <p:sp>
        <p:nvSpPr>
          <p:cNvPr id="24" name="Killer behind wall marker">
            <a:extLst xmlns:a="http://schemas.openxmlformats.org/drawingml/2006/main">
              <a:ext uri="{FF2B5EF4-FFF2-40B4-BE49-F238E27FC236}">
                <a16:creationId xmlns:a16="http://schemas.microsoft.com/office/drawing/2014/main" id="{751A2B22-536F-4E0C-BD21-7422C9DBF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695" y="1866900"/>
            <a:ext cx="304800" cy="40957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64E0D7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Killer behind wall label">
            <a:extLst xmlns:a="http://schemas.openxmlformats.org/drawingml/2006/main">
              <a:ext uri="{FF2B5EF4-FFF2-40B4-BE49-F238E27FC236}">
                <a16:creationId xmlns:a16="http://schemas.microsoft.com/office/drawing/2014/main" id="{19DE4BB3-E35B-4EC7-A4B7-BA9DD651D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1876425"/>
            <a:ext cx="13430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rPr>
              <a:t>벽 뒤의 공격자</a:t>
            </a:r>
          </a:p>
        </p:txBody>
      </p:sp>
    </p:spTree>
    <p:extLst>
      <p:ext uri="{BB962C8B-B14F-4D97-AF65-F5344CB8AC3E}">
        <p14:creationId xmlns:p14="http://schemas.microsoft.com/office/powerpoint/2010/main" val="135067055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94FC3DA-1911-4090-A77B-885FB4857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969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C2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4B2F189-93DD-447F-8DB0-92DE80791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rPr>
              <a:t>추가 구현 | CHARACTER OUTLINE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4E9690F-B444-43B0-BC2F-00CDE06C0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5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카메라별 캐릭터 외곽선 표시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94DBF313-E5DC-4919-B52B-C9859FD00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4762500" cy="2857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2530"/>
          </a:solidFill>
          <a:ln xmlns:a="http://schemas.openxmlformats.org/drawingml/2006/main" w="12700">
            <a:solidFill>
              <a:srgbClr val="34405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247650" rIns="228600" bIns="17145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원본 메시와 표시용 메시 분리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원본과 별도로 </a:t>
            </a:r>
            <a:r>
              <a:rPr sz="1575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CustomDepth</a:t>
            </a: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용 메시를 생성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원본의 숨김 상태와 </a:t>
            </a:r>
            <a:r>
              <a:rPr sz="1575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카메라별</a:t>
            </a: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표시 목록을 반영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각 카메라의 대상에 맞춰 외곽선 표시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PlayerState</a:t>
            </a: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의 강조 대상 정보로 색상을 구분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4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원본 메시의 재질과 충돌 설정은 유지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4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82eeab41aa7f44fd"/>
              </a:rPr>
              <a:t>카메라별 외곽선 코드</a:t>
            </a:r>
          </a:p>
        </p:txBody>
      </p:sp>
      <p:sp>
        <p:nvSpPr>
          <p:cNvPr id="9" name="직사각형 8">
            <a:extLst xmlns:a="http://schemas.openxmlformats.org/drawingml/2006/main">
              <a:ext uri="{FF2B5EF4-FFF2-40B4-BE49-F238E27FC236}">
                <a16:creationId xmlns:a16="http://schemas.microsoft.com/office/drawing/2014/main" id="{C1813994-D1DE-4F8A-93F1-F9BE91569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pPr>
            <a:r>
              <a:t>14</a:t>
            </a:r>
          </a:p>
        </p:txBody>
      </p:sp>
      <p:sp>
        <p:nvSpPr>
          <p:cNvPr id="10" name="Media 1">
            <a:extLst xmlns:a="http://schemas.openxmlformats.org/drawingml/2006/main">
              <a:ext uri="{FF2B5EF4-FFF2-40B4-BE49-F238E27FC236}">
                <a16:creationId xmlns:a16="http://schemas.microsoft.com/office/drawing/2014/main" id="{A1F4248E-6A9B-4838-A499-5FB4AA43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409700"/>
            <a:ext cx="5943600" cy="2095500"/>
          </a:xfrm>
          <a:prstGeom xmlns:a="http://schemas.openxmlformats.org/drawingml/2006/main" prst="roundRect">
            <a:avLst>
              <a:gd name="adj" fmla="val 6364"/>
            </a:avLst>
          </a:prstGeom>
          <a:solidFill xmlns:a="http://schemas.openxmlformats.org/drawingml/2006/main">
            <a:srgbClr val="11151D"/>
          </a:solidFill>
          <a:ln xmlns:a="http://schemas.openxmlformats.org/drawingml/2006/main" w="12383">
            <a:solidFill>
              <a:srgbClr val="4D78A8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20" name="플레이어A외곽선">
            <a:extLst xmlns:a="http://schemas.openxmlformats.org/drawingml/2006/main">
              <a:ext uri="{FF2B5EF4-FFF2-40B4-BE49-F238E27FC236}">
                <a16:creationId xmlns:a16="http://schemas.microsoft.com/office/drawing/2014/main" id="{372E5153-94A5-46EB-9AD1-C01F6B05B04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2f35679430455a"/>
          <a:srcRect xmlns:a="http://schemas.openxmlformats.org/drawingml/2006/main" l="0" t="33750" r="0" b="19375"/>
          <a:stretch xmlns:a="http://schemas.openxmlformats.org/drawingml/2006/main"/>
        </p:blipFill>
        <p:spPr>
          <a:xfrm xmlns:a="http://schemas.openxmlformats.org/drawingml/2006/main">
            <a:off x="5809657" y="1476375"/>
            <a:ext cx="5563785" cy="1962150"/>
          </a:xfrm>
          <a:prstGeom xmlns:a="http://schemas.openxmlformats.org/drawingml/2006/main" prst="rect">
            <a:avLst/>
          </a:prstGeom>
        </p:spPr>
      </p:pic>
      <p:sp>
        <p:nvSpPr>
          <p:cNvPr id="11" name="Caption 1">
            <a:extLst xmlns:a="http://schemas.openxmlformats.org/drawingml/2006/main">
              <a:ext uri="{FF2B5EF4-FFF2-40B4-BE49-F238E27FC236}">
                <a16:creationId xmlns:a16="http://schemas.microsoft.com/office/drawing/2014/main" id="{AF341507-C593-4DEE-9FCC-107FCF299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571875"/>
            <a:ext cx="59436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플레이어 A의 시점에서 본 외곽선</a:t>
            </a:r>
          </a:p>
        </p:txBody>
      </p:sp>
      <p:sp>
        <p:nvSpPr>
          <p:cNvPr id="12" name="Media 2">
            <a:extLst xmlns:a="http://schemas.openxmlformats.org/drawingml/2006/main">
              <a:ext uri="{FF2B5EF4-FFF2-40B4-BE49-F238E27FC236}">
                <a16:creationId xmlns:a16="http://schemas.microsoft.com/office/drawing/2014/main" id="{D1753CB5-0120-4217-9EE9-9FECA2F58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038600"/>
            <a:ext cx="5943600" cy="2095500"/>
          </a:xfrm>
          <a:prstGeom xmlns:a="http://schemas.openxmlformats.org/drawingml/2006/main" prst="roundRect">
            <a:avLst>
              <a:gd name="adj" fmla="val 6364"/>
            </a:avLst>
          </a:prstGeom>
          <a:solidFill xmlns:a="http://schemas.openxmlformats.org/drawingml/2006/main">
            <a:srgbClr val="11151D"/>
          </a:solidFill>
          <a:ln xmlns:a="http://schemas.openxmlformats.org/drawingml/2006/main" w="12383">
            <a:solidFill>
              <a:srgbClr val="4D78A8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21" name="플레이어B외곽선">
            <a:extLst xmlns:a="http://schemas.openxmlformats.org/drawingml/2006/main">
              <a:ext uri="{FF2B5EF4-FFF2-40B4-BE49-F238E27FC236}">
                <a16:creationId xmlns:a16="http://schemas.microsoft.com/office/drawing/2014/main" id="{BCAB980B-85F3-4370-B61D-E51EB2A849D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99be54d62d45e8"/>
          <a:srcRect xmlns:a="http://schemas.openxmlformats.org/drawingml/2006/main" l="0" t="33402" r="0" b="20492"/>
          <a:stretch xmlns:a="http://schemas.openxmlformats.org/drawingml/2006/main"/>
        </p:blipFill>
        <p:spPr>
          <a:xfrm xmlns:a="http://schemas.openxmlformats.org/drawingml/2006/main">
            <a:off x="5818378" y="4105275"/>
            <a:ext cx="5546344" cy="1962150"/>
          </a:xfrm>
          <a:prstGeom xmlns:a="http://schemas.openxmlformats.org/drawingml/2006/main" prst="rect">
            <a:avLst/>
          </a:prstGeom>
        </p:spPr>
      </p:pic>
      <p:sp>
        <p:nvSpPr>
          <p:cNvPr id="13" name="Caption 2">
            <a:extLst xmlns:a="http://schemas.openxmlformats.org/drawingml/2006/main">
              <a:ext uri="{FF2B5EF4-FFF2-40B4-BE49-F238E27FC236}">
                <a16:creationId xmlns:a16="http://schemas.microsoft.com/office/drawing/2014/main" id="{D0667841-5699-473C-9ADB-559D4970C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6200775"/>
            <a:ext cx="59436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플레이어 B의 시점에서 본 외곽선</a:t>
            </a:r>
          </a:p>
        </p:txBody>
      </p:sp>
      <p:sp>
        <p:nvSpPr>
          <p:cNvPr id="14" name="Diagram Flow 19 0">
            <a:extLst xmlns:a="http://schemas.openxmlformats.org/drawingml/2006/main">
              <a:ext uri="{FF2B5EF4-FFF2-40B4-BE49-F238E27FC236}">
                <a16:creationId xmlns:a16="http://schemas.microsoft.com/office/drawing/2014/main" id="{6CA1C174-93C7-4639-B931-C066B6C2C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1384300" cy="7620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2383">
            <a:solidFill>
              <a:srgbClr val="4DA3FF"/>
            </a:solidFill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원본 메시</a:t>
            </a:r>
          </a:p>
        </p:txBody>
      </p:sp>
      <p:sp>
        <p:nvSpPr>
          <p:cNvPr id="15" name="Diagram Flow 19 1">
            <a:extLst xmlns:a="http://schemas.openxmlformats.org/drawingml/2006/main">
              <a:ext uri="{FF2B5EF4-FFF2-40B4-BE49-F238E27FC236}">
                <a16:creationId xmlns:a16="http://schemas.microsoft.com/office/drawing/2014/main" id="{9ADF1BA6-4A54-43DB-9908-CE22D99BE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8700" y="4800600"/>
            <a:ext cx="1384300" cy="7620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2383">
            <a:solidFill>
              <a:srgbClr val="4DA3FF"/>
            </a:solidFill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외곽선용</a:t>
            </a:r>
          </a:p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깊이 정보</a:t>
            </a:r>
          </a:p>
        </p:txBody>
      </p:sp>
      <p:sp>
        <p:nvSpPr>
          <p:cNvPr id="16" name="Diagram Flow 19 2">
            <a:extLst xmlns:a="http://schemas.openxmlformats.org/drawingml/2006/main">
              <a:ext uri="{FF2B5EF4-FFF2-40B4-BE49-F238E27FC236}">
                <a16:creationId xmlns:a16="http://schemas.microsoft.com/office/drawing/2014/main" id="{A6F73514-7814-4DD2-9829-43746D1E3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7800" y="4800600"/>
            <a:ext cx="1384300" cy="7620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2383">
            <a:solidFill>
              <a:srgbClr val="4DA3FF"/>
            </a:solidFill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카메라별</a:t>
            </a:r>
          </a:p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가시성 적용</a:t>
            </a:r>
          </a:p>
        </p:txBody>
      </p:sp>
      <p:sp>
        <p:nvSpPr>
          <p:cNvPr id="17" name="Diagram Arrow new 20">
            <a:extLst xmlns:a="http://schemas.openxmlformats.org/drawingml/2006/main">
              <a:ext uri="{FF2B5EF4-FFF2-40B4-BE49-F238E27FC236}">
                <a16:creationId xmlns:a16="http://schemas.microsoft.com/office/drawing/2014/main" id="{A47DF91B-E23F-4A74-9DB6-93FB4466D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1525" y="5124450"/>
            <a:ext cx="2095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 xmlns:a="http://schemas.openxmlformats.org/drawingml/2006/main">
            <a:endParaRPr/>
          </a:p>
        </p:txBody>
      </p:sp>
      <p:sp>
        <p:nvSpPr>
          <p:cNvPr id="18" name="Diagram Arrow new 21">
            <a:extLst xmlns:a="http://schemas.openxmlformats.org/drawingml/2006/main">
              <a:ext uri="{FF2B5EF4-FFF2-40B4-BE49-F238E27FC236}">
                <a16:creationId xmlns:a16="http://schemas.microsoft.com/office/drawing/2014/main" id="{318F4054-1809-4156-93A2-80BD63100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625" y="5124450"/>
            <a:ext cx="2095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 xmlns:a="http://schemas.openxmlformats.org/drawingml/2006/main">
            <a:endParaRPr/>
          </a:p>
        </p:txBody>
      </p:sp>
      <p:sp>
        <p:nvSpPr>
          <p:cNvPr id="19" name="Original preserved">
            <a:extLst xmlns:a="http://schemas.openxmlformats.org/drawingml/2006/main">
              <a:ext uri="{FF2B5EF4-FFF2-40B4-BE49-F238E27FC236}">
                <a16:creationId xmlns:a16="http://schemas.microsoft.com/office/drawing/2014/main" id="{ABDBCA33-1BFA-4C6C-B67E-654F8FAB9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35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35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35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35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35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35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35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35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35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35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35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원본 메시의 재질과 충돌 설정을 유지</a:t>
            </a:r>
          </a:p>
        </p:txBody>
      </p:sp>
    </p:spTree>
    <p:extLst>
      <p:ext uri="{BB962C8B-B14F-4D97-AF65-F5344CB8AC3E}">
        <p14:creationId xmlns:p14="http://schemas.microsoft.com/office/powerpoint/2010/main" val="1350670552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94FC3DA-1911-4090-A77B-885FB4857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969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C2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4B2F189-93DD-447F-8DB0-92DE80791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rPr>
              <a:t>추가 구현 | TARGET NICKNAME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4E9690F-B444-43B0-BC2F-00CDE06C0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5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조준 대상 검색과 닉네임 표시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94DBF313-E5DC-4919-B52B-C9859FD00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4762500" cy="2857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2530"/>
          </a:solidFill>
          <a:ln xmlns:a="http://schemas.openxmlformats.org/drawingml/2006/main" w="12700">
            <a:solidFill>
              <a:srgbClr val="34405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247650" rIns="228600" bIns="17145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조준선 우선 검색과 가림 여부 검사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조준선의 대상을 우선 검색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없으면 주변 범위를 </a:t>
            </a:r>
            <a:r>
              <a:rPr sz="1575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보조 검색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Line Trace로 </a:t>
            </a:r>
            <a:r>
              <a:rPr sz="1575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가려진 후보</a:t>
            </a: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를 표시 대상에서 제외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유효한 대상의 이름과 색상을 위젯에 반영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잘못된 조준 좌표와 방향 입력을 검사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52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bf7a8c9e83c14e47"/>
              </a:rPr>
              <a:t>닉네임 대상 검색 코드</a:t>
            </a:r>
          </a:p>
        </p:txBody>
      </p:sp>
      <p:sp>
        <p:nvSpPr>
          <p:cNvPr id="9" name="직사각형 8">
            <a:extLst xmlns:a="http://schemas.openxmlformats.org/drawingml/2006/main">
              <a:ext uri="{FF2B5EF4-FFF2-40B4-BE49-F238E27FC236}">
                <a16:creationId xmlns:a16="http://schemas.microsoft.com/office/drawing/2014/main" id="{C1813994-D1DE-4F8A-93F1-F9BE91569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pPr>
            <a:r>
              <a:t>15</a:t>
            </a:r>
          </a:p>
        </p:txBody>
      </p:sp>
      <p:sp>
        <p:nvSpPr>
          <p:cNvPr id="14" name="Diagram Primary search">
            <a:extLst xmlns:a="http://schemas.openxmlformats.org/drawingml/2006/main">
              <a:ext uri="{FF2B5EF4-FFF2-40B4-BE49-F238E27FC236}">
                <a16:creationId xmlns:a16="http://schemas.microsoft.com/office/drawing/2014/main" id="{C62D2896-984D-4BFC-B494-C942BA009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2095500" cy="590550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2383">
            <a:solidFill>
              <a:srgbClr val="4DA3FF"/>
            </a:solidFill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조준선의</a:t>
            </a:r>
          </a:p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대상 </a:t>
            </a: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우선 검색</a:t>
            </a:r>
          </a:p>
        </p:txBody>
      </p:sp>
      <p:sp>
        <p:nvSpPr>
          <p:cNvPr id="15" name="Diagram Fallback search">
            <a:extLst xmlns:a="http://schemas.openxmlformats.org/drawingml/2006/main">
              <a:ext uri="{FF2B5EF4-FFF2-40B4-BE49-F238E27FC236}">
                <a16:creationId xmlns:a16="http://schemas.microsoft.com/office/drawing/2014/main" id="{B23A92EF-99B5-40B8-BF13-4FC1F8F25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629150"/>
            <a:ext cx="2095500" cy="590550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2383">
            <a:solidFill>
              <a:srgbClr val="4DA3FF"/>
            </a:solidFill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없으면 주변</a:t>
            </a:r>
          </a:p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범위를 </a:t>
            </a: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보조 검색</a:t>
            </a:r>
          </a:p>
        </p:txBody>
      </p:sp>
      <p:sp>
        <p:nvSpPr>
          <p:cNvPr id="16" name="Diagram Occlusion">
            <a:extLst xmlns:a="http://schemas.openxmlformats.org/drawingml/2006/main">
              <a:ext uri="{FF2B5EF4-FFF2-40B4-BE49-F238E27FC236}">
                <a16:creationId xmlns:a16="http://schemas.microsoft.com/office/drawing/2014/main" id="{1FF355F0-59BE-406B-8E7D-1CDB8E198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600700"/>
            <a:ext cx="2095500" cy="590550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2383">
            <a:solidFill>
              <a:srgbClr val="4DA3FF"/>
            </a:solidFill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벽에 가려진</a:t>
            </a:r>
          </a:p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대상 제외</a:t>
            </a:r>
          </a:p>
        </p:txBody>
      </p:sp>
      <p:sp>
        <p:nvSpPr>
          <p:cNvPr id="17" name="Diagram Nickname">
            <a:extLst xmlns:a="http://schemas.openxmlformats.org/drawingml/2006/main">
              <a:ext uri="{FF2B5EF4-FFF2-40B4-BE49-F238E27FC236}">
                <a16:creationId xmlns:a16="http://schemas.microsoft.com/office/drawing/2014/main" id="{60A7597E-DDB6-40A4-A7E6-959E8F239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2095500" cy="590550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2383">
            <a:solidFill>
              <a:srgbClr val="4DA3FF"/>
            </a:solidFill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유효한 대상의</a:t>
            </a:r>
          </a:p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닉네임 표시</a:t>
            </a:r>
          </a:p>
        </p:txBody>
      </p:sp>
      <p:sp>
        <p:nvSpPr>
          <p:cNvPr id="18" name="Diagram Arrow 20">
            <a:extLst xmlns:a="http://schemas.openxmlformats.org/drawingml/2006/main">
              <a:ext uri="{FF2B5EF4-FFF2-40B4-BE49-F238E27FC236}">
                <a16:creationId xmlns:a16="http://schemas.microsoft.com/office/drawing/2014/main" id="{607A1DE0-27F7-4169-9EE4-782CDFBF6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4867275"/>
            <a:ext cx="4762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 xmlns:a="http://schemas.openxmlformats.org/drawingml/2006/main">
            <a:endParaRPr/>
          </a:p>
        </p:txBody>
      </p:sp>
      <p:sp>
        <p:nvSpPr>
          <p:cNvPr id="19" name="Diagram Arrow 21">
            <a:extLst xmlns:a="http://schemas.openxmlformats.org/drawingml/2006/main">
              <a:ext uri="{FF2B5EF4-FFF2-40B4-BE49-F238E27FC236}">
                <a16:creationId xmlns:a16="http://schemas.microsoft.com/office/drawing/2014/main" id="{9CC277FC-D1DF-4E91-B31E-817D33851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267325"/>
            <a:ext cx="114300" cy="2857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 xmlns:a="http://schemas.openxmlformats.org/drawingml/2006/main">
            <a:endParaRPr/>
          </a:p>
        </p:txBody>
      </p:sp>
      <p:sp>
        <p:nvSpPr>
          <p:cNvPr id="20" name="Diagram Arrow 22">
            <a:extLst xmlns:a="http://schemas.openxmlformats.org/drawingml/2006/main">
              <a:ext uri="{FF2B5EF4-FFF2-40B4-BE49-F238E27FC236}">
                <a16:creationId xmlns:a16="http://schemas.microsoft.com/office/drawing/2014/main" id="{F5B03EFF-9074-457C-A98C-60D9C53EF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5838825"/>
            <a:ext cx="476250" cy="11430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 xmlns:a="http://schemas.openxmlformats.org/drawingml/2006/main">
            <a:endParaRPr/>
          </a:p>
        </p:txBody>
      </p:sp>
      <p:sp>
        <p:nvSpPr>
          <p:cNvPr id="21" name="Media 1">
            <a:extLst xmlns:a="http://schemas.openxmlformats.org/drawingml/2006/main">
              <a:ext uri="{FF2B5EF4-FFF2-40B4-BE49-F238E27FC236}">
                <a16:creationId xmlns:a16="http://schemas.microsoft.com/office/drawing/2014/main" id="{F5D9CC34-B6E8-4DC5-9C99-00FC3AAD3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409700"/>
            <a:ext cx="5943600" cy="2095500"/>
          </a:xfrm>
          <a:prstGeom xmlns:a="http://schemas.openxmlformats.org/drawingml/2006/main" prst="roundRect">
            <a:avLst>
              <a:gd name="adj" fmla="val 6364"/>
            </a:avLst>
          </a:prstGeom>
          <a:solidFill xmlns:a="http://schemas.openxmlformats.org/drawingml/2006/main">
            <a:srgbClr val="11151D"/>
          </a:solidFill>
          <a:ln xmlns:a="http://schemas.openxmlformats.org/drawingml/2006/main" w="12383">
            <a:solidFill>
              <a:srgbClr val="4D78A8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25" name="벽X닉네임">
            <a:extLst xmlns:a="http://schemas.openxmlformats.org/drawingml/2006/main">
              <a:ext uri="{FF2B5EF4-FFF2-40B4-BE49-F238E27FC236}">
                <a16:creationId xmlns:a16="http://schemas.microsoft.com/office/drawing/2014/main" id="{F485E634-BCC5-4DCC-BD2C-A389D4AD5CD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990b526fd2459d"/>
          <a:srcRect xmlns:a="http://schemas.openxmlformats.org/drawingml/2006/main" l="0" t="31789" r="0" b="20842"/>
          <a:stretch xmlns:a="http://schemas.openxmlformats.org/drawingml/2006/main"/>
        </p:blipFill>
        <p:spPr>
          <a:xfrm xmlns:a="http://schemas.openxmlformats.org/drawingml/2006/main">
            <a:off x="5800937" y="1476375"/>
            <a:ext cx="5581227" cy="1962150"/>
          </a:xfrm>
          <a:prstGeom xmlns:a="http://schemas.openxmlformats.org/drawingml/2006/main" prst="rect">
            <a:avLst/>
          </a:prstGeom>
        </p:spPr>
      </p:pic>
      <p:sp>
        <p:nvSpPr>
          <p:cNvPr id="22" name="Caption 1">
            <a:extLst xmlns:a="http://schemas.openxmlformats.org/drawingml/2006/main">
              <a:ext uri="{FF2B5EF4-FFF2-40B4-BE49-F238E27FC236}">
                <a16:creationId xmlns:a16="http://schemas.microsoft.com/office/drawing/2014/main" id="{1A595369-F658-4AC6-85D3-60CB5E76E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571875"/>
            <a:ext cx="59436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0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조준 대상이 보일 때의 닉네임 표시</a:t>
            </a:r>
          </a:p>
        </p:txBody>
      </p:sp>
      <p:sp>
        <p:nvSpPr>
          <p:cNvPr id="23" name="Media 2">
            <a:extLst xmlns:a="http://schemas.openxmlformats.org/drawingml/2006/main">
              <a:ext uri="{FF2B5EF4-FFF2-40B4-BE49-F238E27FC236}">
                <a16:creationId xmlns:a16="http://schemas.microsoft.com/office/drawing/2014/main" id="{4D341740-4E3B-4B19-8FCD-3A3CD2A16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038600"/>
            <a:ext cx="5943600" cy="2095500"/>
          </a:xfrm>
          <a:prstGeom xmlns:a="http://schemas.openxmlformats.org/drawingml/2006/main" prst="roundRect">
            <a:avLst>
              <a:gd name="adj" fmla="val 6364"/>
            </a:avLst>
          </a:prstGeom>
          <a:solidFill xmlns:a="http://schemas.openxmlformats.org/drawingml/2006/main">
            <a:srgbClr val="11151D"/>
          </a:solidFill>
          <a:ln xmlns:a="http://schemas.openxmlformats.org/drawingml/2006/main" w="12383">
            <a:solidFill>
              <a:srgbClr val="4D78A8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26" name="벽O닉네임">
            <a:extLst xmlns:a="http://schemas.openxmlformats.org/drawingml/2006/main">
              <a:ext uri="{FF2B5EF4-FFF2-40B4-BE49-F238E27FC236}">
                <a16:creationId xmlns:a16="http://schemas.microsoft.com/office/drawing/2014/main" id="{F357E02E-2081-4131-9287-4C2A77AA99E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7f4cb33ac741c3"/>
          <a:srcRect xmlns:a="http://schemas.openxmlformats.org/drawingml/2006/main" l="0" t="31590" r="0" b="21339"/>
          <a:stretch xmlns:a="http://schemas.openxmlformats.org/drawingml/2006/main"/>
        </p:blipFill>
        <p:spPr>
          <a:xfrm xmlns:a="http://schemas.openxmlformats.org/drawingml/2006/main">
            <a:off x="5809657" y="4105275"/>
            <a:ext cx="5563785" cy="1962150"/>
          </a:xfrm>
          <a:prstGeom xmlns:a="http://schemas.openxmlformats.org/drawingml/2006/main" prst="rect">
            <a:avLst/>
          </a:prstGeom>
        </p:spPr>
      </p:pic>
      <p:sp>
        <p:nvSpPr>
          <p:cNvPr id="24" name="Caption 2">
            <a:extLst xmlns:a="http://schemas.openxmlformats.org/drawingml/2006/main">
              <a:ext uri="{FF2B5EF4-FFF2-40B4-BE49-F238E27FC236}">
                <a16:creationId xmlns:a16="http://schemas.microsoft.com/office/drawing/2014/main" id="{C7F0EF91-A8B5-4FAD-AFE3-09B14A2CE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6200775"/>
            <a:ext cx="59436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0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대상이 벽에 가려질 때의 표시 제외</a:t>
            </a:r>
          </a:p>
        </p:txBody>
      </p:sp>
    </p:spTree>
    <p:extLst>
      <p:ext uri="{BB962C8B-B14F-4D97-AF65-F5344CB8AC3E}">
        <p14:creationId xmlns:p14="http://schemas.microsoft.com/office/powerpoint/2010/main" val="1350670552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94FC3DA-1911-4090-A77B-885FB4857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969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C2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4B2F189-93DD-447F-8DB0-92DE80791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rPr>
              <a:t>추가 구현 | CHARACTER APPEARANCE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4E9690F-B444-43B0-BC2F-00CDE06C0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5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AI 캐릭터 외형 적용과 동기화</a:t>
            </a:r>
          </a:p>
        </p:txBody>
      </p:sp>
      <p:sp>
        <p:nvSpPr>
          <p:cNvPr id="9" name="직사각형 8">
            <a:extLst xmlns:a="http://schemas.openxmlformats.org/drawingml/2006/main">
              <a:ext uri="{FF2B5EF4-FFF2-40B4-BE49-F238E27FC236}">
                <a16:creationId xmlns:a16="http://schemas.microsoft.com/office/drawing/2014/main" id="{C1813994-D1DE-4F8A-93F1-F9BE91569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pPr>
            <a:r>
              <a:t>16</a:t>
            </a:r>
          </a:p>
        </p:txBody>
      </p:sp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DCCB6C-D26F-42CA-A03C-E85DC063F81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188920fcd44f27"/>
          <a:srcRect xmlns:a="http://schemas.openxmlformats.org/drawingml/2006/main" l="0" t="37856" r="43721" b="24173"/>
          <a:stretch xmlns:a="http://schemas.openxmlformats.org/drawingml/2006/main"/>
        </p:blipFill>
        <p:spPr>
          <a:xfrm xmlns:a="http://schemas.openxmlformats.org/drawingml/2006/main">
            <a:off x="609600" y="3200400"/>
            <a:ext cx="4267200" cy="1315720"/>
          </a:xfrm>
          <a:prstGeom xmlns:a="http://schemas.openxmlformats.org/drawingml/2006/main" prst="rect">
            <a:avLst/>
          </a:prstGeom>
        </p:spPr>
      </p:pic>
      <p:sp>
        <p:nvSpPr>
          <p:cNvPr id="15" name="Appearance purpose">
            <a:extLst xmlns:a="http://schemas.openxmlformats.org/drawingml/2006/main">
              <a:ext uri="{FF2B5EF4-FFF2-40B4-BE49-F238E27FC236}">
                <a16:creationId xmlns:a16="http://schemas.microsoft.com/office/drawing/2014/main" id="{7D6E896A-5CD1-41EA-BE21-8DE5C9D61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972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t>AI의 외형을 DataTable로 관리하고 외형 ID를 복제해 동기화</a:t>
            </a:r>
          </a:p>
        </p:txBody>
      </p:sp>
      <p:sp>
        <p:nvSpPr>
          <p:cNvPr id="16" name="Appearance data heading">
            <a:extLst xmlns:a="http://schemas.openxmlformats.org/drawingml/2006/main">
              <a:ext uri="{FF2B5EF4-FFF2-40B4-BE49-F238E27FC236}">
                <a16:creationId xmlns:a16="http://schemas.microsoft.com/office/drawing/2014/main" id="{8E59FADD-4616-452F-B835-1C3DB3909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426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외형 데이터 구성</a:t>
            </a:r>
          </a:p>
        </p:txBody>
      </p:sp>
      <p:sp>
        <p:nvSpPr>
          <p:cNvPr id="17" name="Appearance data summary">
            <a:extLst xmlns:a="http://schemas.openxmlformats.org/drawingml/2006/main">
              <a:ext uri="{FF2B5EF4-FFF2-40B4-BE49-F238E27FC236}">
                <a16:creationId xmlns:a16="http://schemas.microsoft.com/office/drawing/2014/main" id="{1A7CE323-7B64-4ECB-8132-1CD329F11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42672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t>일반 메시 / 사망 메시 / 분리 파츠를</a:t>
            </a:r>
          </a:p>
          <a:p xmlns:a="http://schemas.openxmlformats.org/drawingml/2006/main">
            <a:pPr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t>외형 ID별로 묶어 관리</a:t>
            </a:r>
          </a:p>
        </p:txBody>
      </p:sp>
      <p:sp>
        <p:nvSpPr>
          <p:cNvPr id="18" name="Appearance table caption">
            <a:extLst xmlns:a="http://schemas.openxmlformats.org/drawingml/2006/main">
              <a:ext uri="{FF2B5EF4-FFF2-40B4-BE49-F238E27FC236}">
                <a16:creationId xmlns:a16="http://schemas.microsoft.com/office/drawing/2014/main" id="{5DE2278D-BBA9-4BDE-85DA-24AA2C46B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426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t>AI에 적용 중인 외형 데이터 설정</a:t>
            </a:r>
          </a:p>
        </p:txBody>
      </p:sp>
      <p:sp>
        <p:nvSpPr>
          <p:cNvPr id="19" name="Appearance death parts application">
            <a:extLst xmlns:a="http://schemas.openxmlformats.org/drawingml/2006/main">
              <a:ext uri="{FF2B5EF4-FFF2-40B4-BE49-F238E27FC236}">
                <a16:creationId xmlns:a16="http://schemas.microsoft.com/office/drawing/2014/main" id="{7D65CD50-4D9F-4C2E-8C52-A17967E6D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00625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t>사망 파츠는 컴포넌트 이름에 맞춰</a:t>
            </a:r>
          </a:p>
          <a:p xmlns:a="http://schemas.openxmlformats.org/drawingml/2006/main">
            <a:pPr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t>각 메시를 적용</a:t>
            </a:r>
          </a:p>
        </p:txBody>
      </p:sp>
      <p:sp>
        <p:nvSpPr>
          <p:cNvPr id="20" name="Appearance core code panel">
            <a:extLst xmlns:a="http://schemas.openxmlformats.org/drawingml/2006/main">
              <a:ext uri="{FF2B5EF4-FFF2-40B4-BE49-F238E27FC236}">
                <a16:creationId xmlns:a16="http://schemas.microsoft.com/office/drawing/2014/main" id="{6429DAFB-0E16-490A-860E-8388E2F20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1943100"/>
            <a:ext cx="6324600" cy="3676650"/>
          </a:xfrm>
          <a:prstGeom xmlns:a="http://schemas.openxmlformats.org/drawingml/2006/main" prst="roundRect">
            <a:avLst>
              <a:gd name="adj" fmla="val 4145"/>
            </a:avLst>
          </a:prstGeom>
          <a:solidFill xmlns:a="http://schemas.openxmlformats.org/drawingml/2006/main">
            <a:srgbClr val="10151D"/>
          </a:solidFill>
          <a:ln xmlns:a="http://schemas.openxmlformats.org/drawingml/2006/main" w="9525">
            <a:solidFill>
              <a:srgbClr val="4D7EA8"/>
            </a:solidFill>
          </a:ln>
        </p:spPr>
      </p:sp>
      <p:sp>
        <p:nvSpPr>
          <p:cNvPr id="21" name="Appearance core code heading">
            <a:extLst xmlns:a="http://schemas.openxmlformats.org/drawingml/2006/main">
              <a:ext uri="{FF2B5EF4-FFF2-40B4-BE49-F238E27FC236}">
                <a16:creationId xmlns:a16="http://schemas.microsoft.com/office/drawing/2014/main" id="{BFEB3A24-E8B2-45C1-841B-F765F7038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095500"/>
            <a:ext cx="5867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핵심 함수: 데이터 조회와 메시 적용</a:t>
            </a:r>
          </a:p>
        </p:txBody>
      </p:sp>
      <p:sp>
        <p:nvSpPr>
          <p:cNvPr id="22" name="Appearance actual core function">
            <a:extLst xmlns:a="http://schemas.openxmlformats.org/drawingml/2006/main">
              <a:ext uri="{FF2B5EF4-FFF2-40B4-BE49-F238E27FC236}">
                <a16:creationId xmlns:a16="http://schemas.microsoft.com/office/drawing/2014/main" id="{C87A44D1-A58B-49EC-AC7D-8FCA88394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476500"/>
            <a:ext cx="586740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defPPr>
            <a:lvl1pPr>
              <a:buNone/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1pPr>
            <a:lvl2pPr>
              <a:buNone/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2pPr>
            <a:lvl3pPr>
              <a:buNone/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3pPr>
            <a:lvl4pPr>
              <a:buNone/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4pPr>
            <a:lvl5pPr>
              <a:buNone/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5pPr>
            <a:lvl6pPr>
              <a:buNone/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6pPr>
            <a:lvl7pPr>
              <a:buNone/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7pPr>
            <a:lvl8pPr>
              <a:buNone/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8pPr>
            <a:lvl9pPr>
              <a:buNone/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bool UCharacterAppearanceComponent::</a:t>
            </a:r>
          </a:p>
          <a:p xmlns:a="http://schemas.openxmlformats.org/drawingml/2006/main">
            <a:pPr>
              <a:buNone/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ApplyModelingIdInternal(const FString&amp; modelingId)</a:t>
            </a:r>
          </a:p>
          <a:p xmlns:a="http://schemas.openxmlformats.org/drawingml/2006/main">
            <a:pPr>
              <a:buNone/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{</a:t>
            </a:r>
          </a:p>
          <a:p xmlns:a="http://schemas.openxmlformats.org/drawingml/2006/main">
            <a:pPr>
              <a:buNone/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FCharacterModelingRow modelingRow;</a:t>
            </a:r>
          </a:p>
          <a:p xmlns:a="http://schemas.openxmlformats.org/drawingml/2006/main">
            <a:pPr>
              <a:buNone/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if (!</a:t>
            </a:r>
            <a:r>
              <a:rPr b="1">
                <a:solidFill>
                  <a:srgbClr val="64E0D7"/>
                </a:solidFill>
              </a:rPr>
              <a:t>FindModelingRow</a:t>
            </a:r>
            <a:r>
              <a:t>(modelingId, modelingRow))</a:t>
            </a:r>
          </a:p>
          <a:p xmlns:a="http://schemas.openxmlformats.org/drawingml/2006/main">
            <a:pPr>
              <a:buNone/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{</a:t>
            </a:r>
          </a:p>
          <a:p xmlns:a="http://schemas.openxmlformats.org/drawingml/2006/main">
            <a:pPr>
              <a:buNone/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return false;</a:t>
            </a:r>
          </a:p>
          <a:p xmlns:a="http://schemas.openxmlformats.org/drawingml/2006/main">
            <a:pPr>
              <a:buNone/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}</a:t>
            </a:r>
          </a:p>
          <a:p xmlns:a="http://schemas.openxmlformats.org/drawingml/2006/main">
            <a:pPr>
              <a:buNone/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</a:t>
            </a:r>
            <a:r>
              <a:rPr b="1">
                <a:solidFill>
                  <a:srgbClr val="64E0D7"/>
                </a:solidFill>
              </a:rPr>
              <a:t>ApplyLiveMesh</a:t>
            </a:r>
            <a:r>
              <a:t>(modelingRow);</a:t>
            </a:r>
          </a:p>
          <a:p xmlns:a="http://schemas.openxmlformats.org/drawingml/2006/main">
            <a:pPr>
              <a:buNone/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</a:t>
            </a:r>
            <a:r>
              <a:rPr b="1">
                <a:solidFill>
                  <a:srgbClr val="64E0D7"/>
                </a:solidFill>
              </a:rPr>
              <a:t>ApplyDeathMesh</a:t>
            </a:r>
            <a:r>
              <a:t>(modelingRow);</a:t>
            </a:r>
          </a:p>
          <a:p xmlns:a="http://schemas.openxmlformats.org/drawingml/2006/main">
            <a:pPr>
              <a:buNone/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return true;</a:t>
            </a:r>
          </a:p>
          <a:p xmlns:a="http://schemas.openxmlformats.org/drawingml/2006/main">
            <a:pPr>
              <a:buNone/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23" name="Appearance code link">
            <a:extLst xmlns:a="http://schemas.openxmlformats.org/drawingml/2006/main">
              <a:ext uri="{FF2B5EF4-FFF2-40B4-BE49-F238E27FC236}">
                <a16:creationId xmlns:a16="http://schemas.microsoft.com/office/drawing/2014/main" id="{1270A7A8-742F-482B-8A9C-376AF49D3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5334000"/>
            <a:ext cx="5867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pPr>
            <a:r>
              <a:rPr>
                <a:hlinkClick xmlns:r="http://schemas.openxmlformats.org/officeDocument/2006/relationships" r:id="R1a3d717387d846cc"/>
              </a:rPr>
              <a:t>외형 적용 / 동기화 전체 코드</a:t>
            </a:r>
          </a:p>
        </p:txBody>
      </p:sp>
      <p:sp>
        <p:nvSpPr>
          <p:cNvPr id="24" name="Appearance server id">
            <a:extLst xmlns:a="http://schemas.openxmlformats.org/drawingml/2006/main">
              <a:ext uri="{FF2B5EF4-FFF2-40B4-BE49-F238E27FC236}">
                <a16:creationId xmlns:a16="http://schemas.microsoft.com/office/drawing/2014/main" id="{77D59FCC-B01F-4461-B7B1-268CF44E9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33528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3335">
            <a:solidFill>
              <a:srgbClr val="4DA3FF"/>
            </a:solidFill>
          </a:ln>
        </p:spPr>
        <p:txBody>
          <a:bodyPr xmlns:a="http://schemas.openxmlformats.org/drawingml/2006/main" lIns="38100" tIns="38100" rIns="38100" bIns="38100" anchor="ctr"/>
          <a:lstStyle xmlns:a="http://schemas.openxmlformats.org/drawingml/2006/main">
            <a:def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서버에서 AI 외형 ID 설정</a:t>
            </a:r>
          </a:p>
        </p:txBody>
      </p:sp>
      <p:sp>
        <p:nvSpPr>
          <p:cNvPr id="25" name="Appearance replicate id">
            <a:extLst xmlns:a="http://schemas.openxmlformats.org/drawingml/2006/main">
              <a:ext uri="{FF2B5EF4-FFF2-40B4-BE49-F238E27FC236}">
                <a16:creationId xmlns:a16="http://schemas.microsoft.com/office/drawing/2014/main" id="{6EF747C6-0676-476A-9222-7265963E9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753100"/>
            <a:ext cx="33528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3335">
            <a:solidFill>
              <a:srgbClr val="4DA3FF"/>
            </a:solidFill>
          </a:ln>
        </p:spPr>
        <p:txBody>
          <a:bodyPr xmlns:a="http://schemas.openxmlformats.org/drawingml/2006/main" lIns="38100" tIns="38100" rIns="38100" bIns="38100" anchor="ctr"/>
          <a:lstStyle xmlns:a="http://schemas.openxmlformats.org/drawingml/2006/main">
            <a:def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외형 ID 복제</a:t>
            </a:r>
          </a:p>
        </p:txBody>
      </p:sp>
      <p:sp>
        <p:nvSpPr>
          <p:cNvPr id="26" name="Appearance client apply">
            <a:extLst xmlns:a="http://schemas.openxmlformats.org/drawingml/2006/main">
              <a:ext uri="{FF2B5EF4-FFF2-40B4-BE49-F238E27FC236}">
                <a16:creationId xmlns:a16="http://schemas.microsoft.com/office/drawing/2014/main" id="{EFD41439-8A12-4796-A90E-87C1F060C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753100"/>
            <a:ext cx="33528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3335">
            <a:solidFill>
              <a:srgbClr val="4DA3FF"/>
            </a:solidFill>
          </a:ln>
        </p:spPr>
        <p:txBody>
          <a:bodyPr xmlns:a="http://schemas.openxmlformats.org/drawingml/2006/main" lIns="38100" tIns="38100" rIns="38100" bIns="38100" anchor="ctr"/>
          <a:lstStyle xmlns:a="http://schemas.openxmlformats.org/drawingml/2006/main">
            <a:def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클라이언트에서 같은 외형 적용</a:t>
            </a:r>
          </a:p>
        </p:txBody>
      </p:sp>
      <p:sp>
        <p:nvSpPr>
          <p:cNvPr id="27" name="Appearance flow arrow 428">
            <a:extLst xmlns:a="http://schemas.openxmlformats.org/drawingml/2006/main">
              <a:ext uri="{FF2B5EF4-FFF2-40B4-BE49-F238E27FC236}">
                <a16:creationId xmlns:a16="http://schemas.microsoft.com/office/drawing/2014/main" id="{0E3B1478-0A73-4F46-8D26-F90892576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5953125"/>
            <a:ext cx="2286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noFill/>
          </a:ln>
        </p:spPr>
      </p:sp>
      <p:sp>
        <p:nvSpPr>
          <p:cNvPr id="28" name="Appearance flow arrow 828">
            <a:extLst xmlns:a="http://schemas.openxmlformats.org/drawingml/2006/main">
              <a:ext uri="{FF2B5EF4-FFF2-40B4-BE49-F238E27FC236}">
                <a16:creationId xmlns:a16="http://schemas.microsoft.com/office/drawing/2014/main" id="{6E90888E-3B80-4147-874C-A43065129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953125"/>
            <a:ext cx="2286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350670552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94FC3DA-1911-4090-A77B-885FB4857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969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C2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4B2F189-93DD-447F-8DB0-92DE80791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rPr>
              <a:t>추가 구현 | AUDIO SYSTEM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4E9690F-B444-43B0-BC2F-00CDE06C0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5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게임 상태에 따른 BGM 관리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94DBF313-E5DC-4919-B52B-C9859FD00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4762500" cy="27241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2530"/>
          </a:solidFill>
          <a:ln xmlns:a="http://schemas.openxmlformats.org/drawingml/2006/main" w="12700">
            <a:solidFill>
              <a:srgbClr val="34405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247650" rIns="228600" bIns="17145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게임 상태별 곡 선택과 비동기 로드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메뉴 / 로비 / 플레이 / 결과 화면별 BGM 선택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비동기 로드와 Fade로 음악 전환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4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완료된 </a:t>
            </a:r>
            <a:r>
              <a:rPr sz="1575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요청 ID</a:t>
            </a: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가 현재 ID와 다르면 결과 무시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같은 곡과 반복 설정이면 </a:t>
            </a:r>
            <a:r>
              <a:rPr sz="1575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기존 재생 유지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맵 이동 시 종료와 재생 시점을 관리</a:t>
            </a:r>
          </a:p>
        </p:txBody>
      </p:sp>
      <p:sp>
        <p:nvSpPr>
          <p:cNvPr id="9" name="직사각형 8">
            <a:extLst xmlns:a="http://schemas.openxmlformats.org/drawingml/2006/main">
              <a:ext uri="{FF2B5EF4-FFF2-40B4-BE49-F238E27FC236}">
                <a16:creationId xmlns:a16="http://schemas.microsoft.com/office/drawing/2014/main" id="{C1813994-D1DE-4F8A-93F1-F9BE91569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pPr>
            <a:r>
              <a:t>17</a:t>
            </a:r>
          </a:p>
        </p:txBody>
      </p:sp>
      <p:sp>
        <p:nvSpPr>
          <p:cNvPr id="14" name="Diagram Load complete">
            <a:extLst xmlns:a="http://schemas.openxmlformats.org/drawingml/2006/main">
              <a:ext uri="{FF2B5EF4-FFF2-40B4-BE49-F238E27FC236}">
                <a16:creationId xmlns:a16="http://schemas.microsoft.com/office/drawing/2014/main" id="{6D8FB866-5D01-4A33-A89C-D5092CF8C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143000" cy="5715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2383">
            <a:solidFill>
              <a:srgbClr val="4DA3FF"/>
            </a:solidFill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음악 로드</a:t>
            </a:r>
          </a:p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완료</a:t>
            </a:r>
          </a:p>
        </p:txBody>
      </p:sp>
      <p:sp>
        <p:nvSpPr>
          <p:cNvPr id="15" name="Diagram Request check">
            <a:extLst xmlns:a="http://schemas.openxmlformats.org/drawingml/2006/main">
              <a:ext uri="{FF2B5EF4-FFF2-40B4-BE49-F238E27FC236}">
                <a16:creationId xmlns:a16="http://schemas.microsoft.com/office/drawing/2014/main" id="{E9889F75-043C-47DA-869F-22E116D87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343400"/>
            <a:ext cx="1428750" cy="876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F2530"/>
          </a:solidFill>
          <a:ln xmlns:a="http://schemas.openxmlformats.org/drawingml/2006/main" w="12383">
            <a:solidFill>
              <a:srgbClr val="4DA3FF"/>
            </a:solidFill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최신</a:t>
            </a:r>
          </a:p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요청?</a:t>
            </a:r>
          </a:p>
        </p:txBody>
      </p:sp>
      <p:sp>
        <p:nvSpPr>
          <p:cNvPr id="16" name="Diagram Play current">
            <a:extLst xmlns:a="http://schemas.openxmlformats.org/drawingml/2006/main">
              <a:ext uri="{FF2B5EF4-FFF2-40B4-BE49-F238E27FC236}">
                <a16:creationId xmlns:a16="http://schemas.microsoft.com/office/drawing/2014/main" id="{51905D8C-8B01-4C3F-A3F6-43FFA4755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495800"/>
            <a:ext cx="1428750" cy="5715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2383">
            <a:solidFill>
              <a:srgbClr val="4DA3FF"/>
            </a:solidFill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현재 곡</a:t>
            </a:r>
          </a:p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재생</a:t>
            </a:r>
          </a:p>
        </p:txBody>
      </p:sp>
      <p:sp>
        <p:nvSpPr>
          <p:cNvPr id="17" name="Diagram Ignore old">
            <a:extLst xmlns:a="http://schemas.openxmlformats.org/drawingml/2006/main">
              <a:ext uri="{FF2B5EF4-FFF2-40B4-BE49-F238E27FC236}">
                <a16:creationId xmlns:a16="http://schemas.microsoft.com/office/drawing/2014/main" id="{4D05BDA9-C382-4F91-9140-3599BE9B6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676900"/>
            <a:ext cx="20955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2383">
            <a:solidFill>
              <a:srgbClr val="4DA3FF"/>
            </a:solidFill>
          </a:ln>
        </p:spPr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이전 요청은 무시</a:t>
            </a:r>
          </a:p>
        </p:txBody>
      </p:sp>
      <p:sp>
        <p:nvSpPr>
          <p:cNvPr id="18" name="Diagram Arrow 25">
            <a:extLst xmlns:a="http://schemas.openxmlformats.org/drawingml/2006/main">
              <a:ext uri="{FF2B5EF4-FFF2-40B4-BE49-F238E27FC236}">
                <a16:creationId xmlns:a16="http://schemas.microsoft.com/office/drawing/2014/main" id="{8F32D5DE-EE38-4395-8F00-089407807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724400"/>
            <a:ext cx="2667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 xmlns:a="http://schemas.openxmlformats.org/drawingml/2006/main">
            <a:endParaRPr/>
          </a:p>
        </p:txBody>
      </p:sp>
      <p:sp>
        <p:nvSpPr>
          <p:cNvPr id="19" name="Diagram Arrow 26">
            <a:extLst xmlns:a="http://schemas.openxmlformats.org/drawingml/2006/main">
              <a:ext uri="{FF2B5EF4-FFF2-40B4-BE49-F238E27FC236}">
                <a16:creationId xmlns:a16="http://schemas.microsoft.com/office/drawing/2014/main" id="{F527390D-1BB8-4DD1-9513-A926BBDA5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4724400"/>
            <a:ext cx="3048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 xmlns:a="http://schemas.openxmlformats.org/drawingml/2006/main">
            <a:endParaRPr/>
          </a:p>
        </p:txBody>
      </p:sp>
      <p:sp>
        <p:nvSpPr>
          <p:cNvPr id="20" name="Diagram Arrow 27">
            <a:extLst xmlns:a="http://schemas.openxmlformats.org/drawingml/2006/main">
              <a:ext uri="{FF2B5EF4-FFF2-40B4-BE49-F238E27FC236}">
                <a16:creationId xmlns:a16="http://schemas.microsoft.com/office/drawing/2014/main" id="{687F23D0-62A0-44C4-897D-0BFB33F46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267325"/>
            <a:ext cx="1905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 xmlns:a="http://schemas.openxmlformats.org/drawingml/2006/main">
            <a:endParaRPr/>
          </a:p>
        </p:txBody>
      </p:sp>
      <p:sp>
        <p:nvSpPr>
          <p:cNvPr id="21" name="Diagram Arrow 28">
            <a:extLst xmlns:a="http://schemas.openxmlformats.org/drawingml/2006/main">
              <a:ext uri="{FF2B5EF4-FFF2-40B4-BE49-F238E27FC236}">
                <a16:creationId xmlns:a16="http://schemas.microsoft.com/office/drawing/2014/main" id="{82DCCCDC-0AAC-4EE0-A7AF-CE20A7951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438775"/>
            <a:ext cx="2571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 xmlns:a="http://schemas.openxmlformats.org/drawingml/2006/main">
            <a:endParaRPr/>
          </a:p>
        </p:txBody>
      </p:sp>
      <p:sp>
        <p:nvSpPr>
          <p:cNvPr id="22" name="Diagram Arrow 29">
            <a:extLst xmlns:a="http://schemas.openxmlformats.org/drawingml/2006/main">
              <a:ext uri="{FF2B5EF4-FFF2-40B4-BE49-F238E27FC236}">
                <a16:creationId xmlns:a16="http://schemas.microsoft.com/office/drawing/2014/main" id="{2B208186-9B76-475D-B518-E9206B5A2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5438775"/>
            <a:ext cx="114300" cy="1905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4DA3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 xmlns:a="http://schemas.openxmlformats.org/drawingml/2006/main">
            <a:endParaRPr/>
          </a:p>
        </p:txBody>
      </p:sp>
      <p:sp>
        <p:nvSpPr>
          <p:cNvPr id="23" name="Current request label">
            <a:extLst xmlns:a="http://schemas.openxmlformats.org/drawingml/2006/main">
              <a:ext uri="{FF2B5EF4-FFF2-40B4-BE49-F238E27FC236}">
                <a16:creationId xmlns:a16="http://schemas.microsoft.com/office/drawing/2014/main" id="{11C10485-C02F-4F69-B602-08F32CD01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2672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20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20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20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20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20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20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20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20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20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20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20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rPr>
              <a:t>예</a:t>
            </a:r>
          </a:p>
        </p:txBody>
      </p:sp>
      <p:sp>
        <p:nvSpPr>
          <p:cNvPr id="24" name="Old request label">
            <a:extLst xmlns:a="http://schemas.openxmlformats.org/drawingml/2006/main">
              <a:ext uri="{FF2B5EF4-FFF2-40B4-BE49-F238E27FC236}">
                <a16:creationId xmlns:a16="http://schemas.microsoft.com/office/drawing/2014/main" id="{EB7C4888-6174-48BC-AF09-1EAEE4BCB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05425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아니오</a:t>
            </a:r>
          </a:p>
        </p:txBody>
      </p:sp>
      <p:sp>
        <p:nvSpPr>
          <p:cNvPr id="25" name="Media 1">
            <a:extLst xmlns:a="http://schemas.openxmlformats.org/drawingml/2006/main">
              <a:ext uri="{FF2B5EF4-FFF2-40B4-BE49-F238E27FC236}">
                <a16:creationId xmlns:a16="http://schemas.microsoft.com/office/drawing/2014/main" id="{22E7ECB1-0701-4E19-B830-B2A8C8E93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409700"/>
            <a:ext cx="5943600" cy="4191000"/>
          </a:xfrm>
          <a:prstGeom xmlns:a="http://schemas.openxmlformats.org/drawingml/2006/main" prst="roundRect">
            <a:avLst>
              <a:gd name="adj" fmla="val 3182"/>
            </a:avLst>
          </a:prstGeom>
          <a:solidFill xmlns:a="http://schemas.openxmlformats.org/drawingml/2006/main">
            <a:srgbClr val="11151D"/>
          </a:solidFill>
          <a:ln xmlns:a="http://schemas.openxmlformats.org/drawingml/2006/main" w="12383">
            <a:solidFill>
              <a:srgbClr val="4D78A8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27" name="BGM설정">
            <a:extLst xmlns:a="http://schemas.openxmlformats.org/drawingml/2006/main">
              <a:ext uri="{FF2B5EF4-FFF2-40B4-BE49-F238E27FC236}">
                <a16:creationId xmlns:a16="http://schemas.microsoft.com/office/drawing/2014/main" id="{424F9F4C-1BF5-41A4-9FAB-DE95463B59D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f57639e2c2485f"/>
          <a:srcRect xmlns:a="http://schemas.openxmlformats.org/drawingml/2006/main" l="353" t="3374" r="353" b="613"/>
          <a:stretch xmlns:a="http://schemas.openxmlformats.org/drawingml/2006/main"/>
        </p:blipFill>
        <p:spPr>
          <a:xfrm xmlns:a="http://schemas.openxmlformats.org/drawingml/2006/main">
            <a:off x="5686425" y="1888659"/>
            <a:ext cx="5810250" cy="3233081"/>
          </a:xfrm>
          <a:prstGeom xmlns:a="http://schemas.openxmlformats.org/drawingml/2006/main" prst="rect">
            <a:avLst/>
          </a:prstGeom>
        </p:spPr>
      </p:pic>
      <p:sp>
        <p:nvSpPr>
          <p:cNvPr id="26" name="Caption 1">
            <a:extLst xmlns:a="http://schemas.openxmlformats.org/drawingml/2006/main">
              <a:ext uri="{FF2B5EF4-FFF2-40B4-BE49-F238E27FC236}">
                <a16:creationId xmlns:a16="http://schemas.microsoft.com/office/drawing/2014/main" id="{405309C6-9454-4317-A950-4614ABDB6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667375"/>
            <a:ext cx="59436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0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게임 상태별 BGM 설정과 연결된 곡</a:t>
            </a:r>
          </a:p>
        </p:txBody>
      </p:sp>
    </p:spTree>
    <p:extLst>
      <p:ext uri="{BB962C8B-B14F-4D97-AF65-F5344CB8AC3E}">
        <p14:creationId xmlns:p14="http://schemas.microsoft.com/office/powerpoint/2010/main" val="1350670552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CFE3EBD-EB20-42ED-899B-12C8D5FD8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969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C2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B6BFC95-D67C-44E0-AA3E-6EAD6D696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0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0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0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0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0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0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0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0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0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20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rPr>
              <a:t>17  SOURCE &amp; CONTACT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6AD111B-268C-430D-A685-91983B600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5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/>
              <a:t>소스 코드와 연락처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005CB708-AA48-4937-9536-DC9A88EF5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5276850" cy="19621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2530"/>
          </a:solidFill>
          <a:ln xmlns:a="http://schemas.openxmlformats.org/drawingml/2006/main">
            <a:solidFill>
              <a:srgbClr val="34405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228600" rIns="228600" bIns="17145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개인 구현 코드 저장소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시스템별 C++ 코드와 WPF 데이터 에디터 수록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무기 Blueprint 12개, 조준 AnimBP 2개로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발사 / 피격 / 자세 보정 노드 검토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4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abe1b803cbb344be"/>
              </a:rPr>
              <a:t>GitHub 코드 저장소 열기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D342A5DF-C971-4D33-8B4C-352E4CC56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409700"/>
            <a:ext cx="5467350" cy="19621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2530"/>
          </a:solidFill>
          <a:ln xmlns:a="http://schemas.openxmlformats.org/drawingml/2006/main">
            <a:solidFill>
              <a:srgbClr val="34405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228600" rIns="228600" bIns="17145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박장한 / 게임플레이 프로그래머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개발 기간  2025.12 ~ 현재 진행 중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4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1fa3f1658b2a4eac"/>
              </a:rPr>
              <a:t>wkdgks88009@gmail.com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c1a65659917f4e6e"/>
              </a:rPr>
              <a:t>GitHub  msg1150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A5788AF7-F7B8-4B83-8415-82DB4CC67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609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2530"/>
          </a:solidFill>
          <a:ln xmlns:a="http://schemas.openxmlformats.org/drawingml/2006/main">
            <a:solidFill>
              <a:srgbClr val="34405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09550" tIns="95250" rIns="209550" bIns="7620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코드 열람 안내: 실행과 테스트에는 원본 프로젝트와 Unreal Engine 5.6.1 환경이 필요합니다.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전체 에셋과 의존성, </a:t>
            </a:r>
            <a:r>
              <a:rPr sz="1275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테스트 실행 결과는 포함하지 않습니다.</a:t>
            </a:r>
          </a:p>
        </p:txBody>
      </p:sp>
      <p:sp>
        <p:nvSpPr>
          <p:cNvPr id="8" name="직사각형 7">
            <a:extLst xmlns:a="http://schemas.openxmlformats.org/drawingml/2006/main">
              <a:ext uri="{FF2B5EF4-FFF2-40B4-BE49-F238E27FC236}">
                <a16:creationId xmlns:a16="http://schemas.microsoft.com/office/drawing/2014/main" id="{09B83C62-55FE-4293-A920-E7FC853C4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pPr>
            <a:r>
              <a:t>18</a:t>
            </a:r>
          </a:p>
        </p:txBody>
      </p:sp>
      <p:sp>
        <p:nvSpPr>
          <p:cNvPr id="9" name="Automation Test scenarios">
            <a:extLst xmlns:a="http://schemas.openxmlformats.org/drawingml/2006/main">
              <a:ext uri="{FF2B5EF4-FFF2-40B4-BE49-F238E27FC236}">
                <a16:creationId xmlns:a16="http://schemas.microsoft.com/office/drawing/2014/main" id="{3DD5A1C5-2438-404F-A1A3-9095EBC2D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1097280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1F2530"/>
          </a:solidFill>
          <a:ln xmlns:a="http://schemas.openxmlformats.org/drawingml/2006/main" w="13335">
            <a:solidFill>
              <a:srgbClr val="4DA3FF"/>
            </a:solidFill>
          </a:ln>
        </p:spPr>
        <p:txBody>
          <a:bodyPr xmlns:a="http://schemas.openxmlformats.org/drawingml/2006/main" wrap="square" lIns="266700" tIns="190500" rIns="228600" bIns="133350" anchor="t">
            <a:noAutofit/>
          </a:bodyPr>
          <a:lstStyle xmlns:a="http://schemas.openxmlformats.org/drawingml/2006/main">
            <a:defPPr algn="l"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Unreal Automation Test: 경계 조건 반복 검사</a:t>
            </a:r>
          </a:p>
          <a:p xmlns:a="http://schemas.openxmlformats.org/drawingml/2006/main">
            <a: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 xmlns:a="http://schemas.openxmlformats.org/drawingml/2006/main">
            <a: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자동화 목적</a:t>
            </a:r>
            <a:r>
              <a:rPr sz="15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: 코드 변경 후 같은 조건을 반복 검사하는 테스트 시나리오 작성</a:t>
            </a:r>
          </a:p>
          <a:p xmlns:a="http://schemas.openxmlformats.org/drawingml/2006/main">
            <a: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충돌 순서</a:t>
            </a:r>
            <a:r>
              <a:rPr sz="15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: 플레이어와 벽의 선후 관계, 서로 다른 검사 반경</a:t>
            </a:r>
          </a:p>
          <a:p xmlns:a="http://schemas.openxmlformats.org/drawingml/2006/main">
            <a: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가림 검사</a:t>
            </a:r>
            <a:r>
              <a:rPr sz="15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: 큰 명중 범위가 얇은 벽 너머의 대상을 선택하지 않는지 검사</a:t>
            </a:r>
          </a:p>
          <a:p xmlns:a="http://schemas.openxmlformats.org/drawingml/2006/main">
            <a: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합류 지점</a:t>
            </a:r>
            <a:r>
              <a:rPr sz="15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: 프레임 내 시간 분할 후 위치와 속도 유지, 합류 전후 벽 충돌</a:t>
            </a:r>
          </a:p>
        </p:txBody>
      </p:sp>
    </p:spTree>
    <p:extLst>
      <p:ext uri="{BB962C8B-B14F-4D97-AF65-F5344CB8AC3E}">
        <p14:creationId xmlns:p14="http://schemas.microsoft.com/office/powerpoint/2010/main" val="161331131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2026-10-20T01:53:45.0620000Z</dcterms:created>
  <dcterms:modified xsi:type="dcterms:W3CDTF">2026-10-20T01:53:45.0620000Z</dcterms:modified>
</coreProperties>
</file>