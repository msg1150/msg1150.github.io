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645903de54410" /><Relationship Type="http://schemas.openxmlformats.org/officeDocument/2006/relationships/extended-properties" Target="/docProps/app.xml" Id="Raca674a612d84352" /><Relationship Type="http://schemas.openxmlformats.org/officeDocument/2006/relationships/officeDocument" Target="/ppt/presentation.xml" Id="R3b24393ec1e645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731fcf1ffc49e7"/>
  </p:sldMasterIdLst>
  <p:sldIdLst>
    <p:sldId xmlns:r="http://schemas.openxmlformats.org/officeDocument/2006/relationships" id="256" r:id="R86d1bdf2d98144c0"/>
    <p:sldId xmlns:r="http://schemas.openxmlformats.org/officeDocument/2006/relationships" id="257" r:id="R19664465a4ca4f06"/>
    <p:sldId xmlns:r="http://schemas.openxmlformats.org/officeDocument/2006/relationships" id="258" r:id="Rd30c97db4b0b433a"/>
    <p:sldId xmlns:r="http://schemas.openxmlformats.org/officeDocument/2006/relationships" id="259" r:id="R49440dd3268d4307"/>
    <p:sldId xmlns:r="http://schemas.openxmlformats.org/officeDocument/2006/relationships" id="260" r:id="Rd6f9d58f9fc24675"/>
    <p:sldId xmlns:r="http://schemas.openxmlformats.org/officeDocument/2006/relationships" id="261" r:id="R28d62de6c9024acd"/>
    <p:sldId xmlns:r="http://schemas.openxmlformats.org/officeDocument/2006/relationships" id="262" r:id="R226317e9d61148d0"/>
    <p:sldId xmlns:r="http://schemas.openxmlformats.org/officeDocument/2006/relationships" id="263" r:id="Rc15907aa97e64dd8"/>
    <p:sldId xmlns:r="http://schemas.openxmlformats.org/officeDocument/2006/relationships" id="264" r:id="R6b60cebc3fe74b79"/>
    <p:sldId xmlns:r="http://schemas.openxmlformats.org/officeDocument/2006/relationships" id="265" r:id="Ra0ecc63290cf49b5"/>
    <p:sldId xmlns:r="http://schemas.openxmlformats.org/officeDocument/2006/relationships" id="266" r:id="R2cdc89a50d70496b"/>
    <p:sldId xmlns:r="http://schemas.openxmlformats.org/officeDocument/2006/relationships" id="267" r:id="R42c8b57cd96f4d57"/>
    <p:sldId xmlns:r="http://schemas.openxmlformats.org/officeDocument/2006/relationships" id="268" r:id="R9d84f0c658014436"/>
    <p:sldId xmlns:r="http://schemas.openxmlformats.org/officeDocument/2006/relationships" id="269" r:id="R53f07f9815ba40fd"/>
    <p:sldId xmlns:r="http://schemas.openxmlformats.org/officeDocument/2006/relationships" id="270" r:id="R6ef6fd3e465a446c"/>
    <p:sldId xmlns:r="http://schemas.openxmlformats.org/officeDocument/2006/relationships" id="271" r:id="Rd206b03ff05446fd"/>
    <p:sldId xmlns:r="http://schemas.openxmlformats.org/officeDocument/2006/relationships" id="272" r:id="R3c498b0068c04d0a"/>
    <p:sldId xmlns:r="http://schemas.openxmlformats.org/officeDocument/2006/relationships" id="273" r:id="Ra086aa4480d04715"/>
    <p:sldId xmlns:r="http://schemas.openxmlformats.org/officeDocument/2006/relationships" id="274" r:id="R2e435c2d8f7e4648"/>
    <p:sldId xmlns:r="http://schemas.openxmlformats.org/officeDocument/2006/relationships" id="275" r:id="R1f463a38200f489f"/>
    <p:sldId xmlns:r="http://schemas.openxmlformats.org/officeDocument/2006/relationships" id="276" r:id="R8e904805e4f04232"/>
    <p:sldId xmlns:r="http://schemas.openxmlformats.org/officeDocument/2006/relationships" id="277" r:id="Rc2f30d3b8daf4bfc"/>
    <p:sldId xmlns:r="http://schemas.openxmlformats.org/officeDocument/2006/relationships" id="278" r:id="Ra474610635c54b77"/>
    <p:sldId xmlns:r="http://schemas.openxmlformats.org/officeDocument/2006/relationships" id="279" r:id="R99880bf1e455454a"/>
    <p:sldId xmlns:r="http://schemas.openxmlformats.org/officeDocument/2006/relationships" id="280" r:id="R62770de7268d48f2"/>
    <p:sldId xmlns:r="http://schemas.openxmlformats.org/officeDocument/2006/relationships" id="281" r:id="Rbbca5a3e820c4e8e"/>
    <p:sldId xmlns:r="http://schemas.openxmlformats.org/officeDocument/2006/relationships" id="282" r:id="Rb3da5606f82d453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a8a58de2c54dfd" /><Relationship Type="http://schemas.openxmlformats.org/officeDocument/2006/relationships/slideMaster" Target="/ppt/slideMasters/slideMaster1.xml" Id="R62731fcf1ffc49e7" /><Relationship Type="http://schemas.openxmlformats.org/officeDocument/2006/relationships/presProps" Target="/ppt/presProps.xml" Id="R0b72d37400194a08" /><Relationship Type="http://schemas.openxmlformats.org/officeDocument/2006/relationships/viewProps" Target="/ppt/viewProps.xml" Id="R510062285ef04989" /><Relationship Type="http://schemas.openxmlformats.org/officeDocument/2006/relationships/tableStyles" Target="/ppt/tableStyles.xml" Id="R13ec5925f85344d4" /><Relationship Type="http://schemas.openxmlformats.org/officeDocument/2006/relationships/slide" Target="/ppt/slides/slide1.xml" Id="R86d1bdf2d98144c0" /><Relationship Type="http://schemas.openxmlformats.org/officeDocument/2006/relationships/slide" Target="/ppt/slides/slide2.xml" Id="R19664465a4ca4f06" /><Relationship Type="http://schemas.openxmlformats.org/officeDocument/2006/relationships/slide" Target="/ppt/slides/slide3.xml" Id="Rd30c97db4b0b433a" /><Relationship Type="http://schemas.openxmlformats.org/officeDocument/2006/relationships/slide" Target="/ppt/slides/slide4.xml" Id="R49440dd3268d4307" /><Relationship Type="http://schemas.openxmlformats.org/officeDocument/2006/relationships/slide" Target="/ppt/slides/slide5.xml" Id="Rd6f9d58f9fc24675" /><Relationship Type="http://schemas.openxmlformats.org/officeDocument/2006/relationships/slide" Target="/ppt/slides/slide6.xml" Id="R28d62de6c9024acd" /><Relationship Type="http://schemas.openxmlformats.org/officeDocument/2006/relationships/slide" Target="/ppt/slides/slide7.xml" Id="R226317e9d61148d0" /><Relationship Type="http://schemas.openxmlformats.org/officeDocument/2006/relationships/slide" Target="/ppt/slides/slide8.xml" Id="Rc15907aa97e64dd8" /><Relationship Type="http://schemas.openxmlformats.org/officeDocument/2006/relationships/slide" Target="/ppt/slides/slide9.xml" Id="R6b60cebc3fe74b79" /><Relationship Type="http://schemas.openxmlformats.org/officeDocument/2006/relationships/slide" Target="/ppt/slides/slide10.xml" Id="Ra0ecc63290cf49b5" /><Relationship Type="http://schemas.openxmlformats.org/officeDocument/2006/relationships/slide" Target="/ppt/slides/slide11.xml" Id="R2cdc89a50d70496b" /><Relationship Type="http://schemas.openxmlformats.org/officeDocument/2006/relationships/slide" Target="/ppt/slides/slide12.xml" Id="R42c8b57cd96f4d57" /><Relationship Type="http://schemas.openxmlformats.org/officeDocument/2006/relationships/slide" Target="/ppt/slides/slide13.xml" Id="R9d84f0c658014436" /><Relationship Type="http://schemas.openxmlformats.org/officeDocument/2006/relationships/slide" Target="/ppt/slides/slide14.xml" Id="R53f07f9815ba40fd" /><Relationship Type="http://schemas.openxmlformats.org/officeDocument/2006/relationships/slide" Target="/ppt/slides/slide15.xml" Id="R6ef6fd3e465a446c" /><Relationship Type="http://schemas.openxmlformats.org/officeDocument/2006/relationships/slide" Target="/ppt/slides/slide16.xml" Id="Rd206b03ff05446fd" /><Relationship Type="http://schemas.openxmlformats.org/officeDocument/2006/relationships/slide" Target="/ppt/slides/slide17.xml" Id="R3c498b0068c04d0a" /><Relationship Type="http://schemas.openxmlformats.org/officeDocument/2006/relationships/slide" Target="/ppt/slides/slide18.xml" Id="Ra086aa4480d04715" /><Relationship Type="http://schemas.openxmlformats.org/officeDocument/2006/relationships/slide" Target="/ppt/slides/slide19.xml" Id="R2e435c2d8f7e4648" /><Relationship Type="http://schemas.openxmlformats.org/officeDocument/2006/relationships/slide" Target="/ppt/slides/slide20.xml" Id="R1f463a38200f489f" /><Relationship Type="http://schemas.openxmlformats.org/officeDocument/2006/relationships/slide" Target="/ppt/slides/slide21.xml" Id="R8e904805e4f04232" /><Relationship Type="http://schemas.openxmlformats.org/officeDocument/2006/relationships/slide" Target="/ppt/slides/slide22.xml" Id="Rc2f30d3b8daf4bfc" /><Relationship Type="http://schemas.openxmlformats.org/officeDocument/2006/relationships/slide" Target="/ppt/slides/slide23.xml" Id="Ra474610635c54b77" /><Relationship Type="http://schemas.openxmlformats.org/officeDocument/2006/relationships/slide" Target="/ppt/slides/slide24.xml" Id="R99880bf1e455454a" /><Relationship Type="http://schemas.openxmlformats.org/officeDocument/2006/relationships/slide" Target="/ppt/slides/slide25.xml" Id="R62770de7268d48f2" /><Relationship Type="http://schemas.openxmlformats.org/officeDocument/2006/relationships/slide" Target="/ppt/slides/slide26.xml" Id="Rbbca5a3e820c4e8e" /><Relationship Type="http://schemas.openxmlformats.org/officeDocument/2006/relationships/slide" Target="/ppt/slides/slide27.xml" Id="Rb3da5606f82d453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3e40c7fa24a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07203cd7f48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f84546bf640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763b58f7944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da5fb7c0247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e6f7b5fb0451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5a954e0b845d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cb9308091496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9cfcd4e514c6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b03c872ca4d5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1cc8ab2ca443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5D3DF4-0E79-4BC8-89E0-13DDCDE188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4670F2C-C024-4D15-ADBF-9EF0FBA5C8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6008FB-5A2D-4A03-B310-536719E4EB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5DC815-675E-4FE6-A19D-67EDAFCA8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111EC7-61B3-4C7B-A411-2808B7613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6741CA-6094-454A-98A2-ABE4E24897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F73198-411B-44DA-8FD4-77D6865A2C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FEEAC-191D-43E8-8EDF-392920D743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818EFD-44F5-4166-A6BA-AE8E230439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09491D-E6FE-4291-B4F6-61FE51453E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AC9E44-E415-45FC-A27A-2E3166E2F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A3B6E9-BF62-46FA-A5E9-EEE837BF98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70189B-02EF-4FD3-8362-76ED17DA5A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FC23AB-7323-437E-B541-5B5270319F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D6A209-0E52-416B-A483-3AA0B92A76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DF84B2-CAD1-4A4C-B3FD-8357931B4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81F75B-C314-432B-B6FE-2FBE2045E2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350162C-0535-4759-B318-77FBABC8239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4840E52-F7C1-4821-83D2-28AA89DE6F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B841A1-4E43-41DB-AA8E-743666DC7D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C10F5B-185D-4727-AC68-90FA8CFC1B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8A7EFB-66EB-434C-890A-DE4F2D112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B31ED1-21A6-4790-861B-746478C9DF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32A3C36-F3E5-4062-A53D-8CD1C0DB96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BDC9F9A-E6CF-44C1-B7A1-3FEECF447B7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84B4BC1-30DD-45A9-960E-2C3A3F9D92D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3BD94F2-4993-456F-A79E-771682145A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88EA78C-0239-461C-810D-09B5FFEB46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9E66D8B-D011-4A87-A5ED-2659CE9AD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F4DB87-478B-44F9-8197-51D2CDE574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E2D1C1D-777E-453F-810E-6D691A5216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9C1F193-0B57-419C-A517-7DC05DD2A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C9D2407-3020-4835-89AD-5162E756AB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085499A-D551-42FF-B4FE-198E02367A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C78D7CF-CBA9-40D6-9DE7-38EA891FC9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EF75762-8BBC-4881-9945-85FE26305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80EC97-D56D-4508-B094-89A0717AC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EC3F130-AE1D-42F2-AE36-E4048868B2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0EF4B39-D996-473D-8514-54FCEDE91A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C74338-1AD8-4AE5-BDCA-F96E869122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549480E-17B8-41F5-86CF-EB4C3596CB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58EF22-639F-47F9-A94A-373CD4B4A8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2D0CF9-FCD6-443E-BDBF-77F235CB5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2C6D015-E383-49C4-8C30-6722A136885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F834CB-014C-4296-8FA4-F5B26B31B0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982E4D9-1AAC-473D-BEB6-594654742A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359D9B0-008D-4976-B3A2-8ACC902AB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89EF1E-8763-4C23-95B7-9015F88D3A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BA0C8A-0EC9-44B6-8B7D-86DC0C8A35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8B4F5B-614E-4049-B91C-3D10A2B978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5DA442-D272-4F62-AEED-1E6591365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029A18-1C60-4C9C-9DA8-4385DDA159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EA201B-C67E-4410-8984-FACE8480A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5632463-3544-49A1-A949-FCBD0F95D3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D5D8EF-A3CC-4E21-AB0F-FD54635BC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433D82-1E1A-4CCB-A5D7-421020F829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A4C63E-23AE-4AD4-929F-DDE954FB0C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5BFD3D-CD8E-4A95-850B-5C7CFC7112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47acac7c014837" /><Relationship Type="http://schemas.openxmlformats.org/officeDocument/2006/relationships/slideLayout" Target="/ppt/slideLayouts/slideLayout1.xml" Id="Rbe4b70a2dcb346bc" /><Relationship Type="http://schemas.openxmlformats.org/officeDocument/2006/relationships/slideLayout" Target="/ppt/slideLayouts/slideLayout2.xml" Id="Rec3a7e18e45f4566" /><Relationship Type="http://schemas.openxmlformats.org/officeDocument/2006/relationships/slideLayout" Target="/ppt/slideLayouts/slideLayout3.xml" Id="R70dedf91844d46e6" /><Relationship Type="http://schemas.openxmlformats.org/officeDocument/2006/relationships/slideLayout" Target="/ppt/slideLayouts/slideLayout4.xml" Id="R7a1773cb7d18415b" /><Relationship Type="http://schemas.openxmlformats.org/officeDocument/2006/relationships/slideLayout" Target="/ppt/slideLayouts/slideLayout5.xml" Id="R56dfae7c90614b56" /><Relationship Type="http://schemas.openxmlformats.org/officeDocument/2006/relationships/slideLayout" Target="/ppt/slideLayouts/slideLayout6.xml" Id="Ra3b935724425421d" /><Relationship Type="http://schemas.openxmlformats.org/officeDocument/2006/relationships/slideLayout" Target="/ppt/slideLayouts/slideLayout7.xml" Id="R3a0e6b354c964fc3" /><Relationship Type="http://schemas.openxmlformats.org/officeDocument/2006/relationships/slideLayout" Target="/ppt/slideLayouts/slideLayout8.xml" Id="R570fad19b52d4153" /><Relationship Type="http://schemas.openxmlformats.org/officeDocument/2006/relationships/slideLayout" Target="/ppt/slideLayouts/slideLayout9.xml" Id="R2b435dc6e38b4d12" /><Relationship Type="http://schemas.openxmlformats.org/officeDocument/2006/relationships/slideLayout" Target="/ppt/slideLayouts/slideLayout10.xml" Id="R7d045e922dcb47b1" /><Relationship Type="http://schemas.openxmlformats.org/officeDocument/2006/relationships/slideLayout" Target="/ppt/slideLayouts/slideLayout11.xml" Id="R73fe269e9ac544a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C50920F-6327-4BB3-97C5-D3822AB0D0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EBBBCD-344E-4F40-8EA2-53B151837E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3024AA-0778-49DD-9BFA-C162A154EF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2026-10-22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EC623B-00AF-4B51-BE7C-F3B92C8E70C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3109E3-4EA6-4E25-BA50-31A980A563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4b70a2dcb346bc"/>
    <p:sldLayoutId xmlns:r="http://schemas.openxmlformats.org/officeDocument/2006/relationships" id="2147483650" r:id="Rec3a7e18e45f4566"/>
    <p:sldLayoutId xmlns:r="http://schemas.openxmlformats.org/officeDocument/2006/relationships" id="2147483651" r:id="R70dedf91844d46e6"/>
    <p:sldLayoutId xmlns:r="http://schemas.openxmlformats.org/officeDocument/2006/relationships" id="2147483652" r:id="R7a1773cb7d18415b"/>
    <p:sldLayoutId xmlns:r="http://schemas.openxmlformats.org/officeDocument/2006/relationships" id="2147483653" r:id="R56dfae7c90614b56"/>
    <p:sldLayoutId xmlns:r="http://schemas.openxmlformats.org/officeDocument/2006/relationships" id="2147483654" r:id="Ra3b935724425421d"/>
    <p:sldLayoutId xmlns:r="http://schemas.openxmlformats.org/officeDocument/2006/relationships" id="2147483655" r:id="R3a0e6b354c964fc3"/>
    <p:sldLayoutId xmlns:r="http://schemas.openxmlformats.org/officeDocument/2006/relationships" id="2147483656" r:id="R570fad19b52d4153"/>
    <p:sldLayoutId xmlns:r="http://schemas.openxmlformats.org/officeDocument/2006/relationships" id="2147483657" r:id="R2b435dc6e38b4d12"/>
    <p:sldLayoutId xmlns:r="http://schemas.openxmlformats.org/officeDocument/2006/relationships" id="2147483658" r:id="R7d045e922dcb47b1"/>
    <p:sldLayoutId xmlns:r="http://schemas.openxmlformats.org/officeDocument/2006/relationships" id="2147483659" r:id="R73fe269e9ac544a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8F3FF"/>
      </a:hlink>
      <a:folHlink>
        <a:srgbClr val="B8F3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b051800ffd4ed3" /><Relationship Type="http://schemas.openxmlformats.org/officeDocument/2006/relationships/image" Target="/ppt/media/image.png" Id="Rc7b4bfda484b4677" /><Relationship Type="http://schemas.openxmlformats.org/officeDocument/2006/relationships/image" Target="/ppt/media/image2.png" Id="R3d315a054cd247bb" /><Relationship Type="http://schemas.openxmlformats.org/officeDocument/2006/relationships/image" Target="/ppt/media/image3.png" Id="R070308ccae5c48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5a58f606a945cc" /><Relationship Type="http://schemas.openxmlformats.org/officeDocument/2006/relationships/image" Target="/ppt/media/image4.png" Id="R5af184494f104e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3b032d4d2647ee" /><Relationship Type="http://schemas.openxmlformats.org/officeDocument/2006/relationships/hyperlink" Target="https://github.com/msg1150/DungeonSweeper/blob/8cab0a9565909b7917b780bd7b92064493393d53/Assets/Scripts/Runtime/Dungeon/Runtime/DungeonRunController.cs" TargetMode="External" Id="Rf4e181033d6a4a19" /><Relationship Type="http://schemas.openxmlformats.org/officeDocument/2006/relationships/hyperlink" Target="https://github.com/msg1150/DungeonSweeper/blob/8cab0a9565909b7917b780bd7b92064493393d53/Assets/Scripts/Runtime/Dungeon/Data/DungeonExpeditionData.cs" TargetMode="External" Id="Rd49a446ec1e34cad" /><Relationship Type="http://schemas.openxmlformats.org/officeDocument/2006/relationships/hyperlink" Target="https://github.com/msg1150/DungeonSweeper/blob/8cab0a9565909b7917b780bd7b92064493393d53/Assets/Scripts/Runtime/Core/GameSession.cs" TargetMode="External" Id="Rf46e8a79525048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2887915a9346f6" /><Relationship Type="http://schemas.openxmlformats.org/officeDocument/2006/relationships/image" Target="/ppt/media/image4.png" Id="Ra3fd349800884a81" /><Relationship Type="http://schemas.openxmlformats.org/officeDocument/2006/relationships/hyperlink" Target="https://github.com/msg1150/DungeonSweeper/blob/8cab0a9565909b7917b780bd7b92064493393d53/Assets/Scripts/Runtime/Actors/Player/PlayerMovement.cs" TargetMode="External" Id="R1c368923eda44b63" /><Relationship Type="http://schemas.openxmlformats.org/officeDocument/2006/relationships/hyperlink" Target="https://github.com/msg1150/DungeonSweeper/blob/8cab0a9565909b7917b780bd7b92064493393d53/Assets/Scripts/Runtime/Presentation/World/ThreeDWorldView.cs" TargetMode="External" Id="R5d75efc460454fc7" /><Relationship Type="http://schemas.openxmlformats.org/officeDocument/2006/relationships/image" Target="/ppt/media/image.gif" Id="R9a3f73bbf2264c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9dc4440b3b42c3" /><Relationship Type="http://schemas.openxmlformats.org/officeDocument/2006/relationships/hyperlink" Target="https://github.com/msg1150/DungeonSweeper/blob/8cab0a9565909b7917b780bd7b92064493393d53/Assets/Scripts/Runtime/Inventory/GridInventory.cs" TargetMode="External" Id="Rb6180f3cc508404e" /><Relationship Type="http://schemas.openxmlformats.org/officeDocument/2006/relationships/image" Target="/ppt/media/image4.png" Id="R862956a3b712442c" /><Relationship Type="http://schemas.openxmlformats.org/officeDocument/2006/relationships/hyperlink" Target="https://github.com/msg1150/DungeonSweeper/blob/8cab0a9565909b7917b780bd7b92064493393d53/Assets/Scripts/Runtime/Inventory/LootDefinition.cs" TargetMode="External" Id="Ra071fc62b2e1457c" /><Relationship Type="http://schemas.openxmlformats.org/officeDocument/2006/relationships/image" Target="/ppt/media/image5.png" Id="R86e188171d9e495c" /><Relationship Type="http://schemas.openxmlformats.org/officeDocument/2006/relationships/image" Target="/ppt/media/image6.png" Id="R534db5499a014d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173437b5bd48b6" /><Relationship Type="http://schemas.openxmlformats.org/officeDocument/2006/relationships/hyperlink" Target="https://github.com/msg1150/DungeonSweeper/blob/8cab0a9565909b7917b780bd7b92064493393d53/Assets/Scripts/Runtime/Actors/Monsters/EnemyAgent.cs" TargetMode="External" Id="R48a355f6c2894bba" /><Relationship Type="http://schemas.openxmlformats.org/officeDocument/2006/relationships/image" Target="/ppt/media/image4.png" Id="R93f1d0cc1dcb4109" /><Relationship Type="http://schemas.openxmlformats.org/officeDocument/2006/relationships/hyperlink" Target="https://github.com/msg1150/DungeonSweeper/blob/8cab0a9565909b7917b780bd7b92064493393d53/Assets/Scripts/Runtime/Presentation/Actors/MonsterAwarenessIndicator.cs" TargetMode="External" Id="Ree16b9e919e3406c" /><Relationship Type="http://schemas.openxmlformats.org/officeDocument/2006/relationships/image" Target="/ppt/media/image2.gif" Id="R59fe8814055b4a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d54fad505a4d26" /><Relationship Type="http://schemas.openxmlformats.org/officeDocument/2006/relationships/hyperlink" Target="https://github.com/msg1150/DungeonSweeper/blob/8cab0a9565909b7917b780bd7b92064493393d53/Assets/Scripts/Runtime/Dungeon/World/DungeonLayoutFactory.cs" TargetMode="External" Id="R6218e6d85c214bc0" /><Relationship Type="http://schemas.openxmlformats.org/officeDocument/2006/relationships/image" Target="/ppt/media/image4.png" Id="R53f30e871b0a4906" /><Relationship Type="http://schemas.openxmlformats.org/officeDocument/2006/relationships/hyperlink" Target="https://github.com/msg1150/DungeonSweeper/blob/8cab0a9565909b7917b780bd7b92064493393d53/Assets/Scripts/Runtime/Actors/Monsters/EnemyAgent.cs" TargetMode="External" Id="R4cd5e22c831a4f1f" /><Relationship Type="http://schemas.openxmlformats.org/officeDocument/2006/relationships/image" Target="/ppt/media/image3.gif" Id="R90186e0ed2f246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c1b3e2b5b1403d" /><Relationship Type="http://schemas.openxmlformats.org/officeDocument/2006/relationships/hyperlink" Target="https://github.com/msg1150/DungeonSweeper/blob/8cab0a9565909b7917b780bd7b92064493393d53/Assets/Scripts/Runtime/Recovery/DismantleSession.cs" TargetMode="External" Id="Rce6c5c4ef22842f1" /><Relationship Type="http://schemas.openxmlformats.org/officeDocument/2006/relationships/image" Target="/ppt/media/image4.png" Id="R0bf27308c4844246" /><Relationship Type="http://schemas.openxmlformats.org/officeDocument/2006/relationships/hyperlink" Target="https://github.com/msg1150/DungeonSweeper/blob/8cab0a9565909b7917b780bd7b92064493393d53/Assets/Scripts/Runtime/Dungeon/Runtime/DungeonRunController.Interactions.cs" TargetMode="External" Id="R35dddd71f0a84ba7" /><Relationship Type="http://schemas.openxmlformats.org/officeDocument/2006/relationships/image" Target="/ppt/media/image4.gif" Id="Rce5e2a03d75c44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d5f4012677457f" /><Relationship Type="http://schemas.openxmlformats.org/officeDocument/2006/relationships/hyperlink" Target="https://github.com/msg1150/DungeonSweeper/blob/8cab0a9565909b7917b780bd7b92064493393d53/Assets/Scripts/Runtime/Dungeon/Runtime/DungeonRunController.Hiding.cs" TargetMode="External" Id="R67fda667e148446c" /><Relationship Type="http://schemas.openxmlformats.org/officeDocument/2006/relationships/image" Target="/ppt/media/image4.png" Id="Rbfe5841fea394d0f" /><Relationship Type="http://schemas.openxmlformats.org/officeDocument/2006/relationships/image" Target="/ppt/media/image7.png" Id="R365015d79af24940" /><Relationship Type="http://schemas.openxmlformats.org/officeDocument/2006/relationships/image" Target="/ppt/media/image8.png" Id="Rb2f09baf018445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938f8355334a59" /><Relationship Type="http://schemas.openxmlformats.org/officeDocument/2006/relationships/hyperlink" Target="https://github.com/msg1150/DungeonSweeper/blob/8cab0a9565909b7917b780bd7b92064493393d53/Assets/Scripts/Runtime/Presentation/World/SpriteDepthView.cs" TargetMode="External" Id="Rc4f676782b564e29" /><Relationship Type="http://schemas.openxmlformats.org/officeDocument/2006/relationships/image" Target="/ppt/media/image4.png" Id="Ra80c7f18efad422a" /><Relationship Type="http://schemas.openxmlformats.org/officeDocument/2006/relationships/hyperlink" Target="https://github.com/msg1150/DungeonSweeper/blob/8cab0a9565909b7917b780bd7b92064493393d53/Assets/Scripts/Runtime/Presentation/World/ThreeDWorldView.cs" TargetMode="External" Id="Radda9296c9204dc9" /><Relationship Type="http://schemas.openxmlformats.org/officeDocument/2006/relationships/image" Target="/ppt/media/image9.png" Id="Rc05e527e0e1f4d20" /><Relationship Type="http://schemas.openxmlformats.org/officeDocument/2006/relationships/image" Target="/ppt/media/image10.png" Id="Rd565269b5f3d41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ec18bbbb1b4569" /><Relationship Type="http://schemas.openxmlformats.org/officeDocument/2006/relationships/hyperlink" Target="https://github.com/msg1150/DungeonSweeper/blob/8cab0a9565909b7917b780bd7b92064493393d53/Assets/Scripts/Runtime/Presentation/World/DungeonVisionOverlayRenderer.cs" TargetMode="External" Id="Rd65d1b2e4b2e4b37" /><Relationship Type="http://schemas.openxmlformats.org/officeDocument/2006/relationships/image" Target="/ppt/media/image4.png" Id="Rc9c5ee8260884d64" /><Relationship Type="http://schemas.openxmlformats.org/officeDocument/2006/relationships/hyperlink" Target="https://github.com/msg1150/DungeonSweeper/blob/8cab0a9565909b7917b780bd7b92064493393d53/Assets/Scripts/Runtime/Dungeon/Data/DungeonVisionSettings.cs" TargetMode="External" Id="Raf27949368854d45" /><Relationship Type="http://schemas.openxmlformats.org/officeDocument/2006/relationships/image" Target="/ppt/media/image11.png" Id="R98cd0b2d12ab4429" /><Relationship Type="http://schemas.openxmlformats.org/officeDocument/2006/relationships/image" Target="/ppt/media/image12.png" Id="Rb6f855520b5146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2868d0ad834704" /><Relationship Type="http://schemas.openxmlformats.org/officeDocument/2006/relationships/hyperlink" Target="https://github.com/msg1150/DungeonSweeper/blob/8cab0a9565909b7917b780bd7b92064493393d53/Assets/Scripts/Runtime/Dungeon/Runtime/DungeonRunController.Floors.cs" TargetMode="External" Id="Rb774f43cb9f94b22" /><Relationship Type="http://schemas.openxmlformats.org/officeDocument/2006/relationships/image" Target="/ppt/media/image4.png" Id="R2be8d842bd56460d" /><Relationship Type="http://schemas.openxmlformats.org/officeDocument/2006/relationships/hyperlink" Target="https://github.com/msg1150/DungeonSweeper/blob/8cab0a9565909b7917b780bd7b92064493393d53/Assets/Scripts/Runtime/Dungeon/Data/DungeonExpeditionData.cs" TargetMode="External" Id="R891decc4408b40c7" /><Relationship Type="http://schemas.openxmlformats.org/officeDocument/2006/relationships/image" Target="/ppt/media/image5.gif" Id="R2543166bccbb49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bbe7300e3e4c3f" /><Relationship Type="http://schemas.openxmlformats.org/officeDocument/2006/relationships/hyperlink" Target="https://github.com/msg1150/DungeonSweeper/blob/8cab0a9565909b7917b780bd7b92064493393d53/Assets/Editor/Dungeons/DungeonBuilderWindow.cs" TargetMode="External" Id="R6efe0a5f561c41aa" /><Relationship Type="http://schemas.openxmlformats.org/officeDocument/2006/relationships/image" Target="/ppt/media/image4.png" Id="Ra746512a7c8e4d47" /><Relationship Type="http://schemas.openxmlformats.org/officeDocument/2006/relationships/hyperlink" Target="https://github.com/msg1150/DungeonSweeper/blob/8cab0a9565909b7917b780bd7b92064493393d53/Assets/Editor/Dungeons/DungeonAuthoringService.cs" TargetMode="External" Id="R9f49b67d43754a72" /><Relationship Type="http://schemas.openxmlformats.org/officeDocument/2006/relationships/image" Target="/ppt/media/image13.png" Id="R96a3f53a839e48c4" /><Relationship Type="http://schemas.openxmlformats.org/officeDocument/2006/relationships/image" Target="/ppt/media/image14.png" Id="Rf452d281205949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5e13324ba34ef4" /><Relationship Type="http://schemas.openxmlformats.org/officeDocument/2006/relationships/hyperlink" Target="https://github.com/msg1150/DungeonSweeper/blob/8cab0a9565909b7917b780bd7b92064493393d53/Assets/Scripts/Runtime/Dungeon/Generation/DungeonMapGenerator.cs" TargetMode="External" Id="R1f6148b660c547aa" /><Relationship Type="http://schemas.openxmlformats.org/officeDocument/2006/relationships/image" Target="/ppt/media/image4.png" Id="Rb97376245b484a99" /><Relationship Type="http://schemas.openxmlformats.org/officeDocument/2006/relationships/hyperlink" Target="https://github.com/msg1150/DungeonSweeper/blob/8cab0a9565909b7917b780bd7b92064493393d53/Assets/Editor/Dungeons/DungeonGenerationPreview.cs" TargetMode="External" Id="Rd9fc0ed45fdc4f1f" /><Relationship Type="http://schemas.openxmlformats.org/officeDocument/2006/relationships/image" Target="/ppt/media/image6.gif" Id="Rfc296fa492384a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681dd68415438c" /><Relationship Type="http://schemas.openxmlformats.org/officeDocument/2006/relationships/hyperlink" Target="https://github.com/msg1150/DungeonSweeper/blob/8cab0a9565909b7917b780bd7b92064493393d53/Assets/Scripts/Runtime/Inventory/LootRewardTable.cs" TargetMode="External" Id="R948a9c11e383438d" /><Relationship Type="http://schemas.openxmlformats.org/officeDocument/2006/relationships/image" Target="/ppt/media/image4.png" Id="R38042bac5b144cab" /><Relationship Type="http://schemas.openxmlformats.org/officeDocument/2006/relationships/hyperlink" Target="https://github.com/msg1150/DungeonSweeper/blob/8cab0a9565909b7917b780bd7b92064493393d53/Assets/Editor/Inspectors/LootRewardTableEditor.cs" TargetMode="External" Id="R806ce1be49644a69" /><Relationship Type="http://schemas.openxmlformats.org/officeDocument/2006/relationships/image" Target="/ppt/media/image15.png" Id="R63f49fe373c447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6fbb6d675048b2" /><Relationship Type="http://schemas.openxmlformats.org/officeDocument/2006/relationships/hyperlink" Target="https://github.com/msg1150/DungeonSweeper/blob/8cab0a9565909b7917b780bd7b92064493393d53/Assets/Scripts/Runtime/Dungeon/Runtime/DungeonRunController.Persistence.cs" TargetMode="External" Id="Rafa25ad0b855494f" /><Relationship Type="http://schemas.openxmlformats.org/officeDocument/2006/relationships/image" Target="/ppt/media/image4.png" Id="R049d6a3c5cb64b8a" /><Relationship Type="http://schemas.openxmlformats.org/officeDocument/2006/relationships/hyperlink" Target="https://github.com/msg1150/DungeonSweeper/blob/8cab0a9565909b7917b780bd7b92064493393d53/Assets/Scripts/Runtime/Dungeon/Data/DungeonExpeditionData.cs" TargetMode="External" Id="R8542d68810924f87" /><Relationship Type="http://schemas.openxmlformats.org/officeDocument/2006/relationships/image" Target="/ppt/media/image7.gif" Id="Rb98a77371b8e4a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188b56aeca446e" /><Relationship Type="http://schemas.openxmlformats.org/officeDocument/2006/relationships/hyperlink" Target="https://github.com/msg1150/DungeonSweeper/blob/8cab0a9565909b7917b780bd7b92064493393d53/Assets/Scripts/Runtime/Inventory/GridInventory.cs" TargetMode="External" Id="R02e6945b01ee4412" /><Relationship Type="http://schemas.openxmlformats.org/officeDocument/2006/relationships/image" Target="/ppt/media/image4.png" Id="R32af2271b6e541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b9300e807d4884" /><Relationship Type="http://schemas.openxmlformats.org/officeDocument/2006/relationships/hyperlink" Target="https://github.com/msg1150/DungeonSweeper/blob/8cab0a9565909b7917b780bd7b92064493393d53/Assets/Scripts/Runtime/UI/Menus/GameShell.cs" TargetMode="External" Id="R24a99bb10ea7446c" /><Relationship Type="http://schemas.openxmlformats.org/officeDocument/2006/relationships/image" Target="/ppt/media/image4.png" Id="R48bf11d9ee9e44bc" /><Relationship Type="http://schemas.openxmlformats.org/officeDocument/2006/relationships/hyperlink" Target="https://github.com/msg1150/DungeonSweeper/blob/8cab0a9565909b7917b780bd7b92064493393d53/Assets/Scripts/Runtime/Core/GameSession.cs" TargetMode="External" Id="Ref65b52a7e4d46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0942088ab74dc8" /><Relationship Type="http://schemas.openxmlformats.org/officeDocument/2006/relationships/hyperlink" Target="https://github.com/msg1150/DungeonSweeper/blob/8cab0a9565909b7917b780bd7b92064493393d53/Assets/Scripts/Runtime/Persistence/GameSaveService.cs" TargetMode="External" Id="R465893d9f9fa4d8c" /><Relationship Type="http://schemas.openxmlformats.org/officeDocument/2006/relationships/image" Target="/ppt/media/image4.png" Id="R67b2934eccc0490e" /><Relationship Type="http://schemas.openxmlformats.org/officeDocument/2006/relationships/hyperlink" Target="https://github.com/msg1150/DungeonSweeper/blob/8cab0a9565909b7917b780bd7b92064493393d53/Assets/Scripts/Runtime/Persistence/SaveFileProtection.cs" TargetMode="External" Id="R6e468b3698644dad" /><Relationship Type="http://schemas.openxmlformats.org/officeDocument/2006/relationships/image" Target="/ppt/media/image16.png" Id="R02e8e058c2cf482a" /><Relationship Type="http://schemas.openxmlformats.org/officeDocument/2006/relationships/image" Target="/ppt/media/image17.png" Id="Rafaa074fd1c44a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a3eafb5cc0462b" /><Relationship Type="http://schemas.openxmlformats.org/officeDocument/2006/relationships/hyperlink" Target="https://github.com/msg1150/DungeonSweeper/blob/8cab0a9565909b7917b780bd7b92064493393d53/Assets/Scripts/Runtime/Town/TownWarehouseProgress.cs" TargetMode="External" Id="Rddfcba85a52345b0" /><Relationship Type="http://schemas.openxmlformats.org/officeDocument/2006/relationships/image" Target="/ppt/media/image4.png" Id="R72b3ae83c2014a1a" /><Relationship Type="http://schemas.openxmlformats.org/officeDocument/2006/relationships/hyperlink" Target="https://github.com/msg1150/DungeonSweeper/blob/8cab0a9565909b7917b780bd7b92064493393d53/Assets/Scripts/Runtime/Dungeon/Runtime/DungeonRunController.Interactions.cs" TargetMode="External" Id="R25c557932f3c42bb" /><Relationship Type="http://schemas.openxmlformats.org/officeDocument/2006/relationships/image" Target="/ppt/media/image18.png" Id="Re88fc01834174c33" /><Relationship Type="http://schemas.openxmlformats.org/officeDocument/2006/relationships/image" Target="/ppt/media/image19.png" Id="R8cda884ed9344d3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c94c5fe6524482" /><Relationship Type="http://schemas.openxmlformats.org/officeDocument/2006/relationships/hyperlink" Target="https://github.com/msg1150/DungeonSweeper/blob/8cab0a9565909b7917b780bd7b92064493393d53/Assets/Scripts/Runtime/Town/TownWarehouseProgress.cs" TargetMode="External" Id="Rc465c0789e98483a" /><Relationship Type="http://schemas.openxmlformats.org/officeDocument/2006/relationships/image" Target="/ppt/media/image4.png" Id="Rfb7e65f3b5f74c81" /><Relationship Type="http://schemas.openxmlformats.org/officeDocument/2006/relationships/hyperlink" Target="https://github.com/msg1150/DungeonSweeper/blob/8cab0a9565909b7917b780bd7b92064493393d53/Assets/Scripts/Runtime/Town/TownEconomyConfig.cs" TargetMode="External" Id="R5d7e306814804569" /><Relationship Type="http://schemas.openxmlformats.org/officeDocument/2006/relationships/image" Target="/ppt/media/image20.png" Id="R85c27af86e6f4165" /><Relationship Type="http://schemas.openxmlformats.org/officeDocument/2006/relationships/image" Target="/ppt/media/image21.png" Id="Rc4c7ac7d71b6460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75fccc664f4804" /><Relationship Type="http://schemas.openxmlformats.org/officeDocument/2006/relationships/hyperlink" Target="https://github.com/msg1150/DungeonSweeper/blob/8cab0a9565909b7917b780bd7b92064493393d53/Assets/Editor/Dungeons/DungeonDeletionService.cs" TargetMode="External" Id="Rbd0b34e37bd74855" /><Relationship Type="http://schemas.openxmlformats.org/officeDocument/2006/relationships/image" Target="/ppt/media/image4.png" Id="R8f6d605078cf4c58" /><Relationship Type="http://schemas.openxmlformats.org/officeDocument/2006/relationships/image" Target="/ppt/media/image22.png" Id="Rf8f7d3fc76e84a40" /><Relationship Type="http://schemas.openxmlformats.org/officeDocument/2006/relationships/image" Target="/ppt/media/image23.png" Id="R05815676c29c489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d5d51784484352" /><Relationship Type="http://schemas.openxmlformats.org/officeDocument/2006/relationships/hyperlink" Target="https://github.com/msg1150/DungeonSweeper/blob/8cab0a9565909b7917b780bd7b92064493393d53/Assets/Scripts/Runtime/Dungeon/Runtime/DungeonActorPool.cs" TargetMode="External" Id="R995b867504524c0c" /><Relationship Type="http://schemas.openxmlformats.org/officeDocument/2006/relationships/image" Target="/ppt/media/image4.png" Id="R1382c34af1f847b5" /><Relationship Type="http://schemas.openxmlformats.org/officeDocument/2006/relationships/hyperlink" Target="https://github.com/msg1150/DungeonSweeper/blob/8cab0a9565909b7917b780bd7b92064493393d53/Assets/Scripts/Runtime/Recovery/CorpseRunData.cs" TargetMode="External" Id="R92418311e55949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b27c2c3ac54299" /><Relationship Type="http://schemas.openxmlformats.org/officeDocument/2006/relationships/hyperlink" Target="https://github.com/msg1150/DungeonSweeper/blob/8cab0a9565909b7917b780bd7b92064493393d53/Assets/Scripts/Runtime/UI/Dungeon/DungeonMinimapTexture.cs" TargetMode="External" Id="Rcc911ba82d4c4e64" /><Relationship Type="http://schemas.openxmlformats.org/officeDocument/2006/relationships/image" Target="/ppt/media/image4.png" Id="R71eaaa33ef164d38" /><Relationship Type="http://schemas.openxmlformats.org/officeDocument/2006/relationships/hyperlink" Target="https://github.com/msg1150/DungeonSweeper/blob/8cab0a9565909b7917b780bd7b92064493393d53/Assets/Scripts/Runtime/UI/Dungeon/DungeonHud.cs" TargetMode="External" Id="R2cc90131b7524a8b" /><Relationship Type="http://schemas.openxmlformats.org/officeDocument/2006/relationships/image" Target="/ppt/media/image8.gif" Id="Rdb21dc32faf04a2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295238a1a64fd9" /><Relationship Type="http://schemas.openxmlformats.org/officeDocument/2006/relationships/hyperlink" Target="https://github.com/msg1150/DungeonSweeper/blob/8cab0a9565909b7917b780bd7b92064493393d53/Assets/Scripts/Runtime/Presentation/World/ThreeDWorldView.cs" TargetMode="External" Id="R8036b545ce5b49dc" /><Relationship Type="http://schemas.openxmlformats.org/officeDocument/2006/relationships/image" Target="/ppt/media/image4.png" Id="Rdd0b9092b6bb4d9c" /><Relationship Type="http://schemas.openxmlformats.org/officeDocument/2006/relationships/hyperlink" Target="https://github.com/msg1150/DungeonSweeper/blob/8cab0a9565909b7917b780bd7b92064493393d53/Assets/Scripts/Runtime/Dungeon/World/DungeonLayoutFactory.cs" TargetMode="External" Id="R1d362b6593844941" /><Relationship Type="http://schemas.openxmlformats.org/officeDocument/2006/relationships/image" Target="/ppt/media/image24.png" Id="R62a40de3c4de48b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fca4050961467e" /><Relationship Type="http://schemas.openxmlformats.org/officeDocument/2006/relationships/hyperlink" Target="https://github.com/msg1150/DungeonSweeper/blob/8cab0a9565909b7917b780bd7b92064493393d53/Tools/Validate-GameFlow.ps1" TargetMode="External" Id="Ra1010920d1644fdf" /><Relationship Type="http://schemas.openxmlformats.org/officeDocument/2006/relationships/image" Target="/ppt/media/image4.png" Id="Ra237cca483194508" /><Relationship Type="http://schemas.openxmlformats.org/officeDocument/2006/relationships/hyperlink" Target="https://github.com/msg1150/DungeonSweeper/blob/8cab0a9565909b7917b780bd7b92064493393d53/Tests/ValidationRuntimeDriver.cs" TargetMode="External" Id="R7e6db96c87b947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315fa12ec64446" /><Relationship Type="http://schemas.openxmlformats.org/officeDocument/2006/relationships/hyperlink" Target="https://github.com/msg1150/DungeonSweeper" TargetMode="External" Id="R7233cc08cbe6414d" /><Relationship Type="http://schemas.openxmlformats.org/officeDocument/2006/relationships/image" Target="/ppt/media/image4.png" Id="R5f2078b5ef494b7a" /><Relationship Type="http://schemas.openxmlformats.org/officeDocument/2006/relationships/hyperlink" Target="https://github.com/msg1150/DungeonSweeper" TargetMode="External" Id="R1d421eab0fb64e00" /><Relationship Type="http://schemas.openxmlformats.org/officeDocument/2006/relationships/hyperlink" Target="https://github.com/msg1150/DungeonSweeper/blob/8cab0a9565909b7917b780bd7b92064493393d53/README.md" TargetMode="External" Id="R7a0710f31afb4a15" /><Relationship Type="http://schemas.openxmlformats.org/officeDocument/2006/relationships/hyperlink" Target="mailto:wkdgks88009@gmail.com" TargetMode="External" Id="R97ae0e0dbeb84180" /><Relationship Type="http://schemas.openxmlformats.org/officeDocument/2006/relationships/hyperlink" Target="https://github.com/msg1150" TargetMode="External" Id="Rb8bc9a83fae74812" /><Relationship Type="http://schemas.openxmlformats.org/officeDocument/2006/relationships/hyperlink" Target="https://github.com/msg1150/DungeonSweeper/commits/8cab0a9565909b7917b780bd7b92064493393d53/" TargetMode="External" Id="Rcecba0b03c3548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A402B1-DD23-4DC6-BC26-F7B1E8E3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E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4095DD6-0C14-4556-A650-F75833A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12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12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12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12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12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12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12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12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12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CLIENT PROGRAMMER PORTFOLIO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12EB8C-D88F-4B1E-9B22-1213FF65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4114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10"/>
              </a:spcAft>
              <a:buNone/>
              <a:defRPr sz="30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Dungeon Sweeper</a:t>
            </a:r>
          </a:p>
        </p:txBody>
      </p:sp>
      <p:sp>
        <p:nvSpPr>
          <p:cNvPr id="5" name="박장한 / 클라이언트 프로그래머&#10;2.5D 비전투 전리품 회수 게임&#10;2026.09.17 ~ 현재 개발 중">
            <a:extLst xmlns:a="http://schemas.openxmlformats.org/drawingml/2006/main">
              <a:ext uri="{FF2B5EF4-FFF2-40B4-BE49-F238E27FC236}">
                <a16:creationId xmlns:a16="http://schemas.microsoft.com/office/drawing/2014/main" id="{2B923404-B9A7-4725-A7E2-32DD56A3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114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0"/>
              </a:spcAft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박장한 / 클라이언트 프로그래머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2.5D 비전투 전리품 회수 게임</a:t>
            </a:r>
          </a:p>
          <a:p xmlns:a="http://schemas.openxmlformats.org/drawingml/2006/main">
            <a:pPr algn="l">
              <a:spcAft>
                <a:spcPts val="0"/>
              </a:spcAft>
              <a:buNone/>
              <a:defRPr sz="150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2026.09.17 ~ 현재 개발 중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3CCA3C-516D-4EA8-9E37-92BB70CA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1028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2700">
            <a:solidFill>
              <a:srgbClr val="3C56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47650" tIns="247650" rIns="247650" bIns="24765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10"/>
              </a:spcAft>
              <a:buNone/>
              <a:defRPr sz="14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C0C23D2-E58C-47CA-986B-5174CF0F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FF679DCE-C7EB-496B-B218-63EDE248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Unity 6000.6.0f1</a:t>
            </a:r>
          </a:p>
        </p:txBody>
      </p:sp>
      <p:pic>
        <p:nvPicPr>
          <p:cNvPr id="13" name="그래픽 12">
            <a:extLst xmlns:a="http://schemas.openxmlformats.org/drawingml/2006/main">
              <a:ext uri="{FF2B5EF4-FFF2-40B4-BE49-F238E27FC236}">
                <a16:creationId xmlns:a16="http://schemas.microsoft.com/office/drawing/2014/main" id="{96193A6A-5FDC-4549-B0DA-CB25EE9934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4bfda484b4677"/>
          <a:stretch xmlns:a="http://schemas.openxmlformats.org/drawingml/2006/main"/>
        </p:blipFill>
        <p:spPr>
          <a:xfrm xmlns:a="http://schemas.openxmlformats.org/drawingml/2006/main">
            <a:off x="609600" y="3467100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14" name="그래픽 13">
            <a:extLst xmlns:a="http://schemas.openxmlformats.org/drawingml/2006/main">
              <a:ext uri="{FF2B5EF4-FFF2-40B4-BE49-F238E27FC236}">
                <a16:creationId xmlns:a16="http://schemas.microsoft.com/office/drawing/2014/main" id="{5D215B33-E081-46A2-BAD1-0ECEB2634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15a054cd247bb"/>
          <a:stretch xmlns:a="http://schemas.openxmlformats.org/drawingml/2006/main"/>
        </p:blipFill>
        <p:spPr>
          <a:xfrm xmlns:a="http://schemas.openxmlformats.org/drawingml/2006/main">
            <a:off x="3581400" y="3476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1" name="핵심 구현">
            <a:extLst xmlns:a="http://schemas.openxmlformats.org/drawingml/2006/main">
              <a:ext uri="{FF2B5EF4-FFF2-40B4-BE49-F238E27FC236}">
                <a16:creationId xmlns:a16="http://schemas.microsoft.com/office/drawing/2014/main" id="{E626E8BA-1988-4CD1-B9CB-43A929B4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핵심 구현</a:t>
            </a:r>
          </a:p>
        </p:txBody>
      </p:sp>
      <p:sp>
        <p:nvSpPr>
          <p:cNvPr id="22" name="공간형 가방 · 몬스터 AI&#10;던전 제작 도구 · 층별 탐험 상태&#10;2.5D 표시 · 저장·복원 예외 처리">
            <a:extLst xmlns:a="http://schemas.openxmlformats.org/drawingml/2006/main">
              <a:ext uri="{FF2B5EF4-FFF2-40B4-BE49-F238E27FC236}">
                <a16:creationId xmlns:a16="http://schemas.microsoft.com/office/drawing/2014/main" id="{8F17924E-0D54-460D-894B-0B4DB008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197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공간형 가방 / 몬스터 AI / 던전 제작 도구</a:t>
            </a:r>
          </a:p>
          <a:p xmlns:a="http://schemas.openxmlformats.org/drawingml/2006/main">
            <a:pPr>
              <a:buNone/>
              <a:defRPr sz="172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층별 탐험 상태 / 2.5D 표시 / 저장/복원 예외 처리</a:t>
            </a:r>
          </a:p>
        </p:txBody>
      </p:sp>
      <p:sp>
        <p:nvSpPr>
          <p:cNvPr id="23" name="미디어 영역">
            <a:extLst xmlns:a="http://schemas.openxmlformats.org/drawingml/2006/main">
              <a:ext uri="{FF2B5EF4-FFF2-40B4-BE49-F238E27FC236}">
                <a16:creationId xmlns:a16="http://schemas.microsoft.com/office/drawing/2014/main" id="{EEC3B490-2C24-4DF7-A15B-43E342D3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200150"/>
            <a:ext cx="6477000" cy="3643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11430">
            <a:solidFill>
              <a:srgbClr val="3C5660"/>
            </a:solidFill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428D1-52B3-4DCE-811F-DC965E04FD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308ccae5c4898"/>
          <a:stretch xmlns:a="http://schemas.openxmlformats.org/drawingml/2006/main"/>
        </p:blipFill>
        <p:spPr>
          <a:xfrm xmlns:a="http://schemas.openxmlformats.org/drawingml/2006/main">
            <a:off x="5105400" y="1200150"/>
            <a:ext cx="6477000" cy="36433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321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3DC714-D698-48E3-AE11-C991A703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E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6920B6-11A0-4091-9295-D742F39B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PROJECT OVERVIEW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4FD3263-2DB0-40CB-85AD-3DB988FF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프로젝트 개요와 핵심 구현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A8F889F-D8DC-43D8-9ABA-278B1BB6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4857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2700">
            <a:solidFill>
              <a:srgbClr val="3C56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3850" tIns="304800" rIns="266700" bIns="2286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6701208-7008-4F40-AF10-24116AC3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5943600" cy="4857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>
            <a:solidFill>
              <a:srgbClr val="3C56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3850" tIns="304800" rIns="266700" bIns="2286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3A27D07-EA0F-4F9A-B832-B6389E03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85356F9A-FA49-4C60-B087-05DD16EC9E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184494f104e65"/>
          <a:stretch xmlns:a="http://schemas.openxmlformats.org/drawingml/2006/main"/>
        </p:blipFill>
        <p:spPr>
          <a:xfrm xmlns:a="http://schemas.openxmlformats.org/drawingml/2006/main">
            <a:off x="609600" y="6362700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9" name="GitHub link legend">
            <a:extLst xmlns:a="http://schemas.openxmlformats.org/drawingml/2006/main">
              <a:ext uri="{FF2B5EF4-FFF2-40B4-BE49-F238E27FC236}">
                <a16:creationId xmlns:a16="http://schemas.microsoft.com/office/drawing/2014/main" id="{E23A9C9E-9F33-4993-81BC-EB43EA83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436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t>GitHub 마크가 있는 항목은 해당 구현의 소스 코드 링크입니다.</a:t>
            </a:r>
          </a:p>
        </p:txBody>
      </p:sp>
      <p:sp>
        <p:nvSpPr>
          <p:cNvPr id="10" name="Dungeon Sweeper">
            <a:extLst xmlns:a="http://schemas.openxmlformats.org/drawingml/2006/main">
              <a:ext uri="{FF2B5EF4-FFF2-40B4-BE49-F238E27FC236}">
                <a16:creationId xmlns:a16="http://schemas.microsoft.com/office/drawing/2014/main" id="{E1FFDD49-2827-4C2A-B8D9-F0CC206D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Dungeon Sweeper</a:t>
            </a:r>
          </a:p>
        </p:txBody>
      </p:sp>
      <p:sp>
        <p:nvSpPr>
          <p:cNvPr id="11" name="2.5D 비전투 전리품 회수 게임">
            <a:extLst xmlns:a="http://schemas.openxmlformats.org/drawingml/2006/main">
              <a:ext uri="{FF2B5EF4-FFF2-40B4-BE49-F238E27FC236}">
                <a16:creationId xmlns:a16="http://schemas.microsoft.com/office/drawing/2014/main" id="{8B57B709-88B3-4012-B7A6-62EF834F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907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2.5D 비전투 전리품 회수 게임</a:t>
            </a:r>
          </a:p>
        </p:txBody>
      </p:sp>
      <p:sp>
        <p:nvSpPr>
          <p:cNvPr id="12" name="개인 프로젝트&#10;2026.09.17 ~ 현재 개발 중">
            <a:extLst xmlns:a="http://schemas.openxmlformats.org/drawingml/2006/main">
              <a:ext uri="{FF2B5EF4-FFF2-40B4-BE49-F238E27FC236}">
                <a16:creationId xmlns:a16="http://schemas.microsoft.com/office/drawing/2014/main" id="{BD8694E7-1F9D-4A0E-ABB6-FC3C0B1E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개인 프로젝트</a:t>
            </a:r>
          </a:p>
          <a:p xmlns:a="http://schemas.openxmlformats.org/drawingml/2006/main">
            <a: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2026.09.17 ~ 현재 개발 중</a:t>
            </a:r>
          </a:p>
        </p:txBody>
      </p:sp>
      <p:sp>
        <p:nvSpPr>
          <p:cNvPr id="13" name="클라이언트 프로그래머">
            <a:extLst xmlns:a="http://schemas.openxmlformats.org/drawingml/2006/main">
              <a:ext uri="{FF2B5EF4-FFF2-40B4-BE49-F238E27FC236}">
                <a16:creationId xmlns:a16="http://schemas.microsoft.com/office/drawing/2014/main" id="{5C8454AE-7F3A-4362-820A-8D68C63F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클라이언트 프로그래머</a:t>
            </a:r>
          </a:p>
        </p:txBody>
      </p:sp>
      <p:sp>
        <p:nvSpPr>
          <p:cNvPr id="14" name="Unity 6000.6.0f1 / C#&#10;URP / Input System&#10;Windows 64비트 싱글 플레이">
            <a:extLst xmlns:a="http://schemas.openxmlformats.org/drawingml/2006/main">
              <a:ext uri="{FF2B5EF4-FFF2-40B4-BE49-F238E27FC236}">
                <a16:creationId xmlns:a16="http://schemas.microsoft.com/office/drawing/2014/main" id="{38396445-6FEF-450B-A880-1E3165FB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38675"/>
            <a:ext cx="381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Unity 6000.6.0f1 / C#</a:t>
            </a:r>
          </a:p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URP / Input System</a:t>
            </a:r>
          </a:p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Windows 64비트 싱글 플레이</a:t>
            </a:r>
          </a:p>
        </p:txBody>
      </p:sp>
      <p:sp>
        <p:nvSpPr>
          <p:cNvPr id="15" name="핵심 구현 5개">
            <a:extLst xmlns:a="http://schemas.openxmlformats.org/drawingml/2006/main">
              <a:ext uri="{FF2B5EF4-FFF2-40B4-BE49-F238E27FC236}">
                <a16:creationId xmlns:a16="http://schemas.microsoft.com/office/drawing/2014/main" id="{3B7EBF86-EBBC-45AD-877E-F31EF55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핵심 구현 5개</a:t>
            </a:r>
          </a:p>
        </p:txBody>
      </p:sp>
      <p:sp>
        <p:nvSpPr>
          <p:cNvPr id="16" name="01  공간형 가방과 마을 경제">
            <a:extLst xmlns:a="http://schemas.openxmlformats.org/drawingml/2006/main">
              <a:ext uri="{FF2B5EF4-FFF2-40B4-BE49-F238E27FC236}">
                <a16:creationId xmlns:a16="http://schemas.microsoft.com/office/drawing/2014/main" id="{FE7AE516-5B1C-4393-AB87-2AAD505B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669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01  공간형 가방과 마을 경제</a:t>
            </a:r>
          </a:p>
        </p:txBody>
      </p:sp>
      <p:sp>
        <p:nvSpPr>
          <p:cNvPr id="17" name="02  몬스터 AI와 이동 경로">
            <a:extLst xmlns:a="http://schemas.openxmlformats.org/drawingml/2006/main">
              <a:ext uri="{FF2B5EF4-FFF2-40B4-BE49-F238E27FC236}">
                <a16:creationId xmlns:a16="http://schemas.microsoft.com/office/drawing/2014/main" id="{88DBC37C-BED2-4205-9152-5FC77AB7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02  몬스터 AI와 이동 경로</a:t>
            </a:r>
          </a:p>
        </p:txBody>
      </p:sp>
      <p:sp>
        <p:nvSpPr>
          <p:cNvPr id="18" name="03  던전 생성·편집 도구">
            <a:extLst xmlns:a="http://schemas.openxmlformats.org/drawingml/2006/main">
              <a:ext uri="{FF2B5EF4-FFF2-40B4-BE49-F238E27FC236}">
                <a16:creationId xmlns:a16="http://schemas.microsoft.com/office/drawing/2014/main" id="{59FC945C-D444-4F25-9244-88118427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04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03  던전 생성/편집 도구</a:t>
            </a:r>
          </a:p>
        </p:txBody>
      </p:sp>
      <p:sp>
        <p:nvSpPr>
          <p:cNvPr id="19" name="04  층별 탐험과 저장·복원">
            <a:extLst xmlns:a="http://schemas.openxmlformats.org/drawingml/2006/main">
              <a:ext uri="{FF2B5EF4-FFF2-40B4-BE49-F238E27FC236}">
                <a16:creationId xmlns:a16="http://schemas.microsoft.com/office/drawing/2014/main" id="{F3AEF825-4C85-4E25-8467-DA4AF0F3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04  층별 탐험과 저장/복원</a:t>
            </a:r>
          </a:p>
        </p:txBody>
      </p:sp>
      <p:sp>
        <p:nvSpPr>
          <p:cNvPr id="20" name="05  플레이어 조작과 2.5D 표현">
            <a:extLst xmlns:a="http://schemas.openxmlformats.org/drawingml/2006/main">
              <a:ext uri="{FF2B5EF4-FFF2-40B4-BE49-F238E27FC236}">
                <a16:creationId xmlns:a16="http://schemas.microsoft.com/office/drawing/2014/main" id="{ECBF6EE3-6798-44C9-833B-4AF1AD5E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33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05  플레이어 조작과 2.5D 표현</a:t>
            </a:r>
          </a:p>
        </p:txBody>
      </p:sp>
      <p:sp>
        <p:nvSpPr>
          <p:cNvPr id="21" name="검토 순서">
            <a:extLst xmlns:a="http://schemas.openxmlformats.org/drawingml/2006/main">
              <a:ext uri="{FF2B5EF4-FFF2-40B4-BE49-F238E27FC236}">
                <a16:creationId xmlns:a16="http://schemas.microsoft.com/office/drawing/2014/main" id="{8E8F7C9D-35E3-489D-82EA-BA59E313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95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검토 순서</a:t>
            </a:r>
          </a:p>
        </p:txBody>
      </p:sp>
      <p:sp>
        <p:nvSpPr>
          <p:cNvPr id="22" name="시스템 관계 → 플레이 구현 → 제작·저장&#10;→ 런타임 구조 → 검증">
            <a:extLst xmlns:a="http://schemas.openxmlformats.org/drawingml/2006/main">
              <a:ext uri="{FF2B5EF4-FFF2-40B4-BE49-F238E27FC236}">
                <a16:creationId xmlns:a16="http://schemas.microsoft.com/office/drawing/2014/main" id="{4E4B0DB3-272B-4F89-9A02-DF6944AD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57825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1 시스템 관계   2 플레이 구현   3 제작/저장</a:t>
            </a:r>
          </a:p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4 예외 처리   5 런타임 구조   6 검증</a:t>
            </a:r>
          </a:p>
        </p:txBody>
      </p:sp>
    </p:spTree>
    <p:extLst>
      <p:ext uri="{BB962C8B-B14F-4D97-AF65-F5344CB8AC3E}">
        <p14:creationId xmlns:p14="http://schemas.microsoft.com/office/powerpoint/2010/main" val="39874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17A8F0-3D50-49B8-9C88-D4792005070A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6372225" y="40957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DBC6"/>
            </a:solidFill>
            <a:headEnd type="triangle" w="sm" len="sm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D8C81C-4DE7-4D67-85C3-65B636D145E0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943850" y="35004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DBC6"/>
            </a:solidFill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F88632-BB6A-4823-A3B5-744CB24D6B23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943100" y="233362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DBC6"/>
            </a:solidFill>
            <a:tailEnd type="triangle" w="sm" len="sm"/>
          </a:ln>
        </p:spPr>
      </p:cxnSp>
      <p:sp>
        <p:nvSpPr>
          <p:cNvPr id="3" name="시스템 관계 / 계층·데이터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시스템 관계: 계층과 데이터</a:t>
            </a:r>
          </a:p>
        </p:txBody>
      </p:sp>
      <p:sp>
        <p:nvSpPr>
          <p:cNvPr id="4" name="탐험 데이터와 실행·표시 계층의 관계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탐험 데이터와 실행/표시 계층의 관계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6" name="GitHub / 런 제어">
            <a:extLst xmlns:a="http://schemas.openxmlformats.org/drawingml/2006/main">
              <a:ext uri="{FF2B5EF4-FFF2-40B4-BE49-F238E27FC236}">
                <a16:creationId xmlns:a16="http://schemas.microsoft.com/office/drawing/2014/main" id="{0B77DDB9-EE96-4473-B4C6-BB7C40F4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f4e181033d6a4a19"/>
              </a:rPr>
              <a:t>GitHub / 런 제어</a:t>
            </a:r>
          </a:p>
        </p:txBody>
      </p:sp>
      <p:sp>
        <p:nvSpPr>
          <p:cNvPr id="27" name="GitHub / 탐험 기록">
            <a:extLst xmlns:a="http://schemas.openxmlformats.org/drawingml/2006/main">
              <a:ext uri="{FF2B5EF4-FFF2-40B4-BE49-F238E27FC236}">
                <a16:creationId xmlns:a16="http://schemas.microsoft.com/office/drawing/2014/main" id="{F67899CB-7B4A-4946-9461-EE92DF23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3341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d49a446ec1e34cad"/>
              </a:rPr>
              <a:t>GitHub / 탐험 기록</a:t>
            </a:r>
          </a:p>
        </p:txBody>
      </p:sp>
      <p:sp>
        <p:nvSpPr>
          <p:cNvPr id="28" name="GitHub / 저장 조정">
            <a:extLst xmlns:a="http://schemas.openxmlformats.org/drawingml/2006/main">
              <a:ext uri="{FF2B5EF4-FFF2-40B4-BE49-F238E27FC236}">
                <a16:creationId xmlns:a16="http://schemas.microsoft.com/office/drawing/2014/main" id="{10866737-320A-4487-A6FA-C7BBB607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3341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f46e8a795250483c"/>
              </a:rPr>
              <a:t>GitHub / 저장 조정</a:t>
            </a:r>
          </a:p>
        </p:txBody>
      </p:sp>
      <p:sp>
        <p:nvSpPr>
          <p:cNvPr id="29" name="제작 에셋&#10;DungeonDefinition&#10;도면·보상">
            <a:extLst xmlns:a="http://schemas.openxmlformats.org/drawingml/2006/main">
              <a:ext uri="{FF2B5EF4-FFF2-40B4-BE49-F238E27FC236}">
                <a16:creationId xmlns:a16="http://schemas.microsoft.com/office/drawing/2014/main" id="{C2674664-2FA3-4CAF-AAF5-C8640D79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제작 에셋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DungeonDefinition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도면/보상</a:t>
            </a:r>
          </a:p>
        </p:txBody>
      </p:sp>
      <p:sp>
        <p:nvSpPr>
          <p:cNvPr id="30" name="층별 탐험 기록&#10;DungeonExpeditionData&#10;방문 상태·몬스터·시체">
            <a:extLst xmlns:a="http://schemas.openxmlformats.org/drawingml/2006/main">
              <a:ext uri="{FF2B5EF4-FFF2-40B4-BE49-F238E27FC236}">
                <a16:creationId xmlns:a16="http://schemas.microsoft.com/office/drawing/2014/main" id="{3BDCE4F0-E48E-47A8-A6BD-5AA697AB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667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층별 탐험 기록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DungeonExpeditionData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방문 상태/몬스터/시체</a:t>
            </a:r>
          </a:p>
        </p:txBody>
      </p:sp>
      <p:sp>
        <p:nvSpPr>
          <p:cNvPr id="31" name="현재 층 실행&#10;DungeonRunController&#10;가방 · 몬스터 AI · 해체 상태">
            <a:extLst xmlns:a="http://schemas.openxmlformats.org/drawingml/2006/main">
              <a:ext uri="{FF2B5EF4-FFF2-40B4-BE49-F238E27FC236}">
                <a16:creationId xmlns:a16="http://schemas.microsoft.com/office/drawing/2014/main" id="{C3B3A157-F1F8-4BC2-9BD1-714659D8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05125"/>
            <a:ext cx="3143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현재 층 실행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DungeonRunController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가방 / 몬스터 AI / 해체 상태</a:t>
            </a:r>
          </a:p>
        </p:txBody>
      </p:sp>
      <p:sp>
        <p:nvSpPr>
          <p:cNvPr id="32" name="화면 표시&#10;DungeonHud&#10;SpriteDepthView&#10;지도·UI·2.5D 표시">
            <a:extLst xmlns:a="http://schemas.openxmlformats.org/drawingml/2006/main">
              <a:ext uri="{FF2B5EF4-FFF2-40B4-BE49-F238E27FC236}">
                <a16:creationId xmlns:a16="http://schemas.microsoft.com/office/drawing/2014/main" id="{CFAB3F7E-CED5-44C5-926F-AB1EE923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05125"/>
            <a:ext cx="25908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화면 표시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DungeonHud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SpriteDepthView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지도/UI/2.5D 표시</a:t>
            </a:r>
          </a:p>
        </p:txBody>
      </p:sp>
      <p:sp>
        <p:nvSpPr>
          <p:cNvPr id="33" name="저장·복원 조정&#10;GameSession&#10;GameSaveService">
            <a:extLst xmlns:a="http://schemas.openxmlformats.org/drawingml/2006/main">
              <a:ext uri="{FF2B5EF4-FFF2-40B4-BE49-F238E27FC236}">
                <a16:creationId xmlns:a16="http://schemas.microsoft.com/office/drawing/2014/main" id="{56971AB2-F67B-447F-9FFE-5F0B5E50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768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저장/복원 조정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GameSession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GameSaveService</a:t>
            </a:r>
          </a:p>
        </p:txBody>
      </p:sp>
      <p:sp>
        <p:nvSpPr>
          <p:cNvPr id="38" name="입장 시 복사">
            <a:extLst xmlns:a="http://schemas.openxmlformats.org/drawingml/2006/main">
              <a:ext uri="{FF2B5EF4-FFF2-40B4-BE49-F238E27FC236}">
                <a16:creationId xmlns:a16="http://schemas.microsoft.com/office/drawing/2014/main" id="{72FE07B0-EB32-41BA-A451-0C901358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입장 시 복사</a:t>
            </a:r>
          </a:p>
        </p:txBody>
      </p:sp>
      <p:sp>
        <p:nvSpPr>
          <p:cNvPr id="39" name="← 상태 캡처">
            <a:extLst xmlns:a="http://schemas.openxmlformats.org/drawingml/2006/main">
              <a:ext uri="{FF2B5EF4-FFF2-40B4-BE49-F238E27FC236}">
                <a16:creationId xmlns:a16="http://schemas.microsoft.com/office/drawing/2014/main" id="{3DE8A2E3-CB94-4C84-8516-8FDE86E1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765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rPr>
              <a:t>상태 캡처</a:t>
            </a:r>
          </a:p>
        </p:txBody>
      </p:sp>
      <p:sp>
        <p:nvSpPr>
          <p:cNvPr id="40" name="구성·복원 →">
            <a:extLst xmlns:a="http://schemas.openxmlformats.org/drawingml/2006/main">
              <a:ext uri="{FF2B5EF4-FFF2-40B4-BE49-F238E27FC236}">
                <a16:creationId xmlns:a16="http://schemas.microsoft.com/office/drawing/2014/main" id="{99958152-D10B-4FAA-8DB2-1A53E395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195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rPr>
              <a:t>구성 및 복원</a:t>
            </a:r>
          </a:p>
        </p:txBody>
      </p:sp>
      <p:sp>
        <p:nvSpPr>
          <p:cNvPr id="41" name="상태 전달">
            <a:extLst xmlns:a="http://schemas.openxmlformats.org/drawingml/2006/main">
              <a:ext uri="{FF2B5EF4-FFF2-40B4-BE49-F238E27FC236}">
                <a16:creationId xmlns:a16="http://schemas.microsoft.com/office/drawing/2014/main" id="{59D38201-F515-4405-A4AC-65FE5368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289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상태 전달</a:t>
            </a:r>
          </a:p>
        </p:txBody>
      </p:sp>
      <p:sp>
        <p:nvSpPr>
          <p:cNvPr id="42" name="가방·플레이어·층 상태 캡처 및 복원">
            <a:extLst xmlns:a="http://schemas.openxmlformats.org/drawingml/2006/main">
              <a:ext uri="{FF2B5EF4-FFF2-40B4-BE49-F238E27FC236}">
                <a16:creationId xmlns:a16="http://schemas.microsoft.com/office/drawing/2014/main" id="{2F86663B-8662-4421-A06E-9722487E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291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가방/플레이어/층 상태 캡처 및 복원</a:t>
            </a:r>
          </a:p>
        </p:txBody>
      </p:sp>
      <p:sp>
        <p:nvSpPr>
          <p:cNvPr id="43" name="층 이동은 같은 탐험 기록을 이어받고, 표시는 게임 좌표·판정과 분리합니다.">
            <a:extLst xmlns:a="http://schemas.openxmlformats.org/drawingml/2006/main">
              <a:ext uri="{FF2B5EF4-FFF2-40B4-BE49-F238E27FC236}">
                <a16:creationId xmlns:a16="http://schemas.microsoft.com/office/drawing/2014/main" id="{2C7DE02A-DE23-49C7-97C7-F5D519AD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층 이동은 같은 탐험 기록을 이어받고, 표시는 게임 좌표/판정과 분리합니다.</a:t>
            </a:r>
          </a:p>
        </p:txBody>
      </p: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29085E-96B4-4239-849F-17AC4CE963BF}"/>
              </a:ext>
            </a:extLst>
          </p:cNvPr>
          <p:cNvCxnSpPr/>
          <p:nvPr/>
        </p:nvCxnSpPr>
        <p:spPr>
          <a:xfrm xmlns:a="http://schemas.openxmlformats.org/drawingml/2006/main">
            <a:off x="3276600" y="33813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9AD8C9"/>
            </a:solidFill>
            <a:headEnd type="triangle" w="sm" len="sm"/>
            <a:tailEnd type="none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B42EBE-FCDD-45E8-8DA4-2B5F2D992953}"/>
              </a:ext>
            </a:extLst>
          </p:cNvPr>
          <p:cNvCxnSpPr/>
          <p:nvPr/>
        </p:nvCxnSpPr>
        <p:spPr>
          <a:xfrm xmlns:a="http://schemas.openxmlformats.org/drawingml/2006/main">
            <a:off x="3276600" y="39338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9AD8C9"/>
            </a:solidFill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플레이 구현 / 입력·카메라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플레이 구현: 입력과 카메라</a:t>
            </a:r>
          </a:p>
        </p:txBody>
      </p:sp>
      <p:sp>
        <p:nvSpPr>
          <p:cNvPr id="4" name="이동·대시 입력과 물리·카메라 갱신 분리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대시 방향 유지와 UI 상태에 따른 입력 차단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547AAC85-F404-4BE2-BE91-697CDB1038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d349800884a81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778859DE-9D0C-449F-B85E-120BB86CE6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d349800884a81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입력 수집과 물리 갱신 시점 분리">
            <a:extLst xmlns:a="http://schemas.openxmlformats.org/drawingml/2006/main">
              <a:ext uri="{FF2B5EF4-FFF2-40B4-BE49-F238E27FC236}">
                <a16:creationId xmlns:a16="http://schemas.microsoft.com/office/drawing/2014/main" id="{BC3B558A-CF3C-4C9B-9798-3A21087C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문제: 대시 방향과 UI 입력의 충돌</a:t>
            </a:r>
          </a:p>
        </p:txBody>
      </p:sp>
      <p:sp>
        <p:nvSpPr>
          <p:cNvPr id="19" name="Update에서 방향·대시 입력을 읽습니다.&#10;FixedUpdate에서 Rigidbody2D 속도를 적용합니다.">
            <a:extLst xmlns:a="http://schemas.openxmlformats.org/drawingml/2006/main">
              <a:ext uri="{FF2B5EF4-FFF2-40B4-BE49-F238E27FC236}">
                <a16:creationId xmlns:a16="http://schemas.microsoft.com/office/drawing/2014/main" id="{CCEAA4BE-FD5F-4E04-BC9B-B1EDED6B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대시 중 새 입력이 들어와도 방향을 유지해야 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메뉴와 가방 조작 중에는 이동을 차단해야 합니다.</a:t>
            </a:r>
          </a:p>
        </p:txBody>
      </p:sp>
      <p:sp>
        <p:nvSpPr>
          <p:cNvPr id="20" name="대시 방향 유지와 카메라 추종">
            <a:extLst xmlns:a="http://schemas.openxmlformats.org/drawingml/2006/main">
              <a:ext uri="{FF2B5EF4-FFF2-40B4-BE49-F238E27FC236}">
                <a16:creationId xmlns:a16="http://schemas.microsoft.com/office/drawing/2014/main" id="{5A24BC61-6D6D-4385-BADD-970EA4A0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선택: 시작 방향 고정과 상태별 차단</a:t>
            </a:r>
          </a:p>
        </p:txBody>
      </p:sp>
      <p:sp>
        <p:nvSpPr>
          <p:cNvPr id="21" name="대시는 시작 방향을 유지하고 쿨다운을 관리합니다.&#10;2.5D 카메라는 LateUpdate에서 플레이어를 추종합니다.">
            <a:extLst xmlns:a="http://schemas.openxmlformats.org/drawingml/2006/main">
              <a:ext uri="{FF2B5EF4-FFF2-40B4-BE49-F238E27FC236}">
                <a16:creationId xmlns:a16="http://schemas.microsoft.com/office/drawing/2014/main" id="{EF51FF45-0339-431E-830B-F369AFD4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대시 시작 방향을 종료까지 유지합니다.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이동 입력이 없으면 마지막 방향을 사용합니다.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UI 조작과 은신 중에는 입력과 속도를 차단합니다.</a:t>
            </a:r>
          </a:p>
        </p:txBody>
      </p:sp>
      <p:sp>
        <p:nvSpPr>
          <p:cNvPr id="22" name="메뉴·가방 배치·은신 중 이동 입력과 속도를 차단">
            <a:extLst xmlns:a="http://schemas.openxmlformats.org/drawingml/2006/main">
              <a:ext uri="{FF2B5EF4-FFF2-40B4-BE49-F238E27FC236}">
                <a16:creationId xmlns:a16="http://schemas.microsoft.com/office/drawing/2014/main" id="{DE21AA8B-F9CE-4D57-B079-38D6BD30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입력과 물리 갱신 분리 / 대시 종료 상태 정리</a:t>
            </a:r>
          </a:p>
        </p:txBody>
      </p:sp>
      <p:sp>
        <p:nvSpPr>
          <p:cNvPr id="23" name="이동 입력이 없는 대시는 마지막 방향을 사용하고, 종료·비활성화 시 대시 상태를 정리합니다.">
            <a:extLst xmlns:a="http://schemas.openxmlformats.org/drawingml/2006/main">
              <a:ext uri="{FF2B5EF4-FFF2-40B4-BE49-F238E27FC236}">
                <a16:creationId xmlns:a16="http://schemas.microsoft.com/office/drawing/2014/main" id="{4C38571D-240C-40E2-9E80-413DE80E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Update: 입력 / FixedUpdate: 속도 / LateUpdate: 카메라 추종</a:t>
            </a:r>
          </a:p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대시 종료와 비활성화 시 대시 상태를 정리합니다.</a:t>
            </a:r>
          </a:p>
        </p:txBody>
      </p:sp>
      <p:sp>
        <p:nvSpPr>
          <p:cNvPr id="27" name="GitHub / 이동·대시">
            <a:extLst xmlns:a="http://schemas.openxmlformats.org/drawingml/2006/main">
              <a:ext uri="{FF2B5EF4-FFF2-40B4-BE49-F238E27FC236}">
                <a16:creationId xmlns:a16="http://schemas.microsoft.com/office/drawing/2014/main" id="{51628C40-A88C-4271-AC94-AA3AC67F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1c368923eda44b63"/>
              </a:rPr>
              <a:t>GitHub / 이동/대시</a:t>
            </a:r>
          </a:p>
        </p:txBody>
      </p:sp>
      <p:sp>
        <p:nvSpPr>
          <p:cNvPr id="28" name="GitHub / 2.5D 카메라">
            <a:extLst xmlns:a="http://schemas.openxmlformats.org/drawingml/2006/main">
              <a:ext uri="{FF2B5EF4-FFF2-40B4-BE49-F238E27FC236}">
                <a16:creationId xmlns:a16="http://schemas.microsoft.com/office/drawing/2014/main" id="{89F07D3D-E0F9-4B5F-BCB6-DB38405D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5d75efc460454fc7"/>
              </a:rPr>
              <a:t>GitHub / 2.5D 카메라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957F11-FBA4-458C-9AE5-C9410FC6A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f73bbf2264cd7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5219700" cy="2968704"/>
          </a:xfrm>
          <a:prstGeom xmlns:a="http://schemas.openxmlformats.org/drawingml/2006/main" prst="rect">
            <a:avLst/>
          </a:prstGeom>
        </p:spPr>
      </p:pic>
      <p:sp>
        <p:nvSpPr>
          <p:cNvPr id="31" name="30fps: 실제 이동, 대시 입력과 카메라 추종">
            <a:extLst xmlns:a="http://schemas.openxmlformats.org/drawingml/2006/main">
              <a:ext uri="{FF2B5EF4-FFF2-40B4-BE49-F238E27FC236}">
                <a16:creationId xmlns:a16="http://schemas.microsoft.com/office/drawing/2014/main" id="{0F73FBDA-BC72-4A94-9ECE-AA4D2FD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0804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30fps: 실제 이동, 대시 입력과 카메라 추종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플레이 구현 / 가방 배치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플레이 구현: 가방 배치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비정형 전리품을 배치하는 공간형 가방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b6180f3cc508404e"/>
              </a:rPr>
              <a:t>GitHub / 가방 규칙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3368BD01-253A-44BA-A509-D41D91AF6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956a3b712442c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37A67C7D-9889-4F4C-B794-0F1CCF1DE3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956a3b712442c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57DF4CBD-A104-41B1-B758-B40C5440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a071fc62b2e1457c"/>
              </a:rPr>
              <a:t>GitHub / 도형/회전</a:t>
            </a:r>
          </a:p>
        </p:txBody>
      </p:sp>
      <p:sp>
        <p:nvSpPr>
          <p:cNvPr id="22" name="점유 셀로 배치 가능 여부 검사">
            <a:extLst xmlns:a="http://schemas.openxmlformats.org/drawingml/2006/main">
              <a:ext uri="{FF2B5EF4-FFF2-40B4-BE49-F238E27FC236}">
                <a16:creationId xmlns:a16="http://schemas.microsoft.com/office/drawing/2014/main" id="{4B5148D8-EF1D-46C1-B70A-107242B0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점유 셀로 배치 가능 여부 검사</a:t>
            </a:r>
          </a:p>
        </p:txBody>
      </p:sp>
      <p:sp>
        <p:nvSpPr>
          <p:cNvPr id="23" name="격자 경계와 아이템 간 충돌을 확인합니다.&#10;직사각형 외의 도형도 실제 점유 셀로 처리합니다.">
            <a:extLst xmlns:a="http://schemas.openxmlformats.org/drawingml/2006/main">
              <a:ext uri="{FF2B5EF4-FFF2-40B4-BE49-F238E27FC236}">
                <a16:creationId xmlns:a16="http://schemas.microsoft.com/office/drawing/2014/main" id="{81940CF2-C43E-4637-A50A-08881689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격자 경계와 아이템 간 충돌을 확인합니다.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직사각형 외의 도형도 실제 점유 셀로 처리합니다.</a:t>
            </a:r>
          </a:p>
        </p:txBody>
      </p:sp>
      <p:sp>
        <p:nvSpPr>
          <p:cNvPr id="24" name="원본을 바꾸지 않는 회전">
            <a:extLst xmlns:a="http://schemas.openxmlformats.org/drawingml/2006/main">
              <a:ext uri="{FF2B5EF4-FFF2-40B4-BE49-F238E27FC236}">
                <a16:creationId xmlns:a16="http://schemas.microsoft.com/office/drawing/2014/main" id="{5DB43D8B-00ED-4F71-96B1-1A9DD4CD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원본을 바꾸지 않는 회전</a:t>
            </a:r>
          </a:p>
        </p:txBody>
      </p:sp>
      <p:sp>
        <p:nvSpPr>
          <p:cNvPr id="25" name="회전한 LootDefinition을 새로 생성합니다.&#10;미리보기와 최종 배치 판정을 분리합니다.">
            <a:extLst xmlns:a="http://schemas.openxmlformats.org/drawingml/2006/main">
              <a:ext uri="{FF2B5EF4-FFF2-40B4-BE49-F238E27FC236}">
                <a16:creationId xmlns:a16="http://schemas.microsoft.com/office/drawing/2014/main" id="{81097112-ABDB-4AD5-9B5D-66EDCC00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회전한 LootDefinition을 새로 생성합니다.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미리보기와 최종 배치 판정을 분리합니다.</a:t>
            </a:r>
          </a:p>
        </p:txBody>
      </p:sp>
      <p:sp>
        <p:nvSpPr>
          <p:cNvPr id="26" name="배치·가격·가방 크기를 함께 저장">
            <a:extLst xmlns:a="http://schemas.openxmlformats.org/drawingml/2006/main">
              <a:ext uri="{FF2B5EF4-FFF2-40B4-BE49-F238E27FC236}">
                <a16:creationId xmlns:a16="http://schemas.microsoft.com/office/drawing/2014/main" id="{D1832E4A-B570-4F0E-9D52-F0569523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배치/가격/가방 크기를 함께 저장</a:t>
            </a:r>
          </a:p>
        </p:txBody>
      </p:sp>
      <p:sp>
        <p:nvSpPr>
          <p:cNvPr id="27" name="이어하기에서도 같은 전리품 배치와 판매 가치를 유지합니다.">
            <a:extLst xmlns:a="http://schemas.openxmlformats.org/drawingml/2006/main">
              <a:ext uri="{FF2B5EF4-FFF2-40B4-BE49-F238E27FC236}">
                <a16:creationId xmlns:a16="http://schemas.microsoft.com/office/drawing/2014/main" id="{21DD5CCB-9D3A-4354-AE21-BC31954F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이어하기에서도 같은 전리품 배치와 판매 가치를 유지합니다.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0BA66-6F40-4764-944C-66F49EA39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188171d9e495c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2704484" cy="2025991"/>
          </a:xfrm>
          <a:prstGeom xmlns:a="http://schemas.openxmlformats.org/drawingml/2006/main" prst="rect">
            <a:avLst/>
          </a:prstGeom>
        </p:spPr>
      </p:pic>
      <p:sp>
        <p:nvSpPr>
          <p:cNvPr id="30" name="회전 전 전리품 카드">
            <a:extLst xmlns:a="http://schemas.openxmlformats.org/drawingml/2006/main">
              <a:ext uri="{FF2B5EF4-FFF2-40B4-BE49-F238E27FC236}">
                <a16:creationId xmlns:a16="http://schemas.microsoft.com/office/drawing/2014/main" id="{47850B9A-4F1B-4826-871B-D92383E9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8091"/>
            <a:ext cx="2704484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회전 전 전리품 카드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235EDB-05D4-4D8E-BF28-5B2F2DA32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db5499a014d6d"/>
          <a:stretch xmlns:a="http://schemas.openxmlformats.org/drawingml/2006/main"/>
        </p:blipFill>
        <p:spPr>
          <a:xfrm xmlns:a="http://schemas.openxmlformats.org/drawingml/2006/main">
            <a:off x="3542684" y="1447800"/>
            <a:ext cx="2286616" cy="2025991"/>
          </a:xfrm>
          <a:prstGeom xmlns:a="http://schemas.openxmlformats.org/drawingml/2006/main" prst="rect">
            <a:avLst/>
          </a:prstGeom>
        </p:spPr>
      </p:pic>
      <p:sp>
        <p:nvSpPr>
          <p:cNvPr id="33" name="회전 후 가방 (0,0)에 배치">
            <a:extLst xmlns:a="http://schemas.openxmlformats.org/drawingml/2006/main">
              <a:ext uri="{FF2B5EF4-FFF2-40B4-BE49-F238E27FC236}">
                <a16:creationId xmlns:a16="http://schemas.microsoft.com/office/drawing/2014/main" id="{9A75AB8B-D657-401B-A463-A2E45EE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684" y="3588091"/>
            <a:ext cx="2286616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회전 후 가방 (0,0)에 배치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플레이 구현 / 몬스터 AI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플레이 구현: 몬스터 AI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발견/추적/수색으로 이어지는 몬스터 행동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48a355f6c2894bba"/>
              </a:rPr>
              <a:t>GitHub / 몬스터 행동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EA004AEC-9B78-436F-A91B-41DDFB1DC9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1d0cc1dcb4109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335CEB67-120D-4623-A86A-81AF377C3C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1d0cc1dcb4109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F6533476-CBF8-4493-85BA-99E4AD19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ee16b9e919e3406c"/>
              </a:rPr>
              <a:t>GitHub / 인식 표시</a:t>
            </a:r>
          </a:p>
        </p:txBody>
      </p:sp>
      <p:sp>
        <p:nvSpPr>
          <p:cNvPr id="22" name="거리와 벽 가림을 함께 검사">
            <a:extLst xmlns:a="http://schemas.openxmlformats.org/drawingml/2006/main">
              <a:ext uri="{FF2B5EF4-FFF2-40B4-BE49-F238E27FC236}">
                <a16:creationId xmlns:a16="http://schemas.microsoft.com/office/drawing/2014/main" id="{EE1790EB-C133-411A-A440-58F8AA34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거리와 벽 가림을 함께 검사</a:t>
            </a:r>
          </a:p>
        </p:txBody>
      </p:sp>
      <p:sp>
        <p:nvSpPr>
          <p:cNvPr id="23" name="Physics2D 시야 검사로 플레이어를 감지합니다.&#10;발견하면 추적·공격 상태로 전환합니다.">
            <a:extLst xmlns:a="http://schemas.openxmlformats.org/drawingml/2006/main">
              <a:ext uri="{FF2B5EF4-FFF2-40B4-BE49-F238E27FC236}">
                <a16:creationId xmlns:a16="http://schemas.microsoft.com/office/drawing/2014/main" id="{E809152E-47BC-4DFA-B104-E50847DD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Physics2D 시야 검사로 플레이어를 감지합니다.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발견하면 추적/공격 상태로 전환합니다.</a:t>
            </a:r>
          </a:p>
        </p:txBody>
      </p:sp>
      <p:sp>
        <p:nvSpPr>
          <p:cNvPr id="24" name="시야를 잃어도 조사 지점 유지">
            <a:extLst xmlns:a="http://schemas.openxmlformats.org/drawingml/2006/main">
              <a:ext uri="{FF2B5EF4-FFF2-40B4-BE49-F238E27FC236}">
                <a16:creationId xmlns:a16="http://schemas.microsoft.com/office/drawing/2014/main" id="{7B7DF955-5DAD-4951-8AB9-0862FA2F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시야를 잃어도 조사 지점 유지</a:t>
            </a:r>
          </a:p>
        </p:txBody>
      </p:sp>
      <p:sp>
        <p:nvSpPr>
          <p:cNvPr id="25" name="마지막 목격 위치와 소음 발생 위치를 조사합니다.&#10;수색을 마치면 새 순찰 목적지를 선택합니다.">
            <a:extLst xmlns:a="http://schemas.openxmlformats.org/drawingml/2006/main">
              <a:ext uri="{FF2B5EF4-FFF2-40B4-BE49-F238E27FC236}">
                <a16:creationId xmlns:a16="http://schemas.microsoft.com/office/drawing/2014/main" id="{6C6EFB6E-7822-4ECB-ABAA-D7B2EBF7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마지막 목격 위치와 소음 발생 위치를 조사합니다.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수색을 마치면 새 순찰 목적지를 선택합니다.</a:t>
            </a:r>
          </a:p>
        </p:txBody>
      </p:sp>
      <p:sp>
        <p:nvSpPr>
          <p:cNvPr id="26" name="AI 상태를 머리 위 표시와 연결">
            <a:extLst xmlns:a="http://schemas.openxmlformats.org/drawingml/2006/main">
              <a:ext uri="{FF2B5EF4-FFF2-40B4-BE49-F238E27FC236}">
                <a16:creationId xmlns:a16="http://schemas.microsoft.com/office/drawing/2014/main" id="{35CECA0A-D3EF-4747-AEB9-262D2329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AI 상태를 머리 위 표시와 연결</a:t>
            </a:r>
          </a:p>
        </p:txBody>
      </p:sp>
      <p:sp>
        <p:nvSpPr>
          <p:cNvPr id="27" name="발견은 느낌표, 마지막 목격 위치 수색은 물음표로 구분합니다.">
            <a:extLst xmlns:a="http://schemas.openxmlformats.org/drawingml/2006/main">
              <a:ext uri="{FF2B5EF4-FFF2-40B4-BE49-F238E27FC236}">
                <a16:creationId xmlns:a16="http://schemas.microsoft.com/office/drawing/2014/main" id="{3E47F1AA-73A6-47BC-9772-6E70E63A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발견은 느낌표, 마지막 목격 위치 수색은 물음표로 구분합니다.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E9637-0C80-4377-8262-C1B76A2D6C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e8814055b4a5f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5219700" cy="2696845"/>
          </a:xfrm>
          <a:prstGeom xmlns:a="http://schemas.openxmlformats.org/drawingml/2006/main" prst="rect">
            <a:avLst/>
          </a:prstGeom>
        </p:spPr>
      </p:pic>
      <p:sp>
        <p:nvSpPr>
          <p:cNvPr id="30" name="발견 후 시야 차단, 마지막 목격 위치 수색">
            <a:extLst xmlns:a="http://schemas.openxmlformats.org/drawingml/2006/main">
              <a:ext uri="{FF2B5EF4-FFF2-40B4-BE49-F238E27FC236}">
                <a16:creationId xmlns:a16="http://schemas.microsoft.com/office/drawing/2014/main" id="{046DB14C-D59D-4D9D-BA5F-E0551C13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894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발견 후 시야 차단, 마지막 목격 위치 수색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플레이 구현 / 경로 이동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플레이 구현: 경로 이동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BFS와 BoxCast를 조합한 몬스터 경로 이동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218e6d85c214bc0"/>
              </a:rPr>
              <a:t>GitHub / 경로 탐색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540D00B6-D879-418B-A3F5-3CC8D845DE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30e871b0a4906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F01FF880-2677-44DB-B79B-EED3283A05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30e871b0a4906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E673B29-EC0B-44B8-890F-6902CCD8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4cd5e22c831a4f1f"/>
              </a:rPr>
              <a:t>GitHub / 경로 이동</a:t>
            </a:r>
          </a:p>
        </p:txBody>
      </p:sp>
      <p:sp>
        <p:nvSpPr>
          <p:cNvPr id="22" name="조건: 동일 비용의 4방향 격자">
            <a:extLst xmlns:a="http://schemas.openxmlformats.org/drawingml/2006/main">
              <a:ext uri="{FF2B5EF4-FFF2-40B4-BE49-F238E27FC236}">
                <a16:creationId xmlns:a16="http://schemas.microsoft.com/office/drawing/2014/main" id="{65CE5AD1-558C-4FC5-8329-3CAF8309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조건: 동일 비용의 4방향 격자</a:t>
            </a:r>
          </a:p>
        </p:txBody>
      </p:sp>
      <p:sp>
        <p:nvSpPr>
          <p:cNvPr id="23" name="경로 비용은 이동한 칸 수로 정의합니다.&#10;BFS로 최소 칸 수의 우회 경로를 구성합니다.">
            <a:extLst xmlns:a="http://schemas.openxmlformats.org/drawingml/2006/main">
              <a:ext uri="{FF2B5EF4-FFF2-40B4-BE49-F238E27FC236}">
                <a16:creationId xmlns:a16="http://schemas.microsoft.com/office/drawing/2014/main" id="{CE3F11E3-B211-47D1-B4B2-114E444E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경로 비용은 이동한 칸 수로 정의합니다.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BFS로 최소 칸 수의 우회 경로를 구성합니다.</a:t>
            </a:r>
          </a:p>
        </p:txBody>
      </p:sp>
      <p:sp>
        <p:nvSpPr>
          <p:cNvPr id="24" name="선택: 직접 이동과 격자 우회를 결합">
            <a:extLst xmlns:a="http://schemas.openxmlformats.org/drawingml/2006/main">
              <a:ext uri="{FF2B5EF4-FFF2-40B4-BE49-F238E27FC236}">
                <a16:creationId xmlns:a16="http://schemas.microsoft.com/office/drawing/2014/main" id="{9EE9F6AE-9B8E-459F-906C-70275514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선택: 직접 이동과 격자 우회를 결합</a:t>
            </a:r>
          </a:p>
        </p:txBody>
      </p:sp>
      <p:sp>
        <p:nvSpPr>
          <p:cNvPr id="25" name="몸체 BoxCast가 통과하면 목표로 직접 이동합니다.&#10;벽에 막힐 때만 격자 경로를 사용합니다.">
            <a:extLst xmlns:a="http://schemas.openxmlformats.org/drawingml/2006/main">
              <a:ext uri="{FF2B5EF4-FFF2-40B4-BE49-F238E27FC236}">
                <a16:creationId xmlns:a16="http://schemas.microsoft.com/office/drawing/2014/main" id="{C90D8D7E-EB1D-4BBE-B202-A303B7E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몸체 BoxCast가 통과하면 목표로 직접 이동합니다.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벽에 막힐 때만 격자 경로를 사용합니다.</a:t>
            </a:r>
          </a:p>
        </p:txBody>
      </p:sp>
      <p:sp>
        <p:nvSpPr>
          <p:cNvPr id="26" name="목표 셀·행동 모드가 바뀔 때 경로를 갱신">
            <a:extLst xmlns:a="http://schemas.openxmlformats.org/drawingml/2006/main">
              <a:ext uri="{FF2B5EF4-FFF2-40B4-BE49-F238E27FC236}">
                <a16:creationId xmlns:a16="http://schemas.microsoft.com/office/drawing/2014/main" id="{FD7F8351-3130-4DCB-8DE7-AF9A3E78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목표 셀/행동 모드가 바뀔 때 경로를 갱신</a:t>
            </a:r>
          </a:p>
        </p:txBody>
      </p:sp>
      <p:sp>
        <p:nvSpPr>
          <p:cNvPr id="27" name="탐색 버퍼를 재사용하고, 한 이동 호출의 지름길 후보는 최대 8개 검사합니다.">
            <a:extLst xmlns:a="http://schemas.openxmlformats.org/drawingml/2006/main">
              <a:ext uri="{FF2B5EF4-FFF2-40B4-BE49-F238E27FC236}">
                <a16:creationId xmlns:a16="http://schemas.microsoft.com/office/drawing/2014/main" id="{A87D3474-32C1-43C6-93F0-76281779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탐색 버퍼를 재사용하고, 한 이동 호출의 지름길 후보는 최대 8개 검사합니다.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1D952-E249-4F16-A8B6-61FE261FE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86e0ed2f24696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5219700" cy="2696845"/>
          </a:xfrm>
          <a:prstGeom xmlns:a="http://schemas.openxmlformats.org/drawingml/2006/main" prst="rect">
            <a:avLst/>
          </a:prstGeom>
        </p:spPr>
      </p:pic>
      <p:sp>
        <p:nvSpPr>
          <p:cNvPr id="30" name="원래 속도: 벽 우회 후 열린 공간의 직접 이동">
            <a:extLst xmlns:a="http://schemas.openxmlformats.org/drawingml/2006/main">
              <a:ext uri="{FF2B5EF4-FFF2-40B4-BE49-F238E27FC236}">
                <a16:creationId xmlns:a16="http://schemas.microsoft.com/office/drawing/2014/main" id="{8C9E018B-7069-453C-8EBD-5B73E100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894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원래 속도: 벽 우회 후 열린 공간의 직접 이동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5E03DB-B1AA-4C51-BDF0-28C0BBCA31E6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8877300" y="39243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9AD8C9"/>
            </a:solidFill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103C47-D04C-4F4B-85BA-13E075AE2F1C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8877300" y="30289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9AD8C9"/>
            </a:solidFill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DCD025-D609-4C64-B906-DADFCBAFF7D2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8877300" y="21336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9AD8C9"/>
            </a:solidFill>
            <a:tailEnd type="triangle" w="sm" len="sm"/>
          </a:ln>
        </p:spPr>
      </p:cxnSp>
      <p:sp>
        <p:nvSpPr>
          <p:cNvPr id="3" name="플레이 구현 / 해체 UI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플레이 구현: 해체 UI</a:t>
            </a:r>
          </a:p>
        </p:txBody>
      </p:sp>
      <p:sp>
        <p:nvSpPr>
          <p:cNvPr id="4" name="저장·복원에도 유지되는 타이밍 해체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타이밍 해체의 성공/실패 진행과 저장 복원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ce6c5c4ef22842f1"/>
              </a:rPr>
              <a:t>GitHub / 해체 세션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8D38EB93-4A39-44AE-B3D8-4A96E40F81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27308c4844246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258363A6-224A-4DAD-96E7-C7F895AC9E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27308c4844246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E1003889-B9B2-4592-B7BF-34C7DD87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35dddd71f0a84ba7"/>
              </a:rPr>
              <a:t>GitHub / 상호작용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028503-5EA2-45ED-A6B5-7705DB3A7A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e2a03d75c449d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5219700" cy="3207941"/>
          </a:xfrm>
          <a:prstGeom xmlns:a="http://schemas.openxmlformats.org/drawingml/2006/main" prst="rect">
            <a:avLst/>
          </a:prstGeom>
        </p:spPr>
      </p:pic>
      <p:sp>
        <p:nvSpPr>
          <p:cNvPr id="30" name="GIF 기준 4.7초: 슬롯 3 저장 / 9.2초: 슬롯 3 불러오기&#10;영상 상단의 1-4단계는 오른쪽 순서도와 동일">
            <a:extLst xmlns:a="http://schemas.openxmlformats.org/drawingml/2006/main">
              <a:ext uri="{FF2B5EF4-FFF2-40B4-BE49-F238E27FC236}">
                <a16:creationId xmlns:a16="http://schemas.microsoft.com/office/drawing/2014/main" id="{B67318D8-E45F-4FB4-8A11-C87D1E02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GIF 기준 4.7초: 슬롯 3 저장 / 9.2초: 슬롯 3 불러오기</a:t>
            </a:r>
          </a:p>
          <a:p xmlns:a="http://schemas.openxmlformats.org/drawingml/2006/main">
            <a: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영상 상단의 1-4단계는 오른쪽 순서도와 동일</a:t>
            </a:r>
          </a:p>
        </p:txBody>
      </p:sp>
      <p:sp>
        <p:nvSpPr>
          <p:cNvPr id="31" name="1. 해체 진행&#10;실패 1회 / 성공 1회">
            <a:extLst xmlns:a="http://schemas.openxmlformats.org/drawingml/2006/main">
              <a:ext uri="{FF2B5EF4-FFF2-40B4-BE49-F238E27FC236}">
                <a16:creationId xmlns:a16="http://schemas.microsoft.com/office/drawing/2014/main" id="{2924F137-853F-4769-B782-A553F2FD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2C35"/>
          </a:solidFill>
          <a:ln xmlns:a="http://schemas.openxmlformats.org/drawingml/2006/main" w="11430">
            <a:solidFill>
              <a:srgbClr val="3C5660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1. 해체 진행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실패 1회 / 성공 1회</a:t>
            </a:r>
          </a:p>
        </p:txBody>
      </p:sp>
      <p:sp>
        <p:nvSpPr>
          <p:cNvPr id="32" name="2. 슬롯 3 저장 (GIF 4.7초)&#10;일시정지한 해체 상태를 파일에 기록">
            <a:extLst xmlns:a="http://schemas.openxmlformats.org/drawingml/2006/main">
              <a:ext uri="{FF2B5EF4-FFF2-40B4-BE49-F238E27FC236}">
                <a16:creationId xmlns:a16="http://schemas.microsoft.com/office/drawing/2014/main" id="{AC0F411A-8085-4E9C-8501-AED4945A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54102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2C35"/>
          </a:solidFill>
          <a:ln xmlns:a="http://schemas.openxmlformats.org/drawingml/2006/main" w="11430">
            <a:solidFill>
              <a:srgbClr val="EBC88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2. 슬롯 3 저장 (GIF 4.7초)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일시정지한 해체 상태를 파일에 기록</a:t>
            </a:r>
          </a:p>
        </p:txBody>
      </p:sp>
      <p:sp>
        <p:nvSpPr>
          <p:cNvPr id="33" name="3. 작업 중단&#10;해체 UI를 닫은 뒤 불러오기 선택">
            <a:extLst xmlns:a="http://schemas.openxmlformats.org/drawingml/2006/main">
              <a:ext uri="{FF2B5EF4-FFF2-40B4-BE49-F238E27FC236}">
                <a16:creationId xmlns:a16="http://schemas.microsoft.com/office/drawing/2014/main" id="{BFA6B32F-C230-4586-8099-8BBC57CF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54102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2C35"/>
          </a:solidFill>
          <a:ln xmlns:a="http://schemas.openxmlformats.org/drawingml/2006/main" w="11430">
            <a:solidFill>
              <a:srgbClr val="3C5660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3. 작업 중단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해체 UI를 닫은 뒤 불러오기 선택</a:t>
            </a:r>
          </a:p>
        </p:txBody>
      </p:sp>
      <p:sp>
        <p:nvSpPr>
          <p:cNvPr id="34" name="4. 슬롯 3 불러오기 (GIF 9.2초)&#10;저장된 세션을 복원하고 해체 재개">
            <a:extLst xmlns:a="http://schemas.openxmlformats.org/drawingml/2006/main">
              <a:ext uri="{FF2B5EF4-FFF2-40B4-BE49-F238E27FC236}">
                <a16:creationId xmlns:a16="http://schemas.microsoft.com/office/drawing/2014/main" id="{E473E123-E486-4129-B028-CB392B2A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33850"/>
            <a:ext cx="54102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2C35"/>
          </a:solidFill>
          <a:ln xmlns:a="http://schemas.openxmlformats.org/drawingml/2006/main" w="11430">
            <a:solidFill>
              <a:srgbClr val="9AD8C9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4. 슬롯 3 불러오기 (GIF 9.2초)</a:t>
            </a:r>
          </a:p>
          <a:p xmlns:a="http://schemas.openxmlformats.org/drawingml/2006/main">
            <a:pPr algn="ctr">
              <a:buNone/>
              <a:def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저장된 세션을 복원하고 해체 재개</a:t>
            </a:r>
          </a:p>
        </p:txBody>
      </p:sp>
      <p:sp>
        <p:nvSpPr>
          <p:cNvPr id="38" name="저장값으로 세션 복원 / 성공 창 재추첨 없음">
            <a:extLst xmlns:a="http://schemas.openxmlformats.org/drawingml/2006/main">
              <a:ext uri="{FF2B5EF4-FFF2-40B4-BE49-F238E27FC236}">
                <a16:creationId xmlns:a16="http://schemas.microsoft.com/office/drawing/2014/main" id="{33040D4F-29F3-45BC-8CA2-22F3F3A3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저장값으로 세션 복원 / 성공 창 재추첨 없음</a:t>
            </a:r>
          </a:p>
        </p:txBody>
      </p:sp>
      <p:sp>
        <p:nvSpPr>
          <p:cNvPr id="39" name="포인터 / 진행 방향 / 성공 창 / 성공 횟수 / 실패 횟수를 저장 시점 그대로 복원합니다.">
            <a:extLst xmlns:a="http://schemas.openxmlformats.org/drawingml/2006/main">
              <a:ext uri="{FF2B5EF4-FFF2-40B4-BE49-F238E27FC236}">
                <a16:creationId xmlns:a16="http://schemas.microsoft.com/office/drawing/2014/main" id="{3A527CF8-C495-426A-B2A4-DFD93E87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포인터, 방향, 성공 창과 성공/실패 횟수를 저장 시점 그대로 복원합니다.</a:t>
            </a:r>
          </a:p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주기 연산으로 경계 초과 이동량을 반사해 긴 프레임에서도 왕복 이동량을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B9FC4B-DAD8-4265-A95E-24AFA3DBEC30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782050" y="5353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9AD8C9"/>
            </a:solidFill>
            <a:tail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530AFD-CA3D-4E73-97FB-3BA3386568A4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981700" y="5353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9AD8C9"/>
            </a:solidFill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DA9F1E-7E15-4130-8699-6253F9829653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3181350" y="5353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9AD8C9"/>
            </a:solidFill>
            <a:tailEnd type="triangle" w="sm" len="sm"/>
          </a:ln>
        </p:spPr>
      </p:cxnSp>
      <p:sp>
        <p:nvSpPr>
          <p:cNvPr id="3" name="플레이 구현 / 은신·물리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플레이 구현: 은신과 물리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은신 진입 판정과 물리 상태 복원을 함께 처리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7fda667e148446c"/>
              </a:rPr>
              <a:t>GitHub / 은신 처리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0ABE2596-A32A-4EB2-BEA0-D67D68F99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5841fea394d0f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20" name="문제: 입력 차단만으로는 충돌 밀림 발생">
            <a:extLst xmlns:a="http://schemas.openxmlformats.org/drawingml/2006/main">
              <a:ext uri="{FF2B5EF4-FFF2-40B4-BE49-F238E27FC236}">
                <a16:creationId xmlns:a16="http://schemas.microsoft.com/office/drawing/2014/main" id="{3DCE77B6-E556-4A02-BC2C-07079154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문제: 입력 차단만으로는 충돌 밀림 발생</a:t>
            </a:r>
          </a:p>
        </p:txBody>
      </p:sp>
      <p:sp>
        <p:nvSpPr>
          <p:cNvPr id="21" name="이동 입력을 막아도 물리 충돌 해결은 계속됩니다.&#10;숨은 플레이어가 밀리거나 몬스터 통행을 막을 수 있습니다.">
            <a:extLst xmlns:a="http://schemas.openxmlformats.org/drawingml/2006/main">
              <a:ext uri="{FF2B5EF4-FFF2-40B4-BE49-F238E27FC236}">
                <a16:creationId xmlns:a16="http://schemas.microsoft.com/office/drawing/2014/main" id="{897094C6-C69B-4DF9-A062-D922C62C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이동 입력을 막아도 물리 충돌 해결은 계속됩니다.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숨은 플레이어가 밀리거나 몬스터 통행을 막을 수 있습니다.</a:t>
            </a:r>
          </a:p>
        </p:txBody>
      </p:sp>
      <p:sp>
        <p:nvSpPr>
          <p:cNvPr id="22" name="선택: 은신 중 물리 시뮬레이션 해제">
            <a:extLst xmlns:a="http://schemas.openxmlformats.org/drawingml/2006/main">
              <a:ext uri="{FF2B5EF4-FFF2-40B4-BE49-F238E27FC236}">
                <a16:creationId xmlns:a16="http://schemas.microsoft.com/office/drawing/2014/main" id="{B2FCF8E0-9336-4B7D-8DCE-13A8E7A0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선택: 은신 중 물리 시뮬레이션 해제</a:t>
            </a:r>
          </a:p>
        </p:txBody>
      </p:sp>
      <p:sp>
        <p:nvSpPr>
          <p:cNvPr id="23" name="진입 좌표·기존 Rigidbody2D.simulated를 보관합니다.&#10;종료 시 같은 좌표와 물리 상태를 복원합니다.">
            <a:extLst xmlns:a="http://schemas.openxmlformats.org/drawingml/2006/main">
              <a:ext uri="{FF2B5EF4-FFF2-40B4-BE49-F238E27FC236}">
                <a16:creationId xmlns:a16="http://schemas.microsoft.com/office/drawing/2014/main" id="{A4A978AA-99CC-4F20-8C1F-ED4E7CDC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진입 좌표/기존 Rigidbody2D.simulated를 보관합니다.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종료 시 같은 좌표와 물리 상태를 복원합니다.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FD5D4-200D-466A-A973-4F3933401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015d79af24940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2495550" cy="2020207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CBCAD6-72BA-4CF0-96FC-FEC97116E7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09baf018445d7"/>
          <a:stretch xmlns:a="http://schemas.openxmlformats.org/drawingml/2006/main"/>
        </p:blipFill>
        <p:spPr>
          <a:xfrm xmlns:a="http://schemas.openxmlformats.org/drawingml/2006/main">
            <a:off x="3333750" y="1447800"/>
            <a:ext cx="2495550" cy="2020207"/>
          </a:xfrm>
          <a:prstGeom xmlns:a="http://schemas.openxmlformats.org/drawingml/2006/main" prst="rect">
            <a:avLst/>
          </a:prstGeom>
        </p:spPr>
      </p:pic>
      <p:sp>
        <p:nvSpPr>
          <p:cNvPr id="31" name="은신 중: 같은 은신처에서 표시/물리 중지">
            <a:extLst xmlns:a="http://schemas.openxmlformats.org/drawingml/2006/main">
              <a:ext uri="{FF2B5EF4-FFF2-40B4-BE49-F238E27FC236}">
                <a16:creationId xmlns:a16="http://schemas.microsoft.com/office/drawing/2014/main" id="{30BD760F-6D93-465C-A6EC-CCF30BB3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2307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은신 중: 같은 은신처에서 표시/물리 중지</a:t>
            </a:r>
          </a:p>
        </p:txBody>
      </p:sp>
      <p:sp>
        <p:nvSpPr>
          <p:cNvPr id="32" name="은신 해제: 진입 좌표로 표시/물리 복원">
            <a:extLst xmlns:a="http://schemas.openxmlformats.org/drawingml/2006/main">
              <a:ext uri="{FF2B5EF4-FFF2-40B4-BE49-F238E27FC236}">
                <a16:creationId xmlns:a16="http://schemas.microsoft.com/office/drawing/2014/main" id="{C237898E-AECC-40F9-ACD1-0FE8B64E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2307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은신 해제: 진입 좌표로 표시/물리 복원</a:t>
            </a:r>
          </a:p>
        </p:txBody>
      </p:sp>
      <p:sp>
        <p:nvSpPr>
          <p:cNvPr id="33" name="카메라 고정 / 이동 입력 없음 / 은신 전후 좌표 동일">
            <a:extLst xmlns:a="http://schemas.openxmlformats.org/drawingml/2006/main">
              <a:ext uri="{FF2B5EF4-FFF2-40B4-BE49-F238E27FC236}">
                <a16:creationId xmlns:a16="http://schemas.microsoft.com/office/drawing/2014/main" id="{79DDA2EB-49D9-4590-9948-9439D2A3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21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AD8C9"/>
                </a:solidFill>
                <a:latin typeface="Noto Sans KR"/>
                <a:ea typeface="Noto Sans KR"/>
                <a:cs typeface="Noto Sans KR"/>
              </a:rPr>
              <a:t>카메라 고정 / 이동 입력 없음 / 은신 전후 좌표 동일</a:t>
            </a:r>
          </a:p>
        </p:txBody>
      </p:sp>
      <p:sp>
        <p:nvSpPr>
          <p:cNvPr id="34" name="1. 몬스터별 거리 검사&#10;발각 시 은신 거부">
            <a:extLst xmlns:a="http://schemas.openxmlformats.org/drawingml/2006/main">
              <a:ext uri="{FF2B5EF4-FFF2-40B4-BE49-F238E27FC236}">
                <a16:creationId xmlns:a16="http://schemas.microsoft.com/office/drawing/2014/main" id="{2DC3CE2A-3C97-42A0-9F20-8C7E2EDA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571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B2C35"/>
          </a:solidFill>
          <a:ln xmlns:a="http://schemas.openxmlformats.org/drawingml/2006/main" w="11430">
            <a:solidFill>
              <a:srgbClr val="9AD8C9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1. 몬스터별 거리 검사</a:t>
            </a:r>
          </a:p>
          <a:p xmlns:a="http://schemas.openxmlformats.org/drawingml/2006/main">
            <a: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발각 시 은신 거부</a:t>
            </a:r>
          </a:p>
        </p:txBody>
      </p:sp>
      <p:sp>
        <p:nvSpPr>
          <p:cNvPr id="35" name="2. 상태 보관&#10;진입 좌표 / 기존 물리">
            <a:extLst xmlns:a="http://schemas.openxmlformats.org/drawingml/2006/main">
              <a:ext uri="{FF2B5EF4-FFF2-40B4-BE49-F238E27FC236}">
                <a16:creationId xmlns:a16="http://schemas.microsoft.com/office/drawing/2014/main" id="{B3679256-ED89-4E13-99F3-AF9B3433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571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B2C35"/>
          </a:solidFill>
          <a:ln xmlns:a="http://schemas.openxmlformats.org/drawingml/2006/main" w="11430">
            <a:solidFill>
              <a:srgbClr val="9AD8C9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2. 상태 보관</a:t>
            </a:r>
          </a:p>
          <a:p xmlns:a="http://schemas.openxmlformats.org/drawingml/2006/main">
            <a: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진입 좌표 / 기존 물리</a:t>
            </a:r>
          </a:p>
        </p:txBody>
      </p:sp>
      <p:sp>
        <p:nvSpPr>
          <p:cNvPr id="36" name="3. 은신 중&#10;표시 OFF / 물리 OFF">
            <a:extLst xmlns:a="http://schemas.openxmlformats.org/drawingml/2006/main">
              <a:ext uri="{FF2B5EF4-FFF2-40B4-BE49-F238E27FC236}">
                <a16:creationId xmlns:a16="http://schemas.microsoft.com/office/drawing/2014/main" id="{DA0EE1AE-E80A-4943-9536-82B3C668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2571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B2C35"/>
          </a:solidFill>
          <a:ln xmlns:a="http://schemas.openxmlformats.org/drawingml/2006/main" w="11430">
            <a:solidFill>
              <a:srgbClr val="EBC884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3. 은신 중</a:t>
            </a:r>
          </a:p>
          <a:p xmlns:a="http://schemas.openxmlformats.org/drawingml/2006/main">
            <a: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표시 OFF / 물리 OFF</a:t>
            </a:r>
          </a:p>
        </p:txBody>
      </p:sp>
      <p:sp>
        <p:nvSpPr>
          <p:cNvPr id="37" name="4. 은신 해제&#10;좌표 / 기존 물리 복원">
            <a:extLst xmlns:a="http://schemas.openxmlformats.org/drawingml/2006/main">
              <a:ext uri="{FF2B5EF4-FFF2-40B4-BE49-F238E27FC236}">
                <a16:creationId xmlns:a16="http://schemas.microsoft.com/office/drawing/2014/main" id="{B0DF4330-82F5-4CA1-B230-8A480C50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53000"/>
            <a:ext cx="2571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B2C35"/>
          </a:solidFill>
          <a:ln xmlns:a="http://schemas.openxmlformats.org/drawingml/2006/main" w="11430">
            <a:solidFill>
              <a:srgbClr val="9AD8C9"/>
            </a:solidFill>
          </a:ln>
        </p:spPr>
        <p:txBody>
          <a:bodyPr xmlns:a="http://schemas.openxmlformats.org/drawingml/2006/main" lIns="114300" tIns="76200" rIns="1143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4. 은신 해제</a:t>
            </a:r>
          </a:p>
          <a:p xmlns:a="http://schemas.openxmlformats.org/drawingml/2006/main">
            <a:pPr algn="ctr">
              <a:buNone/>
              <a:def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좌표 / 기존 물리 복원</a:t>
            </a:r>
          </a:p>
        </p:txBody>
      </p:sp>
      <p:sp>
        <p:nvSpPr>
          <p:cNvPr id="41" name="은신에 성공하면 몬스터의 추적/조사 기록을 해제합니다.">
            <a:extLst xmlns:a="http://schemas.openxmlformats.org/drawingml/2006/main">
              <a:ext uri="{FF2B5EF4-FFF2-40B4-BE49-F238E27FC236}">
                <a16:creationId xmlns:a16="http://schemas.microsoft.com/office/drawing/2014/main" id="{54A56115-36A6-40A3-A0DE-DE409B4A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은신에 성공하면 몬스터의 추적/조사 기록을 해제합니다.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플레이 구현 / 2.5D 표현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플레이 구현: 2.5D 표현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2D 게임 규칙을 유지하는 2.5D 화면 표현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c4f676782b564e29"/>
              </a:rPr>
              <a:t>GitHub / 스프라이트 표시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1446DFB1-7BCB-4645-A7E8-E47CE98A1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c7f18efad422a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746C0611-D32A-46B3-83E1-FC62745541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c7f18efad422a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AE85FB98-9011-4969-B103-022CD64A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adda9296c9204dc9"/>
              </a:rPr>
              <a:t>GitHub / 월드 구성</a:t>
            </a:r>
          </a:p>
        </p:txBody>
      </p:sp>
      <p:sp>
        <p:nvSpPr>
          <p:cNvPr id="22" name="게임 좌표와 화면 좌표 분리">
            <a:extLst xmlns:a="http://schemas.openxmlformats.org/drawingml/2006/main">
              <a:ext uri="{FF2B5EF4-FFF2-40B4-BE49-F238E27FC236}">
                <a16:creationId xmlns:a16="http://schemas.microsoft.com/office/drawing/2014/main" id="{9376ABB7-7ED6-4B9A-9863-3403A54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게임 좌표와 화면 좌표 분리</a:t>
            </a:r>
          </a:p>
        </p:txBody>
      </p:sp>
      <p:sp>
        <p:nvSpPr>
          <p:cNvPr id="23" name="이동·충돌·AI·저장은 XY 좌표를 사용합니다.&#10;표시만 XZ 공간으로 옮겨 입체 지형과 결합합니다.">
            <a:extLst xmlns:a="http://schemas.openxmlformats.org/drawingml/2006/main">
              <a:ext uri="{FF2B5EF4-FFF2-40B4-BE49-F238E27FC236}">
                <a16:creationId xmlns:a16="http://schemas.microsoft.com/office/drawing/2014/main" id="{C745760A-623C-4EFC-BDD4-B26168F6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이동/충돌/AI/저장은 XY 좌표를 사용합니다.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표시만 XZ 공간으로 옮겨 입체 지형과 결합합니다.</a:t>
            </a:r>
          </a:p>
        </p:txBody>
      </p:sp>
      <p:sp>
        <p:nvSpPr>
          <p:cNvPr id="24" name="정사영 카메라에 맞춘 표시 사본">
            <a:extLst xmlns:a="http://schemas.openxmlformats.org/drawingml/2006/main">
              <a:ext uri="{FF2B5EF4-FFF2-40B4-BE49-F238E27FC236}">
                <a16:creationId xmlns:a16="http://schemas.microsoft.com/office/drawing/2014/main" id="{58041390-AF11-4BF3-82FB-AAF872FD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정사영 카메라에 맞춘 표시 사본</a:t>
            </a:r>
          </a:p>
        </p:txBody>
      </p:sp>
      <p:sp>
        <p:nvSpPr>
          <p:cNvPr id="25" name="SpriteRenderer의 자세·색·뒤집기를 전달합니다.&#10;발 위치와 깊이 정렬로 지형과의 관계를 맞춥니다.">
            <a:extLst xmlns:a="http://schemas.openxmlformats.org/drawingml/2006/main">
              <a:ext uri="{FF2B5EF4-FFF2-40B4-BE49-F238E27FC236}">
                <a16:creationId xmlns:a16="http://schemas.microsoft.com/office/drawing/2014/main" id="{6E7E9C9C-0539-43F2-BF6A-93F01F2F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SpriteRenderer의 자세/색/뒤집기를 전달합니다.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발 위치와 깊이 정렬로 지형과의 관계를 맞춥니다.</a:t>
            </a:r>
          </a:p>
        </p:txBody>
      </p:sp>
      <p:sp>
        <p:nvSpPr>
          <p:cNvPr id="26" name="표현 변경이 게임 규칙과 저장 좌표에 전파되지 않음">
            <a:extLst xmlns:a="http://schemas.openxmlformats.org/drawingml/2006/main">
              <a:ext uri="{FF2B5EF4-FFF2-40B4-BE49-F238E27FC236}">
                <a16:creationId xmlns:a16="http://schemas.microsoft.com/office/drawing/2014/main" id="{7782E061-D246-4F1C-97CB-266E3209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표현 변경이 게임 규칙과 저장 좌표에 전파되지 않음</a:t>
            </a:r>
          </a:p>
        </p:txBody>
      </p:sp>
      <p:sp>
        <p:nvSpPr>
          <p:cNvPr id="27" name="표시 사본은 풀에서 재사용하고 장면 소유 메시·재질·그림자는 종료 시 해제합니다.">
            <a:extLst xmlns:a="http://schemas.openxmlformats.org/drawingml/2006/main">
              <a:ext uri="{FF2B5EF4-FFF2-40B4-BE49-F238E27FC236}">
                <a16:creationId xmlns:a16="http://schemas.microsoft.com/office/drawing/2014/main" id="{F43A680B-3D79-4A3A-ABF9-D2576695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표시 사본은 풀에서 재사용하고 장면 소유 메시/재질/그림자는 종료 시 해제합니다.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B98A4A-10E2-4EA2-BBD9-CEFA08D1A9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e527e0e1f4d20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2469605" cy="1931358"/>
          </a:xfrm>
          <a:prstGeom xmlns:a="http://schemas.openxmlformats.org/drawingml/2006/main" prst="rect">
            <a:avLst/>
          </a:prstGeom>
        </p:spPr>
      </p:pic>
      <p:sp>
        <p:nvSpPr>
          <p:cNvPr id="30" name="XY 논리 좌표의 2D 충돌체">
            <a:extLst xmlns:a="http://schemas.openxmlformats.org/drawingml/2006/main">
              <a:ext uri="{FF2B5EF4-FFF2-40B4-BE49-F238E27FC236}">
                <a16:creationId xmlns:a16="http://schemas.microsoft.com/office/drawing/2014/main" id="{8B0C3795-F2AE-4F8F-82D0-9652098E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3458"/>
            <a:ext cx="246960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XY 논리 좌표의 2D 충돌체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F43F6C-8D56-42A9-A3B6-A870A6D540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5269b5f3d4168"/>
          <a:stretch xmlns:a="http://schemas.openxmlformats.org/drawingml/2006/main"/>
        </p:blipFill>
        <p:spPr>
          <a:xfrm xmlns:a="http://schemas.openxmlformats.org/drawingml/2006/main">
            <a:off x="3307805" y="1447800"/>
            <a:ext cx="2521495" cy="1931358"/>
          </a:xfrm>
          <a:prstGeom xmlns:a="http://schemas.openxmlformats.org/drawingml/2006/main" prst="rect">
            <a:avLst/>
          </a:prstGeom>
        </p:spPr>
      </p:pic>
      <p:sp>
        <p:nvSpPr>
          <p:cNvPr id="33" name="XZ 공간에 배치한 표시 사본">
            <a:extLst xmlns:a="http://schemas.openxmlformats.org/drawingml/2006/main">
              <a:ext uri="{FF2B5EF4-FFF2-40B4-BE49-F238E27FC236}">
                <a16:creationId xmlns:a16="http://schemas.microsoft.com/office/drawing/2014/main" id="{DC77C524-8DE3-4F05-BB72-91875101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805" y="3493458"/>
            <a:ext cx="252149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XZ 공간에 배치한 표시 사본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플레이 구현 / 시야 표시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플레이 구현: 시야 표시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정사영 카메라에 맞춘 던전별 시야 마스크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d65d1b2e4b2e4b37"/>
              </a:rPr>
              <a:t>GitHub / 시야 합성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0FF29E25-A70A-4038-A131-6A3EAD4A74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5ee8260884d64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8F53FB20-2483-485E-9FA7-F932224F4E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5ee8260884d64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528D89DC-637E-49A6-B41C-1CC63B8F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af27949368854d45"/>
              </a:rPr>
              <a:t>GitHub / 설정</a:t>
            </a:r>
          </a:p>
        </p:txBody>
      </p:sp>
      <p:sp>
        <p:nvSpPr>
          <p:cNvPr id="22" name="화면 광선과 지면 교차점 사용">
            <a:extLst xmlns:a="http://schemas.openxmlformats.org/drawingml/2006/main">
              <a:ext uri="{FF2B5EF4-FFF2-40B4-BE49-F238E27FC236}">
                <a16:creationId xmlns:a16="http://schemas.microsoft.com/office/drawing/2014/main" id="{6FFA94DE-DDBF-4E34-AD01-B106E1DD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화면 광선과 지면 교차점 사용</a:t>
            </a:r>
          </a:p>
        </p:txBody>
      </p:sp>
      <p:sp>
        <p:nvSpPr>
          <p:cNvPr id="23" name="화면 네 모서리의 지면 교차점을 셰이더에 전달합니다.&#10;플레이어와의 월드 거리로 어둠을 합성합니다.">
            <a:extLst xmlns:a="http://schemas.openxmlformats.org/drawingml/2006/main">
              <a:ext uri="{FF2B5EF4-FFF2-40B4-BE49-F238E27FC236}">
                <a16:creationId xmlns:a16="http://schemas.microsoft.com/office/drawing/2014/main" id="{0EFC0D99-A666-49EF-A485-5101B7E4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화면 네 모서리의 지면 교차점을 셰이더에 전달합니다.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플레이어와의 월드 거리로 어둠을 합성합니다.</a:t>
            </a:r>
          </a:p>
        </p:txBody>
      </p:sp>
      <p:sp>
        <p:nvSpPr>
          <p:cNvPr id="24" name="표시 설정과 AI 판정 분리">
            <a:extLst xmlns:a="http://schemas.openxmlformats.org/drawingml/2006/main">
              <a:ext uri="{FF2B5EF4-FFF2-40B4-BE49-F238E27FC236}">
                <a16:creationId xmlns:a16="http://schemas.microsoft.com/office/drawing/2014/main" id="{88B00B52-D606-433D-A207-9573C39A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표시 설정과 AI 판정 분리</a:t>
            </a:r>
          </a:p>
        </p:txBody>
      </p:sp>
      <p:sp>
        <p:nvSpPr>
          <p:cNvPr id="25" name="던전별 시야 반경·어둠 반경·강도를 적용합니다.&#10;카메라와 2.5D 표시 이동 후 오버레이를 갱신합니다.">
            <a:extLst xmlns:a="http://schemas.openxmlformats.org/drawingml/2006/main">
              <a:ext uri="{FF2B5EF4-FFF2-40B4-BE49-F238E27FC236}">
                <a16:creationId xmlns:a16="http://schemas.microsoft.com/office/drawing/2014/main" id="{4F33406B-D90E-4284-BB79-9135A63D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던전별 시야 반경/어둠 반경/강도를 적용합니다.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카메라와 2.5D 표시 이동 후 오버레이를 갱신합니다.</a:t>
            </a:r>
          </a:p>
        </p:txBody>
      </p:sp>
      <p:sp>
        <p:nvSpPr>
          <p:cNvPr id="26" name="시야 표현을 조정해도 몬스터 인식 규칙은 유지">
            <a:extLst xmlns:a="http://schemas.openxmlformats.org/drawingml/2006/main">
              <a:ext uri="{FF2B5EF4-FFF2-40B4-BE49-F238E27FC236}">
                <a16:creationId xmlns:a16="http://schemas.microsoft.com/office/drawing/2014/main" id="{26A0A56E-3E1E-4BE0-AFFA-FF2303B6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시야 표현을 조정해도 몬스터 인식 규칙은 유지</a:t>
            </a:r>
          </a:p>
        </p:txBody>
      </p:sp>
      <p:sp>
        <p:nvSpPr>
          <p:cNvPr id="27" name="인식·청취 거리와 미니맵 발견 반경은 별도 데이터로 관리합니다.">
            <a:extLst xmlns:a="http://schemas.openxmlformats.org/drawingml/2006/main">
              <a:ext uri="{FF2B5EF4-FFF2-40B4-BE49-F238E27FC236}">
                <a16:creationId xmlns:a16="http://schemas.microsoft.com/office/drawing/2014/main" id="{67B9669C-E2CF-4F1A-9FB8-D67B3817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인식/청취 거리와 미니맵 발견 반경은 별도 데이터로 관리합니다.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48D35-A87D-4862-A8C1-637C9C0FF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d0b2d12ab4429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2495550" cy="1871663"/>
          </a:xfrm>
          <a:prstGeom xmlns:a="http://schemas.openxmlformats.org/drawingml/2006/main" prst="rect">
            <a:avLst/>
          </a:prstGeom>
        </p:spPr>
      </p:pic>
      <p:sp>
        <p:nvSpPr>
          <p:cNvPr id="30" name="같은 위치: 선명 1 / 어둠 2">
            <a:extLst xmlns:a="http://schemas.openxmlformats.org/drawingml/2006/main">
              <a:ext uri="{FF2B5EF4-FFF2-40B4-BE49-F238E27FC236}">
                <a16:creationId xmlns:a16="http://schemas.microsoft.com/office/drawing/2014/main" id="{222CB6AF-CB3A-4363-8343-51F341F5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3763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같은 위치: 선명 1 / 어둠 2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F8B02B-A021-4FD6-A6D7-1B743EF58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855520b5146a1"/>
          <a:stretch xmlns:a="http://schemas.openxmlformats.org/drawingml/2006/main"/>
        </p:blipFill>
        <p:spPr>
          <a:xfrm xmlns:a="http://schemas.openxmlformats.org/drawingml/2006/main">
            <a:off x="3333750" y="1447800"/>
            <a:ext cx="2495550" cy="1871663"/>
          </a:xfrm>
          <a:prstGeom xmlns:a="http://schemas.openxmlformats.org/drawingml/2006/main" prst="rect">
            <a:avLst/>
          </a:prstGeom>
        </p:spPr>
      </p:pic>
      <p:sp>
        <p:nvSpPr>
          <p:cNvPr id="33" name="같은 위치: 선명 4 / 어둠 6">
            <a:extLst xmlns:a="http://schemas.openxmlformats.org/drawingml/2006/main">
              <a:ext uri="{FF2B5EF4-FFF2-40B4-BE49-F238E27FC236}">
                <a16:creationId xmlns:a16="http://schemas.microsoft.com/office/drawing/2014/main" id="{851D0E42-7862-412C-8E7B-9F4F4F4C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3763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같은 위치: 선명 4 / 어둠 6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플레이 구현 / 층별 탐험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플레이 구현: 층별 탐험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계단 왕복 후에도 유지되는 층별 탐험 상태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b774f43cb9f94b22"/>
              </a:rPr>
              <a:t>GitHub / 층 이동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B42AFB82-A40D-4BBD-87C9-95F0574FBD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8d842bd56460d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86186A32-FBC3-4E4F-B29B-04589F75A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8d842bd56460d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2841E340-BB29-406E-9E23-3A179E66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891decc4408b40c7"/>
              </a:rPr>
              <a:t>GitHub / 탐험 데이터</a:t>
            </a:r>
          </a:p>
        </p:txBody>
      </p:sp>
      <p:sp>
        <p:nvSpPr>
          <p:cNvPr id="22" name="탐험 시작 시 층 구성 확정">
            <a:extLst xmlns:a="http://schemas.openxmlformats.org/drawingml/2006/main">
              <a:ext uri="{FF2B5EF4-FFF2-40B4-BE49-F238E27FC236}">
                <a16:creationId xmlns:a16="http://schemas.microsoft.com/office/drawing/2014/main" id="{E9D2D961-F7FB-4417-9E9D-5B88C6F1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탐험 시작 시 층 구성 확정</a:t>
            </a:r>
          </a:p>
        </p:txBody>
      </p:sp>
      <p:sp>
        <p:nvSpPr>
          <p:cNvPr id="23" name="도면·스폰·보상을 독립 스냅샷으로 보관합니다.&#10;원본 에셋을 수정해도 현재 탐험은 유지됩니다.">
            <a:extLst xmlns:a="http://schemas.openxmlformats.org/drawingml/2006/main">
              <a:ext uri="{FF2B5EF4-FFF2-40B4-BE49-F238E27FC236}">
                <a16:creationId xmlns:a16="http://schemas.microsoft.com/office/drawing/2014/main" id="{3BD73BDC-03C0-4923-A0DF-B9370537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도면/스폰/보상을 독립 스냅샷으로 보관합니다.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원본 에셋을 수정해도 현재 탐험은 유지됩니다.</a:t>
            </a:r>
          </a:p>
        </p:txBody>
      </p:sp>
      <p:sp>
        <p:nvSpPr>
          <p:cNvPr id="24" name="현재 층만 구성하고 방문 상태 복원">
            <a:extLst xmlns:a="http://schemas.openxmlformats.org/drawingml/2006/main">
              <a:ext uri="{FF2B5EF4-FFF2-40B4-BE49-F238E27FC236}">
                <a16:creationId xmlns:a16="http://schemas.microsoft.com/office/drawing/2014/main" id="{FBD6F31A-5FA2-4FD5-A1EE-F3927D14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현재 층만 구성하고 방문 상태 복원</a:t>
            </a:r>
          </a:p>
        </p:txBody>
      </p:sp>
      <p:sp>
        <p:nvSpPr>
          <p:cNvPr id="25" name="층을 떠날 때 몬스터·시체·탐색 기록을 저장합니다.&#10;재방문하면 해당 상태를 복원합니다.">
            <a:extLst xmlns:a="http://schemas.openxmlformats.org/drawingml/2006/main">
              <a:ext uri="{FF2B5EF4-FFF2-40B4-BE49-F238E27FC236}">
                <a16:creationId xmlns:a16="http://schemas.microsoft.com/office/drawing/2014/main" id="{D54B3984-44CA-48E9-B66A-F3AFCD5D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층을 떠날 때 몬스터/시체/탐색 기록을 저장합니다.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재방문하면 해당 상태를 복원합니다.</a:t>
            </a:r>
          </a:p>
        </p:txBody>
      </p:sp>
      <p:sp>
        <p:nvSpPr>
          <p:cNvPr id="26" name="층 이동과 저장 복원에 같은 탐험 데이터 사용">
            <a:extLst xmlns:a="http://schemas.openxmlformats.org/drawingml/2006/main">
              <a:ext uri="{FF2B5EF4-FFF2-40B4-BE49-F238E27FC236}">
                <a16:creationId xmlns:a16="http://schemas.microsoft.com/office/drawing/2014/main" id="{625D32BA-9D9F-4990-89AD-CA523840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층 이동과 저장 복원에 같은 탐험 데이터 사용</a:t>
            </a:r>
          </a:p>
        </p:txBody>
      </p:sp>
      <p:sp>
        <p:nvSpPr>
          <p:cNvPr id="27" name="체력·가방·대시 쿨다운을 유지하고 층 이동 완료 후 자동 저장합니다.">
            <a:extLst xmlns:a="http://schemas.openxmlformats.org/drawingml/2006/main">
              <a:ext uri="{FF2B5EF4-FFF2-40B4-BE49-F238E27FC236}">
                <a16:creationId xmlns:a16="http://schemas.microsoft.com/office/drawing/2014/main" id="{14CC9662-4854-4350-A8EC-ABA0BA82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체력/가방/대시 쿨다운을 유지하고 층 이동 완료 후 자동 저장합니다.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A1BB8-D0EA-4D57-AE59-51E225DA13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3166bccbb49dc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5219700" cy="2936081"/>
          </a:xfrm>
          <a:prstGeom xmlns:a="http://schemas.openxmlformats.org/drawingml/2006/main" prst="rect">
            <a:avLst/>
          </a:prstGeom>
        </p:spPr>
      </p:pic>
      <p:sp>
        <p:nvSpPr>
          <p:cNvPr id="30" name="실제 계단 이동: 1층 출발 - 2층 도착 - 1층 복귀">
            <a:extLst xmlns:a="http://schemas.openxmlformats.org/drawingml/2006/main">
              <a:ext uri="{FF2B5EF4-FFF2-40B4-BE49-F238E27FC236}">
                <a16:creationId xmlns:a16="http://schemas.microsoft.com/office/drawing/2014/main" id="{A3F61B40-ED97-43F8-AE6D-B3CCFCE6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8181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실제 계단 이동: 1층 출발 - 2층 도착 - 1층 복귀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작·저장 / 던전 편집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제작과 저장: 던전 편집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씬을 새로 만들지 않는 던전 편집 도구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efe0a5f561c41aa"/>
              </a:rPr>
              <a:t>GitHub / 제작 창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978CB1C4-07CD-45FC-B8F0-6E355F1528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6512a7c8e4d47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B9FDBA33-CF7D-455A-B8FB-EE93CA95A0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6512a7c8e4d47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39FB6363-8F43-4ED4-8B3C-8D09FAAE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9f49b67d43754a72"/>
              </a:rPr>
              <a:t>GitHub / 등록</a:t>
            </a:r>
          </a:p>
        </p:txBody>
      </p:sp>
      <p:sp>
        <p:nvSpPr>
          <p:cNvPr id="22" name="도면과 스폰 규칙을 한 창에서 편집">
            <a:extLst xmlns:a="http://schemas.openxmlformats.org/drawingml/2006/main">
              <a:ext uri="{FF2B5EF4-FFF2-40B4-BE49-F238E27FC236}">
                <a16:creationId xmlns:a16="http://schemas.microsoft.com/office/drawing/2014/main" id="{3A33656E-4E17-4A74-8976-EC4F2E0E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도면과 스폰 규칙을 한 창에서 편집</a:t>
            </a:r>
          </a:p>
        </p:txBody>
      </p:sp>
      <p:sp>
        <p:nvSpPr>
          <p:cNvPr id="23" name="바닥·벽·입구·계단·은신처를 그립니다.&#10;층별 몬스터·시체와 보상·시야를 설정합니다.">
            <a:extLst xmlns:a="http://schemas.openxmlformats.org/drawingml/2006/main">
              <a:ext uri="{FF2B5EF4-FFF2-40B4-BE49-F238E27FC236}">
                <a16:creationId xmlns:a16="http://schemas.microsoft.com/office/drawing/2014/main" id="{BF5F5E03-12B3-4B2D-A13F-118611BC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바닥/벽/입구/계단/은신처를 그립니다.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층별 몬스터/시체와 보상/시야를 설정합니다.</a:t>
            </a:r>
          </a:p>
        </p:txBody>
      </p:sp>
      <p:sp>
        <p:nvSpPr>
          <p:cNvPr id="24" name="검증한 에셋을 게임 카탈로그에 등록">
            <a:extLst xmlns:a="http://schemas.openxmlformats.org/drawingml/2006/main">
              <a:ext uri="{FF2B5EF4-FFF2-40B4-BE49-F238E27FC236}">
                <a16:creationId xmlns:a16="http://schemas.microsoft.com/office/drawing/2014/main" id="{C3082CEE-F854-49B4-A56A-82274137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검증한 에셋을 게임 카탈로그에 등록</a:t>
            </a:r>
          </a:p>
        </p:txBody>
      </p:sp>
      <p:sp>
        <p:nvSpPr>
          <p:cNvPr id="25" name="입구·계단·바닥 연결과 프리팹을 검사합니다.&#10;저장한 던전은 마을 선택창에서 사용합니다.">
            <a:extLst xmlns:a="http://schemas.openxmlformats.org/drawingml/2006/main">
              <a:ext uri="{FF2B5EF4-FFF2-40B4-BE49-F238E27FC236}">
                <a16:creationId xmlns:a16="http://schemas.microsoft.com/office/drawing/2014/main" id="{97E812F6-D27B-44E4-94DD-F9C80638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입구/계단/바닥 연결과 프리팹을 검사합니다.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저장한 던전은 마을 선택창에서 사용합니다.</a:t>
            </a:r>
          </a:p>
        </p:txBody>
      </p:sp>
      <p:sp>
        <p:nvSpPr>
          <p:cNvPr id="26" name="제작 데이터와 실제 실행 경로를 연결">
            <a:extLst xmlns:a="http://schemas.openxmlformats.org/drawingml/2006/main">
              <a:ext uri="{FF2B5EF4-FFF2-40B4-BE49-F238E27FC236}">
                <a16:creationId xmlns:a16="http://schemas.microsoft.com/office/drawing/2014/main" id="{1D5507FB-ACF5-4E06-98C2-F3234A9A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제작 데이터와 실제 실행 경로를 연결</a:t>
            </a:r>
          </a:p>
        </p:txBody>
      </p:sp>
      <p:sp>
        <p:nvSpPr>
          <p:cNvPr id="27" name="층별 4~64칸, 최대 16층을 지원하며 Play 중 도면 편집을 잠급니다.">
            <a:extLst xmlns:a="http://schemas.openxmlformats.org/drawingml/2006/main">
              <a:ext uri="{FF2B5EF4-FFF2-40B4-BE49-F238E27FC236}">
                <a16:creationId xmlns:a16="http://schemas.microsoft.com/office/drawing/2014/main" id="{D82FB601-DAB5-41B6-95B4-A59462AF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층당 가로/세로 4~64칸, 최대 16층을 지원하며 Play 중 도면 편집을 잠급니다.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9E1160-3954-40EB-8493-C81A7CE84E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3f53a839e48c4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2059265" cy="2198876"/>
          </a:xfrm>
          <a:prstGeom xmlns:a="http://schemas.openxmlformats.org/drawingml/2006/main" prst="rect">
            <a:avLst/>
          </a:prstGeom>
        </p:spPr>
      </p:pic>
      <p:sp>
        <p:nvSpPr>
          <p:cNvPr id="30" name="던전 제작 도구의 실제 도면">
            <a:extLst xmlns:a="http://schemas.openxmlformats.org/drawingml/2006/main">
              <a:ext uri="{FF2B5EF4-FFF2-40B4-BE49-F238E27FC236}">
                <a16:creationId xmlns:a16="http://schemas.microsoft.com/office/drawing/2014/main" id="{4691C8A1-B80B-4B2C-8E08-8A9828C0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0976"/>
            <a:ext cx="205926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던전 제작 도구의 실제 도면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F61B9-746A-403F-8549-512A7C0256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2d28120594927"/>
          <a:stretch xmlns:a="http://schemas.openxmlformats.org/drawingml/2006/main"/>
        </p:blipFill>
        <p:spPr>
          <a:xfrm xmlns:a="http://schemas.openxmlformats.org/drawingml/2006/main">
            <a:off x="2897465" y="1447800"/>
            <a:ext cx="2931835" cy="2198876"/>
          </a:xfrm>
          <a:prstGeom xmlns:a="http://schemas.openxmlformats.org/drawingml/2006/main" prst="rect">
            <a:avLst/>
          </a:prstGeom>
        </p:spPr>
      </p:pic>
      <p:sp>
        <p:nvSpPr>
          <p:cNvPr id="33" name="해당 던전의 실제 실행 결과">
            <a:extLst xmlns:a="http://schemas.openxmlformats.org/drawingml/2006/main">
              <a:ext uri="{FF2B5EF4-FFF2-40B4-BE49-F238E27FC236}">
                <a16:creationId xmlns:a16="http://schemas.microsoft.com/office/drawing/2014/main" id="{9F8A6BF1-BDB4-4069-8A5F-9FFD2BCB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465" y="3760976"/>
            <a:ext cx="293183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해당 던전의 실제 실행 결과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작·저장 / 던전 생성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제작과 저장: 던전 생성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시드로 재현하고 확인한 도면을 그대로 채택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1f6148b660c547aa"/>
              </a:rPr>
              <a:t>GitHub / 생성기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F746B15D-15E9-4F83-8228-30B50871D4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376245b484a99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F19751E5-E878-474C-AFF6-973FC80ED2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376245b484a99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78D84DC-5F1E-4B9B-8B03-7DA14357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d9fc0ed45fdc4f1f"/>
              </a:rPr>
              <a:t>GitHub / 미리보기</a:t>
            </a:r>
          </a:p>
        </p:txBody>
      </p:sp>
      <p:sp>
        <p:nvSpPr>
          <p:cNvPr id="22" name="영역 분할로 방과 통로 생성">
            <a:extLst xmlns:a="http://schemas.openxmlformats.org/drawingml/2006/main">
              <a:ext uri="{FF2B5EF4-FFF2-40B4-BE49-F238E27FC236}">
                <a16:creationId xmlns:a16="http://schemas.microsoft.com/office/drawing/2014/main" id="{91B3699D-AEF7-4BB9-BDE1-94459B16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다른 시드와 같은 시드를 연속 비교</a:t>
            </a:r>
          </a:p>
        </p:txBody>
      </p:sp>
      <p:sp>
        <p:nvSpPr>
          <p:cNvPr id="23" name="방을 통로로 연결한 뒤 계단·은신처를 배치합니다.&#10;생성 결과의 연결성과 유효성을 검사합니다.">
            <a:extLst xmlns:a="http://schemas.openxmlformats.org/drawingml/2006/main">
              <a:ext uri="{FF2B5EF4-FFF2-40B4-BE49-F238E27FC236}">
                <a16:creationId xmlns:a16="http://schemas.microsoft.com/office/drawing/2014/main" id="{C0E6CBD9-993A-4AFB-B7B8-A7E7515E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1150 생성 후 1151로 바꾸면 도면이 달라집니다.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다시 1150을 넣으면 처음 도면을 재현합니다.</a:t>
            </a:r>
          </a:p>
        </p:txBody>
      </p:sp>
      <p:sp>
        <p:nvSpPr>
          <p:cNvPr id="24" name="미리보기와 에셋 저장을 분리">
            <a:extLst xmlns:a="http://schemas.openxmlformats.org/drawingml/2006/main">
              <a:ext uri="{FF2B5EF4-FFF2-40B4-BE49-F238E27FC236}">
                <a16:creationId xmlns:a16="http://schemas.microsoft.com/office/drawing/2014/main" id="{148F8FE4-1DCB-4200-ABAE-E8D0D230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미리보기와 에셋 저장을 분리</a:t>
            </a:r>
          </a:p>
        </p:txBody>
      </p:sp>
      <p:sp>
        <p:nvSpPr>
          <p:cNvPr id="25" name="독립 PRNG로 같은 시드의 결과를 재현합니다.&#10;후보 확인은 게임 난수·카탈로그를 바꾸지 않습니다.">
            <a:extLst xmlns:a="http://schemas.openxmlformats.org/drawingml/2006/main">
              <a:ext uri="{FF2B5EF4-FFF2-40B4-BE49-F238E27FC236}">
                <a16:creationId xmlns:a16="http://schemas.microsoft.com/office/drawing/2014/main" id="{B9C7A144-5BEE-4CF0-98CD-E3A1965E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독립 PRNG로 같은 시드의 결과를 재현합니다.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후보 확인은 게임 난수/카탈로그를 바꾸지 않습니다.</a:t>
            </a:r>
          </a:p>
        </p:txBody>
      </p:sp>
      <p:sp>
        <p:nvSpPr>
          <p:cNvPr id="26" name="입장 시에는 채택한 던전 에셋을 사용">
            <a:extLst xmlns:a="http://schemas.openxmlformats.org/drawingml/2006/main">
              <a:ext uri="{FF2B5EF4-FFF2-40B4-BE49-F238E27FC236}">
                <a16:creationId xmlns:a16="http://schemas.microsoft.com/office/drawing/2014/main" id="{3E3F75DC-FC81-496B-9BB6-C3670C15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입장 시에는 채택한 던전 에셋을 사용</a:t>
            </a:r>
          </a:p>
        </p:txBody>
      </p:sp>
      <p:sp>
        <p:nvSpPr>
          <p:cNvPr id="27" name="제작자가 검토한 구조와 실제 탐험에 사용하는 구조를 일치시킵니다.">
            <a:extLst xmlns:a="http://schemas.openxmlformats.org/drawingml/2006/main">
              <a:ext uri="{FF2B5EF4-FFF2-40B4-BE49-F238E27FC236}">
                <a16:creationId xmlns:a16="http://schemas.microsoft.com/office/drawing/2014/main" id="{1D3C4090-F610-43AA-9BC3-C1D907DE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제작자가 검토한 구조와 실제 탐험에 사용하는 구조를 일치시킵니다.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B73E7-86BC-47AC-80D4-1614CE82DD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96fa492384a4c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4477048" cy="3390900"/>
          </a:xfrm>
          <a:prstGeom xmlns:a="http://schemas.openxmlformats.org/drawingml/2006/main" prst="rect">
            <a:avLst/>
          </a:prstGeom>
        </p:spPr>
      </p:pic>
      <p:sp>
        <p:nvSpPr>
          <p:cNvPr id="30" name="실제 생성 명령: Seed 1150 - 1151 - 다시 1150">
            <a:extLst xmlns:a="http://schemas.openxmlformats.org/drawingml/2006/main">
              <a:ext uri="{FF2B5EF4-FFF2-40B4-BE49-F238E27FC236}">
                <a16:creationId xmlns:a16="http://schemas.microsoft.com/office/drawing/2014/main" id="{33733835-C9F2-45AA-8423-70455AC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실제 생성 명령: Seed 1150 - 1151 - 다시 1150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작·저장 / 층별 보상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제작과 저장: 층별 보상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원본 프리팹을 공유하는 층별 보상 설정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948a9c11e383438d"/>
              </a:rPr>
              <a:t>GitHub / 보상 테이블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D2D002EF-163A-4A72-9000-4133D4957E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42bac5b144cab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6EE64071-28FA-4C04-81A8-A0E6239D92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42bac5b144cab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D230043B-34EB-47E6-A95A-8D60A7EB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806ce1be49644a69"/>
              </a:rPr>
              <a:t>GitHub / 편집기</a:t>
            </a:r>
          </a:p>
        </p:txBody>
      </p:sp>
      <p:sp>
        <p:nvSpPr>
          <p:cNvPr id="22" name="시체 원본과 보상 재정의 분리">
            <a:extLst xmlns:a="http://schemas.openxmlformats.org/drawingml/2006/main">
              <a:ext uri="{FF2B5EF4-FFF2-40B4-BE49-F238E27FC236}">
                <a16:creationId xmlns:a16="http://schemas.microsoft.com/office/drawing/2014/main" id="{04727A0C-8A30-4EAA-9C34-03FF4E75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시체 원본과 보상 재정의 분리</a:t>
            </a:r>
          </a:p>
        </p:txBody>
      </p:sp>
      <p:sp>
        <p:nvSpPr>
          <p:cNvPr id="23" name="이름·가격·점유 도형은 시체 프리팹에서 관리합니다.&#10;테이블에서는 전리품별 확률·수량만 조정합니다.">
            <a:extLst xmlns:a="http://schemas.openxmlformats.org/drawingml/2006/main">
              <a:ext uri="{FF2B5EF4-FFF2-40B4-BE49-F238E27FC236}">
                <a16:creationId xmlns:a16="http://schemas.microsoft.com/office/drawing/2014/main" id="{12CF3B35-4D08-4B9F-BB96-0C1DF37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이름/가격/점유 도형은 시체 프리팹에서 관리합니다.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테이블에서는 전리품별 확률/수량만 조정합니다.</a:t>
            </a:r>
          </a:p>
        </p:txBody>
      </p:sp>
      <p:sp>
        <p:nvSpPr>
          <p:cNvPr id="24" name="명확한 우선순위로 적용">
            <a:extLst xmlns:a="http://schemas.openxmlformats.org/drawingml/2006/main">
              <a:ext uri="{FF2B5EF4-FFF2-40B4-BE49-F238E27FC236}">
                <a16:creationId xmlns:a16="http://schemas.microsoft.com/office/drawing/2014/main" id="{252B25C5-4C9C-49DF-9918-A3216E8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명확한 우선순위로 적용</a:t>
            </a:r>
          </a:p>
        </p:txBody>
      </p:sp>
      <p:sp>
        <p:nvSpPr>
          <p:cNvPr id="25" name="층 설정, 던전 설정, 시체 기본값 순으로 선택합니다.&#10;미지정은 상속하고 확률 0%는 드롭에서 제외합니다.">
            <a:extLst xmlns:a="http://schemas.openxmlformats.org/drawingml/2006/main">
              <a:ext uri="{FF2B5EF4-FFF2-40B4-BE49-F238E27FC236}">
                <a16:creationId xmlns:a16="http://schemas.microsoft.com/office/drawing/2014/main" id="{CC4F364C-7FAA-4FE5-A3C1-87C8A1FD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층 설정, 던전 설정, 시체 기본값 순으로 선택합니다.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미지정은 상속하고 확률 0%는 드롭에서 제외합니다.</a:t>
            </a:r>
          </a:p>
        </p:txBody>
      </p:sp>
      <p:sp>
        <p:nvSpPr>
          <p:cNvPr id="26" name="새 탐험 시작 시 보상 규칙 확정">
            <a:extLst xmlns:a="http://schemas.openxmlformats.org/drawingml/2006/main">
              <a:ext uri="{FF2B5EF4-FFF2-40B4-BE49-F238E27FC236}">
                <a16:creationId xmlns:a16="http://schemas.microsoft.com/office/drawing/2014/main" id="{40E411D2-FFB5-4690-9FB1-0B200032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새 탐험 시작 시 보상 규칙 확정</a:t>
            </a:r>
          </a:p>
        </p:txBody>
      </p:sp>
      <p:sp>
        <p:nvSpPr>
          <p:cNvPr id="27" name="진행 중 에셋 수정은 다음 탐험부터 반영하며, 항목별로 독립 추첨합니다.">
            <a:extLst xmlns:a="http://schemas.openxmlformats.org/drawingml/2006/main">
              <a:ext uri="{FF2B5EF4-FFF2-40B4-BE49-F238E27FC236}">
                <a16:creationId xmlns:a16="http://schemas.microsoft.com/office/drawing/2014/main" id="{5AD2D534-2FEB-46C6-B36E-2C01505F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진행 중 에셋 수정은 다음 탐험부터 반영하며, 항목별로 독립 추첨합니다.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CFED7D-A9E4-4B66-8E57-BDF74B85BC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49fe373c44766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5219700" cy="3138034"/>
          </a:xfrm>
          <a:prstGeom xmlns:a="http://schemas.openxmlformats.org/drawingml/2006/main" prst="rect">
            <a:avLst/>
          </a:prstGeom>
        </p:spPr>
      </p:pic>
      <p:sp>
        <p:nvSpPr>
          <p:cNvPr id="30" name="원본과 분리한 보상표: 슬라임 핵 확률 10%">
            <a:extLst xmlns:a="http://schemas.openxmlformats.org/drawingml/2006/main">
              <a:ext uri="{FF2B5EF4-FFF2-40B4-BE49-F238E27FC236}">
                <a16:creationId xmlns:a16="http://schemas.microsoft.com/office/drawing/2014/main" id="{97B607E3-39F8-43D3-A305-FFA27BA6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0134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원본과 분리한 보상표: 슬라임 핵 확률 10%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작·저장 / 저장 스냅샷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제작과 저장: 저장 스냅샷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저장 후 상태를 바꾸고, 불러와 이전 상태 복원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afa25ad0b855494f"/>
              </a:rPr>
              <a:t>GitHub / 탐험 저장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D4FC7C3C-387E-409E-B576-46017F8A8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d6a3c5cb64b8a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7DA60ED9-CC40-409D-A58A-DCB96C4B8B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d6a3c5cb64b8a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DC49B000-756A-488A-B24C-C3A6A4C1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8542d68810924f87"/>
              </a:rPr>
              <a:t>GitHub / 층 데이터</a:t>
            </a:r>
          </a:p>
        </p:txBody>
      </p:sp>
      <p:sp>
        <p:nvSpPr>
          <p:cNvPr id="22" name="월드 상태와 현재 작업을 함께 저장">
            <a:extLst xmlns:a="http://schemas.openxmlformats.org/drawingml/2006/main">
              <a:ext uri="{FF2B5EF4-FFF2-40B4-BE49-F238E27FC236}">
                <a16:creationId xmlns:a16="http://schemas.microsoft.com/office/drawing/2014/main" id="{E4BC4EEE-B556-4B7C-91F8-2CFA3F78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저장 시점의 가방과 미배치 전리품 유지</a:t>
            </a:r>
          </a:p>
        </p:txBody>
      </p:sp>
      <p:sp>
        <p:nvSpPr>
          <p:cNvPr id="23" name="플레이어·가방·몬스터·시체·탐색 기록을 담습니다.&#10;해체 진행과 미배치 전리품도 포함합니다.">
            <a:extLst xmlns:a="http://schemas.openxmlformats.org/drawingml/2006/main">
              <a:ext uri="{FF2B5EF4-FFF2-40B4-BE49-F238E27FC236}">
                <a16:creationId xmlns:a16="http://schemas.microsoft.com/office/drawing/2014/main" id="{4AE12DB9-3B43-4E81-938D-F85A6C15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가방 1개, 미배치 3개인 시점을 저장합니다.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저장 뒤 하나를 더 배치해 2개, 2개로 바꿉니다.</a:t>
            </a:r>
          </a:p>
        </p:txBody>
      </p:sp>
      <p:sp>
        <p:nvSpPr>
          <p:cNvPr id="24" name="실행 객체와 저장 데이터를 분리">
            <a:extLst xmlns:a="http://schemas.openxmlformats.org/drawingml/2006/main">
              <a:ext uri="{FF2B5EF4-FFF2-40B4-BE49-F238E27FC236}">
                <a16:creationId xmlns:a16="http://schemas.microsoft.com/office/drawing/2014/main" id="{90F77B1F-0224-41F4-93E6-60985B57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불러오기 후 저장 시점으로 되돌림</a:t>
            </a:r>
          </a:p>
        </p:txBody>
      </p:sp>
      <p:sp>
        <p:nvSpPr>
          <p:cNvPr id="25" name="도면과 목록을 독립 복사합니다.&#10;스냅샷 수정이 실행 중 원본 상태로 전파되지 않습니다.">
            <a:extLst xmlns:a="http://schemas.openxmlformats.org/drawingml/2006/main">
              <a:ext uri="{FF2B5EF4-FFF2-40B4-BE49-F238E27FC236}">
                <a16:creationId xmlns:a16="http://schemas.microsoft.com/office/drawing/2014/main" id="{415CEC7E-F5D5-49A4-9BC9-AA28E6BE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슬롯을 불러오면 가방 1개, 미배치 3개로 복원합니다.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가방 정리 화면과 진행 중 작업도 함께 복원합니다.</a:t>
            </a:r>
          </a:p>
        </p:txBody>
      </p:sp>
      <p:sp>
        <p:nvSpPr>
          <p:cNvPr id="26" name="로드 후에도 같은 작업 상태로 복귀">
            <a:extLst xmlns:a="http://schemas.openxmlformats.org/drawingml/2006/main">
              <a:ext uri="{FF2B5EF4-FFF2-40B4-BE49-F238E27FC236}">
                <a16:creationId xmlns:a16="http://schemas.microsoft.com/office/drawing/2014/main" id="{FBC74513-04B2-4276-9285-1907624E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현재 상태가 아닌 저장된 스냅샷을 복원</a:t>
            </a:r>
          </a:p>
        </p:txBody>
      </p:sp>
      <p:sp>
        <p:nvSpPr>
          <p:cNvPr id="27" name="가방 정리 화면·시간 정지·은신 좌표와 남은 타이머를 함께 복원합니다.">
            <a:extLst xmlns:a="http://schemas.openxmlformats.org/drawingml/2006/main">
              <a:ext uri="{FF2B5EF4-FFF2-40B4-BE49-F238E27FC236}">
                <a16:creationId xmlns:a16="http://schemas.microsoft.com/office/drawing/2014/main" id="{389CC089-ED6C-4D20-8E86-547CD36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가방 배치, 남은 전리품, UI 상태를 저장 데이터에서 다시 구성합니다.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7603D5-305F-4341-97BA-1FA8FCE7E8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a77371b8e4a71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5086350" cy="3390900"/>
          </a:xfrm>
          <a:prstGeom xmlns:a="http://schemas.openxmlformats.org/drawingml/2006/main" prst="rect">
            <a:avLst/>
          </a:prstGeom>
        </p:spPr>
      </p:pic>
      <p:sp>
        <p:nvSpPr>
          <p:cNvPr id="30" name="저장 후 가방을 변경하고, 불러와 이전 상태로 복원">
            <a:extLst xmlns:a="http://schemas.openxmlformats.org/drawingml/2006/main">
              <a:ext uri="{FF2B5EF4-FFF2-40B4-BE49-F238E27FC236}">
                <a16:creationId xmlns:a16="http://schemas.microsoft.com/office/drawing/2014/main" id="{77A1B907-31F6-4F5D-99F9-18105341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저장 후 가방을 변경하고, 불러와 이전 상태로 복원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연결선: 꺾임 24">
            <a:extLst xmlns:a="http://schemas.openxmlformats.org/drawingml/2006/main">
              <a:ext uri="{FF2B5EF4-FFF2-40B4-BE49-F238E27FC236}">
                <a16:creationId xmlns:a16="http://schemas.microsoft.com/office/drawing/2014/main" id="{8D274E2A-B319-4781-A7A1-ECF31ADAA4A1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262313" y="2943225"/>
            <a:ext cx="14287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DBC6"/>
            </a:solidFill>
            <a:prstDash val="solid"/>
            <a:tailEnd type="triangle" w="sm" len="sm"/>
          </a:ln>
        </p:spPr>
      </p:cxnSp>
      <p:cxnSp>
        <p:nvCxnSpPr>
          <p:cNvPr id="24" name="연결선: 꺾임 23">
            <a:extLst xmlns:a="http://schemas.openxmlformats.org/drawingml/2006/main">
              <a:ext uri="{FF2B5EF4-FFF2-40B4-BE49-F238E27FC236}">
                <a16:creationId xmlns:a16="http://schemas.microsoft.com/office/drawing/2014/main" id="{D5EF9B54-0EBD-428C-B361-186027F16911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1824038" y="2943225"/>
            <a:ext cx="143827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DBC6"/>
            </a:solidFill>
            <a:prstDash val="solid"/>
            <a:tailEnd type="triangle" w="sm" len="sm"/>
          </a:ln>
        </p:spPr>
      </p:cxnSp>
      <p:cxnSp>
        <p:nvCxnSpPr>
          <p:cNvPr id="23" name="직선 화살표 연결선 22">
            <a:extLst xmlns:a="http://schemas.openxmlformats.org/drawingml/2006/main">
              <a:ext uri="{FF2B5EF4-FFF2-40B4-BE49-F238E27FC236}">
                <a16:creationId xmlns:a16="http://schemas.microsoft.com/office/drawing/2014/main" id="{BD775BBD-2D72-4465-B6DF-ED668D890032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262313" y="1990725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DBC6"/>
            </a:solidFill>
            <a:prstDash val="solid"/>
            <a:tailEnd type="triangle" w="sm" len="sm"/>
          </a:ln>
        </p:spPr>
      </p:cxnSp>
      <p:sp>
        <p:nvSpPr>
          <p:cNvPr id="3" name="제작·저장 / 가방 복원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예외 처리: 가방 복원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가방 복원 실패 시 기존 상태를 보존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02e6945b01ee4412"/>
              </a:rPr>
              <a:t>GitHub / 가방 복원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9CA26323-162C-49B4-8E0B-ABE15DE44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f2271b6e541bf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9" name="흐름: 저장 항목 읽기">
            <a:extLst xmlns:a="http://schemas.openxmlformats.org/drawingml/2006/main">
              <a:ext uri="{FF2B5EF4-FFF2-40B4-BE49-F238E27FC236}">
                <a16:creationId xmlns:a16="http://schemas.microsoft.com/office/drawing/2014/main" id="{C37CC4BB-6723-472B-B8D0-2D1C9516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47800"/>
            <a:ext cx="3095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저장 항목 읽기</a:t>
            </a:r>
          </a:p>
        </p:txBody>
      </p:sp>
      <p:sp>
        <p:nvSpPr>
          <p:cNvPr id="20" name="흐름: 임시 가방에서 전체 검증">
            <a:extLst xmlns:a="http://schemas.openxmlformats.org/drawingml/2006/main">
              <a:ext uri="{FF2B5EF4-FFF2-40B4-BE49-F238E27FC236}">
                <a16:creationId xmlns:a16="http://schemas.microsoft.com/office/drawing/2014/main" id="{0F92A5F5-67FF-4618-BD47-4593761A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3095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임시 가방에서 전체 검증</a:t>
            </a:r>
          </a:p>
        </p:txBody>
      </p:sp>
      <p:sp>
        <p:nvSpPr>
          <p:cNvPr id="21" name="흐름: 현재 가방에&#10;한 번에 반영">
            <a:extLst xmlns:a="http://schemas.openxmlformats.org/drawingml/2006/main">
              <a:ext uri="{FF2B5EF4-FFF2-40B4-BE49-F238E27FC236}">
                <a16:creationId xmlns:a16="http://schemas.microsoft.com/office/drawing/2014/main" id="{43D18095-55C8-4FC2-BC3A-AECE0640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4288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현재 가방에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한 번에 반영</a:t>
            </a:r>
          </a:p>
        </p:txBody>
      </p:sp>
      <p:sp>
        <p:nvSpPr>
          <p:cNvPr id="22" name="흐름: 기존 가방 유지&#10;변경 없음">
            <a:extLst xmlns:a="http://schemas.openxmlformats.org/drawingml/2006/main">
              <a:ext uri="{FF2B5EF4-FFF2-40B4-BE49-F238E27FC236}">
                <a16:creationId xmlns:a16="http://schemas.microsoft.com/office/drawing/2014/main" id="{29090DA6-F346-4A62-889C-608ADBA3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52850"/>
            <a:ext cx="24288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E7C17D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기존 가방 유지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변경 없음</a:t>
            </a:r>
          </a:p>
        </p:txBody>
      </p:sp>
      <p:sp>
        <p:nvSpPr>
          <p:cNvPr id="26" name="성공">
            <a:extLst xmlns:a="http://schemas.openxmlformats.org/drawingml/2006/main">
              <a:ext uri="{FF2B5EF4-FFF2-40B4-BE49-F238E27FC236}">
                <a16:creationId xmlns:a16="http://schemas.microsoft.com/office/drawing/2014/main" id="{76E5CFBB-46BC-4BD8-93AF-4D576709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성공</a:t>
            </a:r>
          </a:p>
        </p:txBody>
      </p:sp>
      <p:sp>
        <p:nvSpPr>
          <p:cNvPr id="27" name="실패">
            <a:extLst xmlns:a="http://schemas.openxmlformats.org/drawingml/2006/main">
              <a:ext uri="{FF2B5EF4-FFF2-40B4-BE49-F238E27FC236}">
                <a16:creationId xmlns:a16="http://schemas.microsoft.com/office/drawing/2014/main" id="{885E91C6-AD94-44C4-BF5F-D0366896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766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rPr>
              <a:t>실패</a:t>
            </a:r>
          </a:p>
        </p:txBody>
      </p:sp>
      <p:sp>
        <p:nvSpPr>
          <p:cNvPr id="28" name="문제: 복원 도중의 부분 변경">
            <a:extLst xmlns:a="http://schemas.openxmlformats.org/drawingml/2006/main">
              <a:ext uri="{FF2B5EF4-FFF2-40B4-BE49-F238E27FC236}">
                <a16:creationId xmlns:a16="http://schemas.microsoft.com/office/drawing/2014/main" id="{85DD837A-B3C4-4207-8821-3C4C7650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유효하지 않은 저장 항목/배치 거부</a:t>
            </a:r>
          </a:p>
        </p:txBody>
      </p:sp>
      <p:sp>
        <p:nvSpPr>
          <p:cNvPr id="29" name="항목을 읽을 때마다 현재 가방을 바꾸면&#10;뒤쪽 항목의 실패 후 일부 변경만 남을 수 있습니다.">
            <a:extLst xmlns:a="http://schemas.openxmlformats.org/drawingml/2006/main">
              <a:ext uri="{FF2B5EF4-FFF2-40B4-BE49-F238E27FC236}">
                <a16:creationId xmlns:a16="http://schemas.microsoft.com/office/drawing/2014/main" id="{001EAEB8-A09E-4CD7-8924-379EADD0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아이템 데이터와 판매 가격을 검사합니다.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가방 경계와 점유 셀 충돌을 함께 확인합니다.</a:t>
            </a:r>
          </a:p>
        </p:txBody>
      </p:sp>
      <p:sp>
        <p:nvSpPr>
          <p:cNvPr id="30" name="해결: 임시 가방 검증 후 커밋">
            <a:extLst xmlns:a="http://schemas.openxmlformats.org/drawingml/2006/main">
              <a:ext uri="{FF2B5EF4-FFF2-40B4-BE49-F238E27FC236}">
                <a16:creationId xmlns:a16="http://schemas.microsoft.com/office/drawing/2014/main" id="{1F4F31B9-F5FB-4C43-97E8-88B1A5BF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해결: 임시 가방 검증 후 커밋</a:t>
            </a:r>
          </a:p>
        </p:txBody>
      </p:sp>
      <p:sp>
        <p:nvSpPr>
          <p:cNvPr id="31" name="모든 아이템·배치를 검증한 뒤 한 번에 반영합니다.&#10;실패 시 현재 아이템 객체·점유 셀·합계를 유지합니다.">
            <a:extLst xmlns:a="http://schemas.openxmlformats.org/drawingml/2006/main">
              <a:ext uri="{FF2B5EF4-FFF2-40B4-BE49-F238E27FC236}">
                <a16:creationId xmlns:a16="http://schemas.microsoft.com/office/drawing/2014/main" id="{AC0B2E79-7972-4DA0-BD90-2DF2ADA1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모든 아이템/배치를 검증한 뒤 한 번에 반영합니다.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실패 시 현재 아이템 객체/점유 셀/합계를 유지합니다.</a:t>
            </a:r>
          </a:p>
        </p:txBody>
      </p:sp>
      <p:sp>
        <p:nvSpPr>
          <p:cNvPr id="32" name="검증 완료 전에는 현재 가방을 변경하지 않음">
            <a:extLst xmlns:a="http://schemas.openxmlformats.org/drawingml/2006/main">
              <a:ext uri="{FF2B5EF4-FFF2-40B4-BE49-F238E27FC236}">
                <a16:creationId xmlns:a16="http://schemas.microsoft.com/office/drawing/2014/main" id="{1163C895-71BC-4F7C-9B98-C87C7B05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검증 완료 전에는 현재 가방을 변경하지 않음</a:t>
            </a:r>
          </a:p>
        </p:txBody>
      </p:sp>
      <p:sp>
        <p:nvSpPr>
          <p:cNvPr id="33" name="아이템·점유 셀·다음 ID를 같은 반영 단위로 처리합니다.">
            <a:extLst xmlns:a="http://schemas.openxmlformats.org/drawingml/2006/main">
              <a:ext uri="{FF2B5EF4-FFF2-40B4-BE49-F238E27FC236}">
                <a16:creationId xmlns:a16="http://schemas.microsoft.com/office/drawing/2014/main" id="{8F683824-33E0-41DF-B4C1-C0001BCE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아이템/점유 셀/다음 ID를 같은 반영 단위로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연결선: 꺾임 24">
            <a:extLst xmlns:a="http://schemas.openxmlformats.org/drawingml/2006/main">
              <a:ext uri="{FF2B5EF4-FFF2-40B4-BE49-F238E27FC236}">
                <a16:creationId xmlns:a16="http://schemas.microsoft.com/office/drawing/2014/main" id="{EDD7E9F4-7C42-4C10-AE0F-D3F6C8814ACC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262313" y="2943225"/>
            <a:ext cx="14287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DBC6"/>
            </a:solidFill>
            <a:prstDash val="solid"/>
            <a:tailEnd type="triangle" w="sm" len="sm"/>
          </a:ln>
        </p:spPr>
      </p:cxnSp>
      <p:cxnSp>
        <p:nvCxnSpPr>
          <p:cNvPr id="24" name="연결선: 꺾임 23">
            <a:extLst xmlns:a="http://schemas.openxmlformats.org/drawingml/2006/main">
              <a:ext uri="{FF2B5EF4-FFF2-40B4-BE49-F238E27FC236}">
                <a16:creationId xmlns:a16="http://schemas.microsoft.com/office/drawing/2014/main" id="{E7A6F107-1C9A-4BD0-BBBC-317B9DEFE35A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1824038" y="2943225"/>
            <a:ext cx="1438275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DBC6"/>
            </a:solidFill>
            <a:prstDash val="solid"/>
            <a:tailEnd type="triangle" w="sm" len="sm"/>
          </a:ln>
        </p:spPr>
      </p:cxnSp>
      <p:cxnSp>
        <p:nvCxnSpPr>
          <p:cNvPr id="23" name="직선 화살표 연결선 22">
            <a:extLst xmlns:a="http://schemas.openxmlformats.org/drawingml/2006/main">
              <a:ext uri="{FF2B5EF4-FFF2-40B4-BE49-F238E27FC236}">
                <a16:creationId xmlns:a16="http://schemas.microsoft.com/office/drawing/2014/main" id="{836A5F77-511B-4124-BDFA-E01F354195B0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262313" y="1990725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DBC6"/>
            </a:solidFill>
            <a:prstDash val="solid"/>
            <a:tailEnd type="triangle" w="sm" len="sm"/>
          </a:ln>
        </p:spPr>
      </p:cxnSp>
      <p:sp>
        <p:nvSpPr>
          <p:cNvPr id="3" name="제작·저장 / 저장 실패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예외 처리: 저장 실패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저장 실패 시 재시도하고 정상 종료를 보류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24a99bb10ea7446c"/>
              </a:rPr>
              <a:t>GitHub / 자동 저장/종료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6F1F96AE-6346-4696-9262-9BA3ACB7F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f11d9ee9e44bc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D86DD475-73DC-4670-A6E0-D7108B6056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f11d9ee9e44bc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06A7FE63-F2B0-438E-817A-6FC9ACF0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ef65b52a7e4d46a0"/>
              </a:rPr>
              <a:t>GitHub / 저장 요청</a:t>
            </a:r>
          </a:p>
        </p:txBody>
      </p:sp>
      <p:sp>
        <p:nvSpPr>
          <p:cNvPr id="19" name="흐름: 자동 저장 요청 유지">
            <a:extLst xmlns:a="http://schemas.openxmlformats.org/drawingml/2006/main">
              <a:ext uri="{FF2B5EF4-FFF2-40B4-BE49-F238E27FC236}">
                <a16:creationId xmlns:a16="http://schemas.microsoft.com/office/drawing/2014/main" id="{8C3125C8-735A-444D-96F3-331455E1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47800"/>
            <a:ext cx="3095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자동 저장 요청 유지</a:t>
            </a:r>
          </a:p>
        </p:txBody>
      </p:sp>
      <p:sp>
        <p:nvSpPr>
          <p:cNvPr id="20" name="흐름: 최신 상태 캡처 · 저장 시도">
            <a:extLst xmlns:a="http://schemas.openxmlformats.org/drawingml/2006/main">
              <a:ext uri="{FF2B5EF4-FFF2-40B4-BE49-F238E27FC236}">
                <a16:creationId xmlns:a16="http://schemas.microsoft.com/office/drawing/2014/main" id="{7D79E7C4-000A-40D2-A07E-7DA29892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3095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최신 상태 캡처 / 저장 시도</a:t>
            </a:r>
          </a:p>
        </p:txBody>
      </p:sp>
      <p:sp>
        <p:nvSpPr>
          <p:cNvPr id="21" name="흐름: 요청 해제&#10;복귀·종료 허용">
            <a:extLst xmlns:a="http://schemas.openxmlformats.org/drawingml/2006/main">
              <a:ext uri="{FF2B5EF4-FFF2-40B4-BE49-F238E27FC236}">
                <a16:creationId xmlns:a16="http://schemas.microsoft.com/office/drawing/2014/main" id="{371EAB6F-7C35-4AC4-9F26-03AE08FF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428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요청 해제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복귀/종료 허용</a:t>
            </a:r>
          </a:p>
        </p:txBody>
      </p:sp>
      <p:sp>
        <p:nvSpPr>
          <p:cNvPr id="22" name="흐름: 요청 유지 · 종료 보류&#10;5초 후 재시도">
            <a:extLst xmlns:a="http://schemas.openxmlformats.org/drawingml/2006/main">
              <a:ext uri="{FF2B5EF4-FFF2-40B4-BE49-F238E27FC236}">
                <a16:creationId xmlns:a16="http://schemas.microsoft.com/office/drawing/2014/main" id="{05F1D640-810B-4353-A31D-62180CD7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52850"/>
            <a:ext cx="2428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E7C17D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요청 유지 / 종료 보류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5초 후 재시도</a:t>
            </a:r>
          </a:p>
        </p:txBody>
      </p:sp>
      <p:sp>
        <p:nvSpPr>
          <p:cNvPr id="26" name="성공">
            <a:extLst xmlns:a="http://schemas.openxmlformats.org/drawingml/2006/main">
              <a:ext uri="{FF2B5EF4-FFF2-40B4-BE49-F238E27FC236}">
                <a16:creationId xmlns:a16="http://schemas.microsoft.com/office/drawing/2014/main" id="{2E11F71F-F4CD-49D8-8D0A-426C648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성공</a:t>
            </a:r>
          </a:p>
        </p:txBody>
      </p:sp>
      <p:sp>
        <p:nvSpPr>
          <p:cNvPr id="27" name="실패">
            <a:extLst xmlns:a="http://schemas.openxmlformats.org/drawingml/2006/main">
              <a:ext uri="{FF2B5EF4-FFF2-40B4-BE49-F238E27FC236}">
                <a16:creationId xmlns:a16="http://schemas.microsoft.com/office/drawing/2014/main" id="{7C145C2B-6959-4A8C-89CD-2365EE80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76600"/>
            <a:ext cx="71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E7C17D"/>
                </a:solidFill>
                <a:latin typeface="Noto Sans KR"/>
                <a:ea typeface="Noto Sans KR"/>
                <a:cs typeface="Noto Sans KR"/>
              </a:rPr>
              <a:t>실패</a:t>
            </a:r>
          </a:p>
        </p:txBody>
      </p:sp>
      <p:sp>
        <p:nvSpPr>
          <p:cNvPr id="28" name="문제: 실패 뒤 요청을 지우면 재저장 누락">
            <a:extLst xmlns:a="http://schemas.openxmlformats.org/drawingml/2006/main">
              <a:ext uri="{FF2B5EF4-FFF2-40B4-BE49-F238E27FC236}">
                <a16:creationId xmlns:a16="http://schemas.microsoft.com/office/drawing/2014/main" id="{09F71F37-0FBA-4AD1-8E27-B1CA5382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문제: 실패 뒤 요청을 지우면 재저장 누락</a:t>
            </a:r>
          </a:p>
        </p:txBody>
      </p:sp>
      <p:sp>
        <p:nvSpPr>
          <p:cNvPr id="29" name="저장 실패 후 요청까지 해제하면&#10;이후 변경이 없을 때 재시도가 누락될 수 있습니다.">
            <a:extLst xmlns:a="http://schemas.openxmlformats.org/drawingml/2006/main">
              <a:ext uri="{FF2B5EF4-FFF2-40B4-BE49-F238E27FC236}">
                <a16:creationId xmlns:a16="http://schemas.microsoft.com/office/drawing/2014/main" id="{2BA33CAD-475B-414B-B5CB-E0AB8792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저장 실패 후 요청까지 해제하면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이후 변경이 없을 때 재시도가 누락될 수 있습니다.</a:t>
            </a:r>
          </a:p>
        </p:txBody>
      </p:sp>
      <p:sp>
        <p:nvSpPr>
          <p:cNvPr id="30" name="선택: 요청 유지와 종료 전 성공 확인">
            <a:extLst xmlns:a="http://schemas.openxmlformats.org/drawingml/2006/main">
              <a:ext uri="{FF2B5EF4-FFF2-40B4-BE49-F238E27FC236}">
                <a16:creationId xmlns:a16="http://schemas.microsoft.com/office/drawing/2014/main" id="{4D39B05B-4571-4BFF-9247-5AF76F56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선택: 요청 유지와 종료 전 성공 확인</a:t>
            </a:r>
          </a:p>
        </p:txBody>
      </p:sp>
      <p:sp>
        <p:nvSpPr>
          <p:cNvPr id="31" name="요청을 남겨 5초 후 최신 상태로 재시도합니다.&#10;메뉴 복귀·정상 종료도 저장 성공 후 허용합니다.">
            <a:extLst xmlns:a="http://schemas.openxmlformats.org/drawingml/2006/main">
              <a:ext uri="{FF2B5EF4-FFF2-40B4-BE49-F238E27FC236}">
                <a16:creationId xmlns:a16="http://schemas.microsoft.com/office/drawing/2014/main" id="{6205269D-4127-4A29-8D02-0E16F997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요청을 남겨 5초 후 최신 상태로 재시도합니다.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메뉴 복귀/정상 종료도 저장 성공 후 허용합니다.</a:t>
            </a:r>
          </a:p>
        </p:txBody>
      </p:sp>
      <p:sp>
        <p:nvSpPr>
          <p:cNvPr id="32" name="자동 저장 재시도와 정상 종료에 같은 저장 경로 사용">
            <a:extLst xmlns:a="http://schemas.openxmlformats.org/drawingml/2006/main">
              <a:ext uri="{FF2B5EF4-FFF2-40B4-BE49-F238E27FC236}">
                <a16:creationId xmlns:a16="http://schemas.microsoft.com/office/drawing/2014/main" id="{8233DCC3-F091-466D-9F19-7AC97FCC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자동 저장 재시도와 정상 종료에 같은 저장 경로 사용</a:t>
            </a:r>
          </a:p>
        </p:txBody>
      </p:sp>
      <p:sp>
        <p:nvSpPr>
          <p:cNvPr id="33" name="강제 종료·전원 차단 이후의 미저장 진행까지 보장하지는 않습니다.">
            <a:extLst xmlns:a="http://schemas.openxmlformats.org/drawingml/2006/main">
              <a:ext uri="{FF2B5EF4-FFF2-40B4-BE49-F238E27FC236}">
                <a16:creationId xmlns:a16="http://schemas.microsoft.com/office/drawing/2014/main" id="{6E25BA2C-E7AE-47FD-8E21-93C4C33A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강제 종료/전원 차단 이후의 미저장 진행까지 보장하지는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작·저장 / 파일 보호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예외 처리: 파일 보호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저장 파일 보호와 손상 시 백업 복구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465893d9f9fa4d8c"/>
              </a:rPr>
              <a:t>GitHub / 저장 서비스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043503AE-98B2-4768-9B5D-16EBE1A9BA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2934eccc0490e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5581E4A0-8D8D-4B21-A282-C1A6C4C16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2934eccc0490e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5EE2C9FC-44E5-4E3D-98A0-7C3ECA33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e468b3698644dad"/>
              </a:rPr>
              <a:t>GitHub / 파일 보호</a:t>
            </a:r>
          </a:p>
        </p:txBody>
      </p:sp>
      <p:sp>
        <p:nvSpPr>
          <p:cNvPr id="22" name="Windows DPAPI와 슬롯별 보호">
            <a:extLst xmlns:a="http://schemas.openxmlformats.org/drawingml/2006/main">
              <a:ext uri="{FF2B5EF4-FFF2-40B4-BE49-F238E27FC236}">
                <a16:creationId xmlns:a16="http://schemas.microsoft.com/office/drawing/2014/main" id="{FC5F2E31-E911-4ED8-8FBA-A363B88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Windows DPAPI와 슬롯별 보호</a:t>
            </a:r>
          </a:p>
        </p:txBody>
      </p:sp>
      <p:sp>
        <p:nvSpPr>
          <p:cNvPr id="23" name="사용자 계정 기반으로 암호화합니다.&#10;슬롯 바꿔치기를 거부하고 복호화 후 구조를 검증합니다.">
            <a:extLst xmlns:a="http://schemas.openxmlformats.org/drawingml/2006/main">
              <a:ext uri="{FF2B5EF4-FFF2-40B4-BE49-F238E27FC236}">
                <a16:creationId xmlns:a16="http://schemas.microsoft.com/office/drawing/2014/main" id="{E4810D82-F372-419F-BD37-DB8FA5BE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사용자 계정 기반으로 암호화합니다.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슬롯 바꿔치기를 거부하고 복호화 후 구조를 검증합니다.</a:t>
            </a:r>
          </a:p>
        </p:txBody>
      </p:sp>
      <p:sp>
        <p:nvSpPr>
          <p:cNvPr id="24" name="임시 파일 기록 후 저장본 교체">
            <a:extLst xmlns:a="http://schemas.openxmlformats.org/drawingml/2006/main">
              <a:ext uri="{FF2B5EF4-FFF2-40B4-BE49-F238E27FC236}">
                <a16:creationId xmlns:a16="http://schemas.microsoft.com/office/drawing/2014/main" id="{74E3519F-EBFA-42AC-8595-30ABC9B1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임시 파일 기록 후 저장본 교체</a:t>
            </a:r>
          </a:p>
        </p:txBody>
      </p:sp>
      <p:sp>
        <p:nvSpPr>
          <p:cNvPr id="25" name="주 저장본 손상 시 검증된 백업을 불러옵니다.&#10;둘 다 유효하지 않으면 로드를 거부합니다.">
            <a:extLst xmlns:a="http://schemas.openxmlformats.org/drawingml/2006/main">
              <a:ext uri="{FF2B5EF4-FFF2-40B4-BE49-F238E27FC236}">
                <a16:creationId xmlns:a16="http://schemas.microsoft.com/office/drawing/2014/main" id="{8AA797E7-423D-4904-AD12-0C99E474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주 저장본 손상 시 검증된 백업을 불러옵니다.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둘 다 유효하지 않으면 로드를 거부합니다.</a:t>
            </a:r>
          </a:p>
        </p:txBody>
      </p:sp>
      <p:sp>
        <p:nvSpPr>
          <p:cNvPr id="26" name="파일 보호 범위와 실패 경로를 명확히 구분">
            <a:extLst xmlns:a="http://schemas.openxmlformats.org/drawingml/2006/main">
              <a:ext uri="{FF2B5EF4-FFF2-40B4-BE49-F238E27FC236}">
                <a16:creationId xmlns:a16="http://schemas.microsoft.com/office/drawing/2014/main" id="{A7E7EB5F-E344-4835-AD85-FA02EECE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적용 범위: Windows 로컬 저장 파일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80E5B6-9A2B-40B1-B211-13411B26EF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8e058c2cf482a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5219700" cy="1085460"/>
          </a:xfrm>
          <a:prstGeom xmlns:a="http://schemas.openxmlformats.org/drawingml/2006/main" prst="rect">
            <a:avLst/>
          </a:prstGeom>
        </p:spPr>
      </p:pic>
      <p:sp>
        <p:nvSpPr>
          <p:cNvPr id="29" name="본 파일과 백업 손상: 로드 거부">
            <a:extLst xmlns:a="http://schemas.openxmlformats.org/drawingml/2006/main">
              <a:ext uri="{FF2B5EF4-FFF2-40B4-BE49-F238E27FC236}">
                <a16:creationId xmlns:a16="http://schemas.microsoft.com/office/drawing/2014/main" id="{E18E0106-EF0F-4AF5-90BA-10DA274D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510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본 파일과 백업 손상: 로드 거부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5131F8-C58C-47C5-A95E-E5385F9A14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a074fd1c44a1f"/>
          <a:stretch xmlns:a="http://schemas.openxmlformats.org/drawingml/2006/main"/>
        </p:blipFill>
        <p:spPr>
          <a:xfrm xmlns:a="http://schemas.openxmlformats.org/drawingml/2006/main">
            <a:off x="609600" y="3190875"/>
            <a:ext cx="5219700" cy="1204173"/>
          </a:xfrm>
          <a:prstGeom xmlns:a="http://schemas.openxmlformats.org/drawingml/2006/main" prst="rect">
            <a:avLst/>
          </a:prstGeom>
        </p:spPr>
      </p:pic>
      <p:sp>
        <p:nvSpPr>
          <p:cNvPr id="32" name="정상 백업 교체 후: 145G 복원">
            <a:extLst xmlns:a="http://schemas.openxmlformats.org/drawingml/2006/main">
              <a:ext uri="{FF2B5EF4-FFF2-40B4-BE49-F238E27FC236}">
                <a16:creationId xmlns:a16="http://schemas.microsoft.com/office/drawing/2014/main" id="{2C2216BE-85CD-47AD-86A5-614225A8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298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정상 백업 교체 후: 145G 복원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작·저장 / 마을 거래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예외 처리: 마을 거래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회수/판매를 검증한 뒤 거래 결과를 일괄 반영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ddfcba85a52345b0"/>
              </a:rPr>
              <a:t>GitHub / 창고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71247C8D-3E86-4D69-A516-6386B9EDBB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3ae83c2014a1a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A29597E7-4B20-48F0-9328-182048BD36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3ae83c2014a1a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563DE715-C9D6-413D-AA27-06EB8354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25c557932f3c42bb"/>
              </a:rPr>
              <a:t>GitHub / 탈출 상태 검사</a:t>
            </a:r>
          </a:p>
        </p:txBody>
      </p:sp>
      <p:sp>
        <p:nvSpPr>
          <p:cNvPr id="22" name="회수 전 창고 사본에서 검사">
            <a:extLst xmlns:a="http://schemas.openxmlformats.org/drawingml/2006/main">
              <a:ext uri="{FF2B5EF4-FFF2-40B4-BE49-F238E27FC236}">
                <a16:creationId xmlns:a16="http://schemas.microsoft.com/office/drawing/2014/main" id="{C96DAD10-B1E2-40C9-8C13-86E099BE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창고 사본 검증 후 소유권 이전</a:t>
            </a:r>
          </a:p>
        </p:txBody>
      </p:sp>
      <p:sp>
        <p:nvSpPr>
          <p:cNvPr id="23" name="동일 종류·가격의 스택을 합치고 수량·ID를 확인합니다.&#10;성공한 창고로 교체한 뒤 탐험 가방을 비웁니다.">
            <a:extLst xmlns:a="http://schemas.openxmlformats.org/drawingml/2006/main">
              <a:ext uri="{FF2B5EF4-FFF2-40B4-BE49-F238E27FC236}">
                <a16:creationId xmlns:a16="http://schemas.microsoft.com/office/drawing/2014/main" id="{1B055056-6FD3-452E-B97D-DCF70804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창고 사본에 적재하며 수량/ID 한도를 검사합니다.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전부 성공한 뒤 창고를 교체하고 가방을 비웁니다.</a:t>
            </a:r>
          </a:p>
        </p:txBody>
      </p:sp>
      <p:sp>
        <p:nvSpPr>
          <p:cNvPr id="24" name="중복 회수와 부분 판매 반영 방지">
            <a:extLst xmlns:a="http://schemas.openxmlformats.org/drawingml/2006/main">
              <a:ext uri="{FF2B5EF4-FFF2-40B4-BE49-F238E27FC236}">
                <a16:creationId xmlns:a16="http://schemas.microsoft.com/office/drawing/2014/main" id="{289984C6-5D02-4D05-A339-A8A49293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탈출 상태 검사로 회수 재진입 차단</a:t>
            </a:r>
          </a:p>
        </p:txBody>
      </p:sp>
      <p:sp>
        <p:nvSpPr>
          <p:cNvPr id="25" name="런 종료 상태와 가방 비우기로 중복 이전을 막습니다.&#10;판매는 잠금·한도 확인 후 수량과 골드를 함께 변경합니다.">
            <a:extLst xmlns:a="http://schemas.openxmlformats.org/drawingml/2006/main">
              <a:ext uri="{FF2B5EF4-FFF2-40B4-BE49-F238E27FC236}">
                <a16:creationId xmlns:a16="http://schemas.microsoft.com/office/drawing/2014/main" id="{5B8386C9-D049-4230-A95B-A77467D5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회수 성공 후 hasEscaped를 true로 설정합니다.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IsRunActive가 false가 되어 다음 탈출 요청을 거부합니다.</a:t>
            </a:r>
          </a:p>
        </p:txBody>
      </p:sp>
      <p:sp>
        <p:nvSpPr>
          <p:cNvPr id="26" name="거래 완료 후 저장 요청">
            <a:extLst xmlns:a="http://schemas.openxmlformats.org/drawingml/2006/main">
              <a:ext uri="{FF2B5EF4-FFF2-40B4-BE49-F238E27FC236}">
                <a16:creationId xmlns:a16="http://schemas.microsoft.com/office/drawing/2014/main" id="{80AA7630-5EA1-4681-A44E-BB70FD6E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판매 보호 설정/골드 상한 검사 후 수량과 골드 반영</a:t>
            </a:r>
          </a:p>
        </p:txBody>
      </p:sp>
      <p:sp>
        <p:nvSpPr>
          <p:cNvPr id="27" name="귀환 시 자동 판매하지 않아 판매·재료 사용을 사용자가 선택할 수 있습니다.">
            <a:extLst xmlns:a="http://schemas.openxmlformats.org/drawingml/2006/main">
              <a:ext uri="{FF2B5EF4-FFF2-40B4-BE49-F238E27FC236}">
                <a16:creationId xmlns:a16="http://schemas.microsoft.com/office/drawing/2014/main" id="{77A390C6-E755-47EB-B82A-7E977952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판매 거부 시 수량/골드를 유지하고, 거래 성공 후 자동 저장을 요청합니다.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270F3-9D54-4973-97CD-AC94EC410D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fc01834174c33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1677898" cy="1835004"/>
          </a:xfrm>
          <a:prstGeom xmlns:a="http://schemas.openxmlformats.org/drawingml/2006/main" prst="rect">
            <a:avLst/>
          </a:prstGeom>
        </p:spPr>
      </p:pic>
      <p:sp>
        <p:nvSpPr>
          <p:cNvPr id="30" name="탈출 전 가방: 회수품 2개">
            <a:extLst xmlns:a="http://schemas.openxmlformats.org/drawingml/2006/main">
              <a:ext uri="{FF2B5EF4-FFF2-40B4-BE49-F238E27FC236}">
                <a16:creationId xmlns:a16="http://schemas.microsoft.com/office/drawing/2014/main" id="{E848A114-1A21-407A-8FA6-F2453021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7104"/>
            <a:ext cx="167789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탈출 전 가방: 회수품 2개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FDAC3-A834-4EA3-9EBD-3E9CC1C5CA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a884ed9344d3a"/>
          <a:stretch xmlns:a="http://schemas.openxmlformats.org/drawingml/2006/main"/>
        </p:blipFill>
        <p:spPr>
          <a:xfrm xmlns:a="http://schemas.openxmlformats.org/drawingml/2006/main">
            <a:off x="2516098" y="1447800"/>
            <a:ext cx="3313202" cy="1835004"/>
          </a:xfrm>
          <a:prstGeom xmlns:a="http://schemas.openxmlformats.org/drawingml/2006/main" prst="rect">
            <a:avLst/>
          </a:prstGeom>
        </p:spPr>
      </p:pic>
      <p:sp>
        <p:nvSpPr>
          <p:cNvPr id="33" name="탈출 후 창고: 같은 회수품 2개">
            <a:extLst xmlns:a="http://schemas.openxmlformats.org/drawingml/2006/main">
              <a:ext uri="{FF2B5EF4-FFF2-40B4-BE49-F238E27FC236}">
                <a16:creationId xmlns:a16="http://schemas.microsoft.com/office/drawing/2014/main" id="{9D26AC98-A76D-4F02-8132-5ADBD7C9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098" y="3397104"/>
            <a:ext cx="3313202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탈출 후 창고: 같은 회수품 2개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작·저장 / 가방 확장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예외 처리: 가방 확장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재료와 골드를 함께 반영하는 가방 확장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c465c0789e98483a"/>
              </a:rPr>
              <a:t>GitHub / 가방 확장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9EB997C6-DEE4-4C3B-A188-06190B6925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e65f3b5f74c81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B032CF3A-9AC1-4100-8327-9783C23A11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e65f3b5f74c81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ED8A3CE7-198C-43AA-B3F0-8D0E462A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5d7e306814804569"/>
              </a:rPr>
              <a:t>GitHub / 확장 데이터</a:t>
            </a:r>
          </a:p>
        </p:txBody>
      </p:sp>
      <p:sp>
        <p:nvSpPr>
          <p:cNvPr id="22" name="확장 조건을 먼저 검사">
            <a:extLst xmlns:a="http://schemas.openxmlformats.org/drawingml/2006/main">
              <a:ext uri="{FF2B5EF4-FFF2-40B4-BE49-F238E27FC236}">
                <a16:creationId xmlns:a16="http://schemas.microsoft.com/office/drawing/2014/main" id="{71A1736C-14E8-4DE7-91EF-D7A01C16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확장 조건을 먼저 검사</a:t>
            </a:r>
          </a:p>
        </p:txBody>
      </p:sp>
      <p:sp>
        <p:nvSpPr>
          <p:cNvPr id="23" name="다음 단계·골드·재료 수량을 확인합니다.&#10;최대 단계와 중복 결제는 거부합니다.">
            <a:extLst xmlns:a="http://schemas.openxmlformats.org/drawingml/2006/main">
              <a:ext uri="{FF2B5EF4-FFF2-40B4-BE49-F238E27FC236}">
                <a16:creationId xmlns:a16="http://schemas.microsoft.com/office/drawing/2014/main" id="{51770E14-1A70-4D27-A025-73968D7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마을에서 다음 단계/골드/재료 수량을 검사합니다.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최대 단계 또는 자원 부족이면 변경하지 않습니다.</a:t>
            </a:r>
          </a:p>
        </p:txBody>
      </p:sp>
      <p:sp>
        <p:nvSpPr>
          <p:cNvPr id="24" name="사본에서 소비한 뒤 일괄 반영">
            <a:extLst xmlns:a="http://schemas.openxmlformats.org/drawingml/2006/main">
              <a:ext uri="{FF2B5EF4-FFF2-40B4-BE49-F238E27FC236}">
                <a16:creationId xmlns:a16="http://schemas.microsoft.com/office/drawing/2014/main" id="{81EB093E-A398-4E74-9A57-4E9B9600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사본에서 소비한 뒤 일괄 반영</a:t>
            </a:r>
          </a:p>
        </p:txBody>
      </p:sp>
      <p:sp>
        <p:nvSpPr>
          <p:cNvPr id="25" name="낮은 가격의 재료 스택부터 소비합니다.&#10;창고·골드·가방 단계를 함께 반영합니다.">
            <a:extLst xmlns:a="http://schemas.openxmlformats.org/drawingml/2006/main">
              <a:ext uri="{FF2B5EF4-FFF2-40B4-BE49-F238E27FC236}">
                <a16:creationId xmlns:a16="http://schemas.microsoft.com/office/drawing/2014/main" id="{93FCC0F4-A1FD-482B-893A-3C8140C8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낮은 가격의 재료 스택부터 소비합니다.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창고/골드/가방 단계를 함께 반영합니다.</a:t>
            </a:r>
          </a:p>
        </p:txBody>
      </p:sp>
      <p:sp>
        <p:nvSpPr>
          <p:cNvPr id="26" name="검사 실패로 일부 재료만 사라지는 상황 방지">
            <a:extLst xmlns:a="http://schemas.openxmlformats.org/drawingml/2006/main">
              <a:ext uri="{FF2B5EF4-FFF2-40B4-BE49-F238E27FC236}">
                <a16:creationId xmlns:a16="http://schemas.microsoft.com/office/drawing/2014/main" id="{6EE5E7F7-8326-4834-AA56-3ACAF6DC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재료 차감/골드 결제/가방 단계 변경을 한 흐름에서 처리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7A798-325F-4B2E-84EC-D18A55B3F8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27af86e6f4165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2495550" cy="1249234"/>
          </a:xfrm>
          <a:prstGeom xmlns:a="http://schemas.openxmlformats.org/drawingml/2006/main" prst="rect">
            <a:avLst/>
          </a:prstGeom>
        </p:spPr>
      </p:pic>
      <p:sp>
        <p:nvSpPr>
          <p:cNvPr id="29" name="확장 전: 1000G / 가방 5x4">
            <a:extLst xmlns:a="http://schemas.openxmlformats.org/drawingml/2006/main">
              <a:ext uri="{FF2B5EF4-FFF2-40B4-BE49-F238E27FC236}">
                <a16:creationId xmlns:a16="http://schemas.microsoft.com/office/drawing/2014/main" id="{DCE8CE03-4096-4174-A8D6-3B1B6BE2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1334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확장 전: 1000G / 가방 5x4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1D07AF-CC5A-46B5-9457-99C2524F3F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7ac7d71b64609"/>
          <a:stretch xmlns:a="http://schemas.openxmlformats.org/drawingml/2006/main"/>
        </p:blipFill>
        <p:spPr>
          <a:xfrm xmlns:a="http://schemas.openxmlformats.org/drawingml/2006/main">
            <a:off x="3333750" y="1447800"/>
            <a:ext cx="2495550" cy="1249234"/>
          </a:xfrm>
          <a:prstGeom xmlns:a="http://schemas.openxmlformats.org/drawingml/2006/main" prst="rect">
            <a:avLst/>
          </a:prstGeom>
        </p:spPr>
      </p:pic>
      <p:sp>
        <p:nvSpPr>
          <p:cNvPr id="32" name="확장 후: 700G / 가방 6x4">
            <a:extLst xmlns:a="http://schemas.openxmlformats.org/drawingml/2006/main">
              <a:ext uri="{FF2B5EF4-FFF2-40B4-BE49-F238E27FC236}">
                <a16:creationId xmlns:a16="http://schemas.microsoft.com/office/drawing/2014/main" id="{54EF46C2-88E5-4126-8C39-10CEFC62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1334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확장 후: 700G / 가방 6x4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제작·저장 / 안전 삭제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예외 처리: 안전 삭제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공유 층을 보존하는 던전 삭제 도구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bd0b34e37bd74855"/>
              </a:rPr>
              <a:t>GitHub / 삭제 서비스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A345427B-65F3-4D3E-AD9D-66BCCE97C9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d605078cf4c58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20" name="참조 관계로 삭제 범위 계산">
            <a:extLst xmlns:a="http://schemas.openxmlformats.org/drawingml/2006/main">
              <a:ext uri="{FF2B5EF4-FFF2-40B4-BE49-F238E27FC236}">
                <a16:creationId xmlns:a16="http://schemas.microsoft.com/office/drawing/2014/main" id="{62162858-B7E9-4EBC-9508-2692F968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참조 관계로 삭제 범위 계산</a:t>
            </a:r>
          </a:p>
        </p:txBody>
      </p:sp>
      <p:sp>
        <p:nvSpPr>
          <p:cNvPr id="21" name="다른 던전·씬·데이터가 참조하는 층은 남깁니다.&#10;하위 에셋이 섞인 파일도 일괄 삭제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55279319-D226-458F-B975-17635749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다른 던전/씬/데이터가 참조하는 층은 남깁니다.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여러 에셋이 함께 저장된 파일은 삭제 대상에서 제외합니다.</a:t>
            </a:r>
          </a:p>
        </p:txBody>
      </p:sp>
      <p:sp>
        <p:nvSpPr>
          <p:cNvPr id="22" name="확인한 계획을 실행 직전 다시 검사">
            <a:extLst xmlns:a="http://schemas.openxmlformats.org/drawingml/2006/main">
              <a:ext uri="{FF2B5EF4-FFF2-40B4-BE49-F238E27FC236}">
                <a16:creationId xmlns:a16="http://schemas.microsoft.com/office/drawing/2014/main" id="{559AC8A5-7D7F-4E2D-B385-B72C5B09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확인한 계획을 실행 직전 다시 검사</a:t>
            </a:r>
          </a:p>
        </p:txBody>
      </p:sp>
      <p:sp>
        <p:nvSpPr>
          <p:cNvPr id="23" name="참조 관계가 바뀌면 삭제를 거부합니다.&#10;실패 시 카탈로그 참조를 복원하고 파일별 결과를 알립니다.">
            <a:extLst xmlns:a="http://schemas.openxmlformats.org/drawingml/2006/main">
              <a:ext uri="{FF2B5EF4-FFF2-40B4-BE49-F238E27FC236}">
                <a16:creationId xmlns:a16="http://schemas.microsoft.com/office/drawing/2014/main" id="{682273C9-D838-44B0-A58B-E8CA62C4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참조 관계가 바뀌면 삭제를 거부합니다.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실패 시 카탈로그 참조를 복원하고 파일별 결과를 알립니다.</a:t>
            </a:r>
          </a:p>
        </p:txBody>
      </p:sp>
      <p:sp>
        <p:nvSpPr>
          <p:cNvPr id="24" name="허용한 에셋만 파일 단위로 휴지통에 이동">
            <a:extLst xmlns:a="http://schemas.openxmlformats.org/drawingml/2006/main">
              <a:ext uri="{FF2B5EF4-FFF2-40B4-BE49-F238E27FC236}">
                <a16:creationId xmlns:a16="http://schemas.microsoft.com/office/drawing/2014/main" id="{49158F5F-1A25-4E3E-B4C6-41737E04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허용한 에셋만 파일 단위로 휴지통에 이동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5511BF-1E81-4CB4-9D77-2359FA9E3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7d3fc76e84a40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4343400" cy="981727"/>
          </a:xfrm>
          <a:prstGeom xmlns:a="http://schemas.openxmlformats.org/drawingml/2006/main" prst="rect">
            <a:avLst/>
          </a:prstGeom>
        </p:spPr>
      </p:pic>
      <p:sp>
        <p:nvSpPr>
          <p:cNvPr id="27" name="격리 검증: 전용 층 1 / 공유 층 1">
            <a:extLst xmlns:a="http://schemas.openxmlformats.org/drawingml/2006/main">
              <a:ext uri="{FF2B5EF4-FFF2-40B4-BE49-F238E27FC236}">
                <a16:creationId xmlns:a16="http://schemas.microsoft.com/office/drawing/2014/main" id="{D811D889-92C7-42C9-8FCC-D43CA623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777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격리 검증: 전용 층 1 / 공유 층 1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4038C2-DB70-40B3-87ED-7537543647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15676c29c4899"/>
          <a:stretch xmlns:a="http://schemas.openxmlformats.org/drawingml/2006/main"/>
        </p:blipFill>
        <p:spPr>
          <a:xfrm xmlns:a="http://schemas.openxmlformats.org/drawingml/2006/main">
            <a:off x="609600" y="3190875"/>
            <a:ext cx="4343400" cy="1710214"/>
          </a:xfrm>
          <a:prstGeom xmlns:a="http://schemas.openxmlformats.org/drawingml/2006/main" prst="rect">
            <a:avLst/>
          </a:prstGeom>
        </p:spPr>
      </p:pic>
      <p:sp>
        <p:nvSpPr>
          <p:cNvPr id="30" name="삭제 결과: 전용 층 제거 / 공유 층 보존">
            <a:extLst xmlns:a="http://schemas.openxmlformats.org/drawingml/2006/main">
              <a:ext uri="{FF2B5EF4-FFF2-40B4-BE49-F238E27FC236}">
                <a16:creationId xmlns:a16="http://schemas.microsoft.com/office/drawing/2014/main" id="{C5EF605A-512A-4262-AF38-527E0FFD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6339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삭제 결과: 전용 층 제거 / 공유 층 보존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런타임 구조 / 객체 수명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런타임 구조: 객체 수명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탐험 데이터와 분리한 프리팹별 오브젝트 풀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995b867504524c0c"/>
              </a:rPr>
              <a:t>GitHub / 오브젝트 풀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36635E2F-C590-4103-88E0-C64DC44C32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2c34af1f847b5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26" name="GitHub / 시체 데이터 소유">
            <a:extLst xmlns:a="http://schemas.openxmlformats.org/drawingml/2006/main">
              <a:ext uri="{FF2B5EF4-FFF2-40B4-BE49-F238E27FC236}">
                <a16:creationId xmlns:a16="http://schemas.microsoft.com/office/drawing/2014/main" id="{17E26C76-F339-4224-92E5-7517848B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3341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92418311e55949cb"/>
              </a:rPr>
              <a:t>GitHub / 시체 데이터 소유</a:t>
            </a:r>
          </a:p>
        </p:txBody>
      </p:sp>
      <p:sp>
        <p:nvSpPr>
          <p:cNvPr id="27" name="실제 시체 프리팹 32개 생성/반환 비교">
            <a:extLst xmlns:a="http://schemas.openxmlformats.org/drawingml/2006/main">
              <a:ext uri="{FF2B5EF4-FFF2-40B4-BE49-F238E27FC236}">
                <a16:creationId xmlns:a16="http://schemas.microsoft.com/office/drawing/2014/main" id="{B5C813A5-EFDD-41AD-8585-C8090DB5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실제 시체 프리팹 32개 생성/반환 비교</a:t>
            </a:r>
          </a:p>
        </p:txBody>
      </p:sp>
      <p:sp>
        <p:nvSpPr>
          <p:cNvPr id="28" name="비적용: Instantiate/Destroy / 적용: Rent/Return&#10;최초 생성과 새 런 데이터 구성은 측정에서 제외">
            <a:extLst xmlns:a="http://schemas.openxmlformats.org/drawingml/2006/main">
              <a:ext uri="{FF2B5EF4-FFF2-40B4-BE49-F238E27FC236}">
                <a16:creationId xmlns:a16="http://schemas.microsoft.com/office/drawing/2014/main" id="{A4C56FFA-6571-45D7-971E-686D0309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비적용: Instantiate/Destroy / 적용: Rent/Return</a:t>
            </a:r>
          </a:p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풀 사전 생성과 새 런 데이터 구성은 측정에서 제외</a:t>
            </a:r>
          </a:p>
        </p:txBody>
      </p:sp>
      <p:graphicFrame>
        <p:nvGraphicFrame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B89E5-414C-4560-9C04-931273D04DA6}"/>
              </a:ext>
            </a:extLst>
          </p:cNvPr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5219700" cy="1657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1514475"/>
                <a:gridCol w="1514475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0E9D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 항목</a:t>
                      </a:r>
                    </a:p>
                  </a:txBody>
                  <a:tcPr marL="95250" marR="95250" marT="95250" marB="95250" anchor="ctr">
                    <a:lnL w="9525">
                      <a:solidFill>
                        <a:srgbClr val="3C5660"/>
                      </a:solidFill>
                      <a:prstDash val="solid"/>
                    </a:lnL>
                    <a:lnR w="9525">
                      <a:solidFill>
                        <a:srgbClr val="3C5660"/>
                      </a:solidFill>
                      <a:prstDash val="solid"/>
                    </a:lnR>
                    <a:lnT w="9525">
                      <a:solidFill>
                        <a:srgbClr val="3C5660"/>
                      </a:solidFill>
                      <a:prstDash val="solid"/>
                    </a:lnT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0E9D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비적용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T w="9525">
                      <a:solidFill>
                        <a:srgbClr val="3C5660"/>
                      </a:solidFill>
                      <a:prstDash val="solid"/>
                    </a:lnT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0E9D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풀 적용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T w="9525">
                      <a:solidFill>
                        <a:srgbClr val="3C5660"/>
                      </a:solidFill>
                      <a:prstDash val="solid"/>
                    </a:lnT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GC Alloc (B/frame)</a:t>
                      </a:r>
                    </a:p>
                  </a:txBody>
                  <a:tcPr marL="95250" marR="95250" marT="95250" marB="95250" anchor="ctr">
                    <a:lnL w="9525">
                      <a:solidFill>
                        <a:srgbClr val="3C5660"/>
                      </a:solidFill>
                      <a:prstDash val="solid"/>
                    </a:lnL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26,402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9AD8C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CPU (ms/32개)</a:t>
                      </a:r>
                    </a:p>
                  </a:txBody>
                  <a:tcPr marL="95250" marR="95250" marT="95250" marB="95250" anchor="ctr">
                    <a:lnL w="9525">
                      <a:solidFill>
                        <a:srgbClr val="3C5660"/>
                      </a:solidFill>
                      <a:prstDash val="solid"/>
                    </a:lnL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0.4304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9AD8C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0.1382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</a:tr>
            </a:tbl>
          </a:graphicData>
        </a:graphic>
      </p:graphicFrame>
      <p:sp>
        <p:nvSpPr>
          <p:cNvPr id="30" name="반복 생성/반환 CPU 중앙값 67.9% 감소">
            <a:extLst xmlns:a="http://schemas.openxmlformats.org/drawingml/2006/main">
              <a:ext uri="{FF2B5EF4-FFF2-40B4-BE49-F238E27FC236}">
                <a16:creationId xmlns:a16="http://schemas.microsoft.com/office/drawing/2014/main" id="{DD1695F1-5F77-49F7-BD7A-4772E557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rPr>
              <a:t>GC Alloc 26,402 B에서 34 B로 감소</a:t>
            </a:r>
          </a:p>
        </p:txBody>
      </p:sp>
      <p:sp>
        <p:nvSpPr>
          <p:cNvPr id="31" name="문제: 재대여 객체와 탐험 기록의 수명 차이">
            <a:extLst xmlns:a="http://schemas.openxmlformats.org/drawingml/2006/main">
              <a:ext uri="{FF2B5EF4-FFF2-40B4-BE49-F238E27FC236}">
                <a16:creationId xmlns:a16="http://schemas.microsoft.com/office/drawing/2014/main" id="{57F27E61-CC28-4234-A6D7-FD6EA42D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문제: 재대여 객체와 탐험 기록의 수명 차이</a:t>
            </a:r>
          </a:p>
        </p:txBody>
      </p:sp>
      <p:sp>
        <p:nvSpPr>
          <p:cNvPr id="32" name="시체를 즉시 반환하면 저장 좌표가&#10;다음 대여 위치로 바뀔 수 있습니다.">
            <a:extLst xmlns:a="http://schemas.openxmlformats.org/drawingml/2006/main">
              <a:ext uri="{FF2B5EF4-FFF2-40B4-BE49-F238E27FC236}">
                <a16:creationId xmlns:a16="http://schemas.microsoft.com/office/drawing/2014/main" id="{7E221D07-0EAD-449B-9D23-C92436B1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시체를 즉시 반환하면 저장 좌표가</a:t>
            </a:r>
          </a:p>
          <a:p xmlns:a="http://schemas.openxmlformats.org/drawingml/2006/main">
            <a: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다음 대여 위치로 바뀔 수 있습니다.</a:t>
            </a:r>
          </a:p>
        </p:txBody>
      </p:sp>
      <p:sp>
        <p:nvSpPr>
          <p:cNvPr id="33" name="선택: 상태 캡처 후 층 종료 시 반환">
            <a:extLst xmlns:a="http://schemas.openxmlformats.org/drawingml/2006/main">
              <a:ext uri="{FF2B5EF4-FFF2-40B4-BE49-F238E27FC236}">
                <a16:creationId xmlns:a16="http://schemas.microsoft.com/office/drawing/2014/main" id="{15F2CA46-5A0F-4E5A-A1FB-D6E64C0F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86075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선택: 상태 캡처 후 층 종료 시 반환</a:t>
            </a:r>
          </a:p>
        </p:txBody>
      </p:sp>
      <p:sp>
        <p:nvSpPr>
          <p:cNvPr id="34" name="처리된 시체는 비활성화해 런이 계속 소유합니다.&#10;해체 세션/전리품은 새 CorpseRunData에 보관합니다.&#10;재대여 시 참조/타이머/물리 상태를 초기화합니다.">
            <a:extLst xmlns:a="http://schemas.openxmlformats.org/drawingml/2006/main">
              <a:ext uri="{FF2B5EF4-FFF2-40B4-BE49-F238E27FC236}">
                <a16:creationId xmlns:a16="http://schemas.microsoft.com/office/drawing/2014/main" id="{13463ABB-601B-44EB-B7B9-ABC4B683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처리된 시체는 비활성화해 런이 계속 소유합니다.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해체 세션/전리품은 새 CorpseRunData에 보관합니다.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재대여 시 참조/타이머/물리 상태를 초기화합니다.</a:t>
            </a:r>
          </a:p>
        </p:txBody>
      </p:sp>
      <p:sp>
        <p:nvSpPr>
          <p:cNvPr id="35" name="CPU는 32개 생성/반환 호출 구간 측정. 지연 Destroy 처리는 제외합니다.">
            <a:extLst xmlns:a="http://schemas.openxmlformats.org/drawingml/2006/main">
              <a:ext uri="{FF2B5EF4-FFF2-40B4-BE49-F238E27FC236}">
                <a16:creationId xmlns:a16="http://schemas.microsoft.com/office/drawing/2014/main" id="{E9AEE0F8-D00F-4882-B8B5-1BE0E1F1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CPU는 32개 생성/반환 호출 구간 측정. 지연 Destroy 처리는 제외합니다.</a:t>
            </a:r>
          </a:p>
        </p:txBody>
      </p:sp>
      <p:sp>
        <p:nvSpPr>
          <p:cNvPr id="36" name="GC는 프레임 전체 값이며 테스트 제어 코드의 할당도 포함합니다.">
            <a:extLst xmlns:a="http://schemas.openxmlformats.org/drawingml/2006/main">
              <a:ext uri="{FF2B5EF4-FFF2-40B4-BE49-F238E27FC236}">
                <a16:creationId xmlns:a16="http://schemas.microsoft.com/office/drawing/2014/main" id="{D8376B0C-672A-4BA0-BA84-478E7828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GC는 프레임 전체 값이며 테스트 제어 코드의 할당도 포함합니다.</a:t>
            </a:r>
          </a:p>
        </p:txBody>
      </p:sp>
      <p:sp>
        <p:nvSpPr>
          <p:cNvPr id="37" name="조건별 중앙값 / 기법 비적용과 적용 비교 / 공통 측정 환경과 반복 조건: 27p">
            <a:extLst xmlns:a="http://schemas.openxmlformats.org/drawingml/2006/main">
              <a:ext uri="{FF2B5EF4-FFF2-40B4-BE49-F238E27FC236}">
                <a16:creationId xmlns:a16="http://schemas.microsoft.com/office/drawing/2014/main" id="{3A347B2D-36BA-4BEF-A5CA-693A859A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조건별 중앙값 / 기법 비적용과 적용 비교 / 공통 측정 환경과 반복 조건: 27p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런타임 구조 / 미니맵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런타임 구조: 미니맵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변경 조건을 분리한 미니맵 텍스처 캐시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cc911ba82d4c4e64"/>
              </a:rPr>
              <a:t>GitHub / 미니맵 캐시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0123BB2E-90D9-4639-9A9B-95F8C1A46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aaa33ef164d38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12544071-CAEC-402D-B28B-B050ED4667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aaa33ef164d38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74DE5B9C-E048-4343-8EDC-DF6C3868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2cc90131b7524a8b"/>
              </a:rPr>
              <a:t>GitHub / 미니맵 표시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53FC5C-6EFF-469F-9146-49F962FD98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1dc32faf04a2b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2711715" cy="3352800"/>
          </a:xfrm>
          <a:prstGeom xmlns:a="http://schemas.openxmlformats.org/drawingml/2006/main" prst="rect">
            <a:avLst/>
          </a:prstGeom>
        </p:spPr>
      </p:pic>
      <p:sp>
        <p:nvSpPr>
          <p:cNvPr id="30" name="도면/발견 셀 수/배율이 같으면 재합성 생략">
            <a:extLst xmlns:a="http://schemas.openxmlformats.org/drawingml/2006/main">
              <a:ext uri="{FF2B5EF4-FFF2-40B4-BE49-F238E27FC236}">
                <a16:creationId xmlns:a16="http://schemas.microsoft.com/office/drawing/2014/main" id="{7518B405-FF7E-4F23-B733-B5DF96CB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478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도면/발견 셀 수/배율이 같으면 재합성 생략</a:t>
            </a:r>
          </a:p>
        </p:txBody>
      </p:sp>
      <p:sp>
        <p:nvSpPr>
          <p:cNvPr id="31" name="32x32 생성 도면 / 320x320 텍스처 / 발견 상태와 배율 고정&#10;비적용은 캐시 판정만 해제해 같은 픽셀을 매번 다시 합성">
            <a:extLst xmlns:a="http://schemas.openxmlformats.org/drawingml/2006/main">
              <a:ext uri="{FF2B5EF4-FFF2-40B4-BE49-F238E27FC236}">
                <a16:creationId xmlns:a16="http://schemas.microsoft.com/office/drawing/2014/main" id="{172BDC58-C70B-4703-B43B-D5E8A324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669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32x32 생성 도면 / 320x320 텍스처 / 발견 상태와 배율 고정</a:t>
            </a:r>
          </a:p>
          <a:p xmlns:a="http://schemas.openxmlformats.org/drawingml/2006/main">
            <a: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비적용은 캐시 판정만 해제해 같은 픽셀을 매번 다시 합성</a:t>
            </a:r>
          </a:p>
        </p:txBody>
      </p:sp>
      <p:graphicFrame>
        <p:nvGraphicFrame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EC983D-189A-4F00-8E1C-564EC7A7E7ED}"/>
              </a:ext>
            </a:extLst>
          </p:cNvPr>
          <p:cNvGraphicFramePr/>
          <p:nvPr/>
        </p:nvGraphicFramePr>
        <p:xfrm>
          <a:off xmlns:a="http://schemas.openxmlformats.org/drawingml/2006/main" x="3962400" y="2667000"/>
          <a:ext xmlns:a="http://schemas.openxmlformats.org/drawingml/2006/main" cx="7620000" cy="2057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2190750"/>
                <a:gridCol w="2190750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0E9D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 항목</a:t>
                      </a:r>
                    </a:p>
                  </a:txBody>
                  <a:tcPr marL="95250" marR="95250" marT="95250" marB="95250" anchor="ctr">
                    <a:lnL w="9525">
                      <a:solidFill>
                        <a:srgbClr val="3C5660"/>
                      </a:solidFill>
                      <a:prstDash val="solid"/>
                    </a:lnL>
                    <a:lnR w="9525">
                      <a:solidFill>
                        <a:srgbClr val="3C5660"/>
                      </a:solidFill>
                      <a:prstDash val="solid"/>
                    </a:lnR>
                    <a:lnT w="9525">
                      <a:solidFill>
                        <a:srgbClr val="3C5660"/>
                      </a:solidFill>
                      <a:prstDash val="solid"/>
                    </a:lnT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0E9D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매번 재합성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T w="9525">
                      <a:solidFill>
                        <a:srgbClr val="3C5660"/>
                      </a:solidFill>
                      <a:prstDash val="solid"/>
                    </a:lnT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0E9D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캐시 적용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T w="9525">
                      <a:solidFill>
                        <a:srgbClr val="3C5660"/>
                      </a:solidFill>
                      <a:prstDash val="solid"/>
                    </a:lnT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Refresh CPU (ms/회)</a:t>
                      </a:r>
                    </a:p>
                  </a:txBody>
                  <a:tcPr marL="95250" marR="95250" marT="95250" marB="95250" anchor="ctr">
                    <a:lnL w="9525">
                      <a:solidFill>
                        <a:srgbClr val="3C5660"/>
                      </a:solidFill>
                      <a:prstDash val="solid"/>
                    </a:lnL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0.1120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9AD8C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0.0003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GC Alloc (B/frame)</a:t>
                      </a:r>
                    </a:p>
                  </a:txBody>
                  <a:tcPr marL="95250" marR="95250" marT="95250" marB="95250" anchor="ctr">
                    <a:lnL w="9525">
                      <a:solidFill>
                        <a:srgbClr val="3C5660"/>
                      </a:solidFill>
                      <a:prstDash val="solid"/>
                    </a:lnL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9AD8C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</a:tr>
              <a:tr h="5143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재합성/업로드 (300회)</a:t>
                      </a:r>
                    </a:p>
                  </a:txBody>
                  <a:tcPr marL="95250" marR="95250" marT="95250" marB="95250" anchor="ctr">
                    <a:lnL w="9525">
                      <a:solidFill>
                        <a:srgbClr val="3C5660"/>
                      </a:solidFill>
                      <a:prstDash val="solid"/>
                    </a:lnL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300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9AD8C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</a:tr>
            </a:tbl>
          </a:graphicData>
        </a:graphic>
      </p:graphicFrame>
      <p:sp>
        <p:nvSpPr>
          <p:cNvPr id="33" name="같은 지도 조회 CPU 중앙값 99.7% 감소">
            <a:extLst xmlns:a="http://schemas.openxmlformats.org/drawingml/2006/main">
              <a:ext uri="{FF2B5EF4-FFF2-40B4-BE49-F238E27FC236}">
                <a16:creationId xmlns:a16="http://schemas.microsoft.com/office/drawing/2014/main" id="{130C927E-595F-40D8-A839-B6046138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95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rPr>
              <a:t>변경 없는 조회: 약 0.112ms의 재합성 생략</a:t>
            </a:r>
          </a:p>
        </p:txBody>
      </p:sp>
      <p:sp>
        <p:nvSpPr>
          <p:cNvPr id="34" name="실제 이동에 따른 표식/발견 셀 갱신&#10;왼쪽 GIF와 성능 대조 실험은 별도 조건">
            <a:extLst xmlns:a="http://schemas.openxmlformats.org/drawingml/2006/main">
              <a:ext uri="{FF2B5EF4-FFF2-40B4-BE49-F238E27FC236}">
                <a16:creationId xmlns:a16="http://schemas.microsoft.com/office/drawing/2014/main" id="{AF9DFBBB-7BF2-4726-8FB3-8DFCB9AD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실제 이동에 따른 표식/발견 셀 갱신</a:t>
            </a:r>
          </a:p>
          <a:p xmlns:a="http://schemas.openxmlformats.org/drawingml/2006/main">
            <a:pPr>
              <a:buNone/>
              <a:def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왼쪽 GIF와 성능 대조 실험은 별도 조건</a:t>
            </a:r>
          </a:p>
        </p:txBody>
      </p:sp>
      <p:sp>
        <p:nvSpPr>
          <p:cNvPr id="35" name="절대 비용은 작으며, 변경 없는 지도의 반복 연산을 제거하는 목적입니다.">
            <a:extLst xmlns:a="http://schemas.openxmlformats.org/drawingml/2006/main">
              <a:ext uri="{FF2B5EF4-FFF2-40B4-BE49-F238E27FC236}">
                <a16:creationId xmlns:a16="http://schemas.microsoft.com/office/drawing/2014/main" id="{8B97003D-DD73-47A1-AEEE-84A3AF18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578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절대 비용은 작으며, 변경 없는 지도의 반복 연산을 제거하는 목적입니다.</a:t>
            </a:r>
          </a:p>
        </p:txBody>
      </p:sp>
      <p:sp>
        <p:nvSpPr>
          <p:cNvPr id="36" name="최초 생성과 발견 셀 증가, 층 또는 배율 변경 시에는 다시 합성합니다.">
            <a:extLst xmlns:a="http://schemas.openxmlformats.org/drawingml/2006/main">
              <a:ext uri="{FF2B5EF4-FFF2-40B4-BE49-F238E27FC236}">
                <a16:creationId xmlns:a16="http://schemas.microsoft.com/office/drawing/2014/main" id="{53C6AB1F-F54A-46DD-B7E1-40275B8D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최초 생성과 발견 셀 증가, 층 또는 배율 변경 시에는 다시 합성합니다.</a:t>
            </a:r>
          </a:p>
        </p:txBody>
      </p:sp>
      <p:sp>
        <p:nvSpPr>
          <p:cNvPr id="37" name="CPU: Refresh 호출 구간 / GC: 프레임 전체 / 픽셀 동일성 확인 / 공통 측정 환경: 27p">
            <a:extLst xmlns:a="http://schemas.openxmlformats.org/drawingml/2006/main">
              <a:ext uri="{FF2B5EF4-FFF2-40B4-BE49-F238E27FC236}">
                <a16:creationId xmlns:a16="http://schemas.microsoft.com/office/drawing/2014/main" id="{A6593BC5-0B9F-4E79-BE47-D9D367D4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CPU: Refresh 호출 구간 / GC: 프레임 전체 / 픽셀 동일성 확인 / 공통 측정 환경: 27p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런타임 구조 / 지형 구성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런타임 구조: 지형 구성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현재 층의 지형을 재질별 메시로 구성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8036b545ce5b49dc"/>
              </a:rPr>
              <a:t>GitHub / 월드 메시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C560135F-62DA-4534-9166-CA49F084E7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b9092b6bb4d9c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79994D8D-E0B2-495E-B20E-2EA934AB09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b9092b6bb4d9c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052C59C-D7CA-489F-9533-DCF178BD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1d362b6593844941"/>
              </a:rPr>
              <a:t>GitHub / 논리 지형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41BB06-500C-484D-AC11-85364580B0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40de3c4de48ba"/>
          <a:stretch xmlns:a="http://schemas.openxmlformats.org/drawingml/2006/main"/>
        </p:blipFill>
        <p:spPr>
          <a:xfrm xmlns:a="http://schemas.openxmlformats.org/drawingml/2006/main">
            <a:off x="609600" y="1447800"/>
            <a:ext cx="5219700" cy="2945771"/>
          </a:xfrm>
          <a:prstGeom xmlns:a="http://schemas.openxmlformats.org/drawingml/2006/main" prst="rect">
            <a:avLst/>
          </a:prstGeom>
        </p:spPr>
      </p:pic>
      <p:sp>
        <p:nvSpPr>
          <p:cNvPr id="29" name="동일 지형/재질/고정 카메라에서 병합 여부만 변경">
            <a:extLst xmlns:a="http://schemas.openxmlformats.org/drawingml/2006/main">
              <a:ext uri="{FF2B5EF4-FFF2-40B4-BE49-F238E27FC236}">
                <a16:creationId xmlns:a16="http://schemas.microsoft.com/office/drawing/2014/main" id="{0FBB6B3F-699D-4A11-B78F-4EE9B11F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동일 지형/재질/고정 카메라에서 병합 여부만 변경</a:t>
            </a:r>
          </a:p>
        </p:txBody>
      </p:sp>
      <p:sp>
        <p:nvSpPr>
          <p:cNvPr id="30" name="16x16 실제 도면 / 지형 조각 385개 / 병합 3개&#10;병합 전후 삼각형 4,620개로 동일 / SRP Batcher ON">
            <a:extLst xmlns:a="http://schemas.openxmlformats.org/drawingml/2006/main">
              <a:ext uri="{FF2B5EF4-FFF2-40B4-BE49-F238E27FC236}">
                <a16:creationId xmlns:a16="http://schemas.microsoft.com/office/drawing/2014/main" id="{D8FDA508-4EED-4B7A-95A1-7B502309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541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16x16 실제 도면 / 지형 조각 385개 / 병합 3개</a:t>
            </a:r>
          </a:p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병합 전후 삼각형 4,620개로 동일 / SRP Batcher ON</a:t>
            </a:r>
          </a:p>
        </p:txBody>
      </p:sp>
      <p:graphicFrame>
        <p:nvGraphicFrame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DE5E2C-2B41-4817-AA46-A0CB3D500F71}"/>
              </a:ext>
            </a:extLst>
          </p:cNvPr>
          <p:cNvGraphicFramePr/>
          <p:nvPr/>
        </p:nvGraphicFramePr>
        <p:xfrm>
          <a:off xmlns:a="http://schemas.openxmlformats.org/drawingml/2006/main" x="6172200" y="2952750"/>
          <a:ext xmlns:a="http://schemas.openxmlformats.org/drawingml/2006/main" cx="5410200" cy="1657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62200"/>
                <a:gridCol w="1524000"/>
                <a:gridCol w="15240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0E9D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측정 항목</a:t>
                      </a:r>
                    </a:p>
                  </a:txBody>
                  <a:tcPr marL="95250" marR="95250" marT="95250" marB="95250" anchor="ctr">
                    <a:lnL w="9525">
                      <a:solidFill>
                        <a:srgbClr val="3C5660"/>
                      </a:solidFill>
                      <a:prstDash val="solid"/>
                    </a:lnL>
                    <a:lnR w="9525">
                      <a:solidFill>
                        <a:srgbClr val="3C5660"/>
                      </a:solidFill>
                      <a:prstDash val="solid"/>
                    </a:lnR>
                    <a:lnT w="9525">
                      <a:solidFill>
                        <a:srgbClr val="3C5660"/>
                      </a:solidFill>
                      <a:prstDash val="solid"/>
                    </a:lnT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0E9D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비병합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T w="9525">
                      <a:solidFill>
                        <a:srgbClr val="3C5660"/>
                      </a:solidFill>
                      <a:prstDash val="solid"/>
                    </a:lnT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0E9DC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재질별 병합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T w="9525">
                      <a:solidFill>
                        <a:srgbClr val="3C5660"/>
                      </a:solidFill>
                      <a:prstDash val="solid"/>
                    </a:lnT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SRP Draw Calls/frame</a:t>
                      </a:r>
                    </a:p>
                  </a:txBody>
                  <a:tcPr marL="95250" marR="95250" marT="95250" marB="95250" anchor="ctr">
                    <a:lnL w="9525">
                      <a:solidFill>
                        <a:srgbClr val="3C5660"/>
                      </a:solidFill>
                      <a:prstDash val="solid"/>
                    </a:lnL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778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9AD8C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SetPass Calls/frame</a:t>
                      </a:r>
                    </a:p>
                  </a:txBody>
                  <a:tcPr marL="95250" marR="95250" marT="95250" marB="95250" anchor="ctr">
                    <a:lnL w="9525">
                      <a:solidFill>
                        <a:srgbClr val="3C5660"/>
                      </a:solidFill>
                      <a:prstDash val="solid"/>
                    </a:lnL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D8E2E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9AD8C9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95250" marR="95250" marT="95250" marB="95250" anchor="ctr">
                    <a:lnR w="9525">
                      <a:solidFill>
                        <a:srgbClr val="3C5660"/>
                      </a:solidFill>
                      <a:prstDash val="solid"/>
                    </a:lnR>
                    <a:lnB w="9525">
                      <a:solidFill>
                        <a:srgbClr val="3C5660"/>
                      </a:solidFill>
                      <a:prstDash val="solid"/>
                    </a:lnB>
                    <a:solidFill>
                      <a:srgbClr val="1B2C35"/>
                    </a:solidFill>
                  </a:tcPr>
                </a:tc>
              </a:tr>
            </a:tbl>
          </a:graphicData>
        </a:graphic>
      </p:graphicFrame>
      <p:sp>
        <p:nvSpPr>
          <p:cNvPr id="32" name="SRP Draw Calls 98.2% 감소">
            <a:extLst xmlns:a="http://schemas.openxmlformats.org/drawingml/2006/main">
              <a:ext uri="{FF2B5EF4-FFF2-40B4-BE49-F238E27FC236}">
                <a16:creationId xmlns:a16="http://schemas.microsoft.com/office/drawing/2014/main" id="{12A3EAE7-3925-4B66-8865-7B5DF444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72025"/>
            <a:ext cx="5410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rPr>
              <a:t>SRP Draw Calls: 778에서 14로</a:t>
            </a:r>
          </a:p>
          <a:p xmlns:a="http://schemas.openxmlformats.org/drawingml/2006/main">
            <a:pPr>
              <a:buNone/>
              <a:def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9AD8C9"/>
                </a:solidFill>
                <a:latin typeface="Noto Sans KR"/>
                <a:ea typeface="Noto Sans KR"/>
                <a:cs typeface="Noto Sans KR"/>
              </a:rPr>
              <a:t>SetPass Calls: 6에서 4로</a:t>
            </a:r>
          </a:p>
        </p:txBody>
      </p:sp>
      <p:sp>
        <p:nvSpPr>
          <p:cNvPr id="33" name="실제 Scene 뷰 / 표시 메시와 논리 충돌체 분리">
            <a:extLst xmlns:a="http://schemas.openxmlformats.org/drawingml/2006/main">
              <a:ext uri="{FF2B5EF4-FFF2-40B4-BE49-F238E27FC236}">
                <a16:creationId xmlns:a16="http://schemas.microsoft.com/office/drawing/2014/main" id="{200DFECD-32F1-47D7-9838-1011E94E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실제 Scene 뷰 / 표시 메시와 논리 충돌체 분리</a:t>
            </a:r>
          </a:p>
        </p:txBody>
      </p:sp>
      <p:sp>
        <p:nvSpPr>
          <p:cNvPr id="34" name="재질별 CombineMeshes + UInt32 인덱스&#10;생성 메시와 재질은 OnDestroy에서 해제">
            <a:extLst xmlns:a="http://schemas.openxmlformats.org/drawingml/2006/main">
              <a:ext uri="{FF2B5EF4-FFF2-40B4-BE49-F238E27FC236}">
                <a16:creationId xmlns:a16="http://schemas.microsoft.com/office/drawing/2014/main" id="{94729ABB-7894-47DD-8972-92309EEB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19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재질별 CombineMeshes + UInt32 인덱스</a:t>
            </a:r>
          </a:p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생성 메시와 재질은 OnDestroy에서 해제</a:t>
            </a:r>
          </a:p>
        </p:txBody>
      </p:sp>
      <p:sp>
        <p:nvSpPr>
          <p:cNvPr id="35" name="동일 삼각형 수에서 렌더링 호출 감소 확인. 전체 프레임 시간의 개선율을 뜻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B7D810B6-3036-4FC2-B0A3-40AEFD1C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동일 삼각형 수에서 렌더링 호출 감소 확인. 전체 프레임 시간의 개선율을 뜻하지 않습니다.</a:t>
            </a:r>
          </a:p>
        </p:txBody>
      </p:sp>
      <p:sp>
        <p:nvSpPr>
          <p:cNvPr id="36" name="렌더링 전체 카운터의 프레임 중앙값 / 공통 측정 환경과 반복 조건: 27p">
            <a:extLst xmlns:a="http://schemas.openxmlformats.org/drawingml/2006/main">
              <a:ext uri="{FF2B5EF4-FFF2-40B4-BE49-F238E27FC236}">
                <a16:creationId xmlns:a16="http://schemas.microsoft.com/office/drawing/2014/main" id="{E9C86DBF-D133-45F0-96C6-21E517ED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렌더링 전체 카운터의 프레임 중앙값 / 공통 측정 환경과 반복 조건: 27p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직선 화살표 연결선 22">
            <a:extLst xmlns:a="http://schemas.openxmlformats.org/drawingml/2006/main">
              <a:ext uri="{FF2B5EF4-FFF2-40B4-BE49-F238E27FC236}">
                <a16:creationId xmlns:a16="http://schemas.microsoft.com/office/drawing/2014/main" id="{2D33B402-03D2-4F75-827D-43D5F80BD763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267075" y="337185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DBC6"/>
            </a:solidFill>
            <a:prstDash val="solid"/>
            <a:tailEnd type="triangle" w="sm" len="sm"/>
          </a:ln>
        </p:spPr>
      </p:cxnSp>
      <p:cxnSp>
        <p:nvCxnSpPr>
          <p:cNvPr id="22" name="직선 화살표 연결선 21">
            <a:extLst xmlns:a="http://schemas.openxmlformats.org/drawingml/2006/main">
              <a:ext uri="{FF2B5EF4-FFF2-40B4-BE49-F238E27FC236}">
                <a16:creationId xmlns:a16="http://schemas.microsoft.com/office/drawing/2014/main" id="{D7E17622-80F7-450F-B18E-8B183B25525B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267075" y="209550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DBC6"/>
            </a:solidFill>
            <a:prstDash val="solid"/>
            <a:tailEnd type="triangle" w="sm" len="sm"/>
          </a:ln>
        </p:spPr>
      </p:cxnSp>
      <p:sp>
        <p:nvSpPr>
          <p:cNvPr id="3" name="검증 / 실행 도구">
            <a:extLst xmlns:a="http://schemas.openxmlformats.org/drawingml/2006/main">
              <a:ext uri="{FF2B5EF4-FFF2-40B4-BE49-F238E27FC236}">
                <a16:creationId xmlns:a16="http://schemas.microsoft.com/office/drawing/2014/main" id="{35B2B93A-5B4D-4D33-9F0B-D9E4C9E9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검증: 실행 도구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DC0A4-A7CE-4DF1-B5FE-459B24D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실제 프로젝트와 분리한 검증 파이프라인</a:t>
            </a:r>
          </a:p>
        </p:txBody>
      </p:sp>
      <p:sp>
        <p:nvSpPr>
          <p:cNvPr id="9" name="CodeLink">
            <a:extLst xmlns:a="http://schemas.openxmlformats.org/drawingml/2006/main">
              <a:ext uri="{FF2B5EF4-FFF2-40B4-BE49-F238E27FC236}">
                <a16:creationId xmlns:a16="http://schemas.microsoft.com/office/drawing/2014/main" id="{011CD981-54CB-4243-98FB-591C22E0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a1010920d1644fdf"/>
              </a:rPr>
              <a:t>GitHub / 검증 실행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63AE1031-F738-409B-A896-2CDC522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092A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84738B1B-1497-40D3-98CF-23E1AFDBAB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7cca483194508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pic>
        <p:nvPicPr>
          <p:cNvPr id="17" name="그림 16">
            <a:extLst xmlns:a="http://schemas.openxmlformats.org/drawingml/2006/main">
              <a:ext uri="{FF2B5EF4-FFF2-40B4-BE49-F238E27FC236}">
                <a16:creationId xmlns:a16="http://schemas.microsoft.com/office/drawing/2014/main" id="{DF83E396-F084-4452-9791-16B7CC159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7cca483194508"/>
          <a:stretch xmlns:a="http://schemas.openxmlformats.org/drawingml/2006/main"/>
        </p:blipFill>
        <p:spPr>
          <a:xfrm xmlns:a="http://schemas.openxmlformats.org/drawingml/2006/main">
            <a:off x="33528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5A6861F3-0D16-48DB-AC74-2EC00090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7e6db96c87b94759"/>
              </a:rPr>
              <a:t>GitHub / 플레이 검사 진입</a:t>
            </a:r>
          </a:p>
        </p:txBody>
      </p:sp>
      <p:sp>
        <p:nvSpPr>
          <p:cNvPr id="19" name="흐름: 원본 코드·콘텐츠 읽기">
            <a:extLst xmlns:a="http://schemas.openxmlformats.org/drawingml/2006/main">
              <a:ext uri="{FF2B5EF4-FFF2-40B4-BE49-F238E27FC236}">
                <a16:creationId xmlns:a16="http://schemas.microsoft.com/office/drawing/2014/main" id="{9EF8E743-7F3F-4FCF-8473-1C72BD22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4780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원본 코드/콘텐츠 읽기</a:t>
            </a:r>
          </a:p>
        </p:txBody>
      </p:sp>
      <p:sp>
        <p:nvSpPr>
          <p:cNvPr id="20" name="흐름: 격리 복사본 구성&#10;테스트 코드·저장 경로 분리">
            <a:extLst xmlns:a="http://schemas.openxmlformats.org/drawingml/2006/main">
              <a:ext uri="{FF2B5EF4-FFF2-40B4-BE49-F238E27FC236}">
                <a16:creationId xmlns:a16="http://schemas.microsoft.com/office/drawing/2014/main" id="{50DBF95B-CD6E-4DCC-8739-EBCE0336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43175"/>
            <a:ext cx="4095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격리 복사본 구성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테스트 코드/저장 경로 분리</a:t>
            </a:r>
          </a:p>
        </p:txBody>
      </p:sp>
      <p:sp>
        <p:nvSpPr>
          <p:cNvPr id="21" name="흐름: 검사 실행 · 결과 파일 기록">
            <a:extLst xmlns:a="http://schemas.openxmlformats.org/drawingml/2006/main">
              <a:ext uri="{FF2B5EF4-FFF2-40B4-BE49-F238E27FC236}">
                <a16:creationId xmlns:a16="http://schemas.microsoft.com/office/drawing/2014/main" id="{8884F63D-22DD-418F-9A53-0FD0B9FD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9525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검사 실행 / 결과 파일 기록</a:t>
            </a:r>
          </a:p>
        </p:txBody>
      </p:sp>
      <p:sp>
        <p:nvSpPr>
          <p:cNvPr id="24" name="검증 코드는 배포 런타임 밖에 보관">
            <a:extLst xmlns:a="http://schemas.openxmlformats.org/drawingml/2006/main">
              <a:ext uri="{FF2B5EF4-FFF2-40B4-BE49-F238E27FC236}">
                <a16:creationId xmlns:a16="http://schemas.microsoft.com/office/drawing/2014/main" id="{F72EF23C-C7DB-47CE-81AC-DB2C4F6E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검증 코드는 배포 런타임 밖에 보관</a:t>
            </a:r>
          </a:p>
        </p:txBody>
      </p:sp>
      <p:sp>
        <p:nvSpPr>
          <p:cNvPr id="25" name="PowerShell로 복사본에만 테스트 드라이버를 주입합니다.&#10;실제 사용자 저장·옵션과 테스트 데이터를 분리합니다.">
            <a:extLst xmlns:a="http://schemas.openxmlformats.org/drawingml/2006/main">
              <a:ext uri="{FF2B5EF4-FFF2-40B4-BE49-F238E27FC236}">
                <a16:creationId xmlns:a16="http://schemas.microsoft.com/office/drawing/2014/main" id="{9FF1B3FA-9402-400D-A710-A2AD9BE6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95475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PowerShell로 복사본에만 테스트 드라이버를 주입합니다.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실제 사용자 저장/옵션과 테스트 데이터를 분리합니다.</a:t>
            </a:r>
          </a:p>
        </p:txBody>
      </p:sp>
      <p:sp>
        <p:nvSpPr>
          <p:cNvPr id="26" name="실행별 assertion 통과 횟수">
            <a:extLst xmlns:a="http://schemas.openxmlformats.org/drawingml/2006/main">
              <a:ext uri="{FF2B5EF4-FFF2-40B4-BE49-F238E27FC236}">
                <a16:creationId xmlns:a16="http://schemas.microsoft.com/office/drawing/2014/main" id="{69E011EE-F556-4ECC-ABE0-ED435646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90875"/>
            <a:ext cx="541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실행별 assertion 통과 횟수</a:t>
            </a:r>
          </a:p>
        </p:txBody>
      </p:sp>
      <p:sp>
        <p:nvSpPr>
          <p:cNvPr id="27" name="2026.10.22 · 에디터: 186회&#10;2026.10.19 · Unity 런타임: 582회&#10;2026.10.19 · Windo">
            <a:extLst xmlns:a="http://schemas.openxmlformats.org/drawingml/2006/main">
              <a:ext uri="{FF2B5EF4-FFF2-40B4-BE49-F238E27FC236}">
                <a16:creationId xmlns:a16="http://schemas.microsoft.com/office/drawing/2014/main" id="{BADE1B9C-2195-44A0-B97F-7A8F3C0F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5410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2026.10.22 / 에디터: 186회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2026.10.19 / Unity 런타임: 582회</a:t>
            </a:r>
          </a:p>
          <a:p xmlns:a="http://schemas.openxmlformats.org/drawingml/2006/main">
            <a:pPr>
              <a:buNone/>
              <a:def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2026.10.19 / Windows 재실행: 12회</a:t>
            </a:r>
          </a:p>
        </p:txBody>
      </p:sp>
      <p:sp>
        <p:nvSpPr>
          <p:cNvPr id="28" name="집계 기준: 조건 검증의 통과 판정 횟수 (반복 포함)">
            <a:extLst xmlns:a="http://schemas.openxmlformats.org/drawingml/2006/main">
              <a:ext uri="{FF2B5EF4-FFF2-40B4-BE49-F238E27FC236}">
                <a16:creationId xmlns:a16="http://schemas.microsoft.com/office/drawing/2014/main" id="{B41E0A9D-C5F8-4839-B46E-54ADC266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집계 기준: 조건 검증의 통과 판정 횟수 (반복 포함)</a:t>
            </a:r>
          </a:p>
        </p:txBody>
      </p:sp>
      <p:sp>
        <p:nvSpPr>
          <p:cNvPr id="29" name="각 검증 함수·콜백의 성공을 1회로 집계합니다. 독립 테스트 케이스 수가 아닙니다.">
            <a:extLst xmlns:a="http://schemas.openxmlformats.org/drawingml/2006/main">
              <a:ext uri="{FF2B5EF4-FFF2-40B4-BE49-F238E27FC236}">
                <a16:creationId xmlns:a16="http://schemas.microsoft.com/office/drawing/2014/main" id="{0384CCDA-C484-4275-876B-8BBB3B60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각 검증 함수/콜백의 성공을 1회로 집계합니다. 독립 테스트 케이스 수가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1254471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11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CFE3EBD-EB20-42ED-899B-12C8D5FD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E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소스·연락처">
            <a:extLst xmlns:a="http://schemas.openxmlformats.org/drawingml/2006/main">
              <a:ext uri="{FF2B5EF4-FFF2-40B4-BE49-F238E27FC236}">
                <a16:creationId xmlns:a16="http://schemas.microsoft.com/office/drawing/2014/main" id="{9B6BFC95-D67C-44E0-AA3E-6EAD6D69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ADBC6"/>
                </a:solidFill>
                <a:latin typeface="Noto Sans KR"/>
                <a:ea typeface="Noto Sans KR"/>
                <a:cs typeface="Noto Sans KR"/>
              </a:rPr>
              <a:t>소스와 연락처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6AD111B-268C-430D-A685-91983B60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소스 코드와 연락처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05CB708-AA48-4937-9536-DC9A88EF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276850" cy="1962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>
            <a:solidFill>
              <a:srgbClr val="3C56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42900" tIns="247650" rIns="228600" bIns="1524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538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342A5DF-C971-4D33-8B4C-352E4CC5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5467350" cy="1962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2C35"/>
          </a:solidFill>
          <a:ln xmlns:a="http://schemas.openxmlformats.org/drawingml/2006/main">
            <a:solidFill>
              <a:srgbClr val="3C566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2860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09B83C62-55FE-4293-A920-E7FC853C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9" name="Automation Test scenarios">
            <a:extLst xmlns:a="http://schemas.openxmlformats.org/drawingml/2006/main">
              <a:ext uri="{FF2B5EF4-FFF2-40B4-BE49-F238E27FC236}">
                <a16:creationId xmlns:a16="http://schemas.microsoft.com/office/drawing/2014/main" id="{3DD5A1C5-2438-404F-A1A3-9095EBC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25717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B2C35"/>
          </a:solidFill>
          <a:ln xmlns:a="http://schemas.openxmlformats.org/drawingml/2006/main" w="13335">
            <a:solidFill>
              <a:srgbClr val="9ADBC6"/>
            </a:solidFill>
          </a:ln>
        </p:spPr>
        <p:txBody>
          <a:bodyPr xmlns:a="http://schemas.openxmlformats.org/drawingml/2006/main" wrap="square" lIns="304800" tIns="228600" rIns="266700" bIns="190500" anchor="t">
            <a:noAutofit/>
          </a:bodyPr>
          <a:lstStyle xmlns:a="http://schemas.openxmlformats.org/drawingml/2006/main">
            <a:defPPr algn="l">
              <a:defRPr sz="142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5"/>
              </a:spcAft>
              <a:buNone/>
              <a:defRPr sz="1425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sp>
        <p:nvSpPr>
          <p:cNvPr id="11" name="GitHub code link 0">
            <a:extLst xmlns:a="http://schemas.openxmlformats.org/drawingml/2006/main">
              <a:ext uri="{FF2B5EF4-FFF2-40B4-BE49-F238E27FC236}">
                <a16:creationId xmlns:a16="http://schemas.microsoft.com/office/drawing/2014/main" id="{01410B54-0A53-4C8D-8893-5D47F218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34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7233cc08cbe6414d"/>
              </a:rPr>
              <a:t>GitHub / 전체 소스</a:t>
            </a:r>
          </a:p>
        </p:txBody>
      </p:sp>
      <p:pic>
        <p:nvPicPr>
          <p:cNvPr id="12" name="그림 11">
            <a:extLst xmlns:a="http://schemas.openxmlformats.org/drawingml/2006/main">
              <a:ext uri="{FF2B5EF4-FFF2-40B4-BE49-F238E27FC236}">
                <a16:creationId xmlns:a16="http://schemas.microsoft.com/office/drawing/2014/main" id="{FFEE7546-8039-422D-97E8-CC42F6827B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078b5ef494b7a"/>
          <a:stretch xmlns:a="http://schemas.openxmlformats.org/drawingml/2006/main"/>
        </p:blipFill>
        <p:spPr>
          <a:xfrm xmlns:a="http://schemas.openxmlformats.org/drawingml/2006/main">
            <a:off x="800100" y="2705100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13" name="개인 프로젝트 저장소">
            <a:extLst xmlns:a="http://schemas.openxmlformats.org/drawingml/2006/main">
              <a:ext uri="{FF2B5EF4-FFF2-40B4-BE49-F238E27FC236}">
                <a16:creationId xmlns:a16="http://schemas.microsoft.com/office/drawing/2014/main" id="{FD3C7860-9139-43F1-AEA0-AEC3122F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개인 프로젝트 저장소</a:t>
            </a:r>
          </a:p>
        </p:txBody>
      </p:sp>
      <p:sp>
        <p:nvSpPr>
          <p:cNvPr id="14" name="Unity / C# / URP 기반 전체 프로젝트">
            <a:extLst xmlns:a="http://schemas.openxmlformats.org/drawingml/2006/main">
              <a:ext uri="{FF2B5EF4-FFF2-40B4-BE49-F238E27FC236}">
                <a16:creationId xmlns:a16="http://schemas.microsoft.com/office/drawing/2014/main" id="{1ADF6A00-EDDA-41D6-B26A-8E15075A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Unity / C# / URP 기반 전체 프로젝트</a:t>
            </a:r>
          </a:p>
        </p:txBody>
      </p:sp>
      <p:sp>
        <p:nvSpPr>
          <p:cNvPr id="15" name="GitHub 코드 / README 문서">
            <a:extLst xmlns:a="http://schemas.openxmlformats.org/drawingml/2006/main">
              <a:ext uri="{FF2B5EF4-FFF2-40B4-BE49-F238E27FC236}">
                <a16:creationId xmlns:a16="http://schemas.microsoft.com/office/drawing/2014/main" id="{A739F65C-2A00-4203-B110-3EF8166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447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1d421eab0fb64e00"/>
              </a:rPr>
              <a:t>GitHub 코드</a:t>
            </a:r>
            <a:r>
              <a: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575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7a0710f31afb4a15"/>
              </a:rPr>
              <a:t>README 문서</a:t>
            </a:r>
          </a:p>
        </p:txBody>
      </p:sp>
      <p:sp>
        <p:nvSpPr>
          <p:cNvPr id="16" name="박장한 / 클라이언트 프로그래머">
            <a:extLst xmlns:a="http://schemas.openxmlformats.org/drawingml/2006/main">
              <a:ext uri="{FF2B5EF4-FFF2-40B4-BE49-F238E27FC236}">
                <a16:creationId xmlns:a16="http://schemas.microsoft.com/office/drawing/2014/main" id="{58103D9D-237A-425D-A75C-E3574C3C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박장한 / 클라이언트 프로그래머</a:t>
            </a:r>
          </a:p>
        </p:txBody>
      </p:sp>
      <p:sp>
        <p:nvSpPr>
          <p:cNvPr id="17" name="개발 기간  2026.09.17 ~ 현재 진행 중">
            <a:extLst xmlns:a="http://schemas.openxmlformats.org/drawingml/2006/main">
              <a:ext uri="{FF2B5EF4-FFF2-40B4-BE49-F238E27FC236}">
                <a16:creationId xmlns:a16="http://schemas.microsoft.com/office/drawing/2014/main" id="{F2D391BE-03C9-4B57-855D-656CB8A0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CE4E2"/>
                </a:solidFill>
                <a:latin typeface="Noto Sans KR"/>
                <a:ea typeface="Noto Sans KR"/>
                <a:cs typeface="Noto Sans KR"/>
              </a:rPr>
              <a:t>개발 기간  2026.09.17 ~ 현재 진행 중</a:t>
            </a:r>
          </a:p>
        </p:txBody>
      </p:sp>
      <p:sp>
        <p:nvSpPr>
          <p:cNvPr id="18" name="wkdgks88009@gmail.com">
            <a:extLst xmlns:a="http://schemas.openxmlformats.org/drawingml/2006/main">
              <a:ext uri="{FF2B5EF4-FFF2-40B4-BE49-F238E27FC236}">
                <a16:creationId xmlns:a16="http://schemas.microsoft.com/office/drawing/2014/main" id="{56A517E9-515B-45BD-AFA6-959812D0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97ae0e0dbeb84180"/>
              </a:rPr>
              <a:t>wkdgks88009@gmail.com</a:t>
            </a:r>
          </a:p>
        </p:txBody>
      </p:sp>
      <p:sp>
        <p:nvSpPr>
          <p:cNvPr id="19" name="GitHub msg1150">
            <a:extLst xmlns:a="http://schemas.openxmlformats.org/drawingml/2006/main">
              <a:ext uri="{FF2B5EF4-FFF2-40B4-BE49-F238E27FC236}">
                <a16:creationId xmlns:a16="http://schemas.microsoft.com/office/drawing/2014/main" id="{4A5F86CA-2E02-4683-8B0A-31021603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3370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b8bc9a83fae74812"/>
              </a:rPr>
              <a:t>GitHub msg1150</a:t>
            </a:r>
          </a:p>
        </p:txBody>
      </p:sp>
      <p:pic>
        <p:nvPicPr>
          <p:cNvPr id="20" name="그림 19">
            <a:extLst xmlns:a="http://schemas.openxmlformats.org/drawingml/2006/main">
              <a:ext uri="{FF2B5EF4-FFF2-40B4-BE49-F238E27FC236}">
                <a16:creationId xmlns:a16="http://schemas.microsoft.com/office/drawing/2014/main" id="{9CB9AE54-FAC3-45AC-A369-886B5E6834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078b5ef494b7a"/>
          <a:stretch xmlns:a="http://schemas.openxmlformats.org/drawingml/2006/main"/>
        </p:blipFill>
        <p:spPr>
          <a:xfrm xmlns:a="http://schemas.openxmlformats.org/drawingml/2006/main">
            <a:off x="609600" y="6362701"/>
            <a:ext cx="190500" cy="186612"/>
          </a:xfrm>
          <a:prstGeom xmlns:a="http://schemas.openxmlformats.org/drawingml/2006/main" prst="rect">
            <a:avLst/>
          </a:prstGeom>
        </p:spPr>
      </p:pic>
      <p:sp>
        <p:nvSpPr>
          <p:cNvPr id="25" name="GitHub / 개발 커밋 이력">
            <a:extLst xmlns:a="http://schemas.openxmlformats.org/drawingml/2006/main">
              <a:ext uri="{FF2B5EF4-FFF2-40B4-BE49-F238E27FC236}">
                <a16:creationId xmlns:a16="http://schemas.microsoft.com/office/drawing/2014/main" id="{E0FADD9B-901B-47CE-B980-1768EE37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334125"/>
            <a:ext cx="347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B8F3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u="sng">
                <a:solidFill>
                  <a:srgbClr val="B8F3FF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cecba0b03c3548f5"/>
              </a:rPr>
              <a:t>GitHub / 개발 커밋 이력</a:t>
            </a:r>
          </a:p>
        </p:txBody>
      </p:sp>
      <p:sp>
        <p:nvSpPr>
          <p:cNvPr id="26" name="구현 근거와 공통 성능 측정 환경">
            <a:extLst xmlns:a="http://schemas.openxmlformats.org/drawingml/2006/main">
              <a:ext uri="{FF2B5EF4-FFF2-40B4-BE49-F238E27FC236}">
                <a16:creationId xmlns:a16="http://schemas.microsoft.com/office/drawing/2014/main" id="{DEE62B19-6EAF-4601-80F0-4D455287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623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0E9DC"/>
                </a:solidFill>
                <a:latin typeface="Noto Sans KR"/>
                <a:ea typeface="Noto Sans KR"/>
                <a:cs typeface="Noto Sans KR"/>
              </a:rPr>
              <a:t>구현 근거와 공통 성능 측정 환경</a:t>
            </a:r>
          </a:p>
        </p:txBody>
      </p:sp>
      <p:sp>
        <p:nvSpPr>
          <p:cNvPr id="27" name="기능별 소스와 Tests/Tools의 검증 코드 / 첫 커밋 2026.09.17">
            <a:extLst xmlns:a="http://schemas.openxmlformats.org/drawingml/2006/main">
              <a:ext uri="{FF2B5EF4-FFF2-40B4-BE49-F238E27FC236}">
                <a16:creationId xmlns:a16="http://schemas.microsoft.com/office/drawing/2014/main" id="{56144A92-38B3-46E8-83B3-A8EF24CD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291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기능별 소스와 Tests/Tools의 검증 코드 / 첫 커밋 2026.09.17</a:t>
            </a:r>
          </a:p>
        </p:txBody>
      </p:sp>
      <p:sp>
        <p:nvSpPr>
          <p:cNvPr id="28" name="Unity 6000.6.0f1 / Windows Development Mono / DX11 / 1920x1080">
            <a:extLst xmlns:a="http://schemas.openxmlformats.org/drawingml/2006/main">
              <a:ext uri="{FF2B5EF4-FFF2-40B4-BE49-F238E27FC236}">
                <a16:creationId xmlns:a16="http://schemas.microsoft.com/office/drawing/2014/main" id="{ACA792DA-991F-419E-A450-5BA11581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291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Unity 6000.6.0f1 / Windows Development Mono / DX11 / 1920x1080</a:t>
            </a:r>
          </a:p>
        </p:txBody>
      </p:sp>
      <p:sp>
        <p:nvSpPr>
          <p:cNvPr id="29" name="i7-14650HX / RTX 5060 Laptop / VSync OFF / Deep Profile OFF">
            <a:extLst xmlns:a="http://schemas.openxmlformats.org/drawingml/2006/main">
              <a:ext uri="{FF2B5EF4-FFF2-40B4-BE49-F238E27FC236}">
                <a16:creationId xmlns:a16="http://schemas.microsoft.com/office/drawing/2014/main" id="{CAADC482-5D24-4D51-B741-76184F44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720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i7-14650HX / RTX 5060 Laptop / VSync OFF / Deep Profile OFF</a:t>
            </a:r>
          </a:p>
        </p:txBody>
      </p:sp>
      <p:sp>
        <p:nvSpPr>
          <p:cNvPr id="30" name="조건별 120프레임 예열 후 300프레임 x 3회 / 중앙값 / 2026.10.23 측정">
            <a:extLst xmlns:a="http://schemas.openxmlformats.org/drawingml/2006/main">
              <a:ext uri="{FF2B5EF4-FFF2-40B4-BE49-F238E27FC236}">
                <a16:creationId xmlns:a16="http://schemas.microsoft.com/office/drawing/2014/main" id="{764F6AB0-99A7-4538-A2C9-7EE87A41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149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8E2E3"/>
                </a:solidFill>
                <a:latin typeface="Noto Sans KR"/>
                <a:ea typeface="Noto Sans KR"/>
                <a:cs typeface="Noto Sans KR"/>
              </a:rPr>
              <a:t>조건별 120프레임 예열 후 300프레임 x 3회 / 중앙값 / 2026.10.23 측정</a:t>
            </a:r>
          </a:p>
        </p:txBody>
      </p:sp>
      <p:sp>
        <p:nvSpPr>
          <p:cNvPr id="31" name="단일 PC의 격리 대조 실험. 기법별 결과이며 전체 게임 성능을 대표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3D41E485-8285-4BE1-A027-CF1F09A1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7531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9EB2B7"/>
                </a:solidFill>
                <a:latin typeface="Noto Sans KR"/>
                <a:ea typeface="Noto Sans KR"/>
                <a:cs typeface="Noto Sans KR"/>
              </a:rPr>
              <a:t>단일 PC의 격리 대조 실험. 기법별 결과이며 전체 게임 성능을 대표하지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6133113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8F3FF"/>
      </a:hlink>
      <a:folHlink>
        <a:srgbClr val="B8F3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Presentation</dc:title>
  <dcterms:created xsi:type="dcterms:W3CDTF">2026-10-22T21:18:24.4640000Z</dcterms:created>
  <dcterms:modified xsi:type="dcterms:W3CDTF">2026-10-22T21:18:24.4640000Z</dcterms:modified>
</coreProperties>
</file>