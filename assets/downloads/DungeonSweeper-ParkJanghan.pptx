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e2a043adc04547" /><Relationship Type="http://schemas.openxmlformats.org/officeDocument/2006/relationships/extended-properties" Target="/docProps/app.xml" Id="R36d82bf0c1e5470d" /><Relationship Type="http://schemas.openxmlformats.org/officeDocument/2006/relationships/officeDocument" Target="/ppt/presentation.xml" Id="R5e29769868a642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cb5a1d83e04e6b"/>
  </p:sldMasterIdLst>
  <p:sldIdLst>
    <p:sldId xmlns:r="http://schemas.openxmlformats.org/officeDocument/2006/relationships" id="256" r:id="R54f5f1b55ad34464"/>
    <p:sldId xmlns:r="http://schemas.openxmlformats.org/officeDocument/2006/relationships" id="257" r:id="Ra0dfd4bc6cc54d5a"/>
    <p:sldId xmlns:r="http://schemas.openxmlformats.org/officeDocument/2006/relationships" id="258" r:id="Rc227bc6ca78343e3"/>
    <p:sldId xmlns:r="http://schemas.openxmlformats.org/officeDocument/2006/relationships" id="259" r:id="Rcbfeed0601ad49b1"/>
    <p:sldId xmlns:r="http://schemas.openxmlformats.org/officeDocument/2006/relationships" id="260" r:id="Rdfce0ad2921e4cb2"/>
    <p:sldId xmlns:r="http://schemas.openxmlformats.org/officeDocument/2006/relationships" id="261" r:id="R0b81097d58e24809"/>
    <p:sldId xmlns:r="http://schemas.openxmlformats.org/officeDocument/2006/relationships" id="262" r:id="R539ea66a9b1d435e"/>
    <p:sldId xmlns:r="http://schemas.openxmlformats.org/officeDocument/2006/relationships" id="263" r:id="R7219f70cef9f486c"/>
    <p:sldId xmlns:r="http://schemas.openxmlformats.org/officeDocument/2006/relationships" id="264" r:id="R8dc396ef2ed04024"/>
    <p:sldId xmlns:r="http://schemas.openxmlformats.org/officeDocument/2006/relationships" id="265" r:id="R69ce126a6d9f495f"/>
    <p:sldId xmlns:r="http://schemas.openxmlformats.org/officeDocument/2006/relationships" id="266" r:id="Ra6085ab14f084bd2"/>
    <p:sldId xmlns:r="http://schemas.openxmlformats.org/officeDocument/2006/relationships" id="267" r:id="R660757d7a341459b"/>
    <p:sldId xmlns:r="http://schemas.openxmlformats.org/officeDocument/2006/relationships" id="268" r:id="Rcab4dbe957644627"/>
    <p:sldId xmlns:r="http://schemas.openxmlformats.org/officeDocument/2006/relationships" id="269" r:id="R9ef8176966764244"/>
    <p:sldId xmlns:r="http://schemas.openxmlformats.org/officeDocument/2006/relationships" id="270" r:id="R41a926f53c374f27"/>
    <p:sldId xmlns:r="http://schemas.openxmlformats.org/officeDocument/2006/relationships" id="271" r:id="R6a5fc8c4a66c4b3f"/>
    <p:sldId xmlns:r="http://schemas.openxmlformats.org/officeDocument/2006/relationships" id="272" r:id="R233def6f08e147ad"/>
    <p:sldId xmlns:r="http://schemas.openxmlformats.org/officeDocument/2006/relationships" id="273" r:id="Rbd368f3b862e44fc"/>
    <p:sldId xmlns:r="http://schemas.openxmlformats.org/officeDocument/2006/relationships" id="274" r:id="Rd140a60e81d7493b"/>
    <p:sldId xmlns:r="http://schemas.openxmlformats.org/officeDocument/2006/relationships" id="275" r:id="Rf3142cd0161a4b56"/>
    <p:sldId xmlns:r="http://schemas.openxmlformats.org/officeDocument/2006/relationships" id="276" r:id="R255ee61b763042c2"/>
    <p:sldId xmlns:r="http://schemas.openxmlformats.org/officeDocument/2006/relationships" id="277" r:id="R9061dda633d3467f"/>
    <p:sldId xmlns:r="http://schemas.openxmlformats.org/officeDocument/2006/relationships" id="278" r:id="R352e78aba76742ce"/>
    <p:sldId xmlns:r="http://schemas.openxmlformats.org/officeDocument/2006/relationships" id="279" r:id="R65c0b31b165b4719"/>
    <p:sldId xmlns:r="http://schemas.openxmlformats.org/officeDocument/2006/relationships" id="280" r:id="R6787825094454050"/>
    <p:sldId xmlns:r="http://schemas.openxmlformats.org/officeDocument/2006/relationships" id="281" r:id="R3ce16ab2ae634b56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e618d732446e0" /><Relationship Type="http://schemas.openxmlformats.org/officeDocument/2006/relationships/slideMaster" Target="/ppt/slideMasters/slideMaster1.xml" Id="R3fcb5a1d83e04e6b" /><Relationship Type="http://schemas.openxmlformats.org/officeDocument/2006/relationships/presProps" Target="/ppt/presProps.xml" Id="Refb53193daab4bb0" /><Relationship Type="http://schemas.openxmlformats.org/officeDocument/2006/relationships/viewProps" Target="/ppt/viewProps.xml" Id="R6051c8b0ca124a6b" /><Relationship Type="http://schemas.openxmlformats.org/officeDocument/2006/relationships/tableStyles" Target="/ppt/tableStyles.xml" Id="R22fddc0d1c9a44df" /><Relationship Type="http://schemas.openxmlformats.org/officeDocument/2006/relationships/slide" Target="/ppt/slides/slide1.xml" Id="R54f5f1b55ad34464" /><Relationship Type="http://schemas.openxmlformats.org/officeDocument/2006/relationships/slide" Target="/ppt/slides/slide2.xml" Id="Ra0dfd4bc6cc54d5a" /><Relationship Type="http://schemas.openxmlformats.org/officeDocument/2006/relationships/slide" Target="/ppt/slides/slide3.xml" Id="Rc227bc6ca78343e3" /><Relationship Type="http://schemas.openxmlformats.org/officeDocument/2006/relationships/slide" Target="/ppt/slides/slide4.xml" Id="Rcbfeed0601ad49b1" /><Relationship Type="http://schemas.openxmlformats.org/officeDocument/2006/relationships/slide" Target="/ppt/slides/slide5.xml" Id="Rdfce0ad2921e4cb2" /><Relationship Type="http://schemas.openxmlformats.org/officeDocument/2006/relationships/slide" Target="/ppt/slides/slide6.xml" Id="R0b81097d58e24809" /><Relationship Type="http://schemas.openxmlformats.org/officeDocument/2006/relationships/slide" Target="/ppt/slides/slide7.xml" Id="R539ea66a9b1d435e" /><Relationship Type="http://schemas.openxmlformats.org/officeDocument/2006/relationships/slide" Target="/ppt/slides/slide8.xml" Id="R7219f70cef9f486c" /><Relationship Type="http://schemas.openxmlformats.org/officeDocument/2006/relationships/slide" Target="/ppt/slides/slide9.xml" Id="R8dc396ef2ed04024" /><Relationship Type="http://schemas.openxmlformats.org/officeDocument/2006/relationships/slide" Target="/ppt/slides/slide10.xml" Id="R69ce126a6d9f495f" /><Relationship Type="http://schemas.openxmlformats.org/officeDocument/2006/relationships/slide" Target="/ppt/slides/slide11.xml" Id="Ra6085ab14f084bd2" /><Relationship Type="http://schemas.openxmlformats.org/officeDocument/2006/relationships/slide" Target="/ppt/slides/slide12.xml" Id="R660757d7a341459b" /><Relationship Type="http://schemas.openxmlformats.org/officeDocument/2006/relationships/slide" Target="/ppt/slides/slide13.xml" Id="Rcab4dbe957644627" /><Relationship Type="http://schemas.openxmlformats.org/officeDocument/2006/relationships/slide" Target="/ppt/slides/slide14.xml" Id="R9ef8176966764244" /><Relationship Type="http://schemas.openxmlformats.org/officeDocument/2006/relationships/slide" Target="/ppt/slides/slide15.xml" Id="R41a926f53c374f27" /><Relationship Type="http://schemas.openxmlformats.org/officeDocument/2006/relationships/slide" Target="/ppt/slides/slide16.xml" Id="R6a5fc8c4a66c4b3f" /><Relationship Type="http://schemas.openxmlformats.org/officeDocument/2006/relationships/slide" Target="/ppt/slides/slide17.xml" Id="R233def6f08e147ad" /><Relationship Type="http://schemas.openxmlformats.org/officeDocument/2006/relationships/slide" Target="/ppt/slides/slide18.xml" Id="Rbd368f3b862e44fc" /><Relationship Type="http://schemas.openxmlformats.org/officeDocument/2006/relationships/slide" Target="/ppt/slides/slide19.xml" Id="Rd140a60e81d7493b" /><Relationship Type="http://schemas.openxmlformats.org/officeDocument/2006/relationships/slide" Target="/ppt/slides/slide20.xml" Id="Rf3142cd0161a4b56" /><Relationship Type="http://schemas.openxmlformats.org/officeDocument/2006/relationships/slide" Target="/ppt/slides/slide21.xml" Id="R255ee61b763042c2" /><Relationship Type="http://schemas.openxmlformats.org/officeDocument/2006/relationships/slide" Target="/ppt/slides/slide22.xml" Id="R9061dda633d3467f" /><Relationship Type="http://schemas.openxmlformats.org/officeDocument/2006/relationships/slide" Target="/ppt/slides/slide23.xml" Id="R352e78aba76742ce" /><Relationship Type="http://schemas.openxmlformats.org/officeDocument/2006/relationships/slide" Target="/ppt/slides/slide24.xml" Id="R65c0b31b165b4719" /><Relationship Type="http://schemas.openxmlformats.org/officeDocument/2006/relationships/slide" Target="/ppt/slides/slide25.xml" Id="R6787825094454050" /><Relationship Type="http://schemas.openxmlformats.org/officeDocument/2006/relationships/slide" Target="/ppt/slides/slide26.xml" Id="R3ce16ab2ae634b5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f79f7131a4a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d8a823b0fb48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00da32c54f4c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0f4bd3e07c46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1898f4ce7345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814b8f9dde41e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0a048d30c344e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7e89fe8b424eb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56a1b9f18b4fa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3e8bd4d0624f7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74797e3b244d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273a6f3d5d47b1" /><Relationship Type="http://schemas.openxmlformats.org/officeDocument/2006/relationships/slideLayout" Target="/ppt/slideLayouts/slideLayout1.xml" Id="Rfdd733fc99fd4dfd" /><Relationship Type="http://schemas.openxmlformats.org/officeDocument/2006/relationships/slideLayout" Target="/ppt/slideLayouts/slideLayout2.xml" Id="Rbebebe57b3304273" /><Relationship Type="http://schemas.openxmlformats.org/officeDocument/2006/relationships/slideLayout" Target="/ppt/slideLayouts/slideLayout3.xml" Id="R4575c8722f2e417d" /><Relationship Type="http://schemas.openxmlformats.org/officeDocument/2006/relationships/slideLayout" Target="/ppt/slideLayouts/slideLayout4.xml" Id="R091dc0ef84f84f64" /><Relationship Type="http://schemas.openxmlformats.org/officeDocument/2006/relationships/slideLayout" Target="/ppt/slideLayouts/slideLayout5.xml" Id="R393212265a8a4808" /><Relationship Type="http://schemas.openxmlformats.org/officeDocument/2006/relationships/slideLayout" Target="/ppt/slideLayouts/slideLayout6.xml" Id="R36ba3526ad5e4b30" /><Relationship Type="http://schemas.openxmlformats.org/officeDocument/2006/relationships/slideLayout" Target="/ppt/slideLayouts/slideLayout7.xml" Id="Raedd739810cb4121" /><Relationship Type="http://schemas.openxmlformats.org/officeDocument/2006/relationships/slideLayout" Target="/ppt/slideLayouts/slideLayout8.xml" Id="Rbefdf43fd12840f5" /><Relationship Type="http://schemas.openxmlformats.org/officeDocument/2006/relationships/slideLayout" Target="/ppt/slideLayouts/slideLayout9.xml" Id="Rf16834b05ced40eb" /><Relationship Type="http://schemas.openxmlformats.org/officeDocument/2006/relationships/slideLayout" Target="/ppt/slideLayouts/slideLayout10.xml" Id="R7cd09fc745824833" /><Relationship Type="http://schemas.openxmlformats.org/officeDocument/2006/relationships/slideLayout" Target="/ppt/slideLayouts/slideLayout11.xml" Id="R24c0f67c4b90415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d733fc99fd4dfd"/>
    <p:sldLayoutId xmlns:r="http://schemas.openxmlformats.org/officeDocument/2006/relationships" id="2147483650" r:id="Rbebebe57b3304273"/>
    <p:sldLayoutId xmlns:r="http://schemas.openxmlformats.org/officeDocument/2006/relationships" id="2147483651" r:id="R4575c8722f2e417d"/>
    <p:sldLayoutId xmlns:r="http://schemas.openxmlformats.org/officeDocument/2006/relationships" id="2147483652" r:id="R091dc0ef84f84f64"/>
    <p:sldLayoutId xmlns:r="http://schemas.openxmlformats.org/officeDocument/2006/relationships" id="2147483653" r:id="R393212265a8a4808"/>
    <p:sldLayoutId xmlns:r="http://schemas.openxmlformats.org/officeDocument/2006/relationships" id="2147483654" r:id="R36ba3526ad5e4b30"/>
    <p:sldLayoutId xmlns:r="http://schemas.openxmlformats.org/officeDocument/2006/relationships" id="2147483655" r:id="Raedd739810cb4121"/>
    <p:sldLayoutId xmlns:r="http://schemas.openxmlformats.org/officeDocument/2006/relationships" id="2147483656" r:id="Rbefdf43fd12840f5"/>
    <p:sldLayoutId xmlns:r="http://schemas.openxmlformats.org/officeDocument/2006/relationships" id="2147483657" r:id="Rf16834b05ced40eb"/>
    <p:sldLayoutId xmlns:r="http://schemas.openxmlformats.org/officeDocument/2006/relationships" id="2147483658" r:id="R7cd09fc745824833"/>
    <p:sldLayoutId xmlns:r="http://schemas.openxmlformats.org/officeDocument/2006/relationships" id="2147483659" r:id="R24c0f67c4b90415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8F3FF"/>
      </a:hlink>
      <a:folHlink>
        <a:srgbClr val="B8F3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7c6ade23b949d4" /><Relationship Type="http://schemas.openxmlformats.org/officeDocument/2006/relationships/image" Target="/ppt/media/image.png" Id="Ra091d096f51647d6" /><Relationship Type="http://schemas.openxmlformats.org/officeDocument/2006/relationships/image" Target="/ppt/media/image.svg" Id="R6933472d33e14536" /><Relationship Type="http://schemas.openxmlformats.org/officeDocument/2006/relationships/image" Target="/ppt/media/image2.png" Id="Ra96a437eb16c4612" /><Relationship Type="http://schemas.openxmlformats.org/officeDocument/2006/relationships/image" Target="/ppt/media/image2.svg" Id="Rc4a534cd9a664c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5bbc95292445f2" /><Relationship Type="http://schemas.openxmlformats.org/officeDocument/2006/relationships/image" Target="/ppt/media/image3.png" Id="Re98dbe4e365449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17b577ff3d4851" /><Relationship Type="http://schemas.openxmlformats.org/officeDocument/2006/relationships/hyperlink" Target="https://github.com/msg1150/DungeonSweeper/blob/main/Assets/Scripts/Runtime/Dungeon/Runtime/DungeonRunController.Floors.cs" TargetMode="External" Id="R1ae3cfa488e04c76" /><Relationship Type="http://schemas.openxmlformats.org/officeDocument/2006/relationships/image" Target="/ppt/media/image4.png" Id="R481a527e3a964733" /><Relationship Type="http://schemas.openxmlformats.org/officeDocument/2006/relationships/image" Target="/ppt/media/image5.png" Id="Rf03b177392bc4187" /><Relationship Type="http://schemas.openxmlformats.org/officeDocument/2006/relationships/hyperlink" Target="https://github.com/msg1150/DungeonSweeper/blob/main/Assets/Scripts/Runtime/Dungeon/Data/DungeonExpeditionData.cs" TargetMode="External" Id="R3acefd23ab364c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45bc18a72d4cc9" /><Relationship Type="http://schemas.openxmlformats.org/officeDocument/2006/relationships/hyperlink" Target="https://github.com/msg1150/DungeonSweeper/blob/main/Assets/Scripts/Runtime/Dungeon/Runtime/DungeonRunController.Persistence.cs" TargetMode="External" Id="R2accc66634454519" /><Relationship Type="http://schemas.openxmlformats.org/officeDocument/2006/relationships/image" Target="/ppt/media/image6.png" Id="Re53d0a1858bc4d7c" /><Relationship Type="http://schemas.openxmlformats.org/officeDocument/2006/relationships/image" Target="/ppt/media/image7.png" Id="Rbc2774b304f94bac" /><Relationship Type="http://schemas.openxmlformats.org/officeDocument/2006/relationships/hyperlink" Target="https://github.com/msg1150/DungeonSweeper/blob/main/Assets/Scripts/Runtime/Dungeon/Data/DungeonExpeditionData.cs" TargetMode="External" Id="R453f9163643242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4ff046d542467b" /><Relationship Type="http://schemas.openxmlformats.org/officeDocument/2006/relationships/hyperlink" Target="https://github.com/msg1150/DungeonSweeper/blob/main/Assets/Scripts/Runtime/Persistence/GameSaveService.cs" TargetMode="External" Id="R90b965157097498c" /><Relationship Type="http://schemas.openxmlformats.org/officeDocument/2006/relationships/image" Target="/ppt/media/image8.png" Id="R7f5dfc5e57f642e0" /><Relationship Type="http://schemas.openxmlformats.org/officeDocument/2006/relationships/image" Target="/ppt/media/image9.png" Id="Rbbf3fc687cdd441c" /><Relationship Type="http://schemas.openxmlformats.org/officeDocument/2006/relationships/hyperlink" Target="https://github.com/msg1150/DungeonSweeper/blob/main/Assets/Scripts/Runtime/Persistence/SaveFileProtection.cs" TargetMode="External" Id="R7362dff52a7042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5c602a80db4d4a" /><Relationship Type="http://schemas.openxmlformats.org/officeDocument/2006/relationships/hyperlink" Target="https://github.com/msg1150/DungeonSweeper/blob/main/Assets/Scripts/Runtime/Inventory/GridInventory.cs" TargetMode="External" Id="R566562fb37dc4da0" /><Relationship Type="http://schemas.openxmlformats.org/officeDocument/2006/relationships/image" Target="/ppt/media/image10.png" Id="Rc41702c7cf414172" /><Relationship Type="http://schemas.openxmlformats.org/officeDocument/2006/relationships/image" Target="/ppt/media/image11.png" Id="R176c97956d14478e" /><Relationship Type="http://schemas.openxmlformats.org/officeDocument/2006/relationships/hyperlink" Target="https://github.com/msg1150/DungeonSweeper/blob/main/Assets/Scripts/Runtime/Recovery/DismantleSession.cs" TargetMode="External" Id="Rabe7398facf249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89ba25871d4962" /><Relationship Type="http://schemas.openxmlformats.org/officeDocument/2006/relationships/hyperlink" Target="https://github.com/msg1150/DungeonSweeper/blob/main/Assets/Scripts/Runtime/UI/Menus/GameShell.cs" TargetMode="External" Id="R85fc9378ba734ac1" /><Relationship Type="http://schemas.openxmlformats.org/officeDocument/2006/relationships/image" Target="/ppt/media/image12.png" Id="Re728fb3b97b24693" /><Relationship Type="http://schemas.openxmlformats.org/officeDocument/2006/relationships/image" Target="/ppt/media/image13.png" Id="R8b2a02bea31d4b65" /><Relationship Type="http://schemas.openxmlformats.org/officeDocument/2006/relationships/hyperlink" Target="https://github.com/msg1150/DungeonSweeper/blob/main/Assets/Scripts/Runtime/Core/GameSession.cs" TargetMode="External" Id="R1beca082740744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1516d53fd3466f" /><Relationship Type="http://schemas.openxmlformats.org/officeDocument/2006/relationships/hyperlink" Target="https://github.com/msg1150/DungeonSweeper/blob/main/Assets/Scripts/Runtime/Dungeon/Generation/DungeonMapGenerator.cs" TargetMode="External" Id="R4c30b621c6844f3f" /><Relationship Type="http://schemas.openxmlformats.org/officeDocument/2006/relationships/image" Target="/ppt/media/image14.png" Id="Rd8334e17255c476a" /><Relationship Type="http://schemas.openxmlformats.org/officeDocument/2006/relationships/image" Target="/ppt/media/image15.png" Id="R2b819fb522404ff2" /><Relationship Type="http://schemas.openxmlformats.org/officeDocument/2006/relationships/hyperlink" Target="https://github.com/msg1150/DungeonSweeper/blob/main/Assets/Editor/Dungeons/DungeonGenerationPreview.cs" TargetMode="External" Id="Rb6846e3d4e3b49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80db8714e841c2" /><Relationship Type="http://schemas.openxmlformats.org/officeDocument/2006/relationships/hyperlink" Target="https://github.com/msg1150/DungeonSweeper/blob/main/Assets/Editor/Dungeons/DungeonBuilderWindow.cs" TargetMode="External" Id="R0bd4986512c4481f" /><Relationship Type="http://schemas.openxmlformats.org/officeDocument/2006/relationships/image" Target="/ppt/media/image16.png" Id="Rb1e233ae80a14ab4" /><Relationship Type="http://schemas.openxmlformats.org/officeDocument/2006/relationships/image" Target="/ppt/media/image17.png" Id="Reda0367ec5bd4cf7" /><Relationship Type="http://schemas.openxmlformats.org/officeDocument/2006/relationships/hyperlink" Target="https://github.com/msg1150/DungeonSweeper/blob/main/Assets/Editor/Dungeons/DungeonAuthoringService.cs" TargetMode="External" Id="R78ffe430218848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b8a2f01f914b3b" /><Relationship Type="http://schemas.openxmlformats.org/officeDocument/2006/relationships/hyperlink" Target="https://github.com/msg1150/DungeonSweeper/blob/main/Assets/Editor/Dungeons/DungeonDeletionService.cs" TargetMode="External" Id="R0280a46b75e34320" /><Relationship Type="http://schemas.openxmlformats.org/officeDocument/2006/relationships/image" Target="/ppt/media/image18.png" Id="Rd9b23f6030304e7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e3722d79284fc1" /><Relationship Type="http://schemas.openxmlformats.org/officeDocument/2006/relationships/hyperlink" Target="https://github.com/msg1150/DungeonSweeper/blob/main/Assets/Scripts/Runtime/Inventory/LootRewardTable.cs" TargetMode="External" Id="Re462fcc85bf340ea" /><Relationship Type="http://schemas.openxmlformats.org/officeDocument/2006/relationships/image" Target="/ppt/media/image19.png" Id="Re18d7d1f5a9741f9" /><Relationship Type="http://schemas.openxmlformats.org/officeDocument/2006/relationships/image" Target="/ppt/media/image20.png" Id="Rd7c46c625e654605" /><Relationship Type="http://schemas.openxmlformats.org/officeDocument/2006/relationships/hyperlink" Target="https://github.com/msg1150/DungeonSweeper/blob/main/Assets/Editor/Inspectors/LootRewardTableEditor.cs" TargetMode="External" Id="R99e3012b9d1644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3df2841f914fef" /><Relationship Type="http://schemas.openxmlformats.org/officeDocument/2006/relationships/hyperlink" Target="https://github.com/msg1150/DungeonSweeper/blob/main/Assets/Scripts/Runtime/Inventory/GridInventory.cs" TargetMode="External" Id="R718b1e6ec40b4020" /><Relationship Type="http://schemas.openxmlformats.org/officeDocument/2006/relationships/image" Target="/ppt/media/image21.png" Id="R7c71fe83b6b5457e" /><Relationship Type="http://schemas.openxmlformats.org/officeDocument/2006/relationships/image" Target="/ppt/media/image22.png" Id="R4f9bf2e00735431d" /><Relationship Type="http://schemas.openxmlformats.org/officeDocument/2006/relationships/hyperlink" Target="https://github.com/msg1150/DungeonSweeper/blob/main/Assets/Scripts/Runtime/Inventory/LootDefinition.cs" TargetMode="External" Id="R69385ecb028d46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53a787f73e434e" /><Relationship Type="http://schemas.openxmlformats.org/officeDocument/2006/relationships/hyperlink" Target="https://github.com/msg1150/DungeonSweeper/blob/main/Assets/Scripts/Runtime/Town/TownWarehouseProgress.cs" TargetMode="External" Id="R0bc8efc2f96943c8" /><Relationship Type="http://schemas.openxmlformats.org/officeDocument/2006/relationships/image" Target="/ppt/media/image23.png" Id="Re506f9e9a52d4872" /><Relationship Type="http://schemas.openxmlformats.org/officeDocument/2006/relationships/image" Target="/ppt/media/image24.png" Id="R0a0ba29ed7344130" /><Relationship Type="http://schemas.openxmlformats.org/officeDocument/2006/relationships/hyperlink" Target="https://github.com/msg1150/DungeonSweeper/blob/main/Assets/Scripts/Runtime/Town/TownEconomyConfig.cs" TargetMode="External" Id="R34f6e52a899f4e7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361cfdaa8444bf" /><Relationship Type="http://schemas.openxmlformats.org/officeDocument/2006/relationships/hyperlink" Target="https://github.com/msg1150/DungeonSweeper/blob/main/Assets/Scripts/Runtime/Town/TownWarehouseProgress.cs" TargetMode="External" Id="R4821b5e099bc480d" /><Relationship Type="http://schemas.openxmlformats.org/officeDocument/2006/relationships/image" Target="/ppt/media/image25.png" Id="R8380f498c61943b0" /><Relationship Type="http://schemas.openxmlformats.org/officeDocument/2006/relationships/image" Target="/ppt/media/image26.png" Id="R88b4d6af540e4c11" /><Relationship Type="http://schemas.openxmlformats.org/officeDocument/2006/relationships/hyperlink" Target="https://github.com/msg1150/DungeonSweeper/blob/main/Assets/Scripts/Runtime/Town/TownEconomyConfig.cs" TargetMode="External" Id="R7c93575747bf451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d0e78ef2474228" /><Relationship Type="http://schemas.openxmlformats.org/officeDocument/2006/relationships/hyperlink" Target="https://github.com/msg1150/DungeonSweeper/blob/main/Assets/Scripts/Runtime/Actors/Monsters/EnemyAgent.cs" TargetMode="External" Id="R868274286af34a47" /><Relationship Type="http://schemas.openxmlformats.org/officeDocument/2006/relationships/image" Target="/ppt/media/image27.png" Id="Re5ab7762848f4040" /><Relationship Type="http://schemas.openxmlformats.org/officeDocument/2006/relationships/image" Target="/ppt/media/image28.png" Id="Rd15b41f3d01442fc" /><Relationship Type="http://schemas.openxmlformats.org/officeDocument/2006/relationships/hyperlink" Target="https://github.com/msg1150/DungeonSweeper/blob/main/Assets/Scripts/Runtime/Presentation/Actors/MonsterAwarenessIndicator.cs" TargetMode="External" Id="R01bf8f301bda428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4e141feb7e478d" /><Relationship Type="http://schemas.openxmlformats.org/officeDocument/2006/relationships/hyperlink" Target="https://github.com/msg1150/DungeonSweeper/blob/main/Assets/Scripts/Runtime/Dungeon/World/DungeonLayoutFactory.cs" TargetMode="External" Id="R6a552d9151dc48eb" /><Relationship Type="http://schemas.openxmlformats.org/officeDocument/2006/relationships/image" Target="/ppt/media/image29.png" Id="Red7ac00ae3014674" /><Relationship Type="http://schemas.openxmlformats.org/officeDocument/2006/relationships/image" Target="/ppt/media/image30.png" Id="R6808110823bc4986" /><Relationship Type="http://schemas.openxmlformats.org/officeDocument/2006/relationships/hyperlink" Target="https://github.com/msg1150/DungeonSweeper/blob/main/Assets/Scripts/Runtime/Actors/Monsters/EnemyAgent.cs" TargetMode="External" Id="R1b0a1aa460fa4a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7c4c71aee940ea" /><Relationship Type="http://schemas.openxmlformats.org/officeDocument/2006/relationships/hyperlink" Target="https://github.com/msg1150/DungeonSweeper/blob/main/Assets/Scripts/Runtime/Dungeon/Runtime/DungeonRunController.Hiding.cs" TargetMode="External" Id="Rbfccd66e1f694bed" /><Relationship Type="http://schemas.openxmlformats.org/officeDocument/2006/relationships/image" Target="/ppt/media/image31.png" Id="R254c385dc8b14ad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f9d4bab3404898" /><Relationship Type="http://schemas.openxmlformats.org/officeDocument/2006/relationships/hyperlink" Target="https://github.com/msg1150/DungeonSweeper/blob/main/Assets/Scripts/Runtime/Dungeon/Runtime/DungeonActorPool.cs" TargetMode="External" Id="R5c6f1917752244fd" /><Relationship Type="http://schemas.openxmlformats.org/officeDocument/2006/relationships/image" Target="/ppt/media/image32.png" Id="R4056bdca4e1643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513a4074fd4779" /><Relationship Type="http://schemas.openxmlformats.org/officeDocument/2006/relationships/hyperlink" Target="https://github.com/msg1150/DungeonSweeper/blob/main/Assets/Scripts/Runtime/UI/Dungeon/DungeonMinimapTexture.cs" TargetMode="External" Id="Rdae1bf9b8771493c" /><Relationship Type="http://schemas.openxmlformats.org/officeDocument/2006/relationships/image" Target="/ppt/media/image33.png" Id="R719b12a443074d19" /><Relationship Type="http://schemas.openxmlformats.org/officeDocument/2006/relationships/image" Target="/ppt/media/image34.png" Id="R0b5c2c829b2849b3" /><Relationship Type="http://schemas.openxmlformats.org/officeDocument/2006/relationships/hyperlink" Target="https://github.com/msg1150/DungeonSweeper/blob/main/Assets/Scripts/Runtime/Diagnostics/MonsterPerceptionLines.cs" TargetMode="External" Id="R475e98c6aa284af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87eb80e270481f" /><Relationship Type="http://schemas.openxmlformats.org/officeDocument/2006/relationships/hyperlink" Target="https://github.com/msg1150/DungeonSweeper/blob/main/Assets/Scripts/Runtime/Presentation/World/ThreeDWorldView.cs" TargetMode="External" Id="Rc1dc984a8b3b4bab" /><Relationship Type="http://schemas.openxmlformats.org/officeDocument/2006/relationships/image" Target="/ppt/media/image35.png" Id="R13bf0bad610c4d4b" /><Relationship Type="http://schemas.openxmlformats.org/officeDocument/2006/relationships/image" Target="/ppt/media/image36.png" Id="Re77590e98fee4a09" /><Relationship Type="http://schemas.openxmlformats.org/officeDocument/2006/relationships/hyperlink" Target="https://github.com/msg1150/DungeonSweeper/blob/main/Assets/Scripts/Runtime/Dungeon/World/DungeonLayoutFactory.cs" TargetMode="External" Id="Rc990409dceab47b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9e1a3c744a4d73" /><Relationship Type="http://schemas.openxmlformats.org/officeDocument/2006/relationships/hyperlink" Target="https://github.com/msg1150/DungeonSweeper/blob/main/Assets/Scripts/Runtime/Presentation/World/SpriteDepthView.cs" TargetMode="External" Id="R5e34ed799df94362" /><Relationship Type="http://schemas.openxmlformats.org/officeDocument/2006/relationships/image" Target="/ppt/media/image37.png" Id="R7c0079cb6db244a0" /><Relationship Type="http://schemas.openxmlformats.org/officeDocument/2006/relationships/image" Target="/ppt/media/image38.png" Id="Rcc619e0fc08c4fc3" /><Relationship Type="http://schemas.openxmlformats.org/officeDocument/2006/relationships/hyperlink" Target="https://github.com/msg1150/DungeonSweeper/blob/main/Assets/Scripts/Runtime/Presentation/World/ThreeDWorldView.cs" TargetMode="External" Id="Rdadea86ea7cf427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7543e7154543e1" /><Relationship Type="http://schemas.openxmlformats.org/officeDocument/2006/relationships/hyperlink" Target="https://github.com/msg1150/DungeonSweeper/blob/main/Assets/Scripts/Runtime/Presentation/World/DungeonVisionOverlayRenderer.cs" TargetMode="External" Id="Rfadea907d270437b" /><Relationship Type="http://schemas.openxmlformats.org/officeDocument/2006/relationships/image" Target="/ppt/media/image39.png" Id="R8b0a4b14644c489d" /><Relationship Type="http://schemas.openxmlformats.org/officeDocument/2006/relationships/image" Target="/ppt/media/image40.png" Id="R251c703f07cf4824" /><Relationship Type="http://schemas.openxmlformats.org/officeDocument/2006/relationships/hyperlink" Target="https://github.com/msg1150/DungeonSweeper/blob/main/Assets/Scripts/Runtime/Dungeon/Data/DungeonVisionSettings.cs" TargetMode="External" Id="R493e44765fb94db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bd31417546424f" /><Relationship Type="http://schemas.openxmlformats.org/officeDocument/2006/relationships/hyperlink" Target="https://github.com/msg1150/DungeonSweeper/blob/main/Assets/Scripts/Runtime/Recovery/DismantleSession.cs" TargetMode="External" Id="Rdd44742d81314687" /><Relationship Type="http://schemas.openxmlformats.org/officeDocument/2006/relationships/image" Target="/ppt/media/image41.png" Id="Rab99f0cd29ef416a" /><Relationship Type="http://schemas.openxmlformats.org/officeDocument/2006/relationships/image" Target="/ppt/media/image42.png" Id="R2ec8fe82c043482f" /><Relationship Type="http://schemas.openxmlformats.org/officeDocument/2006/relationships/hyperlink" Target="https://github.com/msg1150/DungeonSweeper/blob/main/Assets/Scripts/Runtime/Dungeon/Runtime/DungeonRunController.Interactions.cs" TargetMode="External" Id="R54513a0c050e401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7e4a2bed4f4f8d" /><Relationship Type="http://schemas.openxmlformats.org/officeDocument/2006/relationships/hyperlink" Target="https://github.com/msg1150/DungeonSweeper/blob/main/Tools/Validate-GameFlow.ps1" TargetMode="External" Id="Rf2290951525648f4" /><Relationship Type="http://schemas.openxmlformats.org/officeDocument/2006/relationships/image" Target="/ppt/media/image43.png" Id="R5160bd1ddc37464d" /><Relationship Type="http://schemas.openxmlformats.org/officeDocument/2006/relationships/image" Target="/ppt/media/image44.png" Id="R2e7e59dbdef34506" /><Relationship Type="http://schemas.openxmlformats.org/officeDocument/2006/relationships/hyperlink" Target="https://github.com/msg1150/DungeonSweeper/blob/main/Tests/ValidationRuntimeDriver.cs" TargetMode="External" Id="Ra1b039f7f8b241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d95b38bd0b4e4b" /><Relationship Type="http://schemas.openxmlformats.org/officeDocument/2006/relationships/image" Target="/ppt/media/image3.png" Id="R349d8d88ca1048b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b3724457cd44fd" /><Relationship Type="http://schemas.openxmlformats.org/officeDocument/2006/relationships/hyperlink" Target="https://github.com/msg1150/DungeonSweeper" TargetMode="External" Id="R25b86e8f5530401b" /><Relationship Type="http://schemas.openxmlformats.org/officeDocument/2006/relationships/image" Target="/ppt/media/image45.png" Id="R3b01daf5106945a6" /><Relationship Type="http://schemas.openxmlformats.org/officeDocument/2006/relationships/hyperlink" Target="https://github.com/msg1150/DungeonSweeper" TargetMode="External" Id="R737bd45757f5468c" /><Relationship Type="http://schemas.openxmlformats.org/officeDocument/2006/relationships/hyperlink" Target="https://github.com/msg1150/DungeonSweeper/blob/main/README.md" TargetMode="External" Id="Re65cc1423220432f" /><Relationship Type="http://schemas.openxmlformats.org/officeDocument/2006/relationships/hyperlink" Target="mailto:wkdgks88009@gmail.com" TargetMode="External" Id="Rc8153d44d4fb4c26" /><Relationship Type="http://schemas.openxmlformats.org/officeDocument/2006/relationships/hyperlink" Target="https://github.com/msg1150" TargetMode="External" Id="R242df917a08d431e" /><Relationship Type="http://schemas.openxmlformats.org/officeDocument/2006/relationships/image" Target="/ppt/media/image46.png" Id="R055b0e0ed62b4b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A402B1-DD23-4DC6-BC26-F7B1E8E3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095DD6-0C14-4556-A650-F75833A1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CLIENT PROGRAMMER PORTFOLIO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12EB8C-D88F-4B1E-9B22-1213FF65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 Sweeper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B923404-B9A7-4725-A7E2-32DD56A3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박장한 / 클라이언트 프로그래머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비전투 전리품 회수 게임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2026.09 ~ 현재 개발 진행 중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33CCA3C-516D-4EA8-9E37-92BB70CA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762500" cy="198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47650" rIns="247650" bIns="24765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주요 구현</a:t>
            </a:r>
          </a:p>
          <a:p xmlns:a="http://schemas.openxmlformats.org/drawingml/2006/main">
            <a:pPr algn="l">
              <a:spcAft>
                <a:spcPts val="7"/>
              </a:spcAft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여러 층 탐험과 저장·복원</a:t>
            </a:r>
          </a:p>
          <a:p xmlns:a="http://schemas.openxmlformats.org/drawingml/2006/main">
            <a:pPr algn="l">
              <a:spcAft>
                <a:spcPts val="7"/>
              </a:spcAft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던전 자동 생성·수동 편집 도구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공간형 가방·마을 경제·몬스터 경로 탐색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9DFEBF4-E631-47C8-8D08-B32D0DBC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09600"/>
            <a:ext cx="3543300" cy="565785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182880" rIns="228600" bIns="182880" anchor="ctr"/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  <a:defRPr sz="130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61ABA5E6-ECA4-448E-BCCF-57FA919C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334125"/>
            <a:ext cx="354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88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88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프로젝트 대표 이미지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EC0C23D2-E58C-47CA-986B-5174CF0F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FF679DCE-C7EB-496B-B218-63EDE248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57425"/>
            <a:ext cx="190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Unity 6000.6.0f1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5D7753-42DC-4E55-9802-1331D3E5CD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1d096f51647d6">
            <a:extLst>
              <a:ext uri="{96DAC541-7B7A-43D3-8B79-37D633B846F1}">
                <asvg:svgBlip xmlns:asvg="http://schemas.microsoft.com/office/drawing/2016/SVG/main" r:embed="R6933472d33e145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152650"/>
            <a:ext cx="590550" cy="590550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BEB98-FE32-4371-94DF-588B00E21B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a437eb16c4612">
            <a:extLst>
              <a:ext uri="{96DAC541-7B7A-43D3-8B79-37D633B846F1}">
                <asvg:svgBlip xmlns:asvg="http://schemas.microsoft.com/office/drawing/2016/SVG/main" r:embed="Rc4a534cd9a664c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371850" y="2152650"/>
            <a:ext cx="523875" cy="590550"/>
          </a:xfrm>
          <a:prstGeom xmlns:a="http://schemas.openxmlformats.org/drawingml/2006/main" prst="rect">
            <a:avLst/>
          </a:prstGeom>
        </p:spPr>
      </p:pic>
      <p:sp>
        <p:nvSpPr>
          <p:cNvPr id="15" name="미디어 삽입 영역 - Dungeon Sweeper 대표 장면">
            <a:extLst xmlns:a="http://schemas.openxmlformats.org/drawingml/2006/main">
              <a:ext uri="{FF2B5EF4-FFF2-40B4-BE49-F238E27FC236}">
                <a16:creationId xmlns:a16="http://schemas.microsoft.com/office/drawing/2014/main" id="{64FC023C-35B8-4588-BA19-0FDFB7CF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5295900" cy="2981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[ 이미지 · 대표 플레이 화면 삽입 ]">
            <a:extLst xmlns:a="http://schemas.openxmlformats.org/drawingml/2006/main">
              <a:ext uri="{FF2B5EF4-FFF2-40B4-BE49-F238E27FC236}">
                <a16:creationId xmlns:a16="http://schemas.microsoft.com/office/drawing/2014/main" id="{1CBFB328-36E9-49AC-925E-2867E629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17" name="Dungeon Sweeper 대표 장면">
            <a:extLst xmlns:a="http://schemas.openxmlformats.org/drawingml/2006/main">
              <a:ext uri="{FF2B5EF4-FFF2-40B4-BE49-F238E27FC236}">
                <a16:creationId xmlns:a16="http://schemas.microsoft.com/office/drawing/2014/main" id="{65397414-502B-41F6-8AEA-235BF92A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335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18" name="2.5D 던전·플레이어·미니맵이 함께 보이는 화면&#10;전리품 또는 ">
            <a:extLst xmlns:a="http://schemas.openxmlformats.org/drawingml/2006/main">
              <a:ext uri="{FF2B5EF4-FFF2-40B4-BE49-F238E27FC236}">
                <a16:creationId xmlns:a16="http://schemas.microsoft.com/office/drawing/2014/main" id="{4E0966EB-411F-43ED-A07F-A9626E8A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52675"/>
            <a:ext cx="49149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0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2F62CA2D-EF27-4107-80CB-188C70D4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148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203321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B3DC714-D698-48E3-AE11-C991A7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6920B6-11A0-4091-9295-D742F39B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01 | PROJECT OVERVIEW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4FD3263-2DB0-40CB-85AD-3DB988FF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프로젝트 개요와 주요 구현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A8F889F-D8DC-43D8-9ABA-278B1BB6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 Sweeper</a:t>
            </a:r>
          </a:p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6000.6.0f1 기반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비전투 전리품 회수 게임</a:t>
            </a:r>
          </a:p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개발 기간  2026.09 ~ 현재 진행 중</a:t>
            </a:r>
          </a:p>
          <a:p xmlns:a="http://schemas.openxmlformats.org/drawingml/2006/main">
            <a:pPr algn="l">
              <a:spcAft>
                <a:spcPts val="6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개인 프로젝트</a:t>
            </a:r>
          </a:p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여러 층 탐험 / 저장·복원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던전 생성·편집 / 가방·마을 경제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몬스터 경로 탐색 / 2.5D 표시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개발 환경: C# / URP / Input System</a:t>
            </a:r>
            <a:b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대상 플랫폼: Windows 64비트 싱글 플레이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6701208-7008-4F40-AF10-24116AC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01 탐험과 저장</a:t>
            </a:r>
          </a:p>
          <a:p xmlns:a="http://schemas.openxmlformats.org/drawingml/2006/main">
            <a:pPr algn="l">
              <a:spcAft>
                <a:spcPts val="6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층별 진행 보존과 작업 상태 복원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02 던전 제작 도구</a:t>
            </a:r>
          </a:p>
          <a:p xmlns:a="http://schemas.openxmlformats.org/drawingml/2006/main">
            <a:pPr algn="l">
              <a:spcAft>
                <a:spcPts val="6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시드 생성·미리보기·에셋 채택과 수동 편집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03 가방과 마을 경제</a:t>
            </a:r>
          </a:p>
          <a:p xmlns:a="http://schemas.openxmlformats.org/drawingml/2006/main">
            <a:pPr algn="l">
              <a:spcAft>
                <a:spcPts val="6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점유 셀 배치와 거래 결과의 일괄 반영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04 몬스터 AI</a:t>
            </a:r>
          </a:p>
          <a:p xmlns:a="http://schemas.openxmlformats.org/drawingml/2006/main">
            <a:pPr algn="l">
              <a:spcAft>
                <a:spcPts val="6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시야·소음·은신과 BFS 경로 이동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05 런타임과 렌더링</a:t>
            </a:r>
          </a:p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프리팹 풀·지도 캐시·2.5D 표시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검증: 격리 프로젝트와 Windows 실행 검사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83A27D07-EA0F-4F9A-B832-B6389E0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 xmlns:a="http://schemas.openxmlformats.org/drawingml/2006/main">
              <a:ext uri="{FF2B5EF4-FFF2-40B4-BE49-F238E27FC236}">
                <a16:creationId xmlns:a16="http://schemas.microsoft.com/office/drawing/2014/main" id="{B6878052-95A6-49B5-829F-4A0BE53E54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dbe4e3654492e"/>
          <a:stretch xmlns:a="http://schemas.openxmlformats.org/drawingml/2006/main"/>
        </p:blipFill>
        <p:spPr>
          <a:xfrm xmlns:a="http://schemas.openxmlformats.org/drawingml/2006/main">
            <a:off x="609600" y="6362700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9" name="GitHub link legend">
            <a:extLst xmlns:a="http://schemas.openxmlformats.org/drawingml/2006/main">
              <a:ext uri="{FF2B5EF4-FFF2-40B4-BE49-F238E27FC236}">
                <a16:creationId xmlns:a16="http://schemas.microsoft.com/office/drawing/2014/main" id="{E23A9C9E-9F33-4993-81BC-EB43EA83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43650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</p:spTree>
    <p:extLst>
      <p:ext uri="{BB962C8B-B14F-4D97-AF65-F5344CB8AC3E}">
        <p14:creationId xmlns:p14="http://schemas.microsoft.com/office/powerpoint/2010/main" val="398749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01 | MULTI FLOOR STATE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계단을 왕복해도 유지되는 층별 탐험 상태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계단 왕복과 층별 진행 보존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계단으로 1층 → 2층 → 1층 이동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시작 시 모든 층의 조건 확정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도면과 프리팹 목록을 독립 스냅샷으로 만듭니다.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진행 중 원본 에셋을 편집해도 현재 탐험의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구조와 콘텐츠 규칙은 유지됩니다.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ae3cfa488e04c76"/>
              </a:rPr>
              <a:t>GitHub / 층 이동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층만 구성하고 방문 상태 보존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층을 떠날 때 몬스터·시체·탐색 기록을 보관합니다.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다시 방문하면 위치와 진행을 복원하며,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다른 층에 있는 동안 해당 층은 갱신하지 않습니다.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 이동과 저장 복원에 같은 탐험 데이터를 사용</a:t>
            </a:r>
          </a:p>
        </p:txBody>
      </p:sp>
      <p:sp>
        <p:nvSpPr>
          <p:cNvPr id="15" name="체력·가방·대시 쿨다운을 유지하고, 층 이동 완료 후 현재 층과">
            <a:extLst xmlns:a="http://schemas.openxmlformats.org/drawingml/2006/main">
              <a:ext uri="{FF2B5EF4-FFF2-40B4-BE49-F238E27FC236}">
                <a16:creationId xmlns:a16="http://schemas.microsoft.com/office/drawing/2014/main" id="{733DC5D8-4F41-4A14-8DDE-3792C023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체력·가방·대시 쿨다운을 유지하고, 층 이동 완료 후 현재 층과 방문 상태를 자동 저장합니다.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6FF84-42AD-47BD-9B91-2B7A2906E2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a527e3a964733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66A92C-074C-4812-BBFC-D074A97F16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b177392bc4187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1E340-BB29-406E-9E23-3A179E66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3acefd23ab364c4f"/>
              </a:rPr>
              <a:t>GitHub / 탐험 데이터</a:t>
            </a:r>
          </a:p>
        </p:txBody>
      </p:sp>
      <p:sp>
        <p:nvSpPr>
          <p:cNvPr id="19" name="미디어 삽입 영역 - 층 이동 전후의 탐험 상태">
            <a:extLst xmlns:a="http://schemas.openxmlformats.org/drawingml/2006/main">
              <a:ext uri="{FF2B5EF4-FFF2-40B4-BE49-F238E27FC236}">
                <a16:creationId xmlns:a16="http://schemas.microsoft.com/office/drawing/2014/main" id="{3C93461A-CAE0-4A89-ADED-D9E08539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5~20초 삽입 ]">
            <a:extLst xmlns:a="http://schemas.openxmlformats.org/drawingml/2006/main">
              <a:ext uri="{FF2B5EF4-FFF2-40B4-BE49-F238E27FC236}">
                <a16:creationId xmlns:a16="http://schemas.microsoft.com/office/drawing/2014/main" id="{D5F642EE-4C08-412D-A8DE-97F94E02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층 이동 전후의 탐험 상태">
            <a:extLst xmlns:a="http://schemas.openxmlformats.org/drawingml/2006/main">
              <a:ext uri="{FF2B5EF4-FFF2-40B4-BE49-F238E27FC236}">
                <a16:creationId xmlns:a16="http://schemas.microsoft.com/office/drawing/2014/main" id="{269C1F97-1177-4EFC-90D5-B77BA897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한 층에서 몬스터 처치·전리품 획득 후 다른 층으로 이동&#10;원래 ">
            <a:extLst xmlns:a="http://schemas.openxmlformats.org/drawingml/2006/main">
              <a:ext uri="{FF2B5EF4-FFF2-40B4-BE49-F238E27FC236}">
                <a16:creationId xmlns:a16="http://schemas.microsoft.com/office/drawing/2014/main" id="{E2A92330-F12D-4C07-8DB0-6B092D5B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6초">
            <a:extLst xmlns:a="http://schemas.openxmlformats.org/drawingml/2006/main">
              <a:ext uri="{FF2B5EF4-FFF2-40B4-BE49-F238E27FC236}">
                <a16:creationId xmlns:a16="http://schemas.microsoft.com/office/drawing/2014/main" id="{B7295041-B56E-47AE-ACD0-D478D868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91DF6E04-1246-477D-9C2E-BB9C7856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01 | INDEPENDENT SNAPSHOT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작업과 남은 타이머까지 담는 탐험 스냅샷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후 같은 작업 이어하기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슬롯 로드 후 이어지는 해체 포인터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전체와 현재 작업을 함께 캡처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플레이어 체력·이동·무적, 가방·미배치 전리품,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몬스터·시체·탐색 기록과 현재 층을 저장합니다.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해체 중인 시체와 전리품 화면 열림도 포함합니다.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accc66634454519"/>
              </a:rPr>
              <a:t>GitHub / 탐험 저장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실행 상태와 독립적인 복사본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도면·스폰·보상과 방문 상태를 독립 복사합니다.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반환한 현재 층의 목록을 실제 탐험에 직접 연결하지 않아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호출자가 스냅샷을 수정해도 원본 상태를 보존합니다.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로드 후에도 같은 작업을 이어갈 수 있는 단위로 설계</a:t>
            </a:r>
          </a:p>
        </p:txBody>
      </p:sp>
      <p:sp>
        <p:nvSpPr>
          <p:cNvPr id="15" name="미배치 전리품이 있으면 정리 화면과 시간 정지를 복원하고, 은신">
            <a:extLst xmlns:a="http://schemas.openxmlformats.org/drawingml/2006/main">
              <a:ext uri="{FF2B5EF4-FFF2-40B4-BE49-F238E27FC236}">
                <a16:creationId xmlns:a16="http://schemas.microsoft.com/office/drawing/2014/main" id="{9E6B8E19-324F-437D-92E2-8BBA75C9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미배치 전리품이 있으면 정리 화면과 시간 정지를 복원하고, 은신 중이면 원래 숨은 좌표를 사용합니다.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47FFA-3FDC-4749-83AC-8AA16484C6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d0a1858bc4d7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27BEFD-A10F-4A13-AA2E-DE77479D0C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774b304f94ba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49B000-756A-488A-B24C-C3A6A4C1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53f9163643242ca"/>
              </a:rPr>
              <a:t>GitHub / 층 데이터</a:t>
            </a:r>
          </a:p>
        </p:txBody>
      </p:sp>
      <p:sp>
        <p:nvSpPr>
          <p:cNvPr id="19" name="미디어 삽입 영역 - 저장 후 같은 작업 이어하기">
            <a:extLst xmlns:a="http://schemas.openxmlformats.org/drawingml/2006/main">
              <a:ext uri="{FF2B5EF4-FFF2-40B4-BE49-F238E27FC236}">
                <a16:creationId xmlns:a16="http://schemas.microsoft.com/office/drawing/2014/main" id="{178A3275-1169-49C0-9EFB-6EBF0763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5~20초 삽입 ]">
            <a:extLst xmlns:a="http://schemas.openxmlformats.org/drawingml/2006/main">
              <a:ext uri="{FF2B5EF4-FFF2-40B4-BE49-F238E27FC236}">
                <a16:creationId xmlns:a16="http://schemas.microsoft.com/office/drawing/2014/main" id="{9EB84745-8A49-4D75-8E2A-79BBAEBE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저장 후 같은 작업 이어하기">
            <a:extLst xmlns:a="http://schemas.openxmlformats.org/drawingml/2006/main">
              <a:ext uri="{FF2B5EF4-FFF2-40B4-BE49-F238E27FC236}">
                <a16:creationId xmlns:a16="http://schemas.microsoft.com/office/drawing/2014/main" id="{B401C5CD-263B-43AC-AF55-0C4F5B23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해체 또는 가방 정리 도중 저장 후 게임 재실행&#10;작업 진행·남은">
            <a:extLst xmlns:a="http://schemas.openxmlformats.org/drawingml/2006/main">
              <a:ext uri="{FF2B5EF4-FFF2-40B4-BE49-F238E27FC236}">
                <a16:creationId xmlns:a16="http://schemas.microsoft.com/office/drawing/2014/main" id="{3EA824C7-95E7-4D82-B349-CDE1B649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4초">
            <a:extLst xmlns:a="http://schemas.openxmlformats.org/drawingml/2006/main">
              <a:ext uri="{FF2B5EF4-FFF2-40B4-BE49-F238E27FC236}">
                <a16:creationId xmlns:a16="http://schemas.microsoft.com/office/drawing/2014/main" id="{900CCB53-127A-44EA-9111-98DD82D6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F501F2AE-F9BC-46E1-A686-0DFAB648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01 | SAVE PROTECTION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진행 복원과 파일 교체를 고려한 저장 시스템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슬롯과 백업 복구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격리 검증: Windows DPAPI·파일 변조 거부 검사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파일 보호와 데이터 구조 검증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Windows DPAPI로 사용자별 암호화를 적용합니다.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슬롯별 보호 목적을 구분해 파일 바꿔치기를 거부하고,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복호화 후 버전·수치·가방 배치를 다시 검사합니다.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0b965157097498c"/>
              </a:rPr>
              <a:t>GitHub / 저장 서비스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임시 파일과 정상 백업으로 교체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임시 파일을 먼저 기록한 뒤 주 저장본을 교체합니다.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손상 시 검증된 백업을 읽고, 둘 다 유효하지 않으면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불러오기를 거부해 잘못된 상태의 진입을 막습니다.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보호 범위는 Windows 사용자 계정</a:t>
            </a:r>
          </a:p>
        </p:txBody>
      </p:sp>
      <p:sp>
        <p:nvSpPr>
          <p:cNvPr id="15" name="다른 PC·계정 이전과 클라우드 동기화 정책은 별도로 필요하며,">
            <a:extLst xmlns:a="http://schemas.openxmlformats.org/drawingml/2006/main">
              <a:ext uri="{FF2B5EF4-FFF2-40B4-BE49-F238E27FC236}">
                <a16:creationId xmlns:a16="http://schemas.microsoft.com/office/drawing/2014/main" id="{CF43035D-F62A-4686-AD0E-DBD8B201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다른 PC·계정 이전과 클라우드 동기화 정책은 별도로 필요하며, 메모리 변조까지 방지하지는 않습니다.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8E77C4-E14F-4913-8639-D7FB49D5ED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5dfc5e57f642e0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29D92B-4634-4739-A778-CBD225600C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fc687cdd441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E2C9FC-44E5-4E3D-98A0-7C3ECA33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362dff52a704291"/>
              </a:rPr>
              <a:t>GitHub / 파일 보호</a:t>
            </a:r>
          </a:p>
        </p:txBody>
      </p:sp>
      <p:sp>
        <p:nvSpPr>
          <p:cNvPr id="19" name="미디어 삽입 영역 - 정상 저장과 백업 복구 결과">
            <a:extLst xmlns:a="http://schemas.openxmlformats.org/drawingml/2006/main">
              <a:ext uri="{FF2B5EF4-FFF2-40B4-BE49-F238E27FC236}">
                <a16:creationId xmlns:a16="http://schemas.microsoft.com/office/drawing/2014/main" id="{03174CD4-9E36-4C0F-84F0-F217F597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이미지 · 결과 비교 2장 삽입 ]">
            <a:extLst xmlns:a="http://schemas.openxmlformats.org/drawingml/2006/main">
              <a:ext uri="{FF2B5EF4-FFF2-40B4-BE49-F238E27FC236}">
                <a16:creationId xmlns:a16="http://schemas.microsoft.com/office/drawing/2014/main" id="{305B8DB1-5CE4-4C9D-9CB2-D93EC9D1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정상 저장과 백업 복구 결과">
            <a:extLst xmlns:a="http://schemas.openxmlformats.org/drawingml/2006/main">
              <a:ext uri="{FF2B5EF4-FFF2-40B4-BE49-F238E27FC236}">
                <a16:creationId xmlns:a16="http://schemas.microsoft.com/office/drawing/2014/main" id="{F64F1FB8-A8C9-4616-BE91-8F7881D0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정상 슬롯 로드 화면과 손상 파일의 백업 복구 결과&#10;슬롯 구분·">
            <a:extLst xmlns:a="http://schemas.openxmlformats.org/drawingml/2006/main">
              <a:ext uri="{FF2B5EF4-FFF2-40B4-BE49-F238E27FC236}">
                <a16:creationId xmlns:a16="http://schemas.microsoft.com/office/drawing/2014/main" id="{EFDC0BB2-2555-4397-932E-6F66411A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E1949D77-AFDA-4044-8C6B-1A90D028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문제 해결 | SAVE RESTORE ATOMICITY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복원 실패가 현재 가방을 훼손하지 않도록 처리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손상된 가방 데이터 복원 검사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격리 검증: 겹치는 항목 거부 후 기존 가방 상태 보존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문제와 원인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항목을 읽는 중 현재 가방을 바꾸면,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뒤쪽 항목에서 복원에 실패했을 때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이전까지 변경한 내용만 남을 수 있습니다.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66562fb37dc4da0"/>
              </a:rPr>
              <a:t>GitHub / 가방 복원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임시 가방에서 검증 후 일괄 반영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모든 전리품과 점유 셀을 임시 가방에서 검사하고,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검증이 끝난 상태만 한 번에 반영합니다.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실패하면 현재 아이템 객체·배치·합계를 유지합니다.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가방 복원과 해체 복원의 상태 보존</a:t>
            </a:r>
          </a:p>
        </p:txBody>
      </p:sp>
      <p:sp>
        <p:nvSpPr>
          <p:cNvPr id="15" name="가방의 점유 셀·아이템·다음 ID를 함께 반영합니다. 해체 복원">
            <a:extLst xmlns:a="http://schemas.openxmlformats.org/drawingml/2006/main">
              <a:ext uri="{FF2B5EF4-FFF2-40B4-BE49-F238E27FC236}">
                <a16:creationId xmlns:a16="http://schemas.microsoft.com/office/drawing/2014/main" id="{5FFC22DF-64DD-45F1-95D0-086B7FAE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가방의 점유 셀·아이템·다음 ID를 함께 반영합니다. 해체 복원은 저장된 성공 창을 사용해</a:t>
            </a:r>
          </a:p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복원만으로 난수를 소비하지 않도록 별도 생성 경로를 사용합니다.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27C450-0798-4C2E-9330-8C39CCC8A4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1702c7cf414172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8DB86-4A8A-4282-978A-3460A996CC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c97956d14478e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5CB44-AEE7-43C2-9291-D55D8F40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be7398facf249bc"/>
              </a:rPr>
              <a:t>GitHub / 해체 복원</a:t>
            </a:r>
          </a:p>
        </p:txBody>
      </p:sp>
      <p:sp>
        <p:nvSpPr>
          <p:cNvPr id="19" name="미디어 삽입 영역 - 가방 복원 실패 시 상태 보존">
            <a:extLst xmlns:a="http://schemas.openxmlformats.org/drawingml/2006/main">
              <a:ext uri="{FF2B5EF4-FFF2-40B4-BE49-F238E27FC236}">
                <a16:creationId xmlns:a16="http://schemas.microsoft.com/office/drawing/2014/main" id="{E2E5EB4D-3AA1-4BE3-8180-0BC4D68E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이미지 · 테스트 결과 삽입 ]">
            <a:extLst xmlns:a="http://schemas.openxmlformats.org/drawingml/2006/main">
              <a:ext uri="{FF2B5EF4-FFF2-40B4-BE49-F238E27FC236}">
                <a16:creationId xmlns:a16="http://schemas.microsoft.com/office/drawing/2014/main" id="{A6AB795A-7FD3-45A0-A7F6-FE1A3A11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가방 복원 실패 시 상태 보존">
            <a:extLst xmlns:a="http://schemas.openxmlformats.org/drawingml/2006/main">
              <a:ext uri="{FF2B5EF4-FFF2-40B4-BE49-F238E27FC236}">
                <a16:creationId xmlns:a16="http://schemas.microsoft.com/office/drawing/2014/main" id="{96FA664B-A324-47B0-84A1-AB189F23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손상 항목 또는 겹치는 배치를 거부한 검사 결과&#10;복원 전후 아이">
            <a:extLst xmlns:a="http://schemas.openxmlformats.org/drawingml/2006/main">
              <a:ext uri="{FF2B5EF4-FFF2-40B4-BE49-F238E27FC236}">
                <a16:creationId xmlns:a16="http://schemas.microsoft.com/office/drawing/2014/main" id="{82AAF640-DD77-4A54-AC85-401D7EA4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3A84BFFF-2F4D-40E0-8B0D-9C7C3FCD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01 | SAVE FAILURE FLOW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저장 실패의 재시도와 정상 종료 보호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실패와 재시도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실패 안내·재시도·메인 복귀 취소 화면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저장 요청을 성공할 때까지 유지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게임 상태 변경 후 AutosavePending을 설정합니다.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실패 시 요청을 지우지 않고 5초 뒤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최신 게임 상태를 캡처해 다시 저장합니다.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5fc9378ba734ac1"/>
              </a:rPr>
              <a:t>GitHub / 자동 저장·종료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저장에 실패하면 정상 복귀·종료를 중단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메인 화면 이동과 종료 전에 자동 저장을 수행합니다.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실패하면 오류를 표시하고 현재 게임을 유지하며,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wantsToQuit에서도 저장 성공 여부로 종료를 결정합니다.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정상 종료 경로에서의 저장 실패를 사용자에게 노출</a:t>
            </a:r>
          </a:p>
        </p:txBody>
      </p:sp>
      <p:sp>
        <p:nvSpPr>
          <p:cNvPr id="15" name="강제 종료·전원 차단까지 보장하지 않으며, 마지막으로 성공한 저">
            <a:extLst xmlns:a="http://schemas.openxmlformats.org/drawingml/2006/main">
              <a:ext uri="{FF2B5EF4-FFF2-40B4-BE49-F238E27FC236}">
                <a16:creationId xmlns:a16="http://schemas.microsoft.com/office/drawing/2014/main" id="{EDC2AF6E-B38C-4BB9-99C2-3BF54109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강제 종료·전원 차단까지 보장하지 않으며, 마지막으로 성공한 저장 이후의 변경은 잃을 수 있습니다.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073FC6-B7F1-40F6-B674-CE52381C45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8fb3b97b24693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36E01-5D59-4D0E-98EB-477ACB4E24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a02bea31d4b65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A7FE63-F2B0-438E-817A-6FC9ACF0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beca0827407447d"/>
              </a:rPr>
              <a:t>GitHub / 저장 요청</a:t>
            </a:r>
          </a:p>
        </p:txBody>
      </p:sp>
      <p:sp>
        <p:nvSpPr>
          <p:cNvPr id="19" name="미디어 삽입 영역 - 저장 실패 안내와 재시도">
            <a:extLst xmlns:a="http://schemas.openxmlformats.org/drawingml/2006/main">
              <a:ext uri="{FF2B5EF4-FFF2-40B4-BE49-F238E27FC236}">
                <a16:creationId xmlns:a16="http://schemas.microsoft.com/office/drawing/2014/main" id="{15F4BD0B-72C3-4C40-8EE2-AD994446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5AB48466-F91C-4BB2-9B14-FE275B0F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영상 · 12~18초 삽입 ]</a:t>
            </a:r>
          </a:p>
        </p:txBody>
      </p:sp>
      <p:sp>
        <p:nvSpPr>
          <p:cNvPr id="21" name="저장 실패 안내와 재시도">
            <a:extLst xmlns:a="http://schemas.openxmlformats.org/drawingml/2006/main">
              <a:ext uri="{FF2B5EF4-FFF2-40B4-BE49-F238E27FC236}">
                <a16:creationId xmlns:a16="http://schemas.microsoft.com/office/drawing/2014/main" id="{0F160E58-66B2-4726-96C8-CCE8801E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실패 안내와 재시도</a:t>
            </a:r>
          </a:p>
        </p:txBody>
      </p:sp>
      <p:sp>
        <p:nvSpPr>
          <p:cNvPr id="22" name="저장 실패 상태에서 메뉴 복귀·종료 시도&#10;오류 표시와 현재 게임">
            <a:extLst xmlns:a="http://schemas.openxmlformats.org/drawingml/2006/main">
              <a:ext uri="{FF2B5EF4-FFF2-40B4-BE49-F238E27FC236}">
                <a16:creationId xmlns:a16="http://schemas.microsoft.com/office/drawing/2014/main" id="{D5F0D720-6A9E-4F0F-A6F5-5709D5C1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실패 상태에서 메뉴 복귀·종료 시도</a:t>
            </a:r>
          </a:p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오류 표시와 현재 게임 유지 후 저장 재시도 성공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02 | SEEDED GENERATION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시드로 재현하고 미리 본 도면을 그대로 채택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생성과 층별 미리보기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실제 Dungeon Builder: 시드 1150의 생성 미리보기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방과 통로가 연결되는 도면 생성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영역을 분할해 방을 만들고 통로로 연결합니다.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일부 순환 통로를 추가한 뒤 입구·계단과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은신처를 배치하고 도면의 유효성을 검사합니다.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c30b621c6844f3f"/>
              </a:rPr>
              <a:t>GitHub / 생성기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후보 검토와 저장 시점 분리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독립 PRNG로 같은 시드의 결과를 재현합니다.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미리보기는 게임 난수나 카탈로그를 바꾸지 않고,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채택할 때만 새 던전 에셋으로 저장합니다.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게임 입장 시에는 채택한 도면을 사용</a:t>
            </a:r>
          </a:p>
        </p:txBody>
      </p:sp>
      <p:sp>
        <p:nvSpPr>
          <p:cNvPr id="15" name="런타임에서 맵을 다시 생성하지 않아 제작자가 확인한 구조와 실제">
            <a:extLst xmlns:a="http://schemas.openxmlformats.org/drawingml/2006/main">
              <a:ext uri="{FF2B5EF4-FFF2-40B4-BE49-F238E27FC236}">
                <a16:creationId xmlns:a16="http://schemas.microsoft.com/office/drawing/2014/main" id="{0549F93E-7E8E-403A-9C42-47AC1EED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런타임에서 맵을 다시 생성하지 않아 제작자가 확인한 구조와 실제 탐험 구조를 맞춥니다.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BFCADB-72BA-4219-99E1-0D5EC16225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34e17255c476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690F8-86CE-40EA-98A9-1227296CE5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19fb522404ff2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8D84DC-5F1E-4B9B-8B03-7DA1435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6846e3d4e3b493e"/>
              </a:rPr>
              <a:t>GitHub / 미리보기</a:t>
            </a:r>
          </a:p>
        </p:txBody>
      </p:sp>
      <p:sp>
        <p:nvSpPr>
          <p:cNvPr id="19" name="미디어 삽입 영역 - 같은 시드의 생성 결과와 채택">
            <a:extLst xmlns:a="http://schemas.openxmlformats.org/drawingml/2006/main">
              <a:ext uri="{FF2B5EF4-FFF2-40B4-BE49-F238E27FC236}">
                <a16:creationId xmlns:a16="http://schemas.microsoft.com/office/drawing/2014/main" id="{EA9A2872-B2B8-4E1E-A8BA-7ECC3B78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5~20초 삽입 ]">
            <a:extLst xmlns:a="http://schemas.openxmlformats.org/drawingml/2006/main">
              <a:ext uri="{FF2B5EF4-FFF2-40B4-BE49-F238E27FC236}">
                <a16:creationId xmlns:a16="http://schemas.microsoft.com/office/drawing/2014/main" id="{9E176769-8245-4B98-9F72-64155CFA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같은 시드의 생성 결과와 채택">
            <a:extLst xmlns:a="http://schemas.openxmlformats.org/drawingml/2006/main">
              <a:ext uri="{FF2B5EF4-FFF2-40B4-BE49-F238E27FC236}">
                <a16:creationId xmlns:a16="http://schemas.microsoft.com/office/drawing/2014/main" id="{E4C010B4-4523-4D52-8EF5-911E8768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시드 입력·자동 생성·층별 미리보기·에셋 채택&#10;채택한 던전을 마">
            <a:extLst xmlns:a="http://schemas.openxmlformats.org/drawingml/2006/main">
              <a:ext uri="{FF2B5EF4-FFF2-40B4-BE49-F238E27FC236}">
                <a16:creationId xmlns:a16="http://schemas.microsoft.com/office/drawing/2014/main" id="{08734310-D7D1-4DCD-9AD1-D7350A7B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F3697FC2-51C5-4B8E-AF2D-E8CE6BD5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02 | DUNGEON BUILDER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씬을 새로 만들지 않고 던전을 편집하는 제작 도구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던전 도면 편집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실제 Dungeon Builder: 도면·계단·층 설정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격자 도면과 층별 콘텐츠 편집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바닥·벽·입구·계단·은신처를 편집합니다.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층별 몬스터·시체 프리팹과 수량을 지정하고,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던전별 시야·어둠 설정도 함께 관리합니다.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bd4986512c4481f"/>
              </a:rPr>
              <a:t>GitHub / 제작 창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후 게임 카탈로그에 등록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 연결과 입구·계단의 유효성을 검사합니다.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시 던전과 사용 프리팹을 등록해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마을의 던전 선택창에서 바로 사용합니다.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제작 데이터와 실제 실행 경로를 연결</a:t>
            </a:r>
          </a:p>
        </p:txBody>
      </p:sp>
      <p:sp>
        <p:nvSpPr>
          <p:cNvPr id="15" name="층마다 4~64칸의 가로·세로, 최대 16층을 지원하며 Play">
            <a:extLst xmlns:a="http://schemas.openxmlformats.org/drawingml/2006/main">
              <a:ext uri="{FF2B5EF4-FFF2-40B4-BE49-F238E27FC236}">
                <a16:creationId xmlns:a16="http://schemas.microsoft.com/office/drawing/2014/main" id="{76B93F4F-2B43-4B34-9B63-A6E8988D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층마다 4~64칸의 가로·세로, 최대 16층을 지원하며 Play 중 도면 편집은 잠급니다.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3E9B68-B558-4324-B178-F9782FF096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e233ae80a14ab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A388F0-D518-4DB4-9FF3-439C31320D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0367ec5bd4cf7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B6363-8F43-4ED4-8B3C-8D09FAAE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8ffe43021884878"/>
              </a:rPr>
              <a:t>GitHub / 등록</a:t>
            </a:r>
          </a:p>
        </p:txBody>
      </p:sp>
      <p:sp>
        <p:nvSpPr>
          <p:cNvPr id="19" name="미디어 삽입 영역 - 던전 제작 도구의 편집 흐름">
            <a:extLst xmlns:a="http://schemas.openxmlformats.org/drawingml/2006/main">
              <a:ext uri="{FF2B5EF4-FFF2-40B4-BE49-F238E27FC236}">
                <a16:creationId xmlns:a16="http://schemas.microsoft.com/office/drawing/2014/main" id="{E6C6205D-D67F-4E6D-94B7-00D921E7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5~20초 삽입 ]">
            <a:extLst xmlns:a="http://schemas.openxmlformats.org/drawingml/2006/main">
              <a:ext uri="{FF2B5EF4-FFF2-40B4-BE49-F238E27FC236}">
                <a16:creationId xmlns:a16="http://schemas.microsoft.com/office/drawing/2014/main" id="{C9CD5312-6A1D-4C8D-B91C-0DD41EF9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던전 제작 도구의 편집 흐름">
            <a:extLst xmlns:a="http://schemas.openxmlformats.org/drawingml/2006/main">
              <a:ext uri="{FF2B5EF4-FFF2-40B4-BE49-F238E27FC236}">
                <a16:creationId xmlns:a16="http://schemas.microsoft.com/office/drawing/2014/main" id="{12668D41-6689-4502-81F8-8D8FCD02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바닥·벽·입구·계단·은신처와 몬스터 수량 편집&#10;유효성 검사 후 ">
            <a:extLst xmlns:a="http://schemas.openxmlformats.org/drawingml/2006/main">
              <a:ext uri="{FF2B5EF4-FFF2-40B4-BE49-F238E27FC236}">
                <a16:creationId xmlns:a16="http://schemas.microsoft.com/office/drawing/2014/main" id="{5C1DD075-EC50-413D-AB09-62674121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A1F9C76C-6673-4C69-A870-69250DF2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02 | ASSET DEPENDENCIES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공유 층을 남기는 던전 삭제 도구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삭제 대상과 공유 층 확인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삭제 계획의 전용 층·공유 층 표시 화면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삭제 전 참조 관계로 범위 계산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선택한 던전과 연결된 층을 후보로 조사합니다.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다른 던전·씬·데이터가 참조하는 층은 남기고,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하위 에셋이 섞인 파일도 무조건 삭제하지 않습니다.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280a46b75e34320"/>
              </a:rPr>
              <a:t>GitHub / 삭제 서비스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확인 계획과 현재 상태 대조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삭제 버튼 실행 시 계획을 다시 계산해 변경을 거부합니다.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카탈로그를 먼저 저장하고 실패 시 참조를 복원하며,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허용한 에셋만 파일 단위로 휴지통에 보냅니다.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실패한 파일과 보존한 공유 자산을 구분해서 안내</a:t>
            </a:r>
          </a:p>
        </p:txBody>
      </p:sp>
      <p:sp>
        <p:nvSpPr>
          <p:cNvPr id="15" name="층 일부를 옮기지 못하면 남은 경로를 표시하며, 폴더 전체·프리">
            <a:extLst xmlns:a="http://schemas.openxmlformats.org/drawingml/2006/main">
              <a:ext uri="{FF2B5EF4-FFF2-40B4-BE49-F238E27FC236}">
                <a16:creationId xmlns:a16="http://schemas.microsoft.com/office/drawing/2014/main" id="{72FD861C-FF0E-49D1-811B-A27A7F2C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일부를 옮기지 못하면 남은 경로를 표시하며, 폴더 전체·프리팹·저장·프로파일링 파일은 대상으로 삼지 않습니다.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207EC6-A819-4B31-8EAA-E8879E94BA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23f6030304e75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7" name="미디어 삽입 영역 - 공유 층 보존과 삭제 대상 구분">
            <a:extLst xmlns:a="http://schemas.openxmlformats.org/drawingml/2006/main">
              <a:ext uri="{FF2B5EF4-FFF2-40B4-BE49-F238E27FC236}">
                <a16:creationId xmlns:a16="http://schemas.microsoft.com/office/drawing/2014/main" id="{85E5F625-E5C8-40EB-8836-53FDB0A4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18" name="[ 이미지 · 삭제 계획 화면 삽입 ]">
            <a:extLst xmlns:a="http://schemas.openxmlformats.org/drawingml/2006/main">
              <a:ext uri="{FF2B5EF4-FFF2-40B4-BE49-F238E27FC236}">
                <a16:creationId xmlns:a16="http://schemas.microsoft.com/office/drawing/2014/main" id="{3594590D-3D13-4DCF-B826-617A4C68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이미지 · 삭제 계획 화면 삽입 ]</a:t>
            </a:r>
          </a:p>
        </p:txBody>
      </p:sp>
      <p:sp>
        <p:nvSpPr>
          <p:cNvPr id="19" name="공유 층 보존과 삭제 대상 구분">
            <a:extLst xmlns:a="http://schemas.openxmlformats.org/drawingml/2006/main">
              <a:ext uri="{FF2B5EF4-FFF2-40B4-BE49-F238E27FC236}">
                <a16:creationId xmlns:a16="http://schemas.microsoft.com/office/drawing/2014/main" id="{C88A8CDF-22F2-4F67-8974-1B090353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공유 층 보존과 삭제 대상 구분</a:t>
            </a:r>
          </a:p>
        </p:txBody>
      </p:sp>
      <p:sp>
        <p:nvSpPr>
          <p:cNvPr id="20" name="던전 삭제 계획에 전용 층과 공유 층이 함께 보이는 화면&#10;삭제 ">
            <a:extLst xmlns:a="http://schemas.openxmlformats.org/drawingml/2006/main">
              <a:ext uri="{FF2B5EF4-FFF2-40B4-BE49-F238E27FC236}">
                <a16:creationId xmlns:a16="http://schemas.microsoft.com/office/drawing/2014/main" id="{E7699B30-F510-4C87-ABDB-08569546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던전 삭제 계획에 전용 층과 공유 층이 함께 보이는 화면</a:t>
            </a:r>
          </a:p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삭제 대상·보존 대상·실패 경로 표시가 읽히게 캡처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02 | REWARD OVERRIDE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층과 던전 단위로 보상을 조절하는 데이터 구조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층별 보상 규칙 설정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실제 보상 테이블 Inspector: 항목별 확률·수량 설정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시체 원본과 보상 조정값 분리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이름·가격·가방 형태는 시체 프리팹에서 관리합니다.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보상 테이블은 전리품별 확률과 수량을 조정하고,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미지정 항목은 기존 규칙을 상속합니다.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462fcc85bf340ea"/>
              </a:rPr>
              <a:t>GitHub / 보상 테이블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항목별 우선순위와 적용 시점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테이블, 던전 테이블, 시체 기본값 순으로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적용할 항목을 선택하며 0%는 드롭에서 제외합니다.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새 탐험 입장 시 모든 층의 보상 규칙을 확정합니다.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층별 보상을 바꾸면서 원본 프리팹을 공유</a:t>
            </a:r>
          </a:p>
        </p:txBody>
      </p:sp>
      <p:sp>
        <p:nvSpPr>
          <p:cNvPr id="15" name="진행 중 에셋을 수정해도 다음 탐험부터 반영하고, 항목마다 독립">
            <a:extLst xmlns:a="http://schemas.openxmlformats.org/drawingml/2006/main">
              <a:ext uri="{FF2B5EF4-FFF2-40B4-BE49-F238E27FC236}">
                <a16:creationId xmlns:a16="http://schemas.microsoft.com/office/drawing/2014/main" id="{CCC10C3B-7B37-4B4E-B735-E12B2129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진행 중 에셋을 수정해도 다음 탐험부터 반영하고, 항목마다 독립적으로 드롭을 추첨합니다.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25EC14-71BB-47B7-A823-38A91160C7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d7d1f5a9741f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40E51-31DD-45E2-9B24-DB09EF2364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46c625e654605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0043B-34EB-47E6-A95A-8D60A7EB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9e3012b9d1644ae"/>
              </a:rPr>
              <a:t>GitHub / 편집기</a:t>
            </a:r>
          </a:p>
        </p:txBody>
      </p:sp>
      <p:sp>
        <p:nvSpPr>
          <p:cNvPr id="19" name="미디어 삽입 영역 - 층과 던전의 보상 재정의">
            <a:extLst xmlns:a="http://schemas.openxmlformats.org/drawingml/2006/main">
              <a:ext uri="{FF2B5EF4-FFF2-40B4-BE49-F238E27FC236}">
                <a16:creationId xmlns:a16="http://schemas.microsoft.com/office/drawing/2014/main" id="{2BCB5801-6A8F-4206-A1B1-8227876B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이미지 · Inspector 화면 삽입 ]">
            <a:extLst xmlns:a="http://schemas.openxmlformats.org/drawingml/2006/main">
              <a:ext uri="{FF2B5EF4-FFF2-40B4-BE49-F238E27FC236}">
                <a16:creationId xmlns:a16="http://schemas.microsoft.com/office/drawing/2014/main" id="{4C170404-F8A5-401E-85BC-CFC11DB4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층과 던전의 보상 재정의">
            <a:extLst xmlns:a="http://schemas.openxmlformats.org/drawingml/2006/main">
              <a:ext uri="{FF2B5EF4-FFF2-40B4-BE49-F238E27FC236}">
                <a16:creationId xmlns:a16="http://schemas.microsoft.com/office/drawing/2014/main" id="{3B85E434-A70E-4F55-914E-F2EBE92F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던전·층 보상 테이블의 같은 항목을 나란히 표시&#10;상속 항목·확률">
            <a:extLst xmlns:a="http://schemas.openxmlformats.org/drawingml/2006/main">
              <a:ext uri="{FF2B5EF4-FFF2-40B4-BE49-F238E27FC236}">
                <a16:creationId xmlns:a16="http://schemas.microsoft.com/office/drawing/2014/main" id="{67C07267-53DB-452E-883E-1D94B031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7D6292A4-DCAE-41C7-B2A2-7DBE181B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03 | GRID INVENTORY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아이템의 실제 점유 셀을 검사하는 공간형 가방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전리품 배치와 회전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비정형 전리품 회전 후 점유 셀 배치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도형과 공간 규칙을 데이터로 처리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기본 5×4 가방에 형태가 다른 전리품을 배치합니다.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격자 경계와 OccupiedCells의 충돌을 검사해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배치 가능 여부와 아이템 이동을 결정합니다.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18b1e6ec40b4020"/>
              </a:rPr>
              <a:t>GitHub / 가방 규칙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원본을 보존하는 비정형 도형의 회전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점유 셀을 회전해 새 LootDefinition을 만듭니다.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원본 도형과 종류 ID·가격을 유지하고,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드래그 미리보기와 최종 배치 판정을 분리합니다.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확장된 가방과 판매 가치를 함께 저장</a:t>
            </a:r>
          </a:p>
        </p:txBody>
      </p:sp>
      <p:sp>
        <p:nvSpPr>
          <p:cNvPr id="15" name="가방의 크기와 각 전리품의 배치·가격을 기록해 이어하기 이후에도">
            <a:extLst xmlns:a="http://schemas.openxmlformats.org/drawingml/2006/main">
              <a:ext uri="{FF2B5EF4-FFF2-40B4-BE49-F238E27FC236}">
                <a16:creationId xmlns:a16="http://schemas.microsoft.com/office/drawing/2014/main" id="{7496276D-1CCB-4AC5-96BE-569EC0C5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가방의 크기와 각 전리품의 배치·가격을 기록해 이어하기 이후에도 같은 상태를 유지합니다.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CCE007-D68E-477A-8C5A-CC0317EB74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1fe83b6b5457e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33C856-27B5-4D0B-B96C-ADAF01D196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bf2e00735431d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F4CBD-A104-41B1-B758-B40C544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9385ecb028d4614"/>
              </a:rPr>
              <a:t>GitHub / 도형·회전</a:t>
            </a:r>
          </a:p>
        </p:txBody>
      </p:sp>
      <p:sp>
        <p:nvSpPr>
          <p:cNvPr id="19" name="미디어 삽입 영역 - 비정형 전리품의 회전과 배치">
            <a:extLst xmlns:a="http://schemas.openxmlformats.org/drawingml/2006/main">
              <a:ext uri="{FF2B5EF4-FFF2-40B4-BE49-F238E27FC236}">
                <a16:creationId xmlns:a16="http://schemas.microsoft.com/office/drawing/2014/main" id="{2FE2AC12-B269-4381-A691-E3916CD3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C813D5B6-2601-4F66-9281-A8B900E9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비정형 전리품의 회전과 배치">
            <a:extLst xmlns:a="http://schemas.openxmlformats.org/drawingml/2006/main">
              <a:ext uri="{FF2B5EF4-FFF2-40B4-BE49-F238E27FC236}">
                <a16:creationId xmlns:a16="http://schemas.microsoft.com/office/drawing/2014/main" id="{AB769369-E6A9-4A6B-B291-EBDAEEC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가방에서 서로 다른 모양의 전리품을 드래그·회전&#10;정상 배치와 셀">
            <a:extLst xmlns:a="http://schemas.openxmlformats.org/drawingml/2006/main">
              <a:ext uri="{FF2B5EF4-FFF2-40B4-BE49-F238E27FC236}">
                <a16:creationId xmlns:a16="http://schemas.microsoft.com/office/drawing/2014/main" id="{238C425C-5E52-47B9-8B24-7FC49A6E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6초">
            <a:extLst xmlns:a="http://schemas.openxmlformats.org/drawingml/2006/main">
              <a:ext uri="{FF2B5EF4-FFF2-40B4-BE49-F238E27FC236}">
                <a16:creationId xmlns:a16="http://schemas.microsoft.com/office/drawing/2014/main" id="{13CF9519-167D-43A5-AB12-4705F78E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21F95BC8-FB10-40CE-843E-4AE8894B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03 | TOWN TRANSACTIONS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검증한 창고 사본으로 회수와 거래 결과를 반영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회수품 보관과 개별 판매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회수품이 보관된 창고와 상점 전환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전리품 이전 전에 창고 사본에서 검증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같은 종류와 가격의 스택을 복사본에서 합칩니다.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수량·ID 한도를 넘으면 원본을 유지하고,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성공한 뒤 창고를 교체하고 탐험 가방을 비웁니다.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bc8efc2f96943c8"/>
              </a:rPr>
              <a:t>GitHub / 창고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중복 회수와 부분 반영을 막는 처리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비우기와 런 종료 상태로 중복 이전을 막습니다.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판매는 잠금·골드 한도를 검사한 뒤 수량과 골드를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함께 바꾸고, 변경이 끝난 뒤 저장을 요청합니다.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아이템과 골드를 함께 변경한 뒤 저장</a:t>
            </a:r>
          </a:p>
        </p:txBody>
      </p:sp>
      <p:sp>
        <p:nvSpPr>
          <p:cNvPr id="15" name="전리품을 판매할지 재료로 남길지 선택할 수 있도록 귀환 시 자동">
            <a:extLst xmlns:a="http://schemas.openxmlformats.org/drawingml/2006/main">
              <a:ext uri="{FF2B5EF4-FFF2-40B4-BE49-F238E27FC236}">
                <a16:creationId xmlns:a16="http://schemas.microsoft.com/office/drawing/2014/main" id="{A125B41E-2FAC-47B6-92F0-D5297821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전리품을 판매할지 재료로 남길지 선택할 수 있도록 귀환 시 자동 판매를 하지 않습니다.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B9784-423D-4AD1-A187-27945C40C5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6f9e9a52d4872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A43450-B0B9-4CF4-9EDD-B08DC786B1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ba29ed7344130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3DE715-C9D6-413D-AA27-06EB835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34f6e52a899f4e71"/>
              </a:rPr>
              <a:t>GitHub / 경제 설정</a:t>
            </a:r>
          </a:p>
        </p:txBody>
      </p:sp>
      <p:sp>
        <p:nvSpPr>
          <p:cNvPr id="19" name="미디어 삽입 영역 - 회수품 보관과 개별 판매">
            <a:extLst xmlns:a="http://schemas.openxmlformats.org/drawingml/2006/main">
              <a:ext uri="{FF2B5EF4-FFF2-40B4-BE49-F238E27FC236}">
                <a16:creationId xmlns:a16="http://schemas.microsoft.com/office/drawing/2014/main" id="{928FD391-00F7-4633-9AA7-D0E43CEB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EE92595D-3355-4CEA-9AAD-A0A3166C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회수품 보관과 개별 판매">
            <a:extLst xmlns:a="http://schemas.openxmlformats.org/drawingml/2006/main">
              <a:ext uri="{FF2B5EF4-FFF2-40B4-BE49-F238E27FC236}">
                <a16:creationId xmlns:a16="http://schemas.microsoft.com/office/drawing/2014/main" id="{41125204-2B6C-4446-AA07-E30713B3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던전 귀환 후 전리품이 창고로 이전되는 장면&#10;일부만 판매하고 남">
            <a:extLst xmlns:a="http://schemas.openxmlformats.org/drawingml/2006/main">
              <a:ext uri="{FF2B5EF4-FFF2-40B4-BE49-F238E27FC236}">
                <a16:creationId xmlns:a16="http://schemas.microsoft.com/office/drawing/2014/main" id="{321E2277-D046-413C-A1CC-7CDCF94A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4초">
            <a:extLst xmlns:a="http://schemas.openxmlformats.org/drawingml/2006/main">
              <a:ext uri="{FF2B5EF4-FFF2-40B4-BE49-F238E27FC236}">
                <a16:creationId xmlns:a16="http://schemas.microsoft.com/office/drawing/2014/main" id="{F5D491D1-0696-45A4-942A-2D6A1A22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65B94D05-2F18-4850-B832-7C4A4DA3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03 | UPGRADE COMMIT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재료와 골드를 검사한 뒤 함께 반영하는 가방 확장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 소비와 가방 확장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재료·골드 차감과 가방 크기 변경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성장 단계와 재료 조건 검사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현재 크기를 줄이지 않는 다음 확장인지 확인합니다.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골드와 종류별 재료 수량이 부족하면 변경을 거부하고,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최대 단계에서는 중복 결제를 막습니다.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821b5e099bc480d"/>
              </a:rPr>
              <a:t>GitHub / 가방 확장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복사한 창고에서 재료 소비 후 반영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재료는 낮은 가격의 스택부터 소비합니다.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준비한 창고와 골드 차감·단계 증가를 함께 반영해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검사 실패로 일부 재료만 사라지는 상황을 피합니다.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 소비 가치를 미리 계산</a:t>
            </a:r>
          </a:p>
        </p:txBody>
      </p:sp>
      <p:sp>
        <p:nvSpPr>
          <p:cNvPr id="15" name="가격순 캐시로 재료 소비 가치를 조회하고, 확장에 필요한 재료가">
            <a:extLst xmlns:a="http://schemas.openxmlformats.org/drawingml/2006/main">
              <a:ext uri="{FF2B5EF4-FFF2-40B4-BE49-F238E27FC236}">
                <a16:creationId xmlns:a16="http://schemas.microsoft.com/office/drawing/2014/main" id="{D1EE06E1-C81A-4F0A-B2B5-3E448304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가격순 캐시로 재료 소비 가치를 조회하고, 확장에 필요한 재료가 실제 드롭되는지도 빌드 전에 검사합니다.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CF063-44D5-4C93-AE2F-55713AF100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f498c61943b0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DED446-559C-4478-86D4-6FE25F3E12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4d6af540e4c11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A3CE7-198C-43AA-B3F0-8D0E462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c93575747bf4510"/>
              </a:rPr>
              <a:t>GitHub / 확장 데이터</a:t>
            </a:r>
          </a:p>
        </p:txBody>
      </p:sp>
      <p:sp>
        <p:nvSpPr>
          <p:cNvPr id="19" name="미디어 삽입 영역 - 재료·골드 차감과 가방 확장">
            <a:extLst xmlns:a="http://schemas.openxmlformats.org/drawingml/2006/main">
              <a:ext uri="{FF2B5EF4-FFF2-40B4-BE49-F238E27FC236}">
                <a16:creationId xmlns:a16="http://schemas.microsoft.com/office/drawing/2014/main" id="{F5433D6A-2883-450F-A62B-6E1F6456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6783F47E-A7F6-4DAC-8BEA-4FC6AB5A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재료·골드 차감과 가방 확장">
            <a:extLst xmlns:a="http://schemas.openxmlformats.org/drawingml/2006/main">
              <a:ext uri="{FF2B5EF4-FFF2-40B4-BE49-F238E27FC236}">
                <a16:creationId xmlns:a16="http://schemas.microsoft.com/office/drawing/2014/main" id="{D48359E6-FADC-475D-9FDB-463F522A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확장 전 재료·골드·가방 크기를 먼저 표시&#10;조건 미달 거부와 정">
            <a:extLst xmlns:a="http://schemas.openxmlformats.org/drawingml/2006/main">
              <a:ext uri="{FF2B5EF4-FFF2-40B4-BE49-F238E27FC236}">
                <a16:creationId xmlns:a16="http://schemas.microsoft.com/office/drawing/2014/main" id="{01FF552C-FCBC-4427-8BEE-65C39BC2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4초">
            <a:extLst xmlns:a="http://schemas.openxmlformats.org/drawingml/2006/main">
              <a:ext uri="{FF2B5EF4-FFF2-40B4-BE49-F238E27FC236}">
                <a16:creationId xmlns:a16="http://schemas.microsoft.com/office/drawing/2014/main" id="{346EFC22-2672-4167-A1DE-8B867024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189E6AC3-1031-440F-BF0C-0B0F46EB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04 | MONSTER PERCEPTION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시야와 마지막 목격 위치를 사용하는 몬스터 행동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발견과 마지막 목격 위치 추적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플레이어 발견 후 인식 표시와 추적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순찰과 플레이어 추격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통로를 따라 목적지까지 이동하며 순찰합니다.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인식 거리와 벽 가림을 확인해 플레이어를 찾고,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발견 시 추격과 공격을 수행합니다.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68274286af34a47"/>
              </a:rPr>
              <a:t>GitHub / 몬스터 행동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시야를 잃은 뒤에도 남는 정보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놓친 플레이어의 마지막 목격 위치를 추적합니다.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해체 실패 소음은 발생 위치를 조사하고,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탐색이 끝나면 다시 순찰 목적지를 선택합니다.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논리 상태와 머리 위 인식 표시를 연결</a:t>
            </a:r>
          </a:p>
        </p:txBody>
      </p:sp>
      <p:sp>
        <p:nvSpPr>
          <p:cNvPr id="15" name="발견에는 빨간 느낌표, 마지막 목격 지점 추적에는 노란 물음표를">
            <a:extLst xmlns:a="http://schemas.openxmlformats.org/drawingml/2006/main">
              <a:ext uri="{FF2B5EF4-FFF2-40B4-BE49-F238E27FC236}">
                <a16:creationId xmlns:a16="http://schemas.microsoft.com/office/drawing/2014/main" id="{4DB6B1A3-B12E-477B-A3EF-E86AC68C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발견에는 빨간 느낌표, 마지막 목격 지점 추적에는 노란 물음표를 표시합니다.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C9451-213E-4378-9B6F-B0CE02E2AE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ab7762848f4040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AA18B-AC4E-45D8-94CD-7FEFC4487C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b41f3d01442f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533476-CBF8-4493-85BA-99E4AD19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1bf8f301bda4281"/>
              </a:rPr>
              <a:t>GitHub / 인식 표시</a:t>
            </a:r>
          </a:p>
        </p:txBody>
      </p:sp>
      <p:sp>
        <p:nvSpPr>
          <p:cNvPr id="19" name="미디어 삽입 영역 - 순찰에서 추적·수색으로 전환">
            <a:extLst xmlns:a="http://schemas.openxmlformats.org/drawingml/2006/main">
              <a:ext uri="{FF2B5EF4-FFF2-40B4-BE49-F238E27FC236}">
                <a16:creationId xmlns:a16="http://schemas.microsoft.com/office/drawing/2014/main" id="{1702DB3E-4CEE-46EF-8F85-C9195886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5~20초 삽입 ]">
            <a:extLst xmlns:a="http://schemas.openxmlformats.org/drawingml/2006/main">
              <a:ext uri="{FF2B5EF4-FFF2-40B4-BE49-F238E27FC236}">
                <a16:creationId xmlns:a16="http://schemas.microsoft.com/office/drawing/2014/main" id="{6418591C-2777-42B3-A703-0507792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순찰에서 추적·수색으로 전환">
            <a:extLst xmlns:a="http://schemas.openxmlformats.org/drawingml/2006/main">
              <a:ext uri="{FF2B5EF4-FFF2-40B4-BE49-F238E27FC236}">
                <a16:creationId xmlns:a16="http://schemas.microsoft.com/office/drawing/2014/main" id="{C023AEDC-004B-48D4-AA60-1DDB6FA2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순찰 중 플레이어 발견 후 추적·공격하는 장면&#10;벽 뒤로 숨은 뒤">
            <a:extLst xmlns:a="http://schemas.openxmlformats.org/drawingml/2006/main">
              <a:ext uri="{FF2B5EF4-FFF2-40B4-BE49-F238E27FC236}">
                <a16:creationId xmlns:a16="http://schemas.microsoft.com/office/drawing/2014/main" id="{B381D3F6-97AE-45B8-9F3B-9CF7A2F7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3초">
            <a:extLst xmlns:a="http://schemas.openxmlformats.org/drawingml/2006/main">
              <a:ext uri="{FF2B5EF4-FFF2-40B4-BE49-F238E27FC236}">
                <a16:creationId xmlns:a16="http://schemas.microsoft.com/office/drawing/2014/main" id="{F23D6439-FB1F-4DA9-A6F8-7BA7F8EF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E033BA59-55AB-4184-8433-2B3252C4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04 | GRID NAVIGATION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격자 탐색과 몸체 크기의 이동 검사를 조합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벽 모서리의 몬스터 경로 이동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벽 모서리 추격과 열린 방의 직접 이동 비교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BFS 경로와 직접 이동을 상황에 따라 선택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통과할 수 있는 구간은 목표를 향해 바로 이동하고,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벽이 가로막으면 격자 BFS로 경로를 구성합니다.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선 하나 대신 몸체 크기의 BoxCast를 사용합니다.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a552d9151dc48eb"/>
              </a:rPr>
              <a:t>GitHub / 경로 탐색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경로 재계산과 지름길 검사에 조건 설정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행동 모드나 목표 셀이 바뀔 때 경로를 다시 만듭니다.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같은 셀의 목표 이동은 끝점만 갱신하고,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한 이동 호출에서 지름길 후보를 최대 8개 검사합니다.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탐색 배열과 결과 리스트를 재사용</a:t>
            </a:r>
          </a:p>
        </p:txBody>
      </p:sp>
      <p:sp>
        <p:nvSpPr>
          <p:cNvPr id="15" name="현재 메인 스레드의 순차 탐색에서 버퍼를 공유하며, 재진입·비동">
            <a:extLst xmlns:a="http://schemas.openxmlformats.org/drawingml/2006/main">
              <a:ext uri="{FF2B5EF4-FFF2-40B4-BE49-F238E27FC236}">
                <a16:creationId xmlns:a16="http://schemas.microsoft.com/office/drawing/2014/main" id="{1410F0CB-F4BD-43A5-8ADD-96FD8C8A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현재 메인 스레드의 순차 탐색에서 버퍼를 공유하며, 재진입·비동기 작업용으로 공유하지 않습니다.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6CD169-A7F2-40CA-B1FF-045E9A7ECC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ac00ae301467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00B33-FBD7-473F-954C-4097E54F39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8110823bc4986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673B29-EC0B-44B8-890F-6902CCD8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b0a1aa460fa4a71"/>
              </a:rPr>
              <a:t>GitHub / 경로 이동</a:t>
            </a:r>
          </a:p>
        </p:txBody>
      </p:sp>
      <p:sp>
        <p:nvSpPr>
          <p:cNvPr id="19" name="미디어 삽입 영역 - 벽 모서리 우회와 직접 이동">
            <a:extLst xmlns:a="http://schemas.openxmlformats.org/drawingml/2006/main">
              <a:ext uri="{FF2B5EF4-FFF2-40B4-BE49-F238E27FC236}">
                <a16:creationId xmlns:a16="http://schemas.microsoft.com/office/drawing/2014/main" id="{C054D918-815C-484A-9D3E-043FD1AF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74C5501A-867B-4F3A-B023-ABDA3FAC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영상 · 12~18초 삽입 ]</a:t>
            </a:r>
          </a:p>
        </p:txBody>
      </p:sp>
      <p:sp>
        <p:nvSpPr>
          <p:cNvPr id="21" name="벽 모서리 우회와 직접 이동">
            <a:extLst xmlns:a="http://schemas.openxmlformats.org/drawingml/2006/main">
              <a:ext uri="{FF2B5EF4-FFF2-40B4-BE49-F238E27FC236}">
                <a16:creationId xmlns:a16="http://schemas.microsoft.com/office/drawing/2014/main" id="{885C1E53-D05D-4571-8B86-37E5D8E7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벽 모서리 우회와 직접 이동</a:t>
            </a:r>
          </a:p>
        </p:txBody>
      </p:sp>
      <p:sp>
        <p:nvSpPr>
          <p:cNvPr id="22" name="같은 몬스터가 벽을 우회하는 구간과 열린 방을 이동&#10;몸체 크기를">
            <a:extLst xmlns:a="http://schemas.openxmlformats.org/drawingml/2006/main">
              <a:ext uri="{FF2B5EF4-FFF2-40B4-BE49-F238E27FC236}">
                <a16:creationId xmlns:a16="http://schemas.microsoft.com/office/drawing/2014/main" id="{8AB4D244-F6C6-47DA-AC44-5C8E51BA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같은 몬스터가 벽을 우회하는 구간과 열린 방을 이동</a:t>
            </a:r>
          </a:p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몸체 크기를 고려한 모서리 통과가 보이게 촬영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04 | HIDING &amp; PHYSICS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은신 판정과 물리 상태를 함께 관리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은신 성공과 발각 판정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은신 상태와 나온 뒤의 플레이어 표시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진입 순간 몬스터별 발각 거리 검사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같은 층의 몬스터 중 하나라도 발각 반경 안에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있으면 은신에 실패합니다. 성공하면 추격·공격과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마지막 목격·소음 조사 기록을 즉시 해제합니다.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fccd66e1f694bed"/>
              </a:rPr>
              <a:t>GitHub / 은신 처리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숨은 동안 위치와 충돌 상태 보존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물리 시뮬레이션에서 잠시 제외해 밀림을 막습니다.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진입 좌표와 기존 물리 상태를 보관하고,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은신 종료와 저장 복원에도 같은 상태를 사용합니다.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은신 중에도 몬스터의 순찰은 계속 진행</a:t>
            </a:r>
          </a:p>
        </p:txBody>
      </p:sp>
      <p:sp>
        <p:nvSpPr>
          <p:cNvPr id="15" name="이동·대시·해체·층 이동을 차단하며, 나올 때 진입 좌표와 원래">
            <a:extLst xmlns:a="http://schemas.openxmlformats.org/drawingml/2006/main">
              <a:ext uri="{FF2B5EF4-FFF2-40B4-BE49-F238E27FC236}">
                <a16:creationId xmlns:a16="http://schemas.microsoft.com/office/drawing/2014/main" id="{BE0223C5-1951-42F4-BCB3-82DCC179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이동·대시·해체·층 이동을 차단하며, 나올 때 진입 좌표와 원래 물리 상태를 복원합니다.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0B31B3-511E-41FB-AD53-EF13AC0E96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c385dc8b14add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7" name="미디어 삽입 영역 - 은신 실패·성공과 종료 복원">
            <a:extLst xmlns:a="http://schemas.openxmlformats.org/drawingml/2006/main">
              <a:ext uri="{FF2B5EF4-FFF2-40B4-BE49-F238E27FC236}">
                <a16:creationId xmlns:a16="http://schemas.microsoft.com/office/drawing/2014/main" id="{8A3EAD41-7183-4146-BB59-27F5CCB7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F566A51E-6FA8-496C-AD74-FAA8D0CE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19" name="은신 실패·성공과 종료 복원">
            <a:extLst xmlns:a="http://schemas.openxmlformats.org/drawingml/2006/main">
              <a:ext uri="{FF2B5EF4-FFF2-40B4-BE49-F238E27FC236}">
                <a16:creationId xmlns:a16="http://schemas.microsoft.com/office/drawing/2014/main" id="{3921BBF0-CFAF-4D95-928F-275DF0D2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0" name="몬스터가 가까울 때 은신 거부, 멀어졌을 때 성공&#10;은신 중 몬스">
            <a:extLst xmlns:a="http://schemas.openxmlformats.org/drawingml/2006/main">
              <a:ext uri="{FF2B5EF4-FFF2-40B4-BE49-F238E27FC236}">
                <a16:creationId xmlns:a16="http://schemas.microsoft.com/office/drawing/2014/main" id="{5BD6EC79-63FC-40C7-9201-48439789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실제 실행 영상 보기  /  5초">
            <a:extLst xmlns:a="http://schemas.openxmlformats.org/drawingml/2006/main">
              <a:ext uri="{FF2B5EF4-FFF2-40B4-BE49-F238E27FC236}">
                <a16:creationId xmlns:a16="http://schemas.microsoft.com/office/drawing/2014/main" id="{3953D3C7-28B3-456B-BB7B-90395E91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3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1B157826-EAEE-4E4E-88E3-E9CA508F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05 | OBJECT LIFECYCLE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씬을 넘어 재사용하는 프리팹별 오브젝트 풀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재입장 시 인스턴스 재사용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격리 검증: 층 왕복 전후 동일 몬스터 Entity ID 재사용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인스턴스와 탐험 상태의 소유권 분리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몬스터·시체를 프리팹별로 대여하고 반환합니다.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시체의 해체 진행과 전리품은 별도 런 데이터에 둬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다음 대여가 이전 탐험 상태를 바꾸지 않게 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c6f1917752244fd"/>
              </a:rPr>
              <a:t>GitHub / 오브젝트 풀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반환과 재대여의 초기화 계약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타이머·참조·물리·시각 상태를 초기화합니다.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새 컴포넌트는 ResetForPool로 상태를 정리하고,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데이터 준비 후 활성화해 초기화 순서를 맞춥니다.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비활성 보관량에 프리팹별·전체 한도를 적용</a:t>
            </a:r>
          </a:p>
        </p:txBody>
      </p:sp>
      <p:sp>
        <p:nvSpPr>
          <p:cNvPr id="15" name="기본 한도는 프리팹별 32개, 전체 128개이며 활성 스폰 수를">
            <a:extLst xmlns:a="http://schemas.openxmlformats.org/drawingml/2006/main">
              <a:ext uri="{FF2B5EF4-FFF2-40B4-BE49-F238E27FC236}">
                <a16:creationId xmlns:a16="http://schemas.microsoft.com/office/drawing/2014/main" id="{7561D595-9442-4C1E-8917-326396BC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기본 한도는 프리팹별 32개, 전체 128개이며 활성 스폰 수를 제한하는 값은 아닙니다.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B21706-95F8-418A-A965-0720A79B07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6bdca4e16430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7" name="미디어 삽입 영역 - 층 재입장 전후의 풀 재사용">
            <a:extLst xmlns:a="http://schemas.openxmlformats.org/drawingml/2006/main">
              <a:ext uri="{FF2B5EF4-FFF2-40B4-BE49-F238E27FC236}">
                <a16:creationId xmlns:a16="http://schemas.microsoft.com/office/drawing/2014/main" id="{63841AB1-C077-42E6-9459-8C3E6C5D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[ 이미지 · 런타임 검사 화면 삽입 ]">
            <a:extLst xmlns:a="http://schemas.openxmlformats.org/drawingml/2006/main">
              <a:ext uri="{FF2B5EF4-FFF2-40B4-BE49-F238E27FC236}">
                <a16:creationId xmlns:a16="http://schemas.microsoft.com/office/drawing/2014/main" id="{3E7F2B36-EA6A-4CD6-9DD4-BAD5346A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19" name="층 재입장 전후의 풀 재사용">
            <a:extLst xmlns:a="http://schemas.openxmlformats.org/drawingml/2006/main">
              <a:ext uri="{FF2B5EF4-FFF2-40B4-BE49-F238E27FC236}">
                <a16:creationId xmlns:a16="http://schemas.microsoft.com/office/drawing/2014/main" id="{123634A3-816D-482E-9D98-A33C9197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0" name="층 왕복 전후의 대여·반환·재사용 검사 결과&#10;인스턴스 재사용과 ">
            <a:extLst xmlns:a="http://schemas.openxmlformats.org/drawingml/2006/main">
              <a:ext uri="{FF2B5EF4-FFF2-40B4-BE49-F238E27FC236}">
                <a16:creationId xmlns:a16="http://schemas.microsoft.com/office/drawing/2014/main" id="{E21BFCD4-63C8-4DD2-B5D8-1FCF05F9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F212E576-95CB-489C-B7E1-D5E8390D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05 | RENDERING COST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반복되는 미니맵과 디버그 선의 제출 비용 정리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미니맵과 범위 선의 렌더링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미니맵 확대·탐색 갱신 및 Profiler 비교 화면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미니맵 내용을 한 장의 텍스처로 캐시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바닥·계단·은신처를 합성해 한 번에 제출합니다.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탐색 기록·도면·배율이 바뀔 때만 갱신하고,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플레이어 이동은 표식과 표시 범위만 바꿉니다.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ae1bf9b8771493c"/>
              </a:rPr>
              <a:t>GitHub / 미니맵 캐시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감지 범위 선을 공유 UI 메시로 묶기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선분마다 회전 텍스처를 그리던 처리를 모았습니다.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정점 색으로 선의 색과 투명도를 유지하고,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표시를 끄면 메시 생성과 갱신을 건너뜁니다.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반복 갱신과 개별 제출이 발생하는 경로를 정리</a:t>
            </a:r>
          </a:p>
        </p:txBody>
      </p:sp>
      <p:sp>
        <p:nvSpPr>
          <p:cNvPr id="15" name="지도는 변경 시 다시 합성하고 범위 선은 메시로 묶으며, 층·배">
            <a:extLst xmlns:a="http://schemas.openxmlformats.org/drawingml/2006/main">
              <a:ext uri="{FF2B5EF4-FFF2-40B4-BE49-F238E27FC236}">
                <a16:creationId xmlns:a16="http://schemas.microsoft.com/office/drawing/2014/main" id="{C637EC4C-035F-41D0-9F6D-53DA524D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지도는 변경 시 다시 합성하고 범위 선은 메시로 묶으며, 층·배율·탐색 변경 시 캐시를 갱신합니다.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BF1304-DCE6-4A23-B1CA-DF4675684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b12a443074d1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B2B5C-D1B8-434C-81CF-FD803B8F72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c2c829b2849b3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DE5B9C-E048-4343-8EDC-DF6C3868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75e98c6aa284af3"/>
              </a:rPr>
              <a:t>GitHub / 범위 메시</a:t>
            </a:r>
          </a:p>
        </p:txBody>
      </p:sp>
      <p:sp>
        <p:nvSpPr>
          <p:cNvPr id="19" name="미디어 삽입 영역 - 미니맵 캐시와 범위 메시 제출">
            <a:extLst xmlns:a="http://schemas.openxmlformats.org/drawingml/2006/main">
              <a:ext uri="{FF2B5EF4-FFF2-40B4-BE49-F238E27FC236}">
                <a16:creationId xmlns:a16="http://schemas.microsoft.com/office/drawing/2014/main" id="{A1ED1F1E-9417-476A-B4F6-964F0907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20" name="[ 이미지 · Profiler와 게임 화면 삽입 ]">
            <a:extLst xmlns:a="http://schemas.openxmlformats.org/drawingml/2006/main">
              <a:ext uri="{FF2B5EF4-FFF2-40B4-BE49-F238E27FC236}">
                <a16:creationId xmlns:a16="http://schemas.microsoft.com/office/drawing/2014/main" id="{17B148F8-AB9D-4A54-8707-A58CDD42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이미지 · Profiler와 게임 화면 삽입 ]</a:t>
            </a:r>
          </a:p>
        </p:txBody>
      </p:sp>
      <p:sp>
        <p:nvSpPr>
          <p:cNvPr id="21" name="미니맵 캐시와 범위 메시 제출">
            <a:extLst xmlns:a="http://schemas.openxmlformats.org/drawingml/2006/main">
              <a:ext uri="{FF2B5EF4-FFF2-40B4-BE49-F238E27FC236}">
                <a16:creationId xmlns:a16="http://schemas.microsoft.com/office/drawing/2014/main" id="{F5264D20-9E80-4FA6-817A-B8939EC3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미니맵 캐시와 범위 메시 제출</a:t>
            </a:r>
          </a:p>
        </p:txBody>
      </p:sp>
      <p:sp>
        <p:nvSpPr>
          <p:cNvPr id="22" name="미니맵 탐색 영역 갱신·플레이어 표식 이동 구간 캡처&#10;UI 메시">
            <a:extLst xmlns:a="http://schemas.openxmlformats.org/drawingml/2006/main">
              <a:ext uri="{FF2B5EF4-FFF2-40B4-BE49-F238E27FC236}">
                <a16:creationId xmlns:a16="http://schemas.microsoft.com/office/drawing/2014/main" id="{C7A9036A-191D-4390-9B38-D8EFE85A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미니맵 탐색 영역 갱신·플레이어 표식 이동 구간 캡처</a:t>
            </a:r>
          </a:p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UI 메시와 미니맵 갱신 항목이 읽히는 Profiler 화면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05 | WORLD GEOMETRY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재질별 합친 지형 메시와 2D 충돌체 구성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층의 지형 메시 구성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큰 도면의 지형 계층과 메시 구성 화면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지형 표시와 논리 충돌체를 따로 구성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던전의 바닥·벽은 합친 메시로 표시합니다.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논리 좌표에는 필요한 벽 충돌체를 두고,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 칸마다 숨겨진 SpriteRenderer를 만들지 않습니다.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1dc984a8b3b4bab"/>
              </a:rPr>
              <a:t>GitHub / 월드 메시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층만 만들고 장면 자원을 정리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여러 층 전체의 지형을 동시에 만들지 않습니다.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현재 층의 재질별 메시를 구성하고,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층·장면 종료 시 소유한 메시와 런타임 재질을 해제합니다.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오브젝트 재사용과 렌더링 요청 감소의 역할을 구분</a:t>
            </a:r>
          </a:p>
        </p:txBody>
      </p:sp>
      <p:sp>
        <p:nvSpPr>
          <p:cNvPr id="15" name="배우 풀은 생성·파괴 비용을, 지형 메시 결합과 미니맵 캐시는 ">
            <a:extLst xmlns:a="http://schemas.openxmlformats.org/drawingml/2006/main">
              <a:ext uri="{FF2B5EF4-FFF2-40B4-BE49-F238E27FC236}">
                <a16:creationId xmlns:a16="http://schemas.microsoft.com/office/drawing/2014/main" id="{EBDE803F-7E5A-474A-918D-9003C128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배우 풀은 생성·파괴 비용을, 지형 메시 결합과 미니맵 캐시는 표시 비용을 다루는 별도 경로입니다.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D7A87A-7F9A-4F27-B1D0-768C31A442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f0bad610c4d4b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BAD9D-0F09-426A-B6DE-5B58B7CEA8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590e98fee4a09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2C59C-D7CA-489F-9533-DCF178BD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990409dceab47b4"/>
              </a:rPr>
              <a:t>GitHub / 논리 지형</a:t>
            </a:r>
          </a:p>
        </p:txBody>
      </p:sp>
      <p:sp>
        <p:nvSpPr>
          <p:cNvPr id="19" name="미디어 삽입 영역 - 합친 지형 메시와 충돌체">
            <a:extLst xmlns:a="http://schemas.openxmlformats.org/drawingml/2006/main">
              <a:ext uri="{FF2B5EF4-FFF2-40B4-BE49-F238E27FC236}">
                <a16:creationId xmlns:a16="http://schemas.microsoft.com/office/drawing/2014/main" id="{CE031B0A-EF59-44CF-B640-49E55A1F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20" name="[ 이미지 · Scene 뷰 삽입 ]">
            <a:extLst xmlns:a="http://schemas.openxmlformats.org/drawingml/2006/main">
              <a:ext uri="{FF2B5EF4-FFF2-40B4-BE49-F238E27FC236}">
                <a16:creationId xmlns:a16="http://schemas.microsoft.com/office/drawing/2014/main" id="{B66C1AEB-E730-4D20-9770-8931A184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이미지 · Scene 뷰 삽입 ]</a:t>
            </a:r>
          </a:p>
        </p:txBody>
      </p:sp>
      <p:sp>
        <p:nvSpPr>
          <p:cNvPr id="21" name="합친 지형 메시와 충돌체">
            <a:extLst xmlns:a="http://schemas.openxmlformats.org/drawingml/2006/main">
              <a:ext uri="{FF2B5EF4-FFF2-40B4-BE49-F238E27FC236}">
                <a16:creationId xmlns:a16="http://schemas.microsoft.com/office/drawing/2014/main" id="{A5ED1F1E-21B9-4537-B4B6-89691B2F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합친 지형 메시와 충돌체</a:t>
            </a:r>
          </a:p>
        </p:txBody>
      </p:sp>
      <p:sp>
        <p:nvSpPr>
          <p:cNvPr id="22" name="현재 층의 메시 와이어프레임과 충돌체 Gizmo 표시&#10;바닥·벽의">
            <a:extLst xmlns:a="http://schemas.openxmlformats.org/drawingml/2006/main">
              <a:ext uri="{FF2B5EF4-FFF2-40B4-BE49-F238E27FC236}">
                <a16:creationId xmlns:a16="http://schemas.microsoft.com/office/drawing/2014/main" id="{84F27B1D-31C8-40D2-932B-D9F68EB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현재 층의 메시 와이어프레임과 충돌체 Gizmo 표시</a:t>
            </a:r>
          </a:p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바닥·벽의 묶음과 논리 벽 충돌체가 구분되게 캡처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05 | 2.5D PRESENTATION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2D 게임 규칙을 유지하며 입체 공간을 표현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마을과 던전의 2.5D 표시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마을 이동과 방향 전환에 따른 2.5D 캐릭터 표시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논리 좌표와 화면 좌표 분리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이동·충돌·AI·저장은 기존 XY 좌표를 사용합니다.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표시만 XZ 공간으로 옮겨 입체 바닥·벽과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카메라 방향 스프라이트를 함께 보여 줍니다.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e34ed799df94362"/>
              </a:rPr>
              <a:t>GitHub / 스프라이트 표시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표시 사본의 자세와 깊이 정렬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논리 SpriteRenderer의 자세·색·뒤집기를 전달합니다.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 위치와 그림 비율을 보정하고, 지형 메시와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그림자·시야 마스크를 정사영 카메라에 맞춥니다.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표시를 바꿔도 저장과 상호작용 좌표는 유지</a:t>
            </a:r>
          </a:p>
        </p:txBody>
      </p:sp>
      <p:sp>
        <p:nvSpPr>
          <p:cNvPr id="15" name="배우 표시 사본은 풀에서 재사용하고, 장면이 소유한 메시·재질·">
            <a:extLst xmlns:a="http://schemas.openxmlformats.org/drawingml/2006/main">
              <a:ext uri="{FF2B5EF4-FFF2-40B4-BE49-F238E27FC236}">
                <a16:creationId xmlns:a16="http://schemas.microsoft.com/office/drawing/2014/main" id="{BEAD54DD-38EF-47B1-99C9-D38CF2BD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배우 표시 사본은 풀에서 재사용하고, 장면이 소유한 메시·재질·그림자는 종료 시 해제합니다.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CDFEB2-802D-4F1F-A787-73CAAE3060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079cb6db244a0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F2A95-018E-441D-86CE-08ADC219F2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19e0fc08c4fc3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85FB98-9011-4969-B103-022CD64A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adea86ea7cf4279"/>
              </a:rPr>
              <a:t>GitHub / 월드 구성</a:t>
            </a:r>
          </a:p>
        </p:txBody>
      </p:sp>
      <p:sp>
        <p:nvSpPr>
          <p:cNvPr id="19" name="미디어 삽입 영역 - 마을·던전의 2.5D 표시">
            <a:extLst xmlns:a="http://schemas.openxmlformats.org/drawingml/2006/main">
              <a:ext uri="{FF2B5EF4-FFF2-40B4-BE49-F238E27FC236}">
                <a16:creationId xmlns:a16="http://schemas.microsoft.com/office/drawing/2014/main" id="{307DB9D8-43B7-45BB-B6B8-54B0A199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3406A4AB-B2D9-4094-B514-38547276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마을·던전의 2.5D 표시">
            <a:extLst xmlns:a="http://schemas.openxmlformats.org/drawingml/2006/main">
              <a:ext uri="{FF2B5EF4-FFF2-40B4-BE49-F238E27FC236}">
                <a16:creationId xmlns:a16="http://schemas.microsoft.com/office/drawing/2014/main" id="{711E349D-128E-4013-AB86-89574891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마을과 던전에서 이동·방향 전환하는 장면&#10;스프라이트 자세·깊이 ">
            <a:extLst xmlns:a="http://schemas.openxmlformats.org/drawingml/2006/main">
              <a:ext uri="{FF2B5EF4-FFF2-40B4-BE49-F238E27FC236}">
                <a16:creationId xmlns:a16="http://schemas.microsoft.com/office/drawing/2014/main" id="{B810F884-E5C5-4BE7-B5D2-A2867EE8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5초">
            <a:extLst xmlns:a="http://schemas.openxmlformats.org/drawingml/2006/main">
              <a:ext uri="{FF2B5EF4-FFF2-40B4-BE49-F238E27FC236}">
                <a16:creationId xmlns:a16="http://schemas.microsoft.com/office/drawing/2014/main" id="{F8D9ABE1-0BDC-41B3-AC6C-172075A1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173EDDD6-878B-4D8C-8D2B-DD4A0FD7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핵심 구현 05 | ORTHOGRAPHIC VISION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정사영 카메라에 맞춘 던전별 시야 마스크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던전별 시야와 어둠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카메라 이동에 따라 갱신하는 시야·어둠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화면의 광선과 지면 교차점으로 거리 계산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정사영 카메라는 픽셀마다 광선 시작점이 다릅니다.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화면 네 모서리의 지면 교차점을 셰이더에 전달해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플레이어 주변의 월드 거리로 어둠을 합성합니다.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adea907d270437b"/>
              </a:rPr>
              <a:t>GitHub / 시야 합성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던전별 설정과 표시 갱신 순서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선명 반경·바깥 반경·어둠 강도를 데이터로 관리합니다.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카메라와 2.5D 표시가 이동한 뒤 갱신하며,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각 던전에 같은 오버레이 한 장을 재사용합니다.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 마스크의 설정과 게임 규칙을 분리</a:t>
            </a:r>
          </a:p>
        </p:txBody>
      </p:sp>
      <p:sp>
        <p:nvSpPr>
          <p:cNvPr id="15" name="이 설정은 화면 표시를 조절하며 몬스터 인식 거리·청취 거리·미">
            <a:extLst xmlns:a="http://schemas.openxmlformats.org/drawingml/2006/main">
              <a:ext uri="{FF2B5EF4-FFF2-40B4-BE49-F238E27FC236}">
                <a16:creationId xmlns:a16="http://schemas.microsoft.com/office/drawing/2014/main" id="{6A256E20-7CF4-47B7-92CB-2D8B01CD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 설정은 화면 표시를 조절하며 몬스터 인식 거리·청취 거리·미니맵 발견 반경은 별도로 유지합니다.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B1A9B-2A23-4C91-B7B2-E57B6E1309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a4b14644c489d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F33371-BC17-4C29-AF93-04907AAB9D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1c703f07cf4824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8D89DC-637E-49A6-B41C-1CC63B8F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93e44765fb94db7"/>
              </a:rPr>
              <a:t>GitHub / 설정</a:t>
            </a:r>
          </a:p>
        </p:txBody>
      </p:sp>
      <p:sp>
        <p:nvSpPr>
          <p:cNvPr id="19" name="미디어 삽입 영역 - 정사영 카메라의 시야 마스크">
            <a:extLst xmlns:a="http://schemas.openxmlformats.org/drawingml/2006/main">
              <a:ext uri="{FF2B5EF4-FFF2-40B4-BE49-F238E27FC236}">
                <a16:creationId xmlns:a16="http://schemas.microsoft.com/office/drawing/2014/main" id="{F1A725B5-6AD3-4A72-A248-374D4344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77039DC9-4B67-4FD5-8894-2AD72A3C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정사영 카메라의 시야 마스크">
            <a:extLst xmlns:a="http://schemas.openxmlformats.org/drawingml/2006/main">
              <a:ext uri="{FF2B5EF4-FFF2-40B4-BE49-F238E27FC236}">
                <a16:creationId xmlns:a16="http://schemas.microsoft.com/office/drawing/2014/main" id="{49A0DE1A-2B7A-49B9-BCB4-DFDFF069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카메라가 따라가는 동안 시야 경계와 어둠을 촬영&#10;설정이 다른 던">
            <a:extLst xmlns:a="http://schemas.openxmlformats.org/drawingml/2006/main">
              <a:ext uri="{FF2B5EF4-FFF2-40B4-BE49-F238E27FC236}">
                <a16:creationId xmlns:a16="http://schemas.microsoft.com/office/drawing/2014/main" id="{369F35DD-4A2E-43A7-B338-8ACFCC49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EDC13490-FB69-442A-9F43-1CCA5716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추가 구현 | DISMANTLING TIMING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타이밍 해체의 진행과 프레임 지연 처리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해체 타이밍과 진행 복원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295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성공 창을 왕복하는 해체 포인터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화면과 독립적인 해체 진행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DismantleSession이 포인터와 성공 창을 관리합니다.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입력 시 성공·실패를 누적하고, 실패하면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시체 손상과 주변 몬스터의 소음 반응을 연결합니다.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d44742d81314687"/>
              </a:rPr>
              <a:t>GitHub / 해체 세션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지연된 프레임의 이동량 반영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포인터의 왕복 위상을 주기 2로 계산합니다.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긴 프레임에서도 초과 이동량을 반사해 유지하며,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잘못된 경과 시간은 갱신에서 제외합니다.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이어하기는 저장된 성공 창과 포인터를 사용</a:t>
            </a:r>
          </a:p>
        </p:txBody>
      </p:sp>
      <p:sp>
        <p:nvSpPr>
          <p:cNvPr id="15" name="복원 과정에서 난수를 다시 뽑지 않아 다른 전리품이나 AI의 난">
            <a:extLst xmlns:a="http://schemas.openxmlformats.org/drawingml/2006/main">
              <a:ext uri="{FF2B5EF4-FFF2-40B4-BE49-F238E27FC236}">
                <a16:creationId xmlns:a16="http://schemas.microsoft.com/office/drawing/2014/main" id="{701849B8-D45F-4090-8E98-9EC242D2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복원 과정에서 난수를 다시 뽑지 않아 다른 전리품이나 AI의 난수 흐름을 바꾸지 않습니다.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D144F2-A2AA-4E32-88C4-D2EBE11851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f0cd29ef416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F21E5-D746-4E36-AB44-D7FC362EBA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c8fe82c043482f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003889-B9B2-4592-B7BF-34C7DD87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4513a0c050e401d"/>
              </a:rPr>
              <a:t>GitHub / 상호작용</a:t>
            </a:r>
          </a:p>
        </p:txBody>
      </p:sp>
      <p:sp>
        <p:nvSpPr>
          <p:cNvPr id="19" name="미디어 삽입 영역 - 해체 성공·실패와 진행 복원">
            <a:extLst xmlns:a="http://schemas.openxmlformats.org/drawingml/2006/main">
              <a:ext uri="{FF2B5EF4-FFF2-40B4-BE49-F238E27FC236}">
                <a16:creationId xmlns:a16="http://schemas.microsoft.com/office/drawing/2014/main" id="{0E43E6CD-9F0A-44F7-A7EC-7D149C1F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[ 영상 · 12~18초 삽입 ]">
            <a:extLst xmlns:a="http://schemas.openxmlformats.org/drawingml/2006/main">
              <a:ext uri="{FF2B5EF4-FFF2-40B4-BE49-F238E27FC236}">
                <a16:creationId xmlns:a16="http://schemas.microsoft.com/office/drawing/2014/main" id="{94307E7A-38FF-4C80-AD63-F7BEB78D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해체 성공·실패와 진행 복원">
            <a:extLst xmlns:a="http://schemas.openxmlformats.org/drawingml/2006/main">
              <a:ext uri="{FF2B5EF4-FFF2-40B4-BE49-F238E27FC236}">
                <a16:creationId xmlns:a16="http://schemas.microsoft.com/office/drawing/2014/main" id="{882CA23F-7F36-4561-9A45-6CF30F98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성공 창에 맞춘 입력과 실패 후 소음 반응 촬영&#10;저장·재실행 뒤">
            <a:extLst xmlns:a="http://schemas.openxmlformats.org/drawingml/2006/main">
              <a:ext uri="{FF2B5EF4-FFF2-40B4-BE49-F238E27FC236}">
                <a16:creationId xmlns:a16="http://schemas.microsoft.com/office/drawing/2014/main" id="{8EF9ADD2-E4FD-4E1B-86B7-57DC7BBD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실제 실행 영상 보기  /  5초">
            <a:extLst xmlns:a="http://schemas.openxmlformats.org/drawingml/2006/main">
              <a:ext uri="{FF2B5EF4-FFF2-40B4-BE49-F238E27FC236}">
                <a16:creationId xmlns:a16="http://schemas.microsoft.com/office/drawing/2014/main" id="{D875F1C4-7F7B-4734-B08B-9AB05C5A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9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원본 이미지 보기">
            <a:extLst xmlns:a="http://schemas.openxmlformats.org/drawingml/2006/main">
              <a:ext uri="{FF2B5EF4-FFF2-40B4-BE49-F238E27FC236}">
                <a16:creationId xmlns:a16="http://schemas.microsoft.com/office/drawing/2014/main" id="{270789B0-4D02-4FFE-8A80-383CA6FC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58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050" u="sng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VALIDATION | ISOLATED PIPELINE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실제 프로젝트와 저장을 분리한 검증 실행 도구</a:t>
            </a:r>
          </a:p>
        </p:txBody>
      </p:sp>
      <p:sp>
        <p:nvSpPr>
          <p:cNvPr id="5" name="FiringHeading">
            <a:extLst xmlns:a="http://schemas.openxmlformats.org/drawingml/2006/main"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격리 프로젝트의 검증 결과</a:t>
            </a:r>
          </a:p>
        </p:txBody>
      </p:sp>
      <p:sp>
        <p:nvSpPr>
          <p:cNvPr id="6" name="FiringCaption">
            <a:extLst xmlns:a="http://schemas.openxmlformats.org/drawingml/2006/main"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검증 복사본·Unity 로그·결과 파일 화면</a:t>
            </a:r>
          </a:p>
        </p:txBody>
      </p:sp>
      <p:sp>
        <p:nvSpPr>
          <p:cNvPr id="7" name="ProblemHeading">
            <a:extLst xmlns:a="http://schemas.openxmlformats.org/drawingml/2006/main"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검증용 코드와 콘텐츠의 복사</a:t>
            </a:r>
          </a:p>
        </p:txBody>
      </p:sp>
      <p:sp>
        <p:nvSpPr>
          <p:cNvPr id="8" name="ProblemBody">
            <a:extLst xmlns:a="http://schemas.openxmlformats.org/drawingml/2006/main"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PowerShell이 설정·리소스·프리팹·씬을 복사하고,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Assets 밖의 테스트 드라이버를 복사본에만 넣습니다.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테스트용 저장 경로와 옵션도 작업용 데이터와 분리합니다.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2290951525648f4"/>
              </a:rPr>
              <a:t>GitHub / 검증 실행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12" name="Flow Corner heading">
            <a:extLst xmlns:a="http://schemas.openxmlformats.org/drawingml/2006/main"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71825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목적에 따라 실행 단계를 선택</a:t>
            </a:r>
          </a:p>
        </p:txBody>
      </p:sp>
      <p:sp>
        <p:nvSpPr>
          <p:cNvPr id="13" name="Flow Corner body">
            <a:extLst xmlns:a="http://schemas.openxmlformats.org/drawingml/2006/main"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81400"/>
            <a:ext cx="5410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EditorOnly는 컴파일과 에디터 검사만 수행합니다.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추가 옵션으로 Windows 빌드·플레이어 재실행과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그래픽 화면 촬영을 포함해 확인 범위를 넓힙니다.</a:t>
            </a:r>
          </a:p>
        </p:txBody>
      </p:sp>
      <p:sp>
        <p:nvSpPr>
          <p:cNvPr id="14" name="Flow Heading">
            <a:extLst xmlns:a="http://schemas.openxmlformats.org/drawingml/2006/main"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테스트 코드가 일반 배포 런타임에 섞이지 않게 구성</a:t>
            </a:r>
          </a:p>
        </p:txBody>
      </p:sp>
      <p:sp>
        <p:nvSpPr>
          <p:cNvPr id="15" name="소스 Tests와 실행 Tools를 분리하고, 검사 결과·로그·">
            <a:extLst xmlns:a="http://schemas.openxmlformats.org/drawingml/2006/main">
              <a:ext uri="{FF2B5EF4-FFF2-40B4-BE49-F238E27FC236}">
                <a16:creationId xmlns:a16="http://schemas.microsoft.com/office/drawing/2014/main" id="{F7725A6B-677A-407F-8A12-D95D3C15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소스 Tests와 실행 Tools를 분리하고, 검사 결과·로그·촬영 화면은 격리 폴더에 기록합니다.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85C9A6-5E2F-43FC-A77B-456662EA37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0bd1ddc37464d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F4B0FE-9CAD-4DF7-BED1-CD0A18F74D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e59dbdef34506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6861F3-0D16-48DB-AC74-2EC00090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1b039f7f8b241ea"/>
              </a:rPr>
              <a:t>GitHub / 플레이 검사 진입</a:t>
            </a:r>
          </a:p>
        </p:txBody>
      </p:sp>
      <p:sp>
        <p:nvSpPr>
          <p:cNvPr id="19" name="미디어 삽입 영역 - 격리 검증 도구 실행 결과">
            <a:extLst xmlns:a="http://schemas.openxmlformats.org/drawingml/2006/main">
              <a:ext uri="{FF2B5EF4-FFF2-40B4-BE49-F238E27FC236}">
                <a16:creationId xmlns:a16="http://schemas.microsoft.com/office/drawing/2014/main" id="{CA6F538A-F2EC-4853-BEAF-899F372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95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20" name="[ 이미지 · 실행 로그 삽입 ]">
            <a:extLst xmlns:a="http://schemas.openxmlformats.org/drawingml/2006/main">
              <a:ext uri="{FF2B5EF4-FFF2-40B4-BE49-F238E27FC236}">
                <a16:creationId xmlns:a16="http://schemas.microsoft.com/office/drawing/2014/main" id="{8078F611-C1AC-44CF-85AC-D9AB5CB2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이미지 · 실행 로그 삽입 ]</a:t>
            </a:r>
          </a:p>
        </p:txBody>
      </p:sp>
      <p:sp>
        <p:nvSpPr>
          <p:cNvPr id="21" name="격리 검증 도구 실행 결과">
            <a:extLst xmlns:a="http://schemas.openxmlformats.org/drawingml/2006/main">
              <a:ext uri="{FF2B5EF4-FFF2-40B4-BE49-F238E27FC236}">
                <a16:creationId xmlns:a16="http://schemas.microsoft.com/office/drawing/2014/main" id="{80647D98-8A3C-4DAE-B6B0-8541CB9A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4914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격리 검증 도구 실행 결과</a:t>
            </a:r>
          </a:p>
        </p:txBody>
      </p:sp>
      <p:sp>
        <p:nvSpPr>
          <p:cNvPr id="22" name="PowerShell의 복사·컴파일·검사·결과 저장 로그&#10;격리 경">
            <a:extLst xmlns:a="http://schemas.openxmlformats.org/drawingml/2006/main">
              <a:ext uri="{FF2B5EF4-FFF2-40B4-BE49-F238E27FC236}">
                <a16:creationId xmlns:a16="http://schemas.microsoft.com/office/drawing/2014/main" id="{B03F2A82-73F4-44DF-9D6D-E93E5C0F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4914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PowerShell의 복사·컴파일·검사·결과 저장 로그</a:t>
            </a:r>
          </a:p>
          <a:p xmlns:a="http://schemas.openxmlformats.org/drawingml/2006/main">
            <a:pPr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격리 경로와 단계별 성공 여부가 함께 보이게 캡처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B3DC714-D698-48E3-AE11-C991A7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6920B6-11A0-4091-9295-D742F39B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VALIDATION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4FD3263-2DB0-40CB-85AD-3DB988FF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격리 환경과 Windows 실행으로 확인한 검증 기록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A8F889F-D8DC-43D8-9ABA-278B1BB6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실제 프로젝트와 분리한 검증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별도 복사본에 테스트 드라이버를 넣고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저장·옵션·콘텐츠를 테스트용으로 분리합니다.</a:t>
            </a:r>
          </a:p>
          <a:p xmlns:a="http://schemas.openxmlformats.org/drawingml/2006/main">
            <a:pPr algn="l">
              <a:spcAft>
                <a:spcPts val="5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확인한 경계 조건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왕복·진행 복원·풀 재사용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손상·슬롯 바꿔치기·백업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복원 실패·은신 충돌·제작 데이터</a:t>
            </a:r>
          </a:p>
          <a:p xmlns:a="http://schemas.openxmlformats.org/drawingml/2006/main">
            <a:pPr algn="l">
              <a:spcAft>
                <a:spcPts val="5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출시 빌드 사전 검사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필수 씬·리소스·스폰·보상을 검사하고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유효하지 않은 구성은 빌드 전에 차단합니다.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6701208-7008-4F40-AF10-24116AC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5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2026.10.22 에디터 검사 기록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186개 통과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컴파일·설정·복원 안전성 검사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해당 실행에서는 Play 모드를 켜지 않았습니다.</a:t>
            </a:r>
          </a:p>
          <a:p xmlns:a="http://schemas.openxmlformats.org/drawingml/2006/main">
            <a:pPr algn="l">
              <a:spcAft>
                <a:spcPts val="5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2026.10.18 플레이 실행 검사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6,583개 / Windows 플레이어 536개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별도 프로세스 재실행·저장 복원 12개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선택 도면과 개체 수에 따라 횟수는 달라집니다.</a:t>
            </a:r>
          </a:p>
          <a:p xmlns:a="http://schemas.openxmlformats.org/drawingml/2006/main">
            <a:pPr algn="l">
              <a:spcAft>
                <a:spcPts val="5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범위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에디터 검사·Windows 플레이·프로세스 재실행을</a:t>
            </a:r>
            <a:b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구분해 각각의 실행 기록으로 확인했습니다.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83A27D07-EA0F-4F9A-B832-B6389E0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pic>
        <p:nvPicPr>
          <p:cNvPr id="8" name="그림 7">
            <a:extLst xmlns:a="http://schemas.openxmlformats.org/drawingml/2006/main">
              <a:ext uri="{FF2B5EF4-FFF2-40B4-BE49-F238E27FC236}">
                <a16:creationId xmlns:a16="http://schemas.microsoft.com/office/drawing/2014/main" id="{7E6284A4-BA19-47D4-B5E4-58F8978661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9d8d88ca1048b9"/>
          <a:stretch xmlns:a="http://schemas.openxmlformats.org/drawingml/2006/main"/>
        </p:blipFill>
        <p:spPr>
          <a:xfrm xmlns:a="http://schemas.openxmlformats.org/drawingml/2006/main">
            <a:off x="609600" y="6362700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9" name="GitHub link legend">
            <a:extLst xmlns:a="http://schemas.openxmlformats.org/drawingml/2006/main">
              <a:ext uri="{FF2B5EF4-FFF2-40B4-BE49-F238E27FC236}">
                <a16:creationId xmlns:a16="http://schemas.microsoft.com/office/drawing/2014/main" id="{E23A9C9E-9F33-4993-81BC-EB43EA83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43650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실행 기록과 검증 코드는 저장소의 README·Tests·Tools에서 확인할 수 있습니다.</a:t>
            </a:r>
          </a:p>
        </p:txBody>
      </p:sp>
      <p:sp>
        <p:nvSpPr>
          <p:cNvPr id="10" name="미디어 삽입 영역 - 에디터 검사 로그">
            <a:extLst xmlns:a="http://schemas.openxmlformats.org/drawingml/2006/main">
              <a:ext uri="{FF2B5EF4-FFF2-40B4-BE49-F238E27FC236}">
                <a16:creationId xmlns:a16="http://schemas.microsoft.com/office/drawing/2014/main" id="{713EBD76-E3E2-4F56-AABA-755FC98C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10150"/>
            <a:ext cx="4000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11" name="[ 이미지 삽입 ]">
            <a:extLst xmlns:a="http://schemas.openxmlformats.org/drawingml/2006/main">
              <a:ext uri="{FF2B5EF4-FFF2-40B4-BE49-F238E27FC236}">
                <a16:creationId xmlns:a16="http://schemas.microsoft.com/office/drawing/2014/main" id="{D2E35A4B-E4B9-4F1A-B974-5146F30E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86350"/>
            <a:ext cx="3733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이미지 삽입 ]</a:t>
            </a:r>
          </a:p>
        </p:txBody>
      </p:sp>
      <p:sp>
        <p:nvSpPr>
          <p:cNvPr id="12" name="에디터 검사 로그">
            <a:extLst xmlns:a="http://schemas.openxmlformats.org/drawingml/2006/main">
              <a:ext uri="{FF2B5EF4-FFF2-40B4-BE49-F238E27FC236}">
                <a16:creationId xmlns:a16="http://schemas.microsoft.com/office/drawing/2014/main" id="{70FD4BEC-3798-48B7-B813-12A5D62A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05425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에디터 검사 로그</a:t>
            </a:r>
          </a:p>
        </p:txBody>
      </p:sp>
      <p:sp>
        <p:nvSpPr>
          <p:cNvPr id="13" name="186개 검사 통과와 실행 날짜가 보이는 결과">
            <a:extLst xmlns:a="http://schemas.openxmlformats.org/drawingml/2006/main">
              <a:ext uri="{FF2B5EF4-FFF2-40B4-BE49-F238E27FC236}">
                <a16:creationId xmlns:a16="http://schemas.microsoft.com/office/drawing/2014/main" id="{66D3A121-6D25-4FDB-BE7B-1356B129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19750"/>
            <a:ext cx="3733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186개 검사 통과와 실행 날짜가 보이는 결과</a:t>
            </a:r>
          </a:p>
        </p:txBody>
      </p:sp>
      <p:sp>
        <p:nvSpPr>
          <p:cNvPr id="14" name="미디어 삽입 영역 - 플레이·재실행 검증 로그">
            <a:extLst xmlns:a="http://schemas.openxmlformats.org/drawingml/2006/main">
              <a:ext uri="{FF2B5EF4-FFF2-40B4-BE49-F238E27FC236}">
                <a16:creationId xmlns:a16="http://schemas.microsoft.com/office/drawing/2014/main" id="{2F44FF9A-E06D-4BBF-9371-BDC10224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10150"/>
            <a:ext cx="5143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  <a:prstDash val="solid"/>
          </a:ln>
        </p:spPr>
      </p:sp>
      <p:sp>
        <p:nvSpPr>
          <p:cNvPr id="15" name="[ 이미지 삽입 ]">
            <a:extLst xmlns:a="http://schemas.openxmlformats.org/drawingml/2006/main">
              <a:ext uri="{FF2B5EF4-FFF2-40B4-BE49-F238E27FC236}">
                <a16:creationId xmlns:a16="http://schemas.microsoft.com/office/drawing/2014/main" id="{CAFB1E4B-C2A4-4FBC-A581-BA08FD21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8635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[ 이미지 삽입 ]</a:t>
            </a:r>
          </a:p>
        </p:txBody>
      </p:sp>
      <p:sp>
        <p:nvSpPr>
          <p:cNvPr id="16" name="플레이·재실행 검증 로그">
            <a:extLst xmlns:a="http://schemas.openxmlformats.org/drawingml/2006/main">
              <a:ext uri="{FF2B5EF4-FFF2-40B4-BE49-F238E27FC236}">
                <a16:creationId xmlns:a16="http://schemas.microsoft.com/office/drawing/2014/main" id="{61B2EF2E-6787-4F8D-8376-DF2A7966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05425"/>
            <a:ext cx="487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플레이·재실행 검증 로그</a:t>
            </a:r>
          </a:p>
        </p:txBody>
      </p:sp>
      <p:sp>
        <p:nvSpPr>
          <p:cNvPr id="17" name="Windows 실행과 저장 복원 검사의 결과">
            <a:extLst xmlns:a="http://schemas.openxmlformats.org/drawingml/2006/main">
              <a:ext uri="{FF2B5EF4-FFF2-40B4-BE49-F238E27FC236}">
                <a16:creationId xmlns:a16="http://schemas.microsoft.com/office/drawing/2014/main" id="{140D2448-8848-4FA9-90DB-35A7296F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1975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Windows 실행과 저장 복원 검사의 결과</a:t>
            </a:r>
          </a:p>
        </p:txBody>
      </p:sp>
    </p:spTree>
    <p:extLst>
      <p:ext uri="{BB962C8B-B14F-4D97-AF65-F5344CB8AC3E}">
        <p14:creationId xmlns:p14="http://schemas.microsoft.com/office/powerpoint/2010/main" val="3987499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CFE3EBD-EB20-42ED-899B-12C8D5FD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B6BFC95-D67C-44E0-AA3E-6EAD6D69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SOURCE &amp; CONTACT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AD111B-268C-430D-A685-91983B60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05CB708-AA48-4937-9536-DC9A88EF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768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42900" tIns="247650" rIns="228600" bIns="1524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38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342A5DF-C971-4D33-8B4C-352E4CC5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09700"/>
            <a:ext cx="54673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2860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5788AF7-F7B8-4B83-8415-82DB4CC6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09550" tIns="95250" rIns="209550" bIns="762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0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실행 안내: Unity 6000.6.0f1 환경에서 원본 프로젝트의 MainMenu 씬으로 실행합니다.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09B83C62-55FE-4293-A920-E7FC853C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9" name="Automation Test scenarios">
            <a:extLst xmlns:a="http://schemas.openxmlformats.org/drawingml/2006/main">
              <a:ext uri="{FF2B5EF4-FFF2-40B4-BE49-F238E27FC236}">
                <a16:creationId xmlns:a16="http://schemas.microsoft.com/office/drawing/2014/main" id="{3DD5A1C5-2438-404F-A1A3-9095EBC2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wrap="square" lIns="304800" tIns="228600" rIns="266700" bIns="190500" anchor="t">
            <a:noAutofit/>
          </a:bodyPr>
          <a:lstStyle xmlns:a="http://schemas.openxmlformats.org/drawingml/2006/main">
            <a:defPPr algn="l"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5"/>
              </a:spcAft>
              <a:buNone/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게임 흐름과 저장·복원의 반복 검증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이동·가방 배치·경제·은신·풀 재사용의 경계 조건 검사</a:t>
            </a:r>
            <a:b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에디터 데이터 검사와 Windows 비개발 Mono 플레이어 실행 분리</a:t>
            </a:r>
            <a:b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</a:b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새 프로세스에서 수동 저장과 정상 종료 저장의 복원 확인</a:t>
            </a:r>
          </a:p>
        </p:txBody>
      </p:sp>
      <p:sp>
        <p:nvSpPr>
          <p:cNvPr id="11" name="GitHub code link 0">
            <a:extLst xmlns:a="http://schemas.openxmlformats.org/drawingml/2006/main">
              <a:ext uri="{FF2B5EF4-FFF2-40B4-BE49-F238E27FC236}">
                <a16:creationId xmlns:a16="http://schemas.microsoft.com/office/drawing/2014/main" id="{01410B54-0A53-4C8D-8893-5D47F218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5b86e8f5530401b"/>
              </a:rPr>
              <a:t>GitHub / 전체 소스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9D861A-683F-4B2D-88F3-07BE1F2EE6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1daf5106945a6"/>
          <a:stretch xmlns:a="http://schemas.openxmlformats.org/drawingml/2006/main"/>
        </p:blipFill>
        <p:spPr>
          <a:xfrm xmlns:a="http://schemas.openxmlformats.org/drawingml/2006/main">
            <a:off x="800100" y="245745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3" name="개인 프로젝트 저장소">
            <a:extLst xmlns:a="http://schemas.openxmlformats.org/drawingml/2006/main">
              <a:ext uri="{FF2B5EF4-FFF2-40B4-BE49-F238E27FC236}">
                <a16:creationId xmlns:a16="http://schemas.microsoft.com/office/drawing/2014/main" id="{FD3C7860-9139-43F1-AEA0-AEC3122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개인 프로젝트 저장소</a:t>
            </a:r>
          </a:p>
        </p:txBody>
      </p:sp>
      <p:sp>
        <p:nvSpPr>
          <p:cNvPr id="14" name="Unity / C# / URP 기반 전체 프로젝트">
            <a:extLst xmlns:a="http://schemas.openxmlformats.org/drawingml/2006/main">
              <a:ext uri="{FF2B5EF4-FFF2-40B4-BE49-F238E27FC236}">
                <a16:creationId xmlns:a16="http://schemas.microsoft.com/office/drawing/2014/main" id="{1ADF6A00-EDDA-41D6-B26A-8E15075A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/ C# / URP 기반 전체 프로젝트</a:t>
            </a:r>
          </a:p>
        </p:txBody>
      </p:sp>
      <p:sp>
        <p:nvSpPr>
          <p:cNvPr id="15" name="GitHub 코드 / README 문서">
            <a:extLst xmlns:a="http://schemas.openxmlformats.org/drawingml/2006/main">
              <a:ext uri="{FF2B5EF4-FFF2-40B4-BE49-F238E27FC236}">
                <a16:creationId xmlns:a16="http://schemas.microsoft.com/office/drawing/2014/main" id="{A739F65C-2A00-4203-B110-3EF81665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38400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37bd45757f5468c"/>
              </a:rPr>
              <a:t>GitHub 코드</a:t>
            </a: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57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65cc1423220432f"/>
              </a:rPr>
              <a:t>README 문서</a:t>
            </a:r>
          </a:p>
        </p:txBody>
      </p:sp>
      <p:sp>
        <p:nvSpPr>
          <p:cNvPr id="16" name="박장한 / 클라이언트 프로그래머">
            <a:extLst xmlns:a="http://schemas.openxmlformats.org/drawingml/2006/main">
              <a:ext uri="{FF2B5EF4-FFF2-40B4-BE49-F238E27FC236}">
                <a16:creationId xmlns:a16="http://schemas.microsoft.com/office/drawing/2014/main" id="{58103D9D-237A-425D-A75C-E3574C3C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박장한 / 클라이언트 프로그래머</a:t>
            </a:r>
          </a:p>
        </p:txBody>
      </p:sp>
      <p:sp>
        <p:nvSpPr>
          <p:cNvPr id="17" name="개발 기간  2026.09 ~ 현재 진행 중">
            <a:extLst xmlns:a="http://schemas.openxmlformats.org/drawingml/2006/main">
              <a:ext uri="{FF2B5EF4-FFF2-40B4-BE49-F238E27FC236}">
                <a16:creationId xmlns:a16="http://schemas.microsoft.com/office/drawing/2014/main" id="{F2D391BE-03C9-4B57-855D-656CB8A0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145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개발 기간  2026.09 ~ 현재 진행 중</a:t>
            </a:r>
          </a:p>
        </p:txBody>
      </p:sp>
      <p:sp>
        <p:nvSpPr>
          <p:cNvPr id="18" name="wkdgks88009@gmail.com">
            <a:extLst xmlns:a="http://schemas.openxmlformats.org/drawingml/2006/main">
              <a:ext uri="{FF2B5EF4-FFF2-40B4-BE49-F238E27FC236}">
                <a16:creationId xmlns:a16="http://schemas.microsoft.com/office/drawing/2014/main" id="{56A517E9-515B-45BD-AFA6-959812D0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030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8153d44d4fb4c26"/>
              </a:rPr>
              <a:t>wkdgks88009@gmail.com</a:t>
            </a:r>
          </a:p>
        </p:txBody>
      </p:sp>
      <p:sp>
        <p:nvSpPr>
          <p:cNvPr id="19" name="GitHub msg1150">
            <a:extLst xmlns:a="http://schemas.openxmlformats.org/drawingml/2006/main">
              <a:ext uri="{FF2B5EF4-FFF2-40B4-BE49-F238E27FC236}">
                <a16:creationId xmlns:a16="http://schemas.microsoft.com/office/drawing/2014/main" id="{4A5F86CA-2E02-4683-8B0A-31021603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42df917a08d431e"/>
              </a:rPr>
              <a:t>GitHub msg1150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FD6D2D-EE89-42E9-9263-6E5C2BB339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b0e0ed62b4b3d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311315"/>
      </p:ext>
    </p:extLst>
  </p:cSld>
</p:sld>
</file>

<file path=ppt/theme/theme1.xml><?xml version="1.0" encoding="utf-8"?>
<a:theme xmlns:a="http://schemas.openxmlformats.org/drawingml/2006/main" name="Office Theme">
  <a:themeElements>
    <a:clrScheme name="BattleArena reference">
      <a:dk1>
        <a:srgbClr val="111E26"/>
      </a:dk1>
      <a:lt1>
        <a:srgbClr val="F0E9DC"/>
      </a:lt1>
      <a:dk2>
        <a:srgbClr val="0E1219"/>
      </a:dk2>
      <a:lt2>
        <a:srgbClr val="DCE4E2"/>
      </a:lt2>
      <a:accent1>
        <a:srgbClr val="9ADBC6"/>
      </a:accent1>
      <a:accent2>
        <a:srgbClr val="9ADBC6"/>
      </a:accent2>
      <a:accent3>
        <a:srgbClr val="FFCE72"/>
      </a:accent3>
      <a:accent4>
        <a:srgbClr val="FF6975"/>
      </a:accent4>
      <a:accent5>
        <a:srgbClr val="9EB2B7"/>
      </a:accent5>
      <a:accent6>
        <a:srgbClr val="3C5660"/>
      </a:accent6>
      <a:hlink>
        <a:srgbClr val="B8F3FF"/>
      </a:hlink>
      <a:folHlink>
        <a:srgbClr val="B8F3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ttleArena referen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2026-10-22T13:55:07.8020000Z</dcterms:created>
  <dcterms:modified xsi:type="dcterms:W3CDTF">2026-10-22T13:55:07.8020000Z</dcterms:modified>
</coreProperties>
</file>